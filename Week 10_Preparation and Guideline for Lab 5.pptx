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748" r:id="rId2"/>
    <p:sldMasterId id="2147483760" r:id="rId3"/>
  </p:sldMasterIdLst>
  <p:notesMasterIdLst>
    <p:notesMasterId r:id="rId119"/>
  </p:notesMasterIdLst>
  <p:sldIdLst>
    <p:sldId id="952" r:id="rId4"/>
    <p:sldId id="2648" r:id="rId5"/>
    <p:sldId id="1924" r:id="rId6"/>
    <p:sldId id="2963" r:id="rId7"/>
    <p:sldId id="2965" r:id="rId8"/>
    <p:sldId id="2966" r:id="rId9"/>
    <p:sldId id="2967" r:id="rId10"/>
    <p:sldId id="2968" r:id="rId11"/>
    <p:sldId id="2969" r:id="rId12"/>
    <p:sldId id="2970" r:id="rId13"/>
    <p:sldId id="2971" r:id="rId14"/>
    <p:sldId id="2972" r:id="rId15"/>
    <p:sldId id="2973" r:id="rId16"/>
    <p:sldId id="2974" r:id="rId17"/>
    <p:sldId id="2975" r:id="rId18"/>
    <p:sldId id="2979" r:id="rId19"/>
    <p:sldId id="2978" r:id="rId20"/>
    <p:sldId id="2980" r:id="rId21"/>
    <p:sldId id="2982" r:id="rId22"/>
    <p:sldId id="2976" r:id="rId23"/>
    <p:sldId id="2981" r:id="rId24"/>
    <p:sldId id="2983" r:id="rId25"/>
    <p:sldId id="2984" r:id="rId26"/>
    <p:sldId id="2985" r:id="rId27"/>
    <p:sldId id="2977" r:id="rId28"/>
    <p:sldId id="2986" r:id="rId29"/>
    <p:sldId id="2987" r:id="rId30"/>
    <p:sldId id="2988" r:id="rId31"/>
    <p:sldId id="2989" r:id="rId32"/>
    <p:sldId id="2990" r:id="rId33"/>
    <p:sldId id="2991" r:id="rId34"/>
    <p:sldId id="2992" r:id="rId35"/>
    <p:sldId id="2993" r:id="rId36"/>
    <p:sldId id="2994" r:id="rId37"/>
    <p:sldId id="2995" r:id="rId38"/>
    <p:sldId id="2996" r:id="rId39"/>
    <p:sldId id="2997" r:id="rId40"/>
    <p:sldId id="2998" r:id="rId41"/>
    <p:sldId id="2999" r:id="rId42"/>
    <p:sldId id="3000" r:id="rId43"/>
    <p:sldId id="3006" r:id="rId44"/>
    <p:sldId id="3011" r:id="rId45"/>
    <p:sldId id="3012" r:id="rId46"/>
    <p:sldId id="3013" r:id="rId47"/>
    <p:sldId id="3014" r:id="rId48"/>
    <p:sldId id="3015" r:id="rId49"/>
    <p:sldId id="3016" r:id="rId50"/>
    <p:sldId id="3017" r:id="rId51"/>
    <p:sldId id="3018" r:id="rId52"/>
    <p:sldId id="3019" r:id="rId53"/>
    <p:sldId id="3020" r:id="rId54"/>
    <p:sldId id="3021" r:id="rId55"/>
    <p:sldId id="3022" r:id="rId56"/>
    <p:sldId id="3001" r:id="rId57"/>
    <p:sldId id="3024" r:id="rId58"/>
    <p:sldId id="3008" r:id="rId59"/>
    <p:sldId id="3009" r:id="rId60"/>
    <p:sldId id="3025" r:id="rId61"/>
    <p:sldId id="3004" r:id="rId62"/>
    <p:sldId id="3005" r:id="rId63"/>
    <p:sldId id="3010" r:id="rId64"/>
    <p:sldId id="3028" r:id="rId65"/>
    <p:sldId id="3027" r:id="rId66"/>
    <p:sldId id="3029" r:id="rId67"/>
    <p:sldId id="3030" r:id="rId68"/>
    <p:sldId id="3031" r:id="rId69"/>
    <p:sldId id="3032" r:id="rId70"/>
    <p:sldId id="3033" r:id="rId71"/>
    <p:sldId id="3034" r:id="rId72"/>
    <p:sldId id="3035" r:id="rId73"/>
    <p:sldId id="3037" r:id="rId74"/>
    <p:sldId id="3038" r:id="rId75"/>
    <p:sldId id="3039" r:id="rId76"/>
    <p:sldId id="3040" r:id="rId77"/>
    <p:sldId id="3041" r:id="rId78"/>
    <p:sldId id="3042" r:id="rId79"/>
    <p:sldId id="3043" r:id="rId80"/>
    <p:sldId id="3044" r:id="rId81"/>
    <p:sldId id="3045" r:id="rId82"/>
    <p:sldId id="3046" r:id="rId83"/>
    <p:sldId id="3047" r:id="rId84"/>
    <p:sldId id="3048" r:id="rId85"/>
    <p:sldId id="3049" r:id="rId86"/>
    <p:sldId id="3050" r:id="rId87"/>
    <p:sldId id="3051" r:id="rId88"/>
    <p:sldId id="3052" r:id="rId89"/>
    <p:sldId id="3053" r:id="rId90"/>
    <p:sldId id="3054" r:id="rId91"/>
    <p:sldId id="3055" r:id="rId92"/>
    <p:sldId id="3056" r:id="rId93"/>
    <p:sldId id="3057" r:id="rId94"/>
    <p:sldId id="3058" r:id="rId95"/>
    <p:sldId id="3059" r:id="rId96"/>
    <p:sldId id="3060" r:id="rId97"/>
    <p:sldId id="3066" r:id="rId98"/>
    <p:sldId id="3061" r:id="rId99"/>
    <p:sldId id="3062" r:id="rId100"/>
    <p:sldId id="3063" r:id="rId101"/>
    <p:sldId id="3064" r:id="rId102"/>
    <p:sldId id="3067" r:id="rId103"/>
    <p:sldId id="3068" r:id="rId104"/>
    <p:sldId id="3069" r:id="rId105"/>
    <p:sldId id="3070" r:id="rId106"/>
    <p:sldId id="3065" r:id="rId107"/>
    <p:sldId id="3071" r:id="rId108"/>
    <p:sldId id="3072" r:id="rId109"/>
    <p:sldId id="2960" r:id="rId110"/>
    <p:sldId id="2962" r:id="rId111"/>
    <p:sldId id="2718" r:id="rId112"/>
    <p:sldId id="2961" r:id="rId113"/>
    <p:sldId id="1016" r:id="rId114"/>
    <p:sldId id="2646" r:id="rId115"/>
    <p:sldId id="2647" r:id="rId116"/>
    <p:sldId id="1883" r:id="rId117"/>
    <p:sldId id="1884" r:id="rId118"/>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1" autoAdjust="0"/>
    <p:restoredTop sz="94660"/>
  </p:normalViewPr>
  <p:slideViewPr>
    <p:cSldViewPr>
      <p:cViewPr>
        <p:scale>
          <a:sx n="66" d="100"/>
          <a:sy n="66" d="100"/>
        </p:scale>
        <p:origin x="420" y="8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tableStyles" Target="tableStyle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notesMaster" Target="notesMasters/notesMaster1.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FB3DDB9-BA40-433D-85A8-619641AE8A6A}" type="datetimeFigureOut">
              <a:rPr lang="en-US" smtClean="0"/>
              <a:t>10/13/2026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32CC474-D8BD-403F-A0E9-3DC26AD34A19}" type="slidenum">
              <a:rPr lang="en-US" smtClean="0"/>
              <a:t>‹#›</a:t>
            </a:fld>
            <a:endParaRPr lang="en-US"/>
          </a:p>
        </p:txBody>
      </p:sp>
    </p:spTree>
    <p:extLst>
      <p:ext uri="{BB962C8B-B14F-4D97-AF65-F5344CB8AC3E}">
        <p14:creationId xmlns:p14="http://schemas.microsoft.com/office/powerpoint/2010/main" val="2861477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33D3319-5C95-AAFB-6ACC-852B265B455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B2FA66A-FBC4-EE6E-6C0C-09967630637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28710B5-107A-91D4-F380-3280FD5D54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77129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C19D850-9485-8CA9-176F-A074739A4F8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1DA55ED-E565-A35E-9F75-93BF97FC9E6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11781B5-6A73-3B52-BB4F-F10126A0B5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248108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48" name="Rectangle 47"/>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a:grpSpLocks noChangeAspect="1"/>
          </p:cNvGrpSpPr>
          <p:nvPr userDrawn="1"/>
        </p:nvGrpSpPr>
        <p:grpSpPr bwMode="auto">
          <a:xfrm>
            <a:off x="1" y="0"/>
            <a:ext cx="9144227" cy="6858000"/>
            <a:chOff x="5" y="0"/>
            <a:chExt cx="5750" cy="4320"/>
          </a:xfrm>
        </p:grpSpPr>
        <p:sp>
          <p:nvSpPr>
            <p:cNvPr id="6" name="AutoShape 3"/>
            <p:cNvSpPr>
              <a:spLocks noChangeAspect="1" noChangeArrowheads="1" noTextEdit="1"/>
            </p:cNvSpPr>
            <p:nvPr userDrawn="1"/>
          </p:nvSpPr>
          <p:spPr bwMode="auto">
            <a:xfrm>
              <a:off x="5" y="0"/>
              <a:ext cx="5750" cy="4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 name="Freeform 5"/>
            <p:cNvSpPr>
              <a:spLocks/>
            </p:cNvSpPr>
            <p:nvPr userDrawn="1"/>
          </p:nvSpPr>
          <p:spPr bwMode="auto">
            <a:xfrm>
              <a:off x="5" y="288"/>
              <a:ext cx="2875" cy="1871"/>
            </a:xfrm>
            <a:custGeom>
              <a:avLst/>
              <a:gdLst>
                <a:gd name="T0" fmla="*/ 2875 w 2875"/>
                <a:gd name="T1" fmla="*/ 0 h 1871"/>
                <a:gd name="T2" fmla="*/ 2875 w 2875"/>
                <a:gd name="T3" fmla="*/ 1871 h 1871"/>
                <a:gd name="T4" fmla="*/ 0 w 2875"/>
                <a:gd name="T5" fmla="*/ 1871 h 1871"/>
                <a:gd name="T6" fmla="*/ 0 w 2875"/>
                <a:gd name="T7" fmla="*/ 0 h 1871"/>
                <a:gd name="T8" fmla="*/ 2875 w 2875"/>
                <a:gd name="T9" fmla="*/ 0 h 1871"/>
                <a:gd name="T10" fmla="*/ 2875 w 2875"/>
                <a:gd name="T11" fmla="*/ 0 h 1871"/>
              </a:gdLst>
              <a:ahLst/>
              <a:cxnLst>
                <a:cxn ang="0">
                  <a:pos x="T0" y="T1"/>
                </a:cxn>
                <a:cxn ang="0">
                  <a:pos x="T2" y="T3"/>
                </a:cxn>
                <a:cxn ang="0">
                  <a:pos x="T4" y="T5"/>
                </a:cxn>
                <a:cxn ang="0">
                  <a:pos x="T6" y="T7"/>
                </a:cxn>
                <a:cxn ang="0">
                  <a:pos x="T8" y="T9"/>
                </a:cxn>
                <a:cxn ang="0">
                  <a:pos x="T10" y="T11"/>
                </a:cxn>
              </a:cxnLst>
              <a:rect l="0" t="0" r="r" b="b"/>
              <a:pathLst>
                <a:path w="2875" h="1871">
                  <a:moveTo>
                    <a:pt x="2875" y="0"/>
                  </a:moveTo>
                  <a:lnTo>
                    <a:pt x="2875" y="1871"/>
                  </a:lnTo>
                  <a:lnTo>
                    <a:pt x="0" y="1871"/>
                  </a:lnTo>
                  <a:lnTo>
                    <a:pt x="0" y="0"/>
                  </a:lnTo>
                  <a:lnTo>
                    <a:pt x="2875" y="0"/>
                  </a:lnTo>
                  <a:lnTo>
                    <a:pt x="2875" y="0"/>
                  </a:lnTo>
                  <a:close/>
                </a:path>
              </a:pathLst>
            </a:custGeom>
            <a:solidFill>
              <a:srgbClr val="3D39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6"/>
            <p:cNvSpPr>
              <a:spLocks/>
            </p:cNvSpPr>
            <p:nvPr userDrawn="1"/>
          </p:nvSpPr>
          <p:spPr bwMode="auto">
            <a:xfrm>
              <a:off x="2880" y="2159"/>
              <a:ext cx="2875" cy="2159"/>
            </a:xfrm>
            <a:custGeom>
              <a:avLst/>
              <a:gdLst>
                <a:gd name="T0" fmla="*/ 2875 w 2875"/>
                <a:gd name="T1" fmla="*/ 0 h 2159"/>
                <a:gd name="T2" fmla="*/ 2875 w 2875"/>
                <a:gd name="T3" fmla="*/ 1869 h 2159"/>
                <a:gd name="T4" fmla="*/ 290 w 2875"/>
                <a:gd name="T5" fmla="*/ 1869 h 2159"/>
                <a:gd name="T6" fmla="*/ 0 w 2875"/>
                <a:gd name="T7" fmla="*/ 2159 h 2159"/>
                <a:gd name="T8" fmla="*/ 0 w 2875"/>
                <a:gd name="T9" fmla="*/ 0 h 2159"/>
                <a:gd name="T10" fmla="*/ 2875 w 2875"/>
                <a:gd name="T11" fmla="*/ 0 h 2159"/>
                <a:gd name="T12" fmla="*/ 2875 w 2875"/>
                <a:gd name="T13" fmla="*/ 0 h 2159"/>
              </a:gdLst>
              <a:ahLst/>
              <a:cxnLst>
                <a:cxn ang="0">
                  <a:pos x="T0" y="T1"/>
                </a:cxn>
                <a:cxn ang="0">
                  <a:pos x="T2" y="T3"/>
                </a:cxn>
                <a:cxn ang="0">
                  <a:pos x="T4" y="T5"/>
                </a:cxn>
                <a:cxn ang="0">
                  <a:pos x="T6" y="T7"/>
                </a:cxn>
                <a:cxn ang="0">
                  <a:pos x="T8" y="T9"/>
                </a:cxn>
                <a:cxn ang="0">
                  <a:pos x="T10" y="T11"/>
                </a:cxn>
                <a:cxn ang="0">
                  <a:pos x="T12" y="T13"/>
                </a:cxn>
              </a:cxnLst>
              <a:rect l="0" t="0" r="r" b="b"/>
              <a:pathLst>
                <a:path w="2875" h="2159">
                  <a:moveTo>
                    <a:pt x="2875" y="0"/>
                  </a:moveTo>
                  <a:lnTo>
                    <a:pt x="2875" y="1869"/>
                  </a:lnTo>
                  <a:lnTo>
                    <a:pt x="290" y="1869"/>
                  </a:lnTo>
                  <a:lnTo>
                    <a:pt x="0" y="2159"/>
                  </a:lnTo>
                  <a:lnTo>
                    <a:pt x="0" y="0"/>
                  </a:lnTo>
                  <a:lnTo>
                    <a:pt x="2875" y="0"/>
                  </a:lnTo>
                  <a:lnTo>
                    <a:pt x="2875" y="0"/>
                  </a:lnTo>
                  <a:close/>
                </a:path>
              </a:pathLst>
            </a:custGeom>
            <a:solidFill>
              <a:srgbClr val="F2120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7"/>
            <p:cNvSpPr>
              <a:spLocks/>
            </p:cNvSpPr>
            <p:nvPr userDrawn="1"/>
          </p:nvSpPr>
          <p:spPr bwMode="auto">
            <a:xfrm>
              <a:off x="5" y="2159"/>
              <a:ext cx="2875" cy="2155"/>
            </a:xfrm>
            <a:custGeom>
              <a:avLst/>
              <a:gdLst>
                <a:gd name="T0" fmla="*/ 2875 w 2875"/>
                <a:gd name="T1" fmla="*/ 0 h 2155"/>
                <a:gd name="T2" fmla="*/ 2875 w 2875"/>
                <a:gd name="T3" fmla="*/ 2155 h 2155"/>
                <a:gd name="T4" fmla="*/ 0 w 2875"/>
                <a:gd name="T5" fmla="*/ 2155 h 2155"/>
                <a:gd name="T6" fmla="*/ 0 w 2875"/>
                <a:gd name="T7" fmla="*/ 0 h 2155"/>
                <a:gd name="T8" fmla="*/ 2875 w 2875"/>
                <a:gd name="T9" fmla="*/ 0 h 2155"/>
                <a:gd name="T10" fmla="*/ 2875 w 2875"/>
                <a:gd name="T11" fmla="*/ 0 h 2155"/>
              </a:gdLst>
              <a:ahLst/>
              <a:cxnLst>
                <a:cxn ang="0">
                  <a:pos x="T0" y="T1"/>
                </a:cxn>
                <a:cxn ang="0">
                  <a:pos x="T2" y="T3"/>
                </a:cxn>
                <a:cxn ang="0">
                  <a:pos x="T4" y="T5"/>
                </a:cxn>
                <a:cxn ang="0">
                  <a:pos x="T6" y="T7"/>
                </a:cxn>
                <a:cxn ang="0">
                  <a:pos x="T8" y="T9"/>
                </a:cxn>
                <a:cxn ang="0">
                  <a:pos x="T10" y="T11"/>
                </a:cxn>
              </a:cxnLst>
              <a:rect l="0" t="0" r="r" b="b"/>
              <a:pathLst>
                <a:path w="2875" h="2155">
                  <a:moveTo>
                    <a:pt x="2875" y="0"/>
                  </a:moveTo>
                  <a:lnTo>
                    <a:pt x="2875" y="2155"/>
                  </a:lnTo>
                  <a:lnTo>
                    <a:pt x="0" y="2155"/>
                  </a:lnTo>
                  <a:lnTo>
                    <a:pt x="0" y="0"/>
                  </a:lnTo>
                  <a:lnTo>
                    <a:pt x="2875" y="0"/>
                  </a:lnTo>
                  <a:lnTo>
                    <a:pt x="2875" y="0"/>
                  </a:lnTo>
                  <a:close/>
                </a:path>
              </a:pathLst>
            </a:custGeom>
            <a:solidFill>
              <a:srgbClr val="8C857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8"/>
            <p:cNvSpPr>
              <a:spLocks/>
            </p:cNvSpPr>
            <p:nvPr userDrawn="1"/>
          </p:nvSpPr>
          <p:spPr bwMode="auto">
            <a:xfrm>
              <a:off x="2880" y="-2"/>
              <a:ext cx="2875" cy="2161"/>
            </a:xfrm>
            <a:custGeom>
              <a:avLst/>
              <a:gdLst>
                <a:gd name="T0" fmla="*/ 2875 w 2875"/>
                <a:gd name="T1" fmla="*/ 0 h 2161"/>
                <a:gd name="T2" fmla="*/ 2875 w 2875"/>
                <a:gd name="T3" fmla="*/ 2161 h 2161"/>
                <a:gd name="T4" fmla="*/ 0 w 2875"/>
                <a:gd name="T5" fmla="*/ 2161 h 2161"/>
                <a:gd name="T6" fmla="*/ 0 w 2875"/>
                <a:gd name="T7" fmla="*/ 290 h 2161"/>
                <a:gd name="T8" fmla="*/ 290 w 2875"/>
                <a:gd name="T9" fmla="*/ 0 h 2161"/>
                <a:gd name="T10" fmla="*/ 2875 w 2875"/>
                <a:gd name="T11" fmla="*/ 0 h 2161"/>
                <a:gd name="T12" fmla="*/ 2875 w 2875"/>
                <a:gd name="T13" fmla="*/ 0 h 2161"/>
              </a:gdLst>
              <a:ahLst/>
              <a:cxnLst>
                <a:cxn ang="0">
                  <a:pos x="T0" y="T1"/>
                </a:cxn>
                <a:cxn ang="0">
                  <a:pos x="T2" y="T3"/>
                </a:cxn>
                <a:cxn ang="0">
                  <a:pos x="T4" y="T5"/>
                </a:cxn>
                <a:cxn ang="0">
                  <a:pos x="T6" y="T7"/>
                </a:cxn>
                <a:cxn ang="0">
                  <a:pos x="T8" y="T9"/>
                </a:cxn>
                <a:cxn ang="0">
                  <a:pos x="T10" y="T11"/>
                </a:cxn>
                <a:cxn ang="0">
                  <a:pos x="T12" y="T13"/>
                </a:cxn>
              </a:cxnLst>
              <a:rect l="0" t="0" r="r" b="b"/>
              <a:pathLst>
                <a:path w="2875" h="2161">
                  <a:moveTo>
                    <a:pt x="2875" y="0"/>
                  </a:moveTo>
                  <a:lnTo>
                    <a:pt x="2875" y="2161"/>
                  </a:lnTo>
                  <a:lnTo>
                    <a:pt x="0" y="2161"/>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9"/>
            <p:cNvSpPr>
              <a:spLocks/>
            </p:cNvSpPr>
            <p:nvPr userDrawn="1"/>
          </p:nvSpPr>
          <p:spPr bwMode="auto">
            <a:xfrm>
              <a:off x="4659" y="234"/>
              <a:ext cx="182" cy="233"/>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0"/>
            <p:cNvSpPr>
              <a:spLocks/>
            </p:cNvSpPr>
            <p:nvPr userDrawn="1"/>
          </p:nvSpPr>
          <p:spPr bwMode="auto">
            <a:xfrm>
              <a:off x="4693" y="262"/>
              <a:ext cx="114" cy="149"/>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1"/>
            <p:cNvSpPr>
              <a:spLocks/>
            </p:cNvSpPr>
            <p:nvPr userDrawn="1"/>
          </p:nvSpPr>
          <p:spPr bwMode="auto">
            <a:xfrm>
              <a:off x="4709" y="294"/>
              <a:ext cx="82" cy="97"/>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2"/>
            <p:cNvSpPr>
              <a:spLocks noEditPoints="1"/>
            </p:cNvSpPr>
            <p:nvPr userDrawn="1"/>
          </p:nvSpPr>
          <p:spPr bwMode="auto">
            <a:xfrm>
              <a:off x="4659" y="503"/>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3"/>
            <p:cNvSpPr>
              <a:spLocks/>
            </p:cNvSpPr>
            <p:nvPr userDrawn="1"/>
          </p:nvSpPr>
          <p:spPr bwMode="auto">
            <a:xfrm>
              <a:off x="4695" y="503"/>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4"/>
            <p:cNvSpPr>
              <a:spLocks/>
            </p:cNvSpPr>
            <p:nvPr userDrawn="1"/>
          </p:nvSpPr>
          <p:spPr bwMode="auto">
            <a:xfrm>
              <a:off x="4729" y="501"/>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5"/>
            <p:cNvSpPr>
              <a:spLocks/>
            </p:cNvSpPr>
            <p:nvPr userDrawn="1"/>
          </p:nvSpPr>
          <p:spPr bwMode="auto">
            <a:xfrm>
              <a:off x="4759" y="503"/>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16"/>
            <p:cNvSpPr>
              <a:spLocks noEditPoints="1"/>
            </p:cNvSpPr>
            <p:nvPr userDrawn="1"/>
          </p:nvSpPr>
          <p:spPr bwMode="auto">
            <a:xfrm>
              <a:off x="4791"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17"/>
            <p:cNvSpPr>
              <a:spLocks noEditPoints="1"/>
            </p:cNvSpPr>
            <p:nvPr userDrawn="1"/>
          </p:nvSpPr>
          <p:spPr bwMode="auto">
            <a:xfrm>
              <a:off x="4821" y="503"/>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18"/>
            <p:cNvSpPr>
              <a:spLocks/>
            </p:cNvSpPr>
            <p:nvPr userDrawn="1"/>
          </p:nvSpPr>
          <p:spPr bwMode="auto">
            <a:xfrm>
              <a:off x="4859"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19"/>
            <p:cNvSpPr>
              <a:spLocks/>
            </p:cNvSpPr>
            <p:nvPr userDrawn="1"/>
          </p:nvSpPr>
          <p:spPr bwMode="auto">
            <a:xfrm>
              <a:off x="4887"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0"/>
            <p:cNvSpPr>
              <a:spLocks noEditPoints="1"/>
            </p:cNvSpPr>
            <p:nvPr userDrawn="1"/>
          </p:nvSpPr>
          <p:spPr bwMode="auto">
            <a:xfrm>
              <a:off x="4897" y="503"/>
              <a:ext cx="33" cy="32"/>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1"/>
            <p:cNvSpPr>
              <a:spLocks/>
            </p:cNvSpPr>
            <p:nvPr userDrawn="1"/>
          </p:nvSpPr>
          <p:spPr bwMode="auto">
            <a:xfrm>
              <a:off x="4936" y="503"/>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2"/>
            <p:cNvSpPr>
              <a:spLocks/>
            </p:cNvSpPr>
            <p:nvPr userDrawn="1"/>
          </p:nvSpPr>
          <p:spPr bwMode="auto">
            <a:xfrm>
              <a:off x="4986"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3"/>
            <p:cNvSpPr>
              <a:spLocks noEditPoints="1"/>
            </p:cNvSpPr>
            <p:nvPr userDrawn="1"/>
          </p:nvSpPr>
          <p:spPr bwMode="auto">
            <a:xfrm>
              <a:off x="5018" y="503"/>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4"/>
            <p:cNvSpPr>
              <a:spLocks/>
            </p:cNvSpPr>
            <p:nvPr userDrawn="1"/>
          </p:nvSpPr>
          <p:spPr bwMode="auto">
            <a:xfrm>
              <a:off x="5050" y="503"/>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5"/>
            <p:cNvSpPr>
              <a:spLocks/>
            </p:cNvSpPr>
            <p:nvPr userDrawn="1"/>
          </p:nvSpPr>
          <p:spPr bwMode="auto">
            <a:xfrm>
              <a:off x="5082" y="503"/>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26"/>
            <p:cNvSpPr>
              <a:spLocks noEditPoints="1"/>
            </p:cNvSpPr>
            <p:nvPr userDrawn="1"/>
          </p:nvSpPr>
          <p:spPr bwMode="auto">
            <a:xfrm>
              <a:off x="5116" y="501"/>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27"/>
            <p:cNvSpPr>
              <a:spLocks/>
            </p:cNvSpPr>
            <p:nvPr userDrawn="1"/>
          </p:nvSpPr>
          <p:spPr bwMode="auto">
            <a:xfrm>
              <a:off x="5154"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28"/>
            <p:cNvSpPr>
              <a:spLocks/>
            </p:cNvSpPr>
            <p:nvPr userDrawn="1"/>
          </p:nvSpPr>
          <p:spPr bwMode="auto">
            <a:xfrm>
              <a:off x="5182"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29"/>
            <p:cNvSpPr>
              <a:spLocks/>
            </p:cNvSpPr>
            <p:nvPr userDrawn="1"/>
          </p:nvSpPr>
          <p:spPr bwMode="auto">
            <a:xfrm>
              <a:off x="5192"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0"/>
            <p:cNvSpPr>
              <a:spLocks/>
            </p:cNvSpPr>
            <p:nvPr userDrawn="1"/>
          </p:nvSpPr>
          <p:spPr bwMode="auto">
            <a:xfrm>
              <a:off x="5244" y="503"/>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1"/>
            <p:cNvSpPr>
              <a:spLocks/>
            </p:cNvSpPr>
            <p:nvPr userDrawn="1"/>
          </p:nvSpPr>
          <p:spPr bwMode="auto">
            <a:xfrm>
              <a:off x="5280" y="503"/>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2"/>
            <p:cNvSpPr>
              <a:spLocks/>
            </p:cNvSpPr>
            <p:nvPr userDrawn="1"/>
          </p:nvSpPr>
          <p:spPr bwMode="auto">
            <a:xfrm>
              <a:off x="5314"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3"/>
            <p:cNvSpPr>
              <a:spLocks/>
            </p:cNvSpPr>
            <p:nvPr userDrawn="1"/>
          </p:nvSpPr>
          <p:spPr bwMode="auto">
            <a:xfrm>
              <a:off x="5326" y="503"/>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4"/>
            <p:cNvSpPr>
              <a:spLocks/>
            </p:cNvSpPr>
            <p:nvPr userDrawn="1"/>
          </p:nvSpPr>
          <p:spPr bwMode="auto">
            <a:xfrm>
              <a:off x="5362" y="503"/>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5"/>
            <p:cNvSpPr>
              <a:spLocks noEditPoints="1"/>
            </p:cNvSpPr>
            <p:nvPr userDrawn="1"/>
          </p:nvSpPr>
          <p:spPr bwMode="auto">
            <a:xfrm>
              <a:off x="5394"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36"/>
            <p:cNvSpPr>
              <a:spLocks/>
            </p:cNvSpPr>
            <p:nvPr userDrawn="1"/>
          </p:nvSpPr>
          <p:spPr bwMode="auto">
            <a:xfrm>
              <a:off x="5424" y="501"/>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37"/>
            <p:cNvSpPr>
              <a:spLocks/>
            </p:cNvSpPr>
            <p:nvPr userDrawn="1"/>
          </p:nvSpPr>
          <p:spPr bwMode="auto">
            <a:xfrm>
              <a:off x="5458"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Freeform 38"/>
            <p:cNvSpPr>
              <a:spLocks/>
            </p:cNvSpPr>
            <p:nvPr userDrawn="1"/>
          </p:nvSpPr>
          <p:spPr bwMode="auto">
            <a:xfrm>
              <a:off x="5470" y="503"/>
              <a:ext cx="53" cy="32"/>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Freeform 39"/>
            <p:cNvSpPr>
              <a:spLocks/>
            </p:cNvSpPr>
            <p:nvPr userDrawn="1"/>
          </p:nvSpPr>
          <p:spPr bwMode="auto">
            <a:xfrm>
              <a:off x="5340" y="234"/>
              <a:ext cx="183" cy="229"/>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40"/>
            <p:cNvSpPr>
              <a:spLocks/>
            </p:cNvSpPr>
            <p:nvPr userDrawn="1"/>
          </p:nvSpPr>
          <p:spPr bwMode="auto">
            <a:xfrm>
              <a:off x="5096" y="230"/>
              <a:ext cx="212" cy="233"/>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41"/>
            <p:cNvSpPr>
              <a:spLocks noEditPoints="1"/>
            </p:cNvSpPr>
            <p:nvPr userDrawn="1"/>
          </p:nvSpPr>
          <p:spPr bwMode="auto">
            <a:xfrm>
              <a:off x="4885" y="234"/>
              <a:ext cx="207" cy="225"/>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5003514" y="1366463"/>
            <a:ext cx="3770617" cy="1137024"/>
          </a:xfrm>
        </p:spPr>
        <p:txBody>
          <a:bodyPr anchor="b">
            <a:normAutofit/>
          </a:bodyPr>
          <a:lstStyle>
            <a:lvl1pPr algn="l">
              <a:defRPr sz="2895" b="1">
                <a:solidFill>
                  <a:schemeClr val="bg1"/>
                </a:solidFill>
                <a:latin typeface="Arial" panose="020B0604020202020204" pitchFamily="34" charset="0"/>
                <a:cs typeface="Arial" panose="020B0604020202020204" pitchFamily="34" charset="0"/>
              </a:defRPr>
            </a:lvl1pPr>
          </a:lstStyle>
          <a:p>
            <a:r>
              <a:rPr lang="en-US" dirty="0"/>
              <a:t>Heading</a:t>
            </a:r>
          </a:p>
        </p:txBody>
      </p:sp>
      <p:sp>
        <p:nvSpPr>
          <p:cNvPr id="3" name="Subtitle 2"/>
          <p:cNvSpPr>
            <a:spLocks noGrp="1"/>
          </p:cNvSpPr>
          <p:nvPr>
            <p:ph type="subTitle" idx="1" hasCustomPrompt="1"/>
          </p:nvPr>
        </p:nvSpPr>
        <p:spPr>
          <a:xfrm>
            <a:off x="5003514" y="2503489"/>
            <a:ext cx="3770617" cy="599309"/>
          </a:xfrm>
        </p:spPr>
        <p:txBody>
          <a:bodyPr anchor="b">
            <a:noAutofit/>
          </a:bodyPr>
          <a:lstStyle>
            <a:lvl1pPr marL="0" indent="0" algn="l">
              <a:buNone/>
              <a:defRPr sz="1397">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Subheading</a:t>
            </a:r>
          </a:p>
        </p:txBody>
      </p:sp>
      <p:sp>
        <p:nvSpPr>
          <p:cNvPr id="8" name="Text Placeholder 7"/>
          <p:cNvSpPr>
            <a:spLocks noGrp="1"/>
          </p:cNvSpPr>
          <p:nvPr>
            <p:ph type="body" sz="quarter" idx="10" hasCustomPrompt="1"/>
          </p:nvPr>
        </p:nvSpPr>
        <p:spPr>
          <a:xfrm>
            <a:off x="5003801" y="3944938"/>
            <a:ext cx="3770313" cy="294882"/>
          </a:xfrm>
        </p:spPr>
        <p:txBody>
          <a:bodyPr>
            <a:normAutofit/>
          </a:bodyPr>
          <a:lstStyle>
            <a:lvl1pPr marL="0" indent="0">
              <a:buNone/>
              <a:defRPr sz="1198"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p:ph type="body" sz="quarter" idx="11" hasCustomPrompt="1"/>
          </p:nvPr>
        </p:nvSpPr>
        <p:spPr>
          <a:xfrm>
            <a:off x="5003801" y="4239822"/>
            <a:ext cx="3770313" cy="328773"/>
          </a:xfrm>
        </p:spPr>
        <p:txBody>
          <a:bodyPr>
            <a:normAutofit/>
          </a:bodyPr>
          <a:lstStyle>
            <a:lvl1pPr marL="0" indent="0">
              <a:buNone/>
              <a:defRPr sz="1198"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11" name="Picture Placeholder 10"/>
          <p:cNvSpPr>
            <a:spLocks noGrp="1"/>
          </p:cNvSpPr>
          <p:nvPr>
            <p:ph type="pic" sz="quarter" idx="12"/>
          </p:nvPr>
        </p:nvSpPr>
        <p:spPr>
          <a:xfrm>
            <a:off x="1" y="469901"/>
            <a:ext cx="4565649" cy="2952750"/>
          </a:xfrm>
        </p:spPr>
        <p:txBody>
          <a:bodyPr>
            <a:normAutofit/>
          </a:bodyPr>
          <a:lstStyle>
            <a:lvl1pPr marL="0" indent="0">
              <a:buNone/>
              <a:defRPr sz="9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
        <p:nvSpPr>
          <p:cNvPr id="13" name="Picture Placeholder 10"/>
          <p:cNvSpPr>
            <a:spLocks noGrp="1"/>
          </p:cNvSpPr>
          <p:nvPr>
            <p:ph type="pic" sz="quarter" idx="13"/>
          </p:nvPr>
        </p:nvSpPr>
        <p:spPr>
          <a:xfrm>
            <a:off x="1" y="3422652"/>
            <a:ext cx="4565649" cy="3435349"/>
          </a:xfrm>
        </p:spPr>
        <p:txBody>
          <a:bodyPr>
            <a:normAutofit/>
          </a:bodyPr>
          <a:lstStyle>
            <a:lvl1pPr marL="0" indent="0">
              <a:buNone/>
              <a:defRPr sz="9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1585848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co-branded">
    <p:spTree>
      <p:nvGrpSpPr>
        <p:cNvPr id="1" name=""/>
        <p:cNvGrpSpPr/>
        <p:nvPr/>
      </p:nvGrpSpPr>
      <p:grpSpPr>
        <a:xfrm>
          <a:off x="0" y="0"/>
          <a:ext cx="0" cy="0"/>
          <a:chOff x="0" y="0"/>
          <a:chExt cx="0" cy="0"/>
        </a:xfrm>
      </p:grpSpPr>
      <p:sp>
        <p:nvSpPr>
          <p:cNvPr id="42" name="Rectangle 41"/>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userDrawn="1">
            <p:ph type="title" hasCustomPrompt="1"/>
          </p:nvPr>
        </p:nvSpPr>
        <p:spPr>
          <a:xfrm>
            <a:off x="873125" y="2658154"/>
            <a:ext cx="3867150" cy="580346"/>
          </a:xfrm>
        </p:spPr>
        <p:txBody>
          <a:bodyPr anchor="b">
            <a:noAutofit/>
          </a:bodyPr>
          <a:lstStyle>
            <a:lvl1pPr>
              <a:defRPr sz="289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7" name="Subtitle 2"/>
          <p:cNvSpPr>
            <a:spLocks noGrp="1"/>
          </p:cNvSpPr>
          <p:nvPr userDrawn="1">
            <p:ph type="subTitle" idx="1" hasCustomPrompt="1"/>
          </p:nvPr>
        </p:nvSpPr>
        <p:spPr>
          <a:xfrm>
            <a:off x="873125" y="3652840"/>
            <a:ext cx="3867150" cy="447675"/>
          </a:xfrm>
        </p:spPr>
        <p:txBody>
          <a:bodyPr anchor="b">
            <a:noAutofit/>
          </a:bodyPr>
          <a:lstStyle>
            <a:lvl1pPr marL="0" indent="0" algn="l">
              <a:buNone/>
              <a:defRPr sz="1397">
                <a:solidFill>
                  <a:srgbClr val="3D3935"/>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Subheading</a:t>
            </a:r>
          </a:p>
        </p:txBody>
      </p:sp>
      <p:sp>
        <p:nvSpPr>
          <p:cNvPr id="8" name="Text Placeholder 7"/>
          <p:cNvSpPr>
            <a:spLocks noGrp="1"/>
          </p:cNvSpPr>
          <p:nvPr userDrawn="1">
            <p:ph type="body" sz="quarter" idx="10" hasCustomPrompt="1"/>
          </p:nvPr>
        </p:nvSpPr>
        <p:spPr>
          <a:xfrm>
            <a:off x="873125" y="5316538"/>
            <a:ext cx="3770313" cy="294882"/>
          </a:xfrm>
        </p:spPr>
        <p:txBody>
          <a:bodyPr>
            <a:normAutofit/>
          </a:bodyPr>
          <a:lstStyle>
            <a:lvl1pPr marL="0" indent="0">
              <a:buNone/>
              <a:defRPr sz="1198" b="1" baseline="0">
                <a:solidFill>
                  <a:srgbClr val="3D3935"/>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userDrawn="1">
            <p:ph type="body" sz="quarter" idx="11" hasCustomPrompt="1"/>
          </p:nvPr>
        </p:nvSpPr>
        <p:spPr>
          <a:xfrm>
            <a:off x="873125" y="5611422"/>
            <a:ext cx="3770313" cy="328773"/>
          </a:xfrm>
        </p:spPr>
        <p:txBody>
          <a:bodyPr>
            <a:normAutofit/>
          </a:bodyPr>
          <a:lstStyle>
            <a:lvl1pPr marL="0" indent="0">
              <a:buNone/>
              <a:defRPr sz="1198" baseline="0">
                <a:solidFill>
                  <a:srgbClr val="3D3935"/>
                </a:solidFill>
                <a:latin typeface="Arial" panose="020B0604020202020204" pitchFamily="34" charset="0"/>
                <a:cs typeface="Arial" panose="020B0604020202020204" pitchFamily="34" charset="0"/>
              </a:defRPr>
            </a:lvl1pPr>
          </a:lstStyle>
          <a:p>
            <a:pPr lvl="0"/>
            <a:r>
              <a:rPr lang="en-AU" dirty="0"/>
              <a:t>Date</a:t>
            </a:r>
          </a:p>
        </p:txBody>
      </p:sp>
      <p:sp>
        <p:nvSpPr>
          <p:cNvPr id="44" name="Picture Placeholder 85"/>
          <p:cNvSpPr>
            <a:spLocks noGrp="1"/>
          </p:cNvSpPr>
          <p:nvPr userDrawn="1">
            <p:ph type="pic" sz="quarter" idx="13" hasCustomPrompt="1"/>
          </p:nvPr>
        </p:nvSpPr>
        <p:spPr>
          <a:xfrm>
            <a:off x="6639195" y="2653278"/>
            <a:ext cx="1766125" cy="502731"/>
          </a:xfrm>
        </p:spPr>
        <p:txBody>
          <a:bodyPr/>
          <a:lstStyle>
            <a:lvl1pPr marL="0" indent="0">
              <a:buNone/>
              <a:defRPr sz="900">
                <a:solidFill>
                  <a:srgbClr val="3D3935"/>
                </a:solidFill>
                <a:latin typeface="Arial" panose="020B0604020202020204" pitchFamily="34" charset="0"/>
                <a:cs typeface="Arial" panose="020B0604020202020204" pitchFamily="34" charset="0"/>
              </a:defRPr>
            </a:lvl1pPr>
          </a:lstStyle>
          <a:p>
            <a:r>
              <a:rPr lang="en-US" dirty="0"/>
              <a:t>Drag co-branded logo to placeholder or click icon to add</a:t>
            </a:r>
            <a:endParaRPr lang="en-AU" dirty="0"/>
          </a:p>
        </p:txBody>
      </p:sp>
      <p:grpSp>
        <p:nvGrpSpPr>
          <p:cNvPr id="45" name="Group 44"/>
          <p:cNvGrpSpPr/>
          <p:nvPr userDrawn="1"/>
        </p:nvGrpSpPr>
        <p:grpSpPr>
          <a:xfrm>
            <a:off x="7401259" y="6092825"/>
            <a:ext cx="1374019" cy="484188"/>
            <a:chOff x="7401258" y="365125"/>
            <a:chExt cx="1374019" cy="484188"/>
          </a:xfrm>
        </p:grpSpPr>
        <p:sp>
          <p:nvSpPr>
            <p:cNvPr id="46"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8"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01568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44" name="Rectangle 43"/>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AutoShape 3"/>
          <p:cNvSpPr>
            <a:spLocks noChangeAspect="1" noChangeArrowheads="1" noTextEdit="1"/>
          </p:cNvSpPr>
          <p:nvPr userDrawn="1"/>
        </p:nvSpPr>
        <p:spPr bwMode="auto">
          <a:xfrm>
            <a:off x="1" y="0"/>
            <a:ext cx="9144227"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5"/>
          <p:cNvSpPr>
            <a:spLocks/>
          </p:cNvSpPr>
          <p:nvPr userDrawn="1"/>
        </p:nvSpPr>
        <p:spPr bwMode="auto">
          <a:xfrm>
            <a:off x="0" y="457200"/>
            <a:ext cx="4572114" cy="6388100"/>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8C857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6"/>
          <p:cNvSpPr>
            <a:spLocks/>
          </p:cNvSpPr>
          <p:nvPr userDrawn="1"/>
        </p:nvSpPr>
        <p:spPr bwMode="auto">
          <a:xfrm>
            <a:off x="4572114" y="-3175"/>
            <a:ext cx="4572114" cy="6858000"/>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nvGrpSpPr>
          <p:cNvPr id="2" name="Group 1"/>
          <p:cNvGrpSpPr/>
          <p:nvPr userDrawn="1"/>
        </p:nvGrpSpPr>
        <p:grpSpPr>
          <a:xfrm>
            <a:off x="7401259" y="365125"/>
            <a:ext cx="1374019" cy="484188"/>
            <a:chOff x="7401258" y="365125"/>
            <a:chExt cx="1374019" cy="484188"/>
          </a:xfrm>
        </p:grpSpPr>
        <p:sp>
          <p:nvSpPr>
            <p:cNvPr id="48"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5"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6"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7"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8"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9"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0"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1"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2"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3"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4"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5"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6"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7"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8"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9"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0"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1"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2"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3"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4"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5"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6"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7"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8"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9"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0"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81" name="Title 1"/>
          <p:cNvSpPr>
            <a:spLocks noGrp="1"/>
          </p:cNvSpPr>
          <p:nvPr userDrawn="1">
            <p:ph type="title" hasCustomPrompt="1"/>
          </p:nvPr>
        </p:nvSpPr>
        <p:spPr>
          <a:xfrm>
            <a:off x="5038725" y="2848654"/>
            <a:ext cx="3867150" cy="580346"/>
          </a:xfrm>
        </p:spPr>
        <p:txBody>
          <a:bodyPr anchor="b">
            <a:noAutofit/>
          </a:bodyPr>
          <a:lstStyle>
            <a:lvl1pPr>
              <a:defRPr sz="2895" b="1">
                <a:solidFill>
                  <a:schemeClr val="bg1"/>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2" name="Subtitle 2"/>
          <p:cNvSpPr>
            <a:spLocks noGrp="1"/>
          </p:cNvSpPr>
          <p:nvPr userDrawn="1">
            <p:ph type="subTitle" idx="1" hasCustomPrompt="1"/>
          </p:nvPr>
        </p:nvSpPr>
        <p:spPr>
          <a:xfrm>
            <a:off x="5038725" y="3652840"/>
            <a:ext cx="3867150" cy="447675"/>
          </a:xfrm>
        </p:spPr>
        <p:txBody>
          <a:bodyPr anchor="b">
            <a:noAutofit/>
          </a:bodyPr>
          <a:lstStyle>
            <a:lvl1pPr marL="0" indent="0" algn="l">
              <a:buNone/>
              <a:defRPr sz="1397">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Subheading</a:t>
            </a:r>
          </a:p>
        </p:txBody>
      </p:sp>
      <p:sp>
        <p:nvSpPr>
          <p:cNvPr id="83" name="Text Placeholder 7"/>
          <p:cNvSpPr>
            <a:spLocks noGrp="1"/>
          </p:cNvSpPr>
          <p:nvPr userDrawn="1">
            <p:ph type="body" sz="quarter" idx="10" hasCustomPrompt="1"/>
          </p:nvPr>
        </p:nvSpPr>
        <p:spPr>
          <a:xfrm>
            <a:off x="5038726" y="5316538"/>
            <a:ext cx="3770313" cy="294882"/>
          </a:xfrm>
        </p:spPr>
        <p:txBody>
          <a:bodyPr>
            <a:normAutofit/>
          </a:bodyPr>
          <a:lstStyle>
            <a:lvl1pPr marL="0" indent="0">
              <a:buNone/>
              <a:defRPr sz="1198"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84" name="Text Placeholder 7"/>
          <p:cNvSpPr>
            <a:spLocks noGrp="1"/>
          </p:cNvSpPr>
          <p:nvPr userDrawn="1">
            <p:ph type="body" sz="quarter" idx="11" hasCustomPrompt="1"/>
          </p:nvPr>
        </p:nvSpPr>
        <p:spPr>
          <a:xfrm>
            <a:off x="5038726" y="5611422"/>
            <a:ext cx="3770313" cy="328773"/>
          </a:xfrm>
        </p:spPr>
        <p:txBody>
          <a:bodyPr>
            <a:normAutofit/>
          </a:bodyPr>
          <a:lstStyle>
            <a:lvl1pPr marL="0" indent="0">
              <a:buNone/>
              <a:defRPr sz="1198"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86" name="Picture Placeholder 85"/>
          <p:cNvSpPr>
            <a:spLocks noGrp="1"/>
          </p:cNvSpPr>
          <p:nvPr userDrawn="1">
            <p:ph type="pic" sz="quarter" idx="12"/>
          </p:nvPr>
        </p:nvSpPr>
        <p:spPr>
          <a:xfrm>
            <a:off x="0" y="457200"/>
            <a:ext cx="4572000" cy="6388100"/>
          </a:xfrm>
        </p:spPr>
        <p:txBody>
          <a:bodyPr/>
          <a:lstStyle>
            <a:lvl1pPr marL="0" indent="0">
              <a:buNone/>
              <a:defRPr sz="9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1384440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2" name="Rectangle 41"/>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60732720"/>
              </p:ext>
            </p:ext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Object 2" hidden="1"/>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116" name="Freeform 5"/>
          <p:cNvSpPr>
            <a:spLocks/>
          </p:cNvSpPr>
          <p:nvPr userDrawn="1"/>
        </p:nvSpPr>
        <p:spPr bwMode="auto">
          <a:xfrm>
            <a:off x="0" y="457202"/>
            <a:ext cx="4572232" cy="6388107"/>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F2120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6"/>
          <p:cNvSpPr>
            <a:spLocks/>
          </p:cNvSpPr>
          <p:nvPr userDrawn="1"/>
        </p:nvSpPr>
        <p:spPr bwMode="auto">
          <a:xfrm>
            <a:off x="4572233" y="-3174"/>
            <a:ext cx="4572232" cy="6858007"/>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AutoShape 3"/>
          <p:cNvSpPr>
            <a:spLocks noChangeAspect="1" noChangeArrowheads="1" noTextEdit="1"/>
          </p:cNvSpPr>
          <p:nvPr userDrawn="1"/>
        </p:nvSpPr>
        <p:spPr bwMode="auto">
          <a:xfrm>
            <a:off x="1" y="3"/>
            <a:ext cx="9144464" cy="68580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Title 1"/>
          <p:cNvSpPr>
            <a:spLocks noGrp="1"/>
          </p:cNvSpPr>
          <p:nvPr userDrawn="1">
            <p:ph type="title" hasCustomPrompt="1"/>
          </p:nvPr>
        </p:nvSpPr>
        <p:spPr>
          <a:xfrm>
            <a:off x="4804756" y="1054319"/>
            <a:ext cx="4247805" cy="4749367"/>
          </a:xfrm>
        </p:spPr>
        <p:txBody>
          <a:bodyPr lIns="0" tIns="0" rIns="0" bIns="0" anchor="ctr" anchorCtr="0">
            <a:noAutofit/>
          </a:bodyPr>
          <a:lstStyle>
            <a:lvl1pPr>
              <a:defRPr sz="28393" spc="-113">
                <a:solidFill>
                  <a:schemeClr val="bg1"/>
                </a:solidFill>
                <a:latin typeface="Arial" panose="020B0604020202020204" pitchFamily="34" charset="0"/>
                <a:cs typeface="Arial" panose="020B0604020202020204" pitchFamily="34" charset="0"/>
              </a:defRPr>
            </a:lvl1pPr>
          </a:lstStyle>
          <a:p>
            <a:r>
              <a:rPr lang="en-US" dirty="0"/>
              <a:t>1</a:t>
            </a:r>
            <a:endParaRPr lang="en-AU" dirty="0"/>
          </a:p>
        </p:txBody>
      </p:sp>
      <p:sp>
        <p:nvSpPr>
          <p:cNvPr id="47" name="Text Placeholder 46"/>
          <p:cNvSpPr>
            <a:spLocks noGrp="1"/>
          </p:cNvSpPr>
          <p:nvPr userDrawn="1">
            <p:ph type="body" sz="quarter" idx="10" hasCustomPrompt="1"/>
          </p:nvPr>
        </p:nvSpPr>
        <p:spPr>
          <a:xfrm>
            <a:off x="374421" y="3246829"/>
            <a:ext cx="3092450" cy="357995"/>
          </a:xfrm>
        </p:spPr>
        <p:txBody>
          <a:bodyPr>
            <a:normAutofit/>
          </a:bodyPr>
          <a:lstStyle>
            <a:lvl1pPr marL="0" indent="0">
              <a:buNone/>
              <a:defRPr sz="1498">
                <a:solidFill>
                  <a:schemeClr val="bg1"/>
                </a:solidFill>
                <a:latin typeface="Arial" panose="020B0604020202020204" pitchFamily="34" charset="0"/>
                <a:cs typeface="Arial" panose="020B0604020202020204" pitchFamily="34" charset="0"/>
              </a:defRPr>
            </a:lvl1pPr>
          </a:lstStyle>
          <a:p>
            <a:pPr lvl="0"/>
            <a:r>
              <a:rPr lang="en-AU" dirty="0"/>
              <a:t>Section title</a:t>
            </a:r>
          </a:p>
        </p:txBody>
      </p:sp>
      <p:grpSp>
        <p:nvGrpSpPr>
          <p:cNvPr id="82" name="Group 81"/>
          <p:cNvGrpSpPr/>
          <p:nvPr userDrawn="1"/>
        </p:nvGrpSpPr>
        <p:grpSpPr>
          <a:xfrm>
            <a:off x="7401259" y="365125"/>
            <a:ext cx="1374019" cy="484188"/>
            <a:chOff x="7401258" y="365125"/>
            <a:chExt cx="1374019" cy="484188"/>
          </a:xfrm>
        </p:grpSpPr>
        <p:sp>
          <p:nvSpPr>
            <p:cNvPr id="83"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4"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5"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6"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7"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8"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88683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userDrawn="1">
            <p:custDataLst>
              <p:tags r:id="rId1"/>
            </p:custDataLst>
            <p:extLst>
              <p:ext uri="{D42A27DB-BD31-4B8C-83A1-F6EECF244321}">
                <p14:modId xmlns:p14="http://schemas.microsoft.com/office/powerpoint/2010/main" val="2917153327"/>
              </p:ext>
            </p:ext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7" name="Object 46" hidden="1"/>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2" name="Title 1"/>
          <p:cNvSpPr>
            <a:spLocks noGrp="1"/>
          </p:cNvSpPr>
          <p:nvPr userDrawn="1">
            <p:ph type="title" hasCustomPrompt="1"/>
          </p:nvPr>
        </p:nvSpPr>
        <p:spPr>
          <a:xfrm>
            <a:off x="440871" y="745354"/>
            <a:ext cx="6733042" cy="427040"/>
          </a:xfrm>
        </p:spPr>
        <p:txBody>
          <a:bodyPr>
            <a:spAutoFit/>
          </a:bodyPr>
          <a:lstStyle>
            <a:lvl1pPr>
              <a:lnSpc>
                <a:spcPct val="100000"/>
              </a:lnSpc>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50" name="Text Placeholder 49"/>
          <p:cNvSpPr>
            <a:spLocks noGrp="1"/>
          </p:cNvSpPr>
          <p:nvPr userDrawn="1">
            <p:ph type="body" sz="quarter" idx="15" hasCustomPrompt="1"/>
          </p:nvPr>
        </p:nvSpPr>
        <p:spPr>
          <a:xfrm>
            <a:off x="440872" y="1463722"/>
            <a:ext cx="8284029" cy="4272599"/>
          </a:xfrm>
        </p:spPr>
        <p:txBody>
          <a:bodyPr>
            <a:normAutofit/>
          </a:bodyPr>
          <a:lstStyle>
            <a:lvl1pPr marL="0" indent="0">
              <a:lnSpc>
                <a:spcPct val="100000"/>
              </a:lnSpc>
              <a:buNone/>
              <a:defRPr sz="1425">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52" name="Text Placeholder 51"/>
          <p:cNvSpPr>
            <a:spLocks noGrp="1"/>
          </p:cNvSpPr>
          <p:nvPr userDrawn="1">
            <p:ph type="body" sz="quarter" idx="16" hasCustomPrompt="1"/>
          </p:nvPr>
        </p:nvSpPr>
        <p:spPr>
          <a:xfrm>
            <a:off x="440872" y="-8733"/>
            <a:ext cx="4343399" cy="462758"/>
          </a:xfrm>
        </p:spPr>
        <p:txBody>
          <a:bodyPr anchor="ctr">
            <a:normAutofit/>
          </a:bodyPr>
          <a:lstStyle>
            <a:lvl1pPr marL="0" indent="0">
              <a:buNone/>
              <a:defRPr sz="1125" b="1">
                <a:solidFill>
                  <a:srgbClr val="3D3935"/>
                </a:solidFill>
                <a:latin typeface="Arial" panose="020B0604020202020204" pitchFamily="34" charset="0"/>
                <a:cs typeface="Arial" panose="020B0604020202020204" pitchFamily="34" charset="0"/>
              </a:defRPr>
            </a:lvl1pPr>
          </a:lstStyle>
          <a:p>
            <a:pPr lvl="0"/>
            <a:r>
              <a:rPr lang="en-AU" dirty="0"/>
              <a:t>Section heading</a:t>
            </a:r>
          </a:p>
        </p:txBody>
      </p:sp>
      <p:sp>
        <p:nvSpPr>
          <p:cNvPr id="8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
        <p:nvSpPr>
          <p:cNvPr id="85" name="Footer Placeholder 4"/>
          <p:cNvSpPr>
            <a:spLocks noGrp="1"/>
          </p:cNvSpPr>
          <p:nvPr>
            <p:ph type="ftr" sz="quarter" idx="3"/>
          </p:nvPr>
        </p:nvSpPr>
        <p:spPr>
          <a:xfrm>
            <a:off x="832757" y="6510473"/>
            <a:ext cx="4188129"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dirty="0"/>
              <a:t>Faculty of Business and Law | Peter Faber Business School</a:t>
            </a:r>
          </a:p>
        </p:txBody>
      </p:sp>
    </p:spTree>
    <p:extLst>
      <p:ext uri="{BB962C8B-B14F-4D97-AF65-F5344CB8AC3E}">
        <p14:creationId xmlns:p14="http://schemas.microsoft.com/office/powerpoint/2010/main" val="3662876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s and Content">
    <p:spTree>
      <p:nvGrpSpPr>
        <p:cNvPr id="1" name=""/>
        <p:cNvGrpSpPr/>
        <p:nvPr/>
      </p:nvGrpSpPr>
      <p:grpSpPr>
        <a:xfrm>
          <a:off x="0" y="0"/>
          <a:ext cx="0" cy="0"/>
          <a:chOff x="0" y="0"/>
          <a:chExt cx="0" cy="0"/>
        </a:xfrm>
      </p:grpSpPr>
      <p:sp>
        <p:nvSpPr>
          <p:cNvPr id="41" name="Title 1"/>
          <p:cNvSpPr>
            <a:spLocks noGrp="1"/>
          </p:cNvSpPr>
          <p:nvPr>
            <p:ph type="title" hasCustomPrompt="1"/>
          </p:nvPr>
        </p:nvSpPr>
        <p:spPr>
          <a:xfrm>
            <a:off x="440871" y="826521"/>
            <a:ext cx="6733042" cy="427040"/>
          </a:xfrm>
        </p:spPr>
        <p:txBody>
          <a:bodyPr>
            <a:spAutoFit/>
          </a:bodyPr>
          <a:lstStyle>
            <a:lvl1pPr>
              <a:lnSpc>
                <a:spcPct val="100000"/>
              </a:lnSpc>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2" name="Text Placeholder 45"/>
          <p:cNvSpPr>
            <a:spLocks noGrp="1"/>
          </p:cNvSpPr>
          <p:nvPr>
            <p:ph type="body" sz="quarter" idx="13" hasCustomPrompt="1"/>
          </p:nvPr>
        </p:nvSpPr>
        <p:spPr>
          <a:xfrm>
            <a:off x="440871" y="1391874"/>
            <a:ext cx="6734398" cy="403957"/>
          </a:xfrm>
        </p:spPr>
        <p:txBody>
          <a:bodyPr anchor="ctr">
            <a:spAutoFit/>
          </a:bodyPr>
          <a:lstStyle>
            <a:lvl1pPr marL="0" indent="0">
              <a:lnSpc>
                <a:spcPct val="100000"/>
              </a:lnSpc>
              <a:buNone/>
              <a:defRPr sz="2025">
                <a:solidFill>
                  <a:srgbClr val="3D3935"/>
                </a:solidFill>
                <a:latin typeface="Arial" panose="020B0604020202020204" pitchFamily="34" charset="0"/>
                <a:cs typeface="Arial" panose="020B0604020202020204" pitchFamily="34" charset="0"/>
              </a:defRPr>
            </a:lvl1pPr>
          </a:lstStyle>
          <a:p>
            <a:pPr lvl="0"/>
            <a:r>
              <a:rPr lang="en-AU" dirty="0"/>
              <a:t>Sub Title</a:t>
            </a:r>
          </a:p>
        </p:txBody>
      </p:sp>
      <p:sp>
        <p:nvSpPr>
          <p:cNvPr id="43" name="Text Placeholder 47"/>
          <p:cNvSpPr>
            <a:spLocks noGrp="1"/>
          </p:cNvSpPr>
          <p:nvPr>
            <p:ph type="body" sz="quarter" idx="14" hasCustomPrompt="1"/>
          </p:nvPr>
        </p:nvSpPr>
        <p:spPr>
          <a:xfrm>
            <a:off x="440872" y="2275572"/>
            <a:ext cx="8284028" cy="359681"/>
          </a:xfrm>
        </p:spPr>
        <p:txBody>
          <a:bodyPr anchor="ctr">
            <a:noAutofit/>
          </a:bodyPr>
          <a:lstStyle>
            <a:lvl1pPr marL="0" indent="0">
              <a:lnSpc>
                <a:spcPct val="100000"/>
              </a:lnSpc>
              <a:buNone/>
              <a:defRPr sz="1500" b="1" baseline="0">
                <a:solidFill>
                  <a:srgbClr val="3D3935"/>
                </a:solidFill>
                <a:latin typeface="Arial" panose="020B0604020202020204" pitchFamily="34" charset="0"/>
                <a:cs typeface="Arial" panose="020B0604020202020204" pitchFamily="34" charset="0"/>
              </a:defRPr>
            </a:lvl1pPr>
          </a:lstStyle>
          <a:p>
            <a:pPr lvl="0"/>
            <a:r>
              <a:rPr lang="en-AU" dirty="0"/>
              <a:t>Sub heading</a:t>
            </a:r>
          </a:p>
        </p:txBody>
      </p:sp>
      <p:sp>
        <p:nvSpPr>
          <p:cNvPr id="83" name="Text Placeholder 49"/>
          <p:cNvSpPr>
            <a:spLocks noGrp="1"/>
          </p:cNvSpPr>
          <p:nvPr>
            <p:ph type="body" sz="quarter" idx="15" hasCustomPrompt="1"/>
          </p:nvPr>
        </p:nvSpPr>
        <p:spPr>
          <a:xfrm>
            <a:off x="440872" y="2640809"/>
            <a:ext cx="8284029" cy="3095510"/>
          </a:xfrm>
        </p:spPr>
        <p:txBody>
          <a:bodyPr>
            <a:normAutofit/>
          </a:bodyPr>
          <a:lstStyle>
            <a:lvl1pPr marL="0" indent="0">
              <a:lnSpc>
                <a:spcPct val="100000"/>
              </a:lnSpc>
              <a:buNone/>
              <a:defRPr sz="1425">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84" name="Footer Placeholder 4"/>
          <p:cNvSpPr>
            <a:spLocks noGrp="1"/>
          </p:cNvSpPr>
          <p:nvPr>
            <p:ph type="ftr" sz="quarter" idx="3"/>
          </p:nvPr>
        </p:nvSpPr>
        <p:spPr>
          <a:xfrm>
            <a:off x="832759" y="6510473"/>
            <a:ext cx="3872246"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5"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8886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47701" y="1626056"/>
            <a:ext cx="3867150" cy="4271941"/>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4646613" y="1651002"/>
            <a:ext cx="3887788" cy="4246995"/>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7" name="Title 1"/>
          <p:cNvSpPr>
            <a:spLocks noGrp="1"/>
          </p:cNvSpPr>
          <p:nvPr>
            <p:ph type="title" hasCustomPrompt="1"/>
          </p:nvPr>
        </p:nvSpPr>
        <p:spPr>
          <a:xfrm>
            <a:off x="440871" y="826521"/>
            <a:ext cx="6734398" cy="427040"/>
          </a:xfrm>
        </p:spPr>
        <p:txBody>
          <a:bodyPr>
            <a:spAutoFit/>
          </a:bodyPr>
          <a:lstStyle>
            <a:lvl1pPr>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8" name="Footer Placeholder 4"/>
          <p:cNvSpPr>
            <a:spLocks noGrp="1"/>
          </p:cNvSpPr>
          <p:nvPr>
            <p:ph type="ftr" sz="quarter" idx="3"/>
          </p:nvPr>
        </p:nvSpPr>
        <p:spPr>
          <a:xfrm>
            <a:off x="832757" y="6510473"/>
            <a:ext cx="3887787"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9"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194316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3888" y="1864190"/>
            <a:ext cx="7886700" cy="4070577"/>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1"/>
          <p:cNvSpPr>
            <a:spLocks noGrp="1"/>
          </p:cNvSpPr>
          <p:nvPr>
            <p:ph type="title" hasCustomPrompt="1"/>
          </p:nvPr>
        </p:nvSpPr>
        <p:spPr>
          <a:xfrm>
            <a:off x="498930" y="1056581"/>
            <a:ext cx="6734398" cy="493981"/>
          </a:xfrm>
        </p:spPr>
        <p:txBody>
          <a:bodyPr>
            <a:normAutofit/>
          </a:bodyPr>
          <a:lstStyle>
            <a:lvl1pPr>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5" name="Footer Placeholder 4"/>
          <p:cNvSpPr>
            <a:spLocks noGrp="1"/>
          </p:cNvSpPr>
          <p:nvPr>
            <p:ph type="ftr" sz="quarter" idx="3"/>
          </p:nvPr>
        </p:nvSpPr>
        <p:spPr>
          <a:xfrm>
            <a:off x="832758" y="6510473"/>
            <a:ext cx="3086100"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278165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in White with Logo">
    <p:spTree>
      <p:nvGrpSpPr>
        <p:cNvPr id="1" name=""/>
        <p:cNvGrpSpPr/>
        <p:nvPr/>
      </p:nvGrpSpPr>
      <p:grpSpPr>
        <a:xfrm>
          <a:off x="0" y="0"/>
          <a:ext cx="0" cy="0"/>
          <a:chOff x="0" y="0"/>
          <a:chExt cx="0" cy="0"/>
        </a:xfrm>
      </p:grpSpPr>
      <p:sp>
        <p:nvSpPr>
          <p:cNvPr id="4" name="Rectangle 3"/>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AutoShape 3"/>
          <p:cNvSpPr>
            <a:spLocks noChangeAspect="1" noChangeArrowheads="1" noTextEdit="1"/>
          </p:cNvSpPr>
          <p:nvPr userDrawn="1"/>
        </p:nvSpPr>
        <p:spPr bwMode="auto">
          <a:xfrm>
            <a:off x="1589" y="0"/>
            <a:ext cx="9140825"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9"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2"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 name="Freeform 9"/>
          <p:cNvSpPr>
            <a:spLocks/>
          </p:cNvSpPr>
          <p:nvPr userDrawn="1"/>
        </p:nvSpPr>
        <p:spPr bwMode="auto">
          <a:xfrm>
            <a:off x="7399339" y="371477"/>
            <a:ext cx="288925" cy="371475"/>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10"/>
          <p:cNvSpPr>
            <a:spLocks/>
          </p:cNvSpPr>
          <p:nvPr userDrawn="1"/>
        </p:nvSpPr>
        <p:spPr bwMode="auto">
          <a:xfrm>
            <a:off x="7453313" y="415927"/>
            <a:ext cx="180975" cy="238125"/>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3" name="Freeform 11"/>
          <p:cNvSpPr>
            <a:spLocks/>
          </p:cNvSpPr>
          <p:nvPr userDrawn="1"/>
        </p:nvSpPr>
        <p:spPr bwMode="auto">
          <a:xfrm>
            <a:off x="7478714" y="466727"/>
            <a:ext cx="130175" cy="155575"/>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12"/>
          <p:cNvSpPr>
            <a:spLocks noEditPoints="1"/>
          </p:cNvSpPr>
          <p:nvPr userDrawn="1"/>
        </p:nvSpPr>
        <p:spPr bwMode="auto">
          <a:xfrm>
            <a:off x="7399339" y="800100"/>
            <a:ext cx="53975"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13"/>
          <p:cNvSpPr>
            <a:spLocks/>
          </p:cNvSpPr>
          <p:nvPr userDrawn="1"/>
        </p:nvSpPr>
        <p:spPr bwMode="auto">
          <a:xfrm>
            <a:off x="7456489" y="800100"/>
            <a:ext cx="44450"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4"/>
          <p:cNvSpPr>
            <a:spLocks/>
          </p:cNvSpPr>
          <p:nvPr userDrawn="1"/>
        </p:nvSpPr>
        <p:spPr bwMode="auto">
          <a:xfrm>
            <a:off x="7510464" y="796927"/>
            <a:ext cx="41275"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5"/>
          <p:cNvSpPr>
            <a:spLocks/>
          </p:cNvSpPr>
          <p:nvPr userDrawn="1"/>
        </p:nvSpPr>
        <p:spPr bwMode="auto">
          <a:xfrm>
            <a:off x="7558089" y="800100"/>
            <a:ext cx="41275"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6"/>
          <p:cNvSpPr>
            <a:spLocks noEditPoints="1"/>
          </p:cNvSpPr>
          <p:nvPr userDrawn="1"/>
        </p:nvSpPr>
        <p:spPr bwMode="auto">
          <a:xfrm>
            <a:off x="7608889"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7"/>
          <p:cNvSpPr>
            <a:spLocks noEditPoints="1"/>
          </p:cNvSpPr>
          <p:nvPr userDrawn="1"/>
        </p:nvSpPr>
        <p:spPr bwMode="auto">
          <a:xfrm>
            <a:off x="7656514" y="800100"/>
            <a:ext cx="53975"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8"/>
          <p:cNvSpPr>
            <a:spLocks/>
          </p:cNvSpPr>
          <p:nvPr userDrawn="1"/>
        </p:nvSpPr>
        <p:spPr bwMode="auto">
          <a:xfrm>
            <a:off x="7716839"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9"/>
          <p:cNvSpPr>
            <a:spLocks/>
          </p:cNvSpPr>
          <p:nvPr userDrawn="1"/>
        </p:nvSpPr>
        <p:spPr bwMode="auto">
          <a:xfrm>
            <a:off x="7761289"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20"/>
          <p:cNvSpPr>
            <a:spLocks noEditPoints="1"/>
          </p:cNvSpPr>
          <p:nvPr userDrawn="1"/>
        </p:nvSpPr>
        <p:spPr bwMode="auto">
          <a:xfrm>
            <a:off x="7777164"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21"/>
          <p:cNvSpPr>
            <a:spLocks/>
          </p:cNvSpPr>
          <p:nvPr userDrawn="1"/>
        </p:nvSpPr>
        <p:spPr bwMode="auto">
          <a:xfrm>
            <a:off x="7840664" y="800100"/>
            <a:ext cx="41275"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22"/>
          <p:cNvSpPr>
            <a:spLocks/>
          </p:cNvSpPr>
          <p:nvPr userDrawn="1"/>
        </p:nvSpPr>
        <p:spPr bwMode="auto">
          <a:xfrm>
            <a:off x="7920038" y="796927"/>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23"/>
          <p:cNvSpPr>
            <a:spLocks noEditPoints="1"/>
          </p:cNvSpPr>
          <p:nvPr userDrawn="1"/>
        </p:nvSpPr>
        <p:spPr bwMode="auto">
          <a:xfrm>
            <a:off x="7970839"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4"/>
          <p:cNvSpPr>
            <a:spLocks/>
          </p:cNvSpPr>
          <p:nvPr userDrawn="1"/>
        </p:nvSpPr>
        <p:spPr bwMode="auto">
          <a:xfrm>
            <a:off x="8021638" y="800100"/>
            <a:ext cx="44450"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5"/>
          <p:cNvSpPr>
            <a:spLocks/>
          </p:cNvSpPr>
          <p:nvPr userDrawn="1"/>
        </p:nvSpPr>
        <p:spPr bwMode="auto">
          <a:xfrm>
            <a:off x="8072439" y="800100"/>
            <a:ext cx="44450"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6"/>
          <p:cNvSpPr>
            <a:spLocks noEditPoints="1"/>
          </p:cNvSpPr>
          <p:nvPr userDrawn="1"/>
        </p:nvSpPr>
        <p:spPr bwMode="auto">
          <a:xfrm>
            <a:off x="8126414" y="796927"/>
            <a:ext cx="5080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7"/>
          <p:cNvSpPr>
            <a:spLocks/>
          </p:cNvSpPr>
          <p:nvPr userDrawn="1"/>
        </p:nvSpPr>
        <p:spPr bwMode="auto">
          <a:xfrm>
            <a:off x="8186739"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8"/>
          <p:cNvSpPr>
            <a:spLocks/>
          </p:cNvSpPr>
          <p:nvPr userDrawn="1"/>
        </p:nvSpPr>
        <p:spPr bwMode="auto">
          <a:xfrm>
            <a:off x="82311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9"/>
          <p:cNvSpPr>
            <a:spLocks/>
          </p:cNvSpPr>
          <p:nvPr userDrawn="1"/>
        </p:nvSpPr>
        <p:spPr bwMode="auto">
          <a:xfrm>
            <a:off x="8247064" y="796927"/>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30"/>
          <p:cNvSpPr>
            <a:spLocks/>
          </p:cNvSpPr>
          <p:nvPr userDrawn="1"/>
        </p:nvSpPr>
        <p:spPr bwMode="auto">
          <a:xfrm>
            <a:off x="8329614" y="800100"/>
            <a:ext cx="41275"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31"/>
          <p:cNvSpPr>
            <a:spLocks/>
          </p:cNvSpPr>
          <p:nvPr userDrawn="1"/>
        </p:nvSpPr>
        <p:spPr bwMode="auto">
          <a:xfrm>
            <a:off x="8386764" y="800100"/>
            <a:ext cx="41275"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32"/>
          <p:cNvSpPr>
            <a:spLocks/>
          </p:cNvSpPr>
          <p:nvPr userDrawn="1"/>
        </p:nvSpPr>
        <p:spPr bwMode="auto">
          <a:xfrm>
            <a:off x="8440739"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33"/>
          <p:cNvSpPr>
            <a:spLocks/>
          </p:cNvSpPr>
          <p:nvPr userDrawn="1"/>
        </p:nvSpPr>
        <p:spPr bwMode="auto">
          <a:xfrm>
            <a:off x="8459789" y="800100"/>
            <a:ext cx="5080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4"/>
          <p:cNvSpPr>
            <a:spLocks/>
          </p:cNvSpPr>
          <p:nvPr userDrawn="1"/>
        </p:nvSpPr>
        <p:spPr bwMode="auto">
          <a:xfrm>
            <a:off x="8516938" y="800100"/>
            <a:ext cx="38100"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5"/>
          <p:cNvSpPr>
            <a:spLocks noEditPoints="1"/>
          </p:cNvSpPr>
          <p:nvPr userDrawn="1"/>
        </p:nvSpPr>
        <p:spPr bwMode="auto">
          <a:xfrm>
            <a:off x="8567739"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6"/>
          <p:cNvSpPr>
            <a:spLocks/>
          </p:cNvSpPr>
          <p:nvPr userDrawn="1"/>
        </p:nvSpPr>
        <p:spPr bwMode="auto">
          <a:xfrm>
            <a:off x="8615364" y="796927"/>
            <a:ext cx="44450"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7"/>
          <p:cNvSpPr>
            <a:spLocks/>
          </p:cNvSpPr>
          <p:nvPr userDrawn="1"/>
        </p:nvSpPr>
        <p:spPr bwMode="auto">
          <a:xfrm>
            <a:off x="8669339"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8"/>
          <p:cNvSpPr>
            <a:spLocks/>
          </p:cNvSpPr>
          <p:nvPr userDrawn="1"/>
        </p:nvSpPr>
        <p:spPr bwMode="auto">
          <a:xfrm>
            <a:off x="8688389" y="800100"/>
            <a:ext cx="85725" cy="50800"/>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9"/>
          <p:cNvSpPr>
            <a:spLocks/>
          </p:cNvSpPr>
          <p:nvPr userDrawn="1"/>
        </p:nvSpPr>
        <p:spPr bwMode="auto">
          <a:xfrm>
            <a:off x="8482014" y="371477"/>
            <a:ext cx="292100" cy="365125"/>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40"/>
          <p:cNvSpPr>
            <a:spLocks/>
          </p:cNvSpPr>
          <p:nvPr userDrawn="1"/>
        </p:nvSpPr>
        <p:spPr bwMode="auto">
          <a:xfrm>
            <a:off x="8094663" y="365127"/>
            <a:ext cx="336550" cy="371475"/>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41"/>
          <p:cNvSpPr>
            <a:spLocks noEditPoints="1"/>
          </p:cNvSpPr>
          <p:nvPr userDrawn="1"/>
        </p:nvSpPr>
        <p:spPr bwMode="auto">
          <a:xfrm>
            <a:off x="7758114" y="371477"/>
            <a:ext cx="330200" cy="358775"/>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Title 1"/>
          <p:cNvSpPr>
            <a:spLocks noGrp="1"/>
          </p:cNvSpPr>
          <p:nvPr>
            <p:ph type="title" hasCustomPrompt="1"/>
          </p:nvPr>
        </p:nvSpPr>
        <p:spPr>
          <a:xfrm>
            <a:off x="440871" y="1070543"/>
            <a:ext cx="6733042" cy="427040"/>
          </a:xfrm>
        </p:spPr>
        <p:txBody>
          <a:bodyPr>
            <a:spAutoFit/>
          </a:bodyPr>
          <a:lstStyle>
            <a:lvl1pPr>
              <a:lnSpc>
                <a:spcPct val="100000"/>
              </a:lnSpc>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2" y="1751359"/>
            <a:ext cx="8284029" cy="3954411"/>
          </a:xfrm>
        </p:spPr>
        <p:txBody>
          <a:bodyPr>
            <a:normAutofit/>
          </a:bodyPr>
          <a:lstStyle>
            <a:lvl1pPr marL="0" indent="0">
              <a:lnSpc>
                <a:spcPct val="100000"/>
              </a:lnSpc>
              <a:buNone/>
              <a:defRPr sz="1425">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3"/>
            <a:ext cx="3086100"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310181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lain with no logo">
    <p:spTree>
      <p:nvGrpSpPr>
        <p:cNvPr id="1" name=""/>
        <p:cNvGrpSpPr/>
        <p:nvPr/>
      </p:nvGrpSpPr>
      <p:grpSpPr>
        <a:xfrm>
          <a:off x="0" y="0"/>
          <a:ext cx="0" cy="0"/>
          <a:chOff x="0" y="0"/>
          <a:chExt cx="0" cy="0"/>
        </a:xfrm>
      </p:grpSpPr>
      <p:sp>
        <p:nvSpPr>
          <p:cNvPr id="6" name="AutoShape 3"/>
          <p:cNvSpPr>
            <a:spLocks noChangeAspect="1" noChangeArrowheads="1" noTextEdit="1"/>
          </p:cNvSpPr>
          <p:nvPr userDrawn="1"/>
        </p:nvSpPr>
        <p:spPr bwMode="auto">
          <a:xfrm>
            <a:off x="1589" y="0"/>
            <a:ext cx="9140825"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9"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2"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Rectangle 1"/>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itle 1"/>
          <p:cNvSpPr>
            <a:spLocks noGrp="1"/>
          </p:cNvSpPr>
          <p:nvPr>
            <p:ph type="title" hasCustomPrompt="1"/>
          </p:nvPr>
        </p:nvSpPr>
        <p:spPr>
          <a:xfrm>
            <a:off x="440871" y="1070543"/>
            <a:ext cx="6733042" cy="427040"/>
          </a:xfrm>
        </p:spPr>
        <p:txBody>
          <a:bodyPr>
            <a:spAutoFit/>
          </a:bodyPr>
          <a:lstStyle>
            <a:lvl1pPr>
              <a:lnSpc>
                <a:spcPct val="100000"/>
              </a:lnSpc>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2" y="1751359"/>
            <a:ext cx="8284029" cy="3954411"/>
          </a:xfrm>
        </p:spPr>
        <p:txBody>
          <a:bodyPr>
            <a:normAutofit/>
          </a:bodyPr>
          <a:lstStyle>
            <a:lvl1pPr marL="0" indent="0">
              <a:lnSpc>
                <a:spcPct val="100000"/>
              </a:lnSpc>
              <a:buNone/>
              <a:defRPr sz="1425">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3"/>
            <a:ext cx="3086100"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290082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useBgFill="1">
        <p:nvSpPr>
          <p:cNvPr id="4" name="Rounded Rectangle 3"/>
          <p:cNvSpPr/>
          <p:nvPr/>
        </p:nvSpPr>
        <p:spPr bwMode="white">
          <a:xfrm>
            <a:off x="5410203" y="3962401"/>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useBgFill="1">
        <p:nvSpPr>
          <p:cNvPr id="5" name="Rounded Rectangle 4"/>
          <p:cNvSpPr/>
          <p:nvPr/>
        </p:nvSpPr>
        <p:spPr bwMode="white">
          <a:xfrm>
            <a:off x="7377113" y="4060827"/>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p:nvSpPr>
          <p:cNvPr id="6" name="Rectangle 5"/>
          <p:cNvSpPr/>
          <p:nvPr/>
        </p:nvSpPr>
        <p:spPr>
          <a:xfrm>
            <a:off x="0" y="3962403"/>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p:nvSpPr>
          <p:cNvPr id="7" name="Rectangle 6"/>
          <p:cNvSpPr/>
          <p:nvPr/>
        </p:nvSpPr>
        <p:spPr>
          <a:xfrm>
            <a:off x="0" y="3970340"/>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p:nvSpPr>
          <p:cNvPr id="8" name="Rectangle 7"/>
          <p:cNvSpPr/>
          <p:nvPr userDrawn="1"/>
        </p:nvSpPr>
        <p:spPr>
          <a:xfrm>
            <a:off x="0" y="1"/>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44804" indent="0" algn="ctr">
              <a:buNone/>
              <a:defRPr sz="2400">
                <a:solidFill>
                  <a:schemeClr val="accent3">
                    <a:lumMod val="75000"/>
                  </a:schemeClr>
                </a:solidFill>
              </a:defRPr>
            </a:lvl1pPr>
            <a:lvl2pPr marL="320029" indent="0" algn="ctr">
              <a:buNone/>
            </a:lvl2pPr>
            <a:lvl3pPr marL="640058" indent="0" algn="ctr">
              <a:buNone/>
            </a:lvl3pPr>
            <a:lvl4pPr marL="960086" indent="0" algn="ctr">
              <a:buNone/>
            </a:lvl4pPr>
            <a:lvl5pPr marL="1280114" indent="0" algn="ctr">
              <a:buNone/>
            </a:lvl5pPr>
            <a:lvl6pPr marL="1600143" indent="0" algn="ctr">
              <a:buNone/>
            </a:lvl6pPr>
            <a:lvl7pPr marL="1920172" indent="0" algn="ctr">
              <a:buNone/>
            </a:lvl7pPr>
            <a:lvl8pPr marL="2240200" indent="0" algn="ctr">
              <a:buNone/>
            </a:lvl8pPr>
            <a:lvl9pPr marL="2560229"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86"/>
            <a:ext cx="2667000" cy="3688497"/>
          </a:xfrm>
          <a:prstGeom prst="rect">
            <a:avLst/>
          </a:prstGeom>
          <a:noFill/>
          <a:ln w="9525">
            <a:noFill/>
            <a:miter lim="800000"/>
            <a:headEnd/>
            <a:tailEnd/>
          </a:ln>
        </p:spPr>
      </p:pic>
    </p:spTree>
    <p:extLst>
      <p:ext uri="{BB962C8B-B14F-4D97-AF65-F5344CB8AC3E}">
        <p14:creationId xmlns:p14="http://schemas.microsoft.com/office/powerpoint/2010/main" val="4063723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044308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1030808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0348239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115852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378227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539527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628924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8290357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1941084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040020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458186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9626359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146738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253856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7793930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4096861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3792428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9996481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8146449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980330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7081733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8506696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1142861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7508220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2387385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3427840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2420219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4961567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129383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8314836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3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1373352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6685724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3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778183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651297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3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0322895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3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8833237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3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8184248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4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5482713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4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2952404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4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8398921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4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2364886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4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1030303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4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6253385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4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0215102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4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7209851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4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9390269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4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1612085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5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3498615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5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011163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5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5979002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5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0780702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5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422362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5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499131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5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4970205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5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9235261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5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22446957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5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60512831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6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82157337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6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5653977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6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032950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6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5022148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6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46945311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6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2851284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6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4695019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6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9063251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6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365640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6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33463921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7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66655274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7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16231457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67"/>
        <p:cNvGrpSpPr/>
        <p:nvPr/>
      </p:nvGrpSpPr>
      <p:grpSpPr>
        <a:xfrm>
          <a:off x="0" y="0"/>
          <a:ext cx="0" cy="0"/>
          <a:chOff x="0" y="0"/>
          <a:chExt cx="0" cy="0"/>
        </a:xfrm>
      </p:grpSpPr>
      <p:sp>
        <p:nvSpPr>
          <p:cNvPr id="68" name="Google Shape;68;p8"/>
          <p:cNvSpPr txBox="1">
            <a:spLocks noGrp="1"/>
          </p:cNvSpPr>
          <p:nvPr>
            <p:ph type="title"/>
          </p:nvPr>
        </p:nvSpPr>
        <p:spPr>
          <a:xfrm>
            <a:off x="305925" y="226835"/>
            <a:ext cx="8229600" cy="796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E67032"/>
              </a:buClr>
              <a:buSzPts val="3000"/>
              <a:buFont typeface="Calibri"/>
              <a:buNone/>
              <a:defRPr sz="2250" b="1">
                <a:solidFill>
                  <a:srgbClr val="E67032"/>
                </a:solidFill>
              </a:defRPr>
            </a:lvl1pPr>
            <a:lvl2pPr lvl="1" rtl="0">
              <a:spcBef>
                <a:spcPts val="0"/>
              </a:spcBef>
              <a:spcAft>
                <a:spcPts val="0"/>
              </a:spcAft>
              <a:buClr>
                <a:srgbClr val="E67032"/>
              </a:buClr>
              <a:buSzPts val="3000"/>
              <a:buNone/>
              <a:defRPr sz="2250" b="1">
                <a:solidFill>
                  <a:srgbClr val="E67032"/>
                </a:solidFill>
              </a:defRPr>
            </a:lvl2pPr>
            <a:lvl3pPr lvl="2" rtl="0">
              <a:spcBef>
                <a:spcPts val="0"/>
              </a:spcBef>
              <a:spcAft>
                <a:spcPts val="0"/>
              </a:spcAft>
              <a:buClr>
                <a:srgbClr val="E67032"/>
              </a:buClr>
              <a:buSzPts val="3000"/>
              <a:buNone/>
              <a:defRPr sz="2250" b="1">
                <a:solidFill>
                  <a:srgbClr val="E67032"/>
                </a:solidFill>
              </a:defRPr>
            </a:lvl3pPr>
            <a:lvl4pPr lvl="3" rtl="0">
              <a:spcBef>
                <a:spcPts val="0"/>
              </a:spcBef>
              <a:spcAft>
                <a:spcPts val="0"/>
              </a:spcAft>
              <a:buClr>
                <a:srgbClr val="E67032"/>
              </a:buClr>
              <a:buSzPts val="3000"/>
              <a:buNone/>
              <a:defRPr sz="2250" b="1">
                <a:solidFill>
                  <a:srgbClr val="E67032"/>
                </a:solidFill>
              </a:defRPr>
            </a:lvl4pPr>
            <a:lvl5pPr lvl="4" rtl="0">
              <a:spcBef>
                <a:spcPts val="0"/>
              </a:spcBef>
              <a:spcAft>
                <a:spcPts val="0"/>
              </a:spcAft>
              <a:buClr>
                <a:srgbClr val="E67032"/>
              </a:buClr>
              <a:buSzPts val="3000"/>
              <a:buNone/>
              <a:defRPr sz="2250" b="1">
                <a:solidFill>
                  <a:srgbClr val="E67032"/>
                </a:solidFill>
              </a:defRPr>
            </a:lvl5pPr>
            <a:lvl6pPr lvl="5" rtl="0">
              <a:spcBef>
                <a:spcPts val="0"/>
              </a:spcBef>
              <a:spcAft>
                <a:spcPts val="0"/>
              </a:spcAft>
              <a:buClr>
                <a:srgbClr val="E67032"/>
              </a:buClr>
              <a:buSzPts val="3000"/>
              <a:buNone/>
              <a:defRPr sz="2250" b="1">
                <a:solidFill>
                  <a:srgbClr val="E67032"/>
                </a:solidFill>
              </a:defRPr>
            </a:lvl6pPr>
            <a:lvl7pPr lvl="6" rtl="0">
              <a:spcBef>
                <a:spcPts val="0"/>
              </a:spcBef>
              <a:spcAft>
                <a:spcPts val="0"/>
              </a:spcAft>
              <a:buClr>
                <a:srgbClr val="E67032"/>
              </a:buClr>
              <a:buSzPts val="3000"/>
              <a:buNone/>
              <a:defRPr sz="2250" b="1">
                <a:solidFill>
                  <a:srgbClr val="E67032"/>
                </a:solidFill>
              </a:defRPr>
            </a:lvl7pPr>
            <a:lvl8pPr lvl="7" rtl="0">
              <a:spcBef>
                <a:spcPts val="0"/>
              </a:spcBef>
              <a:spcAft>
                <a:spcPts val="0"/>
              </a:spcAft>
              <a:buClr>
                <a:srgbClr val="E67032"/>
              </a:buClr>
              <a:buSzPts val="3000"/>
              <a:buNone/>
              <a:defRPr sz="2250" b="1">
                <a:solidFill>
                  <a:srgbClr val="E67032"/>
                </a:solidFill>
              </a:defRPr>
            </a:lvl8pPr>
            <a:lvl9pPr lvl="8" rtl="0">
              <a:spcBef>
                <a:spcPts val="0"/>
              </a:spcBef>
              <a:spcAft>
                <a:spcPts val="0"/>
              </a:spcAft>
              <a:buClr>
                <a:srgbClr val="E67032"/>
              </a:buClr>
              <a:buSzPts val="3000"/>
              <a:buNone/>
              <a:defRPr sz="2250" b="1">
                <a:solidFill>
                  <a:srgbClr val="E67032"/>
                </a:solidFill>
              </a:defRPr>
            </a:lvl9pPr>
          </a:lstStyle>
          <a:p>
            <a:endParaRPr/>
          </a:p>
        </p:txBody>
      </p:sp>
      <p:sp>
        <p:nvSpPr>
          <p:cNvPr id="69" name="Google Shape;69;p8"/>
          <p:cNvSpPr txBox="1">
            <a:spLocks noGrp="1"/>
          </p:cNvSpPr>
          <p:nvPr>
            <p:ph type="body" idx="1"/>
          </p:nvPr>
        </p:nvSpPr>
        <p:spPr>
          <a:xfrm>
            <a:off x="457200" y="1600200"/>
            <a:ext cx="8229600" cy="4526000"/>
          </a:xfrm>
          <a:prstGeom prst="rect">
            <a:avLst/>
          </a:prstGeom>
          <a:noFill/>
          <a:ln>
            <a:noFill/>
          </a:ln>
        </p:spPr>
        <p:txBody>
          <a:bodyPr spcFirstLastPara="1" wrap="square" lIns="91425" tIns="91425" rIns="91425" bIns="91425" anchor="t" anchorCtr="0">
            <a:noAutofit/>
          </a:bodyPr>
          <a:lstStyle>
            <a:lvl1pPr marL="342900" lvl="0" indent="-257175" algn="l" rtl="0">
              <a:spcBef>
                <a:spcPts val="480"/>
              </a:spcBef>
              <a:spcAft>
                <a:spcPts val="0"/>
              </a:spcAft>
              <a:buClr>
                <a:schemeClr val="dk1"/>
              </a:buClr>
              <a:buSzPts val="1800"/>
              <a:buFont typeface="Arial"/>
              <a:buChar char="•"/>
              <a:defRPr/>
            </a:lvl1pPr>
            <a:lvl2pPr marL="685800" lvl="1" indent="-257175" algn="l" rtl="0">
              <a:spcBef>
                <a:spcPts val="420"/>
              </a:spcBef>
              <a:spcAft>
                <a:spcPts val="0"/>
              </a:spcAft>
              <a:buClr>
                <a:schemeClr val="dk1"/>
              </a:buClr>
              <a:buSzPts val="1800"/>
              <a:buFont typeface="Arial"/>
              <a:buChar char="–"/>
              <a:defRPr/>
            </a:lvl2pPr>
            <a:lvl3pPr marL="1028700" lvl="2" indent="-257175" algn="l" rtl="0">
              <a:spcBef>
                <a:spcPts val="360"/>
              </a:spcBef>
              <a:spcAft>
                <a:spcPts val="0"/>
              </a:spcAft>
              <a:buClr>
                <a:schemeClr val="dk1"/>
              </a:buClr>
              <a:buSzPts val="1800"/>
              <a:buFont typeface="Arial"/>
              <a:buChar char="•"/>
              <a:defRPr/>
            </a:lvl3pPr>
            <a:lvl4pPr marL="1371600" lvl="3" indent="-257175" algn="l" rtl="0">
              <a:spcBef>
                <a:spcPts val="300"/>
              </a:spcBef>
              <a:spcAft>
                <a:spcPts val="0"/>
              </a:spcAft>
              <a:buClr>
                <a:schemeClr val="dk1"/>
              </a:buClr>
              <a:buSzPts val="1800"/>
              <a:buFont typeface="Arial"/>
              <a:buChar char="–"/>
              <a:defRPr/>
            </a:lvl4pPr>
            <a:lvl5pPr marL="1714500" lvl="4" indent="-257175" algn="l" rtl="0">
              <a:spcBef>
                <a:spcPts val="300"/>
              </a:spcBef>
              <a:spcAft>
                <a:spcPts val="0"/>
              </a:spcAft>
              <a:buClr>
                <a:schemeClr val="dk1"/>
              </a:buClr>
              <a:buSzPts val="1800"/>
              <a:buFont typeface="Arial"/>
              <a:buChar char="»"/>
              <a:defRPr/>
            </a:lvl5pPr>
            <a:lvl6pPr marL="2057400" lvl="5" indent="-257175" algn="l" rtl="0">
              <a:spcBef>
                <a:spcPts val="300"/>
              </a:spcBef>
              <a:spcAft>
                <a:spcPts val="0"/>
              </a:spcAft>
              <a:buClr>
                <a:schemeClr val="dk1"/>
              </a:buClr>
              <a:buSzPts val="1800"/>
              <a:buFont typeface="Arial"/>
              <a:buChar char="•"/>
              <a:defRPr/>
            </a:lvl6pPr>
            <a:lvl7pPr marL="2400300" lvl="6" indent="-257175" algn="l" rtl="0">
              <a:spcBef>
                <a:spcPts val="300"/>
              </a:spcBef>
              <a:spcAft>
                <a:spcPts val="0"/>
              </a:spcAft>
              <a:buClr>
                <a:schemeClr val="dk1"/>
              </a:buClr>
              <a:buSzPts val="1800"/>
              <a:buFont typeface="Arial"/>
              <a:buChar char="•"/>
              <a:defRPr/>
            </a:lvl7pPr>
            <a:lvl8pPr marL="2743200" lvl="7" indent="-257175" algn="l" rtl="0">
              <a:spcBef>
                <a:spcPts val="300"/>
              </a:spcBef>
              <a:spcAft>
                <a:spcPts val="0"/>
              </a:spcAft>
              <a:buClr>
                <a:schemeClr val="dk1"/>
              </a:buClr>
              <a:buSzPts val="1800"/>
              <a:buFont typeface="Arial"/>
              <a:buChar char="•"/>
              <a:defRPr/>
            </a:lvl8pPr>
            <a:lvl9pPr marL="3086100" lvl="8" indent="-257175" algn="l" rtl="0">
              <a:spcBef>
                <a:spcPts val="300"/>
              </a:spcBef>
              <a:spcAft>
                <a:spcPts val="0"/>
              </a:spcAft>
              <a:buClr>
                <a:schemeClr val="dk1"/>
              </a:buClr>
              <a:buSzPts val="1800"/>
              <a:buFont typeface="Arial"/>
              <a:buChar char="•"/>
              <a:defRPr/>
            </a:lvl9pPr>
          </a:lstStyle>
          <a:p>
            <a:endParaRPr/>
          </a:p>
        </p:txBody>
      </p:sp>
      <p:sp>
        <p:nvSpPr>
          <p:cNvPr id="70" name="Google Shape;70;p8"/>
          <p:cNvSpPr txBox="1">
            <a:spLocks noGrp="1"/>
          </p:cNvSpPr>
          <p:nvPr>
            <p:ph type="dt" idx="10"/>
          </p:nvPr>
        </p:nvSpPr>
        <p:spPr>
          <a:xfrm>
            <a:off x="457200" y="6356351"/>
            <a:ext cx="2133600" cy="365200"/>
          </a:xfrm>
          <a:prstGeom prst="rect">
            <a:avLst/>
          </a:prstGeom>
          <a:noFill/>
          <a:ln>
            <a:noFill/>
          </a:ln>
        </p:spPr>
        <p:txBody>
          <a:bodyPr spcFirstLastPara="1" wrap="square" lIns="91425" tIns="91425" rIns="91425" bIns="91425" anchor="ctr" anchorCtr="0">
            <a:noAutofit/>
          </a:bodyPr>
          <a:lstStyle>
            <a:lvl1pPr marL="0" marR="0" lvl="0" indent="-66675" algn="l" rtl="0">
              <a:spcBef>
                <a:spcPts val="0"/>
              </a:spcBef>
              <a:spcAft>
                <a:spcPts val="0"/>
              </a:spcAft>
              <a:buSzPts val="1400"/>
              <a:buChar char="●"/>
              <a:defRPr/>
            </a:lvl1pPr>
            <a:lvl2pPr marL="342900" marR="0" lvl="1" indent="-66675" algn="l" rtl="0">
              <a:spcBef>
                <a:spcPts val="0"/>
              </a:spcBef>
              <a:spcAft>
                <a:spcPts val="0"/>
              </a:spcAft>
              <a:buSzPts val="1400"/>
              <a:buChar char="○"/>
              <a:defRPr/>
            </a:lvl2pPr>
            <a:lvl3pPr marL="685800" marR="0" lvl="2" indent="-66675" algn="l" rtl="0">
              <a:spcBef>
                <a:spcPts val="0"/>
              </a:spcBef>
              <a:spcAft>
                <a:spcPts val="0"/>
              </a:spcAft>
              <a:buSzPts val="1400"/>
              <a:buChar char="■"/>
              <a:defRPr/>
            </a:lvl3pPr>
            <a:lvl4pPr marL="1028700" marR="0" lvl="3" indent="-66675" algn="l" rtl="0">
              <a:spcBef>
                <a:spcPts val="0"/>
              </a:spcBef>
              <a:spcAft>
                <a:spcPts val="0"/>
              </a:spcAft>
              <a:buSzPts val="1400"/>
              <a:buChar char="●"/>
              <a:defRPr/>
            </a:lvl4pPr>
            <a:lvl5pPr marL="1371600" marR="0" lvl="4" indent="-66675" algn="l" rtl="0">
              <a:spcBef>
                <a:spcPts val="0"/>
              </a:spcBef>
              <a:spcAft>
                <a:spcPts val="0"/>
              </a:spcAft>
              <a:buSzPts val="1400"/>
              <a:buChar char="○"/>
              <a:defRPr/>
            </a:lvl5pPr>
            <a:lvl6pPr marL="1714500" marR="0" lvl="5" indent="-66675" algn="l" rtl="0">
              <a:spcBef>
                <a:spcPts val="0"/>
              </a:spcBef>
              <a:spcAft>
                <a:spcPts val="0"/>
              </a:spcAft>
              <a:buSzPts val="1400"/>
              <a:buChar char="■"/>
              <a:defRPr/>
            </a:lvl6pPr>
            <a:lvl7pPr marL="2057400" marR="0" lvl="6" indent="-66675" algn="l" rtl="0">
              <a:spcBef>
                <a:spcPts val="0"/>
              </a:spcBef>
              <a:spcAft>
                <a:spcPts val="0"/>
              </a:spcAft>
              <a:buSzPts val="1400"/>
              <a:buChar char="●"/>
              <a:defRPr/>
            </a:lvl7pPr>
            <a:lvl8pPr marL="2400300" marR="0" lvl="7" indent="-66675" algn="l" rtl="0">
              <a:spcBef>
                <a:spcPts val="0"/>
              </a:spcBef>
              <a:spcAft>
                <a:spcPts val="0"/>
              </a:spcAft>
              <a:buSzPts val="1400"/>
              <a:buChar char="○"/>
              <a:defRPr/>
            </a:lvl8pPr>
            <a:lvl9pPr marL="2743200" marR="0" lvl="8" indent="-66675" algn="l" rtl="0">
              <a:spcBef>
                <a:spcPts val="0"/>
              </a:spcBef>
              <a:spcAft>
                <a:spcPts val="0"/>
              </a:spcAft>
              <a:buSzPts val="1400"/>
              <a:buChar char="■"/>
              <a:defRPr/>
            </a:lvl9pPr>
          </a:lstStyle>
          <a:p>
            <a:endParaRPr/>
          </a:p>
        </p:txBody>
      </p:sp>
      <p:sp>
        <p:nvSpPr>
          <p:cNvPr id="71" name="Google Shape;71;p8"/>
          <p:cNvSpPr txBox="1">
            <a:spLocks noGrp="1"/>
          </p:cNvSpPr>
          <p:nvPr>
            <p:ph type="ftr" idx="11"/>
          </p:nvPr>
        </p:nvSpPr>
        <p:spPr>
          <a:xfrm>
            <a:off x="3124200" y="6356351"/>
            <a:ext cx="2895600" cy="365200"/>
          </a:xfrm>
          <a:prstGeom prst="rect">
            <a:avLst/>
          </a:prstGeom>
          <a:noFill/>
          <a:ln>
            <a:noFill/>
          </a:ln>
        </p:spPr>
        <p:txBody>
          <a:bodyPr spcFirstLastPara="1" wrap="square" lIns="91425" tIns="91425" rIns="91425" bIns="91425" anchor="ctr" anchorCtr="0">
            <a:noAutofit/>
          </a:bodyPr>
          <a:lstStyle>
            <a:lvl1pPr marL="0" marR="0" lvl="0" indent="-66675" algn="ctr" rtl="0">
              <a:spcBef>
                <a:spcPts val="0"/>
              </a:spcBef>
              <a:spcAft>
                <a:spcPts val="0"/>
              </a:spcAft>
              <a:buSzPts val="1400"/>
              <a:buChar char="●"/>
              <a:defRPr/>
            </a:lvl1pPr>
            <a:lvl2pPr marL="342900" marR="0" lvl="1" indent="-66675" algn="l" rtl="0">
              <a:spcBef>
                <a:spcPts val="0"/>
              </a:spcBef>
              <a:spcAft>
                <a:spcPts val="0"/>
              </a:spcAft>
              <a:buSzPts val="1400"/>
              <a:buChar char="○"/>
              <a:defRPr/>
            </a:lvl2pPr>
            <a:lvl3pPr marL="685800" marR="0" lvl="2" indent="-66675" algn="l" rtl="0">
              <a:spcBef>
                <a:spcPts val="0"/>
              </a:spcBef>
              <a:spcAft>
                <a:spcPts val="0"/>
              </a:spcAft>
              <a:buSzPts val="1400"/>
              <a:buChar char="■"/>
              <a:defRPr/>
            </a:lvl3pPr>
            <a:lvl4pPr marL="1028700" marR="0" lvl="3" indent="-66675" algn="l" rtl="0">
              <a:spcBef>
                <a:spcPts val="0"/>
              </a:spcBef>
              <a:spcAft>
                <a:spcPts val="0"/>
              </a:spcAft>
              <a:buSzPts val="1400"/>
              <a:buChar char="●"/>
              <a:defRPr/>
            </a:lvl4pPr>
            <a:lvl5pPr marL="1371600" marR="0" lvl="4" indent="-66675" algn="l" rtl="0">
              <a:spcBef>
                <a:spcPts val="0"/>
              </a:spcBef>
              <a:spcAft>
                <a:spcPts val="0"/>
              </a:spcAft>
              <a:buSzPts val="1400"/>
              <a:buChar char="○"/>
              <a:defRPr/>
            </a:lvl5pPr>
            <a:lvl6pPr marL="1714500" marR="0" lvl="5" indent="-66675" algn="l" rtl="0">
              <a:spcBef>
                <a:spcPts val="0"/>
              </a:spcBef>
              <a:spcAft>
                <a:spcPts val="0"/>
              </a:spcAft>
              <a:buSzPts val="1400"/>
              <a:buChar char="■"/>
              <a:defRPr/>
            </a:lvl6pPr>
            <a:lvl7pPr marL="2057400" marR="0" lvl="6" indent="-66675" algn="l" rtl="0">
              <a:spcBef>
                <a:spcPts val="0"/>
              </a:spcBef>
              <a:spcAft>
                <a:spcPts val="0"/>
              </a:spcAft>
              <a:buSzPts val="1400"/>
              <a:buChar char="●"/>
              <a:defRPr/>
            </a:lvl7pPr>
            <a:lvl8pPr marL="2400300" marR="0" lvl="7" indent="-66675" algn="l" rtl="0">
              <a:spcBef>
                <a:spcPts val="0"/>
              </a:spcBef>
              <a:spcAft>
                <a:spcPts val="0"/>
              </a:spcAft>
              <a:buSzPts val="1400"/>
              <a:buChar char="○"/>
              <a:defRPr/>
            </a:lvl8pPr>
            <a:lvl9pPr marL="2743200" marR="0" lvl="8" indent="-66675" algn="l" rtl="0">
              <a:spcBef>
                <a:spcPts val="0"/>
              </a:spcBef>
              <a:spcAft>
                <a:spcPts val="0"/>
              </a:spcAft>
              <a:buSzPts val="1400"/>
              <a:buChar char="■"/>
              <a:defRPr/>
            </a:lvl9pPr>
          </a:lstStyle>
          <a:p>
            <a:r>
              <a:rPr lang="en-US"/>
              <a:t>Faculty of Business and Law | Peter Faber Business School</a:t>
            </a:r>
            <a:endParaRPr/>
          </a:p>
        </p:txBody>
      </p:sp>
      <p:sp>
        <p:nvSpPr>
          <p:cNvPr id="72" name="Google Shape;72;p8"/>
          <p:cNvSpPr txBox="1">
            <a:spLocks noGrp="1"/>
          </p:cNvSpPr>
          <p:nvPr>
            <p:ph type="sldNum" idx="12"/>
          </p:nvPr>
        </p:nvSpPr>
        <p:spPr>
          <a:xfrm>
            <a:off x="6553200" y="6356351"/>
            <a:ext cx="2133600" cy="365200"/>
          </a:xfrm>
          <a:prstGeom prst="rect">
            <a:avLst/>
          </a:prstGeom>
          <a:noFill/>
          <a:ln>
            <a:noFill/>
          </a:ln>
        </p:spPr>
        <p:txBody>
          <a:bodyPr spcFirstLastPara="1" wrap="square" lIns="91425" tIns="91425" rIns="91425" bIns="91425" anchor="ctr" anchorCtr="0">
            <a:noAutofit/>
          </a:bodyPr>
          <a:lstStyle>
            <a:lvl1pPr marL="0" marR="0" lvl="0" indent="0" algn="r" rtl="0">
              <a:buNone/>
              <a:defRPr/>
            </a:lvl1pPr>
            <a:lvl2pPr marL="0" marR="0" lvl="1" indent="0" algn="r" rtl="0">
              <a:buNone/>
              <a:defRPr/>
            </a:lvl2pPr>
            <a:lvl3pPr marL="0" marR="0" lvl="2" indent="0" algn="r" rtl="0">
              <a:buNone/>
              <a:defRPr/>
            </a:lvl3pPr>
            <a:lvl4pPr marL="0" marR="0" lvl="3" indent="0" algn="r" rtl="0">
              <a:buNone/>
              <a:defRPr/>
            </a:lvl4pPr>
            <a:lvl5pPr marL="0" marR="0" lvl="4" indent="0" algn="r" rtl="0">
              <a:buNone/>
              <a:defRPr/>
            </a:lvl5pPr>
            <a:lvl6pPr marL="0" marR="0" lvl="5" indent="0" algn="r" rtl="0">
              <a:buNone/>
              <a:defRPr/>
            </a:lvl6pPr>
            <a:lvl7pPr marL="0" marR="0" lvl="6" indent="0" algn="r" rtl="0">
              <a:buNone/>
              <a:defRPr/>
            </a:lvl7pPr>
            <a:lvl8pPr marL="0" marR="0" lvl="7" indent="0" algn="r" rtl="0">
              <a:buNone/>
              <a:defRPr/>
            </a:lvl8pPr>
            <a:lvl9pPr marL="0" marR="0" lvl="8" indent="0" algn="r" rtl="0">
              <a:buNone/>
              <a:defRPr/>
            </a:lvl9pPr>
          </a:lstStyle>
          <a:p>
            <a:pPr indent="-66675">
              <a:buSzPts val="1400"/>
              <a:buFontTx/>
              <a:buChar char="●"/>
            </a:pPr>
            <a:endParaRPr lang="en-US"/>
          </a:p>
          <a:p>
            <a:pPr marL="342900" lvl="1" indent="-66675" algn="l">
              <a:buSzPts val="1400"/>
              <a:buFontTx/>
              <a:buChar char="○"/>
            </a:pPr>
            <a:endParaRPr lang="en-US"/>
          </a:p>
          <a:p>
            <a:pPr marL="685800" lvl="2" indent="-66675" algn="l">
              <a:buSzPts val="1400"/>
              <a:buFontTx/>
              <a:buChar char="■"/>
            </a:pPr>
            <a:endParaRPr lang="en-US"/>
          </a:p>
          <a:p>
            <a:pPr marL="1028700" lvl="3" indent="-66675" algn="l">
              <a:buSzPts val="1400"/>
              <a:buFontTx/>
              <a:buChar char="●"/>
            </a:pPr>
            <a:endParaRPr lang="en-US"/>
          </a:p>
          <a:p>
            <a:pPr marL="1371600" lvl="4" indent="-66675" algn="l">
              <a:buSzPts val="1400"/>
              <a:buFontTx/>
              <a:buChar char="○"/>
            </a:pPr>
            <a:endParaRPr lang="en-US"/>
          </a:p>
          <a:p>
            <a:pPr marL="1714500" lvl="5" indent="-66675" algn="l">
              <a:buSzPts val="1400"/>
              <a:buFontTx/>
              <a:buChar char="■"/>
            </a:pPr>
            <a:endParaRPr lang="en-US"/>
          </a:p>
          <a:p>
            <a:pPr marL="2057400" lvl="6" indent="-66675" algn="l">
              <a:buSzPts val="1400"/>
              <a:buFontTx/>
              <a:buChar char="●"/>
            </a:pPr>
            <a:endParaRPr lang="en-US"/>
          </a:p>
          <a:p>
            <a:pPr marL="2400300" lvl="7" indent="-66675" algn="l">
              <a:buSzPts val="1400"/>
              <a:buFontTx/>
              <a:buChar char="○"/>
            </a:pPr>
            <a:endParaRPr lang="en-US"/>
          </a:p>
          <a:p>
            <a:pPr marL="2743200" lvl="8" indent="-66675" algn="l">
              <a:buSzPts val="1400"/>
              <a:buFontTx/>
              <a:buChar char="■"/>
            </a:pPr>
            <a:endParaRPr lang="en-US"/>
          </a:p>
        </p:txBody>
      </p:sp>
    </p:spTree>
    <p:extLst>
      <p:ext uri="{BB962C8B-B14F-4D97-AF65-F5344CB8AC3E}">
        <p14:creationId xmlns:p14="http://schemas.microsoft.com/office/powerpoint/2010/main" val="375926451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300082"/>
          </a:xfrm>
          <a:prstGeom prst="rect">
            <a:avLst/>
          </a:prstGeom>
        </p:spPr>
        <p:txBody>
          <a:bodyPr wrap="square" lIns="0" tIns="0" rIns="0" bIns="0">
            <a:spAutoFit/>
          </a:bodyPr>
          <a:lstStyle>
            <a:lvl1pPr>
              <a:defRPr sz="1950" b="1" i="0">
                <a:solidFill>
                  <a:srgbClr val="3C3935"/>
                </a:solidFill>
                <a:latin typeface="Arial"/>
                <a:cs typeface="Arial"/>
              </a:defRPr>
            </a:lvl1pPr>
          </a:lstStyle>
          <a:p>
            <a:endParaRPr/>
          </a:p>
        </p:txBody>
      </p:sp>
      <p:sp>
        <p:nvSpPr>
          <p:cNvPr id="3" name="Holder 3"/>
          <p:cNvSpPr>
            <a:spLocks noGrp="1"/>
          </p:cNvSpPr>
          <p:nvPr>
            <p:ph type="subTitle" idx="4"/>
          </p:nvPr>
        </p:nvSpPr>
        <p:spPr>
          <a:xfrm>
            <a:off x="1371600" y="3840481"/>
            <a:ext cx="6400800" cy="213585"/>
          </a:xfrm>
          <a:prstGeom prst="rect">
            <a:avLst/>
          </a:prstGeom>
        </p:spPr>
        <p:txBody>
          <a:bodyPr wrap="square" lIns="0" tIns="0" rIns="0" bIns="0">
            <a:spAutoFit/>
          </a:bodyPr>
          <a:lstStyle>
            <a:lvl1pPr>
              <a:defRPr sz="1388" b="0" i="0">
                <a:solidFill>
                  <a:srgbClr val="3C3935"/>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384869557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20066" y="541337"/>
            <a:ext cx="5962015" cy="300082"/>
          </a:xfrm>
        </p:spPr>
        <p:txBody>
          <a:bodyPr lIns="0" tIns="0" rIns="0" bIns="0"/>
          <a:lstStyle>
            <a:lvl1pPr>
              <a:defRPr sz="1950" b="1" i="0">
                <a:solidFill>
                  <a:srgbClr val="3C3935"/>
                </a:solidFill>
                <a:latin typeface="Arial"/>
                <a:cs typeface="Arial"/>
              </a:defRPr>
            </a:lvl1pPr>
          </a:lstStyle>
          <a:p>
            <a:endParaRPr/>
          </a:p>
        </p:txBody>
      </p:sp>
      <p:sp>
        <p:nvSpPr>
          <p:cNvPr id="3" name="Holder 3"/>
          <p:cNvSpPr>
            <a:spLocks noGrp="1"/>
          </p:cNvSpPr>
          <p:nvPr>
            <p:ph type="body" idx="1"/>
          </p:nvPr>
        </p:nvSpPr>
        <p:spPr>
          <a:xfrm>
            <a:off x="520066" y="1449141"/>
            <a:ext cx="8002905" cy="213585"/>
          </a:xfrm>
        </p:spPr>
        <p:txBody>
          <a:bodyPr lIns="0" tIns="0" rIns="0" bIns="0"/>
          <a:lstStyle>
            <a:lvl1pPr>
              <a:defRPr sz="1388" b="0" i="0">
                <a:solidFill>
                  <a:srgbClr val="3C3935"/>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10348380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20066" y="541337"/>
            <a:ext cx="5962015" cy="300082"/>
          </a:xfrm>
        </p:spPr>
        <p:txBody>
          <a:bodyPr lIns="0" tIns="0" rIns="0" bIns="0"/>
          <a:lstStyle>
            <a:lvl1pPr>
              <a:defRPr sz="1950" b="1" i="0">
                <a:solidFill>
                  <a:srgbClr val="3C3935"/>
                </a:solidFill>
                <a:latin typeface="Arial"/>
                <a:cs typeface="Arial"/>
              </a:defRPr>
            </a:lvl1pPr>
          </a:lstStyle>
          <a:p>
            <a:endParaRPr/>
          </a:p>
        </p:txBody>
      </p:sp>
      <p:sp>
        <p:nvSpPr>
          <p:cNvPr id="3" name="Holder 3"/>
          <p:cNvSpPr>
            <a:spLocks noGrp="1"/>
          </p:cNvSpPr>
          <p:nvPr>
            <p:ph sz="half" idx="2"/>
          </p:nvPr>
        </p:nvSpPr>
        <p:spPr>
          <a:xfrm>
            <a:off x="457200" y="1577340"/>
            <a:ext cx="3977640" cy="28469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8469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7" name="Holder 7"/>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343688756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20066" y="541337"/>
            <a:ext cx="5962015" cy="300082"/>
          </a:xfrm>
        </p:spPr>
        <p:txBody>
          <a:bodyPr lIns="0" tIns="0" rIns="0" bIns="0"/>
          <a:lstStyle>
            <a:lvl1pPr>
              <a:defRPr sz="1950" b="1" i="0">
                <a:solidFill>
                  <a:srgbClr val="3C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5" name="Holder 5"/>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236638528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4" name="Holder 4"/>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148725919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48104427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9596" y="713233"/>
            <a:ext cx="3767469" cy="334707"/>
          </a:xfrm>
          <a:prstGeom prst="rect">
            <a:avLst/>
          </a:prstGeom>
        </p:spPr>
        <p:txBody>
          <a:bodyPr wrap="square" lIns="0" tIns="0" rIns="0" bIns="0">
            <a:spAutoFit/>
          </a:bodyPr>
          <a:lstStyle>
            <a:lvl1pPr>
              <a:defRPr sz="2175" b="1" i="0">
                <a:solidFill>
                  <a:srgbClr val="3D3935"/>
                </a:solidFill>
                <a:latin typeface="Arial"/>
                <a:cs typeface="Arial"/>
              </a:defRPr>
            </a:lvl1pPr>
          </a:lstStyle>
          <a:p>
            <a:endParaRPr/>
          </a:p>
        </p:txBody>
      </p:sp>
      <p:sp>
        <p:nvSpPr>
          <p:cNvPr id="3" name="Holder 3"/>
          <p:cNvSpPr>
            <a:spLocks noGrp="1"/>
          </p:cNvSpPr>
          <p:nvPr>
            <p:ph type="subTitle" idx="4"/>
          </p:nvPr>
        </p:nvSpPr>
        <p:spPr>
          <a:xfrm>
            <a:off x="1371600" y="3840480"/>
            <a:ext cx="6400800" cy="219291"/>
          </a:xfrm>
          <a:prstGeom prst="rect">
            <a:avLst/>
          </a:prstGeom>
        </p:spPr>
        <p:txBody>
          <a:bodyPr wrap="square" lIns="0" tIns="0" rIns="0" bIns="0">
            <a:spAutoFit/>
          </a:bodyPr>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4174563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19291"/>
          </a:xfrm>
        </p:spPr>
        <p:txBody>
          <a:bodyPr lIns="0" tIns="0" rIns="0" bIns="0"/>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8018404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923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7" name="Holder 7"/>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3544541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5" name="Holder 5"/>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65722851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4" name="Holder 4"/>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235199261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oleObject" Target="../embeddings/oleObject1.bin"/><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84.xml"/><Relationship Id="rId7" Type="http://schemas.openxmlformats.org/officeDocument/2006/relationships/theme" Target="../theme/theme2.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5" Type="http://schemas.openxmlformats.org/officeDocument/2006/relationships/slideLayout" Target="../slideLayouts/slideLayout86.xml"/><Relationship Id="rId4" Type="http://schemas.openxmlformats.org/officeDocument/2006/relationships/slideLayout" Target="../slideLayouts/slideLayout8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0.xml"/><Relationship Id="rId7" Type="http://schemas.openxmlformats.org/officeDocument/2006/relationships/image" Target="../media/image9.png"/><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theme" Target="../theme/theme3.xml"/><Relationship Id="rId5" Type="http://schemas.openxmlformats.org/officeDocument/2006/relationships/slideLayout" Target="../slideLayouts/slideLayout92.xml"/><Relationship Id="rId4"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83"/>
            </p:custDataLst>
            <p:extLst>
              <p:ext uri="{D42A27DB-BD31-4B8C-83A1-F6EECF244321}">
                <p14:modId xmlns:p14="http://schemas.microsoft.com/office/powerpoint/2010/main" val="3475696465"/>
              </p:ext>
            </p:ext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84" imgW="347" imgH="348" progId="TCLayout.ActiveDocument.1">
                  <p:embed/>
                </p:oleObj>
              </mc:Choice>
              <mc:Fallback>
                <p:oleObj name="think-cell Slide" r:id="rId84" imgW="347" imgH="348" progId="TCLayout.ActiveDocument.1">
                  <p:embed/>
                  <p:pic>
                    <p:nvPicPr>
                      <p:cNvPr id="4" name="Object 3" hidden="1"/>
                      <p:cNvPicPr/>
                      <p:nvPr/>
                    </p:nvPicPr>
                    <p:blipFill>
                      <a:blip r:embed="rId85"/>
                      <a:stretch>
                        <a:fillRect/>
                      </a:stretch>
                    </p:blipFill>
                    <p:spPr>
                      <a:xfrm>
                        <a:off x="1589" y="1590"/>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7" name="Group 4"/>
          <p:cNvGrpSpPr>
            <a:grpSpLocks noChangeAspect="1"/>
          </p:cNvGrpSpPr>
          <p:nvPr userDrawn="1"/>
        </p:nvGrpSpPr>
        <p:grpSpPr bwMode="auto">
          <a:xfrm>
            <a:off x="1589" y="0"/>
            <a:ext cx="9140825" cy="6858000"/>
            <a:chOff x="1" y="0"/>
            <a:chExt cx="5758" cy="4320"/>
          </a:xfrm>
        </p:grpSpPr>
        <p:sp>
          <p:nvSpPr>
            <p:cNvPr id="88" name="AutoShape 3"/>
            <p:cNvSpPr>
              <a:spLocks noChangeAspect="1" noChangeArrowheads="1" noTextEdit="1"/>
            </p:cNvSpPr>
            <p:nvPr userDrawn="1"/>
          </p:nvSpPr>
          <p:spPr bwMode="auto">
            <a:xfrm>
              <a:off x="1" y="0"/>
              <a:ext cx="5758" cy="4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5"/>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close/>
                </a:path>
              </a:pathLst>
            </a:custGeom>
            <a:solidFill>
              <a:srgbClr val="E8E3D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6"/>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7"/>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close/>
                </a:path>
              </a:pathLst>
            </a:custGeom>
            <a:solidFill>
              <a:srgbClr val="E8E3D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8"/>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9"/>
            <p:cNvSpPr>
              <a:spLocks/>
            </p:cNvSpPr>
            <p:nvPr userDrawn="1"/>
          </p:nvSpPr>
          <p:spPr bwMode="auto">
            <a:xfrm>
              <a:off x="4661" y="234"/>
              <a:ext cx="182" cy="234"/>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0"/>
            <p:cNvSpPr>
              <a:spLocks/>
            </p:cNvSpPr>
            <p:nvPr userDrawn="1"/>
          </p:nvSpPr>
          <p:spPr bwMode="auto">
            <a:xfrm>
              <a:off x="4695" y="262"/>
              <a:ext cx="114" cy="150"/>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1"/>
            <p:cNvSpPr>
              <a:spLocks/>
            </p:cNvSpPr>
            <p:nvPr userDrawn="1"/>
          </p:nvSpPr>
          <p:spPr bwMode="auto">
            <a:xfrm>
              <a:off x="4711" y="294"/>
              <a:ext cx="82" cy="9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12"/>
            <p:cNvSpPr>
              <a:spLocks noEditPoints="1"/>
            </p:cNvSpPr>
            <p:nvPr userDrawn="1"/>
          </p:nvSpPr>
          <p:spPr bwMode="auto">
            <a:xfrm>
              <a:off x="4661" y="504"/>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13"/>
            <p:cNvSpPr>
              <a:spLocks/>
            </p:cNvSpPr>
            <p:nvPr userDrawn="1"/>
          </p:nvSpPr>
          <p:spPr bwMode="auto">
            <a:xfrm>
              <a:off x="4697" y="504"/>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14"/>
            <p:cNvSpPr>
              <a:spLocks/>
            </p:cNvSpPr>
            <p:nvPr userDrawn="1"/>
          </p:nvSpPr>
          <p:spPr bwMode="auto">
            <a:xfrm>
              <a:off x="4731" y="502"/>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15"/>
            <p:cNvSpPr>
              <a:spLocks/>
            </p:cNvSpPr>
            <p:nvPr userDrawn="1"/>
          </p:nvSpPr>
          <p:spPr bwMode="auto">
            <a:xfrm>
              <a:off x="4761" y="504"/>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16"/>
            <p:cNvSpPr>
              <a:spLocks noEditPoints="1"/>
            </p:cNvSpPr>
            <p:nvPr userDrawn="1"/>
          </p:nvSpPr>
          <p:spPr bwMode="auto">
            <a:xfrm>
              <a:off x="4793"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17"/>
            <p:cNvSpPr>
              <a:spLocks noEditPoints="1"/>
            </p:cNvSpPr>
            <p:nvPr userDrawn="1"/>
          </p:nvSpPr>
          <p:spPr bwMode="auto">
            <a:xfrm>
              <a:off x="4823" y="504"/>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18"/>
            <p:cNvSpPr>
              <a:spLocks/>
            </p:cNvSpPr>
            <p:nvPr userDrawn="1"/>
          </p:nvSpPr>
          <p:spPr bwMode="auto">
            <a:xfrm>
              <a:off x="4861"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19"/>
            <p:cNvSpPr>
              <a:spLocks/>
            </p:cNvSpPr>
            <p:nvPr userDrawn="1"/>
          </p:nvSpPr>
          <p:spPr bwMode="auto">
            <a:xfrm>
              <a:off x="4889"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0"/>
            <p:cNvSpPr>
              <a:spLocks noEditPoints="1"/>
            </p:cNvSpPr>
            <p:nvPr userDrawn="1"/>
          </p:nvSpPr>
          <p:spPr bwMode="auto">
            <a:xfrm>
              <a:off x="4899"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1"/>
            <p:cNvSpPr>
              <a:spLocks/>
            </p:cNvSpPr>
            <p:nvPr userDrawn="1"/>
          </p:nvSpPr>
          <p:spPr bwMode="auto">
            <a:xfrm>
              <a:off x="4939" y="504"/>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22"/>
            <p:cNvSpPr>
              <a:spLocks/>
            </p:cNvSpPr>
            <p:nvPr userDrawn="1"/>
          </p:nvSpPr>
          <p:spPr bwMode="auto">
            <a:xfrm>
              <a:off x="4989"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23"/>
            <p:cNvSpPr>
              <a:spLocks noEditPoints="1"/>
            </p:cNvSpPr>
            <p:nvPr userDrawn="1"/>
          </p:nvSpPr>
          <p:spPr bwMode="auto">
            <a:xfrm>
              <a:off x="5021"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24"/>
            <p:cNvSpPr>
              <a:spLocks/>
            </p:cNvSpPr>
            <p:nvPr userDrawn="1"/>
          </p:nvSpPr>
          <p:spPr bwMode="auto">
            <a:xfrm>
              <a:off x="5053" y="504"/>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25"/>
            <p:cNvSpPr>
              <a:spLocks/>
            </p:cNvSpPr>
            <p:nvPr userDrawn="1"/>
          </p:nvSpPr>
          <p:spPr bwMode="auto">
            <a:xfrm>
              <a:off x="5085" y="504"/>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26"/>
            <p:cNvSpPr>
              <a:spLocks noEditPoints="1"/>
            </p:cNvSpPr>
            <p:nvPr userDrawn="1"/>
          </p:nvSpPr>
          <p:spPr bwMode="auto">
            <a:xfrm>
              <a:off x="5119" y="502"/>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27"/>
            <p:cNvSpPr>
              <a:spLocks/>
            </p:cNvSpPr>
            <p:nvPr userDrawn="1"/>
          </p:nvSpPr>
          <p:spPr bwMode="auto">
            <a:xfrm>
              <a:off x="5157"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28"/>
            <p:cNvSpPr>
              <a:spLocks/>
            </p:cNvSpPr>
            <p:nvPr userDrawn="1"/>
          </p:nvSpPr>
          <p:spPr bwMode="auto">
            <a:xfrm>
              <a:off x="5185"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29"/>
            <p:cNvSpPr>
              <a:spLocks/>
            </p:cNvSpPr>
            <p:nvPr userDrawn="1"/>
          </p:nvSpPr>
          <p:spPr bwMode="auto">
            <a:xfrm>
              <a:off x="5195"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0"/>
            <p:cNvSpPr>
              <a:spLocks/>
            </p:cNvSpPr>
            <p:nvPr userDrawn="1"/>
          </p:nvSpPr>
          <p:spPr bwMode="auto">
            <a:xfrm>
              <a:off x="5247" y="504"/>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1"/>
            <p:cNvSpPr>
              <a:spLocks/>
            </p:cNvSpPr>
            <p:nvPr userDrawn="1"/>
          </p:nvSpPr>
          <p:spPr bwMode="auto">
            <a:xfrm>
              <a:off x="5283" y="504"/>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6" name="Freeform 32"/>
            <p:cNvSpPr>
              <a:spLocks/>
            </p:cNvSpPr>
            <p:nvPr userDrawn="1"/>
          </p:nvSpPr>
          <p:spPr bwMode="auto">
            <a:xfrm>
              <a:off x="5317"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33"/>
            <p:cNvSpPr>
              <a:spLocks/>
            </p:cNvSpPr>
            <p:nvPr userDrawn="1"/>
          </p:nvSpPr>
          <p:spPr bwMode="auto">
            <a:xfrm>
              <a:off x="5329" y="504"/>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8" name="Freeform 34"/>
            <p:cNvSpPr>
              <a:spLocks/>
            </p:cNvSpPr>
            <p:nvPr userDrawn="1"/>
          </p:nvSpPr>
          <p:spPr bwMode="auto">
            <a:xfrm>
              <a:off x="5365" y="504"/>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9" name="Freeform 35"/>
            <p:cNvSpPr>
              <a:spLocks noEditPoints="1"/>
            </p:cNvSpPr>
            <p:nvPr userDrawn="1"/>
          </p:nvSpPr>
          <p:spPr bwMode="auto">
            <a:xfrm>
              <a:off x="5397"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0" name="Freeform 36"/>
            <p:cNvSpPr>
              <a:spLocks/>
            </p:cNvSpPr>
            <p:nvPr userDrawn="1"/>
          </p:nvSpPr>
          <p:spPr bwMode="auto">
            <a:xfrm>
              <a:off x="5427" y="502"/>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1" name="Freeform 37"/>
            <p:cNvSpPr>
              <a:spLocks/>
            </p:cNvSpPr>
            <p:nvPr userDrawn="1"/>
          </p:nvSpPr>
          <p:spPr bwMode="auto">
            <a:xfrm>
              <a:off x="5461"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2" name="Freeform 38"/>
            <p:cNvSpPr>
              <a:spLocks/>
            </p:cNvSpPr>
            <p:nvPr userDrawn="1"/>
          </p:nvSpPr>
          <p:spPr bwMode="auto">
            <a:xfrm>
              <a:off x="5473" y="504"/>
              <a:ext cx="54" cy="32"/>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3" name="Freeform 39"/>
            <p:cNvSpPr>
              <a:spLocks/>
            </p:cNvSpPr>
            <p:nvPr userDrawn="1"/>
          </p:nvSpPr>
          <p:spPr bwMode="auto">
            <a:xfrm>
              <a:off x="5343" y="234"/>
              <a:ext cx="184" cy="230"/>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4" name="Freeform 40"/>
            <p:cNvSpPr>
              <a:spLocks/>
            </p:cNvSpPr>
            <p:nvPr userDrawn="1"/>
          </p:nvSpPr>
          <p:spPr bwMode="auto">
            <a:xfrm>
              <a:off x="5099" y="230"/>
              <a:ext cx="212" cy="234"/>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5" name="Freeform 41"/>
            <p:cNvSpPr>
              <a:spLocks noEditPoints="1"/>
            </p:cNvSpPr>
            <p:nvPr userDrawn="1"/>
          </p:nvSpPr>
          <p:spPr bwMode="auto">
            <a:xfrm>
              <a:off x="4887" y="234"/>
              <a:ext cx="208" cy="226"/>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5" name="Footer Placeholder 4"/>
          <p:cNvSpPr>
            <a:spLocks noGrp="1"/>
          </p:cNvSpPr>
          <p:nvPr>
            <p:ph type="ftr" sz="quarter" idx="3"/>
          </p:nvPr>
        </p:nvSpPr>
        <p:spPr>
          <a:xfrm>
            <a:off x="832758" y="6510473"/>
            <a:ext cx="3086100"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38460180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 id="2147483714" r:id="rId48"/>
    <p:sldLayoutId id="2147483715" r:id="rId49"/>
    <p:sldLayoutId id="2147483716" r:id="rId50"/>
    <p:sldLayoutId id="2147483717" r:id="rId51"/>
    <p:sldLayoutId id="2147483718" r:id="rId52"/>
    <p:sldLayoutId id="2147483719" r:id="rId53"/>
    <p:sldLayoutId id="2147483720" r:id="rId54"/>
    <p:sldLayoutId id="2147483721" r:id="rId55"/>
    <p:sldLayoutId id="2147483722" r:id="rId56"/>
    <p:sldLayoutId id="2147483723" r:id="rId57"/>
    <p:sldLayoutId id="2147483724" r:id="rId58"/>
    <p:sldLayoutId id="2147483725" r:id="rId59"/>
    <p:sldLayoutId id="2147483726" r:id="rId60"/>
    <p:sldLayoutId id="2147483727" r:id="rId61"/>
    <p:sldLayoutId id="2147483728" r:id="rId62"/>
    <p:sldLayoutId id="2147483729" r:id="rId63"/>
    <p:sldLayoutId id="2147483730" r:id="rId64"/>
    <p:sldLayoutId id="2147483731" r:id="rId65"/>
    <p:sldLayoutId id="2147483732" r:id="rId66"/>
    <p:sldLayoutId id="2147483733" r:id="rId67"/>
    <p:sldLayoutId id="2147483734" r:id="rId68"/>
    <p:sldLayoutId id="2147483735" r:id="rId69"/>
    <p:sldLayoutId id="2147483736" r:id="rId70"/>
    <p:sldLayoutId id="2147483737" r:id="rId71"/>
    <p:sldLayoutId id="2147483738" r:id="rId72"/>
    <p:sldLayoutId id="2147483739" r:id="rId73"/>
    <p:sldLayoutId id="2147483740" r:id="rId74"/>
    <p:sldLayoutId id="2147483741" r:id="rId75"/>
    <p:sldLayoutId id="2147483742" r:id="rId76"/>
    <p:sldLayoutId id="2147483743" r:id="rId77"/>
    <p:sldLayoutId id="2147483744" r:id="rId78"/>
    <p:sldLayoutId id="2147483745" r:id="rId79"/>
    <p:sldLayoutId id="2147483746" r:id="rId80"/>
    <p:sldLayoutId id="2147483747" r:id="rId81"/>
  </p:sldLayoutIdLst>
  <p:hf hdr="0" dt="0"/>
  <p:txStyles>
    <p:titleStyle>
      <a:lvl1pPr algn="l" defTabSz="685800" rtl="0" eaLnBrk="1" latinLnBrk="0" hangingPunct="1">
        <a:lnSpc>
          <a:spcPct val="100000"/>
        </a:lnSpc>
        <a:spcBef>
          <a:spcPct val="0"/>
        </a:spcBef>
        <a:buNone/>
        <a:defRPr sz="2900" b="1" kern="1200">
          <a:solidFill>
            <a:srgbClr val="3D3935"/>
          </a:solidFill>
          <a:latin typeface="Arial" panose="020B0604020202020204" pitchFamily="34" charset="0"/>
          <a:ea typeface="+mj-ea"/>
          <a:cs typeface="Arial" panose="020B0604020202020204" pitchFamily="34" charset="0"/>
        </a:defRPr>
      </a:lvl1pPr>
    </p:titleStyle>
    <p:bodyStyle>
      <a:lvl1pPr marL="171450" indent="-171450" algn="l" defTabSz="685800" rtl="0" eaLnBrk="1" latinLnBrk="0" hangingPunct="1">
        <a:lnSpc>
          <a:spcPct val="100000"/>
        </a:lnSpc>
        <a:spcBef>
          <a:spcPts val="750"/>
        </a:spcBef>
        <a:buClr>
          <a:srgbClr val="F2120C"/>
        </a:buClr>
        <a:buFont typeface="Arial" panose="020B0604020202020204" pitchFamily="34" charset="0"/>
        <a:buChar char="•"/>
        <a:defRPr sz="1900" kern="1200">
          <a:solidFill>
            <a:srgbClr val="3D3935"/>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Clr>
          <a:srgbClr val="F2120C"/>
        </a:buClr>
        <a:buFont typeface="Arial" panose="020B0604020202020204" pitchFamily="34" charset="0"/>
        <a:buChar char="•"/>
        <a:defRPr sz="1500" kern="1200">
          <a:solidFill>
            <a:srgbClr val="3D3935"/>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Clr>
          <a:srgbClr val="F2120C"/>
        </a:buClr>
        <a:buFont typeface="Arial" panose="020B0604020202020204" pitchFamily="34" charset="0"/>
        <a:buChar char="•"/>
        <a:defRPr sz="1350" kern="1200">
          <a:solidFill>
            <a:srgbClr val="3D3935"/>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Clr>
          <a:srgbClr val="F2120C"/>
        </a:buClr>
        <a:buFont typeface="Arial" panose="020B0604020202020204" pitchFamily="34" charset="0"/>
        <a:buChar char="•"/>
        <a:defRPr sz="1350" kern="1200">
          <a:solidFill>
            <a:srgbClr val="3D3935"/>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5029200" cy="457200"/>
          </a:xfrm>
          <a:custGeom>
            <a:avLst/>
            <a:gdLst/>
            <a:ahLst/>
            <a:cxnLst/>
            <a:rect l="l" t="t" r="r" b="b"/>
            <a:pathLst>
              <a:path w="5029200" h="457200">
                <a:moveTo>
                  <a:pt x="5029200" y="0"/>
                </a:moveTo>
                <a:lnTo>
                  <a:pt x="0" y="0"/>
                </a:lnTo>
                <a:lnTo>
                  <a:pt x="0" y="457200"/>
                </a:lnTo>
                <a:lnTo>
                  <a:pt x="4568952" y="457200"/>
                </a:lnTo>
                <a:lnTo>
                  <a:pt x="5029200" y="0"/>
                </a:lnTo>
                <a:close/>
              </a:path>
            </a:pathLst>
          </a:custGeom>
          <a:solidFill>
            <a:srgbClr val="E8E2DB"/>
          </a:solidFill>
        </p:spPr>
        <p:txBody>
          <a:bodyPr wrap="square" lIns="0" tIns="0" rIns="0" bIns="0" rtlCol="0"/>
          <a:lstStyle/>
          <a:p>
            <a:endParaRPr/>
          </a:p>
        </p:txBody>
      </p:sp>
      <p:sp>
        <p:nvSpPr>
          <p:cNvPr id="17" name="bg object 17"/>
          <p:cNvSpPr/>
          <p:nvPr/>
        </p:nvSpPr>
        <p:spPr>
          <a:xfrm>
            <a:off x="4572000" y="6400800"/>
            <a:ext cx="4572000" cy="457200"/>
          </a:xfrm>
          <a:custGeom>
            <a:avLst/>
            <a:gdLst/>
            <a:ahLst/>
            <a:cxnLst/>
            <a:rect l="l" t="t" r="r" b="b"/>
            <a:pathLst>
              <a:path w="4572000" h="457200">
                <a:moveTo>
                  <a:pt x="4572000" y="0"/>
                </a:moveTo>
                <a:lnTo>
                  <a:pt x="460501" y="0"/>
                </a:lnTo>
                <a:lnTo>
                  <a:pt x="0" y="457200"/>
                </a:lnTo>
                <a:lnTo>
                  <a:pt x="4572000" y="457200"/>
                </a:lnTo>
                <a:lnTo>
                  <a:pt x="4572000" y="0"/>
                </a:lnTo>
                <a:close/>
              </a:path>
            </a:pathLst>
          </a:custGeom>
          <a:solidFill>
            <a:srgbClr val="E8E2DB"/>
          </a:solidFill>
        </p:spPr>
        <p:txBody>
          <a:bodyPr wrap="square" lIns="0" tIns="0" rIns="0" bIns="0" rtlCol="0"/>
          <a:lstStyle/>
          <a:p>
            <a:endParaRPr/>
          </a:p>
        </p:txBody>
      </p:sp>
      <p:pic>
        <p:nvPicPr>
          <p:cNvPr id="18" name="bg object 18"/>
          <p:cNvPicPr/>
          <p:nvPr/>
        </p:nvPicPr>
        <p:blipFill>
          <a:blip r:embed="rId8" cstate="print"/>
          <a:stretch>
            <a:fillRect/>
          </a:stretch>
        </p:blipFill>
        <p:spPr>
          <a:xfrm>
            <a:off x="7400925" y="361952"/>
            <a:ext cx="1371600" cy="485775"/>
          </a:xfrm>
          <a:prstGeom prst="rect">
            <a:avLst/>
          </a:prstGeom>
        </p:spPr>
      </p:pic>
      <p:sp>
        <p:nvSpPr>
          <p:cNvPr id="2" name="Holder 2"/>
          <p:cNvSpPr>
            <a:spLocks noGrp="1"/>
          </p:cNvSpPr>
          <p:nvPr>
            <p:ph type="title"/>
          </p:nvPr>
        </p:nvSpPr>
        <p:spPr>
          <a:xfrm>
            <a:off x="520066" y="541337"/>
            <a:ext cx="5962015" cy="400110"/>
          </a:xfrm>
          <a:prstGeom prst="rect">
            <a:avLst/>
          </a:prstGeom>
        </p:spPr>
        <p:txBody>
          <a:bodyPr wrap="square" lIns="0" tIns="0" rIns="0" bIns="0">
            <a:spAutoFit/>
          </a:bodyPr>
          <a:lstStyle>
            <a:lvl1pPr>
              <a:defRPr sz="2600" b="1" i="0">
                <a:solidFill>
                  <a:srgbClr val="3C3935"/>
                </a:solidFill>
                <a:latin typeface="Arial"/>
                <a:cs typeface="Arial"/>
              </a:defRPr>
            </a:lvl1pPr>
          </a:lstStyle>
          <a:p>
            <a:endParaRPr/>
          </a:p>
        </p:txBody>
      </p:sp>
      <p:sp>
        <p:nvSpPr>
          <p:cNvPr id="3" name="Holder 3"/>
          <p:cNvSpPr>
            <a:spLocks noGrp="1"/>
          </p:cNvSpPr>
          <p:nvPr>
            <p:ph type="body" idx="1"/>
          </p:nvPr>
        </p:nvSpPr>
        <p:spPr>
          <a:xfrm>
            <a:off x="520066" y="1449141"/>
            <a:ext cx="8002905" cy="284693"/>
          </a:xfrm>
          <a:prstGeom prst="rect">
            <a:avLst/>
          </a:prstGeom>
        </p:spPr>
        <p:txBody>
          <a:bodyPr wrap="square" lIns="0" tIns="0" rIns="0" bIns="0">
            <a:spAutoFit/>
          </a:bodyPr>
          <a:lstStyle>
            <a:lvl1pPr>
              <a:defRPr sz="1850" b="0" i="0">
                <a:solidFill>
                  <a:srgbClr val="3C3935"/>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a:xfrm>
            <a:off x="552768" y="6564611"/>
            <a:ext cx="3723004" cy="109710"/>
          </a:xfrm>
          <a:prstGeom prst="rect">
            <a:avLst/>
          </a:prstGeom>
        </p:spPr>
        <p:txBody>
          <a:bodyPr wrap="square" lIns="0" tIns="0" rIns="0" bIns="0">
            <a:spAutoFit/>
          </a:bodyPr>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279389321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66" r:id="rId6"/>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8" y="0"/>
            <a:ext cx="5027930" cy="454025"/>
          </a:xfrm>
          <a:custGeom>
            <a:avLst/>
            <a:gdLst/>
            <a:ahLst/>
            <a:cxnLst/>
            <a:rect l="l" t="t" r="r" b="b"/>
            <a:pathLst>
              <a:path w="5027930" h="454025">
                <a:moveTo>
                  <a:pt x="5027591" y="0"/>
                </a:moveTo>
                <a:lnTo>
                  <a:pt x="0" y="0"/>
                </a:lnTo>
                <a:lnTo>
                  <a:pt x="0" y="454025"/>
                </a:lnTo>
                <a:lnTo>
                  <a:pt x="4570413" y="454025"/>
                </a:lnTo>
                <a:lnTo>
                  <a:pt x="5027591" y="0"/>
                </a:lnTo>
                <a:close/>
              </a:path>
            </a:pathLst>
          </a:custGeom>
          <a:solidFill>
            <a:srgbClr val="E8E3DB"/>
          </a:solidFill>
        </p:spPr>
        <p:txBody>
          <a:bodyPr wrap="square" lIns="0" tIns="0" rIns="0" bIns="0" rtlCol="0"/>
          <a:lstStyle/>
          <a:p>
            <a:endParaRPr sz="1350"/>
          </a:p>
        </p:txBody>
      </p:sp>
      <p:sp>
        <p:nvSpPr>
          <p:cNvPr id="17" name="bg object 17"/>
          <p:cNvSpPr/>
          <p:nvPr/>
        </p:nvSpPr>
        <p:spPr>
          <a:xfrm>
            <a:off x="4572001" y="6397624"/>
            <a:ext cx="4570730" cy="457200"/>
          </a:xfrm>
          <a:custGeom>
            <a:avLst/>
            <a:gdLst/>
            <a:ahLst/>
            <a:cxnLst/>
            <a:rect l="l" t="t" r="r" b="b"/>
            <a:pathLst>
              <a:path w="4570730" h="457200">
                <a:moveTo>
                  <a:pt x="4570412" y="0"/>
                </a:moveTo>
                <a:lnTo>
                  <a:pt x="460375" y="0"/>
                </a:lnTo>
                <a:lnTo>
                  <a:pt x="0" y="457199"/>
                </a:lnTo>
                <a:lnTo>
                  <a:pt x="4570412" y="457199"/>
                </a:lnTo>
                <a:lnTo>
                  <a:pt x="4570412" y="0"/>
                </a:lnTo>
                <a:close/>
              </a:path>
            </a:pathLst>
          </a:custGeom>
          <a:solidFill>
            <a:srgbClr val="E8E3DB"/>
          </a:solidFill>
        </p:spPr>
        <p:txBody>
          <a:bodyPr wrap="square" lIns="0" tIns="0" rIns="0" bIns="0" rtlCol="0"/>
          <a:lstStyle/>
          <a:p>
            <a:endParaRPr sz="1350"/>
          </a:p>
        </p:txBody>
      </p:sp>
      <p:pic>
        <p:nvPicPr>
          <p:cNvPr id="18" name="bg object 18"/>
          <p:cNvPicPr/>
          <p:nvPr/>
        </p:nvPicPr>
        <p:blipFill>
          <a:blip r:embed="rId7" cstate="print"/>
          <a:stretch>
            <a:fillRect/>
          </a:stretch>
        </p:blipFill>
        <p:spPr>
          <a:xfrm>
            <a:off x="7399338" y="365127"/>
            <a:ext cx="1374775" cy="485775"/>
          </a:xfrm>
          <a:prstGeom prst="rect">
            <a:avLst/>
          </a:prstGeom>
        </p:spPr>
      </p:pic>
      <p:sp>
        <p:nvSpPr>
          <p:cNvPr id="2" name="Holder 2"/>
          <p:cNvSpPr>
            <a:spLocks noGrp="1"/>
          </p:cNvSpPr>
          <p:nvPr>
            <p:ph type="title"/>
          </p:nvPr>
        </p:nvSpPr>
        <p:spPr>
          <a:xfrm>
            <a:off x="519610" y="713233"/>
            <a:ext cx="6553200" cy="446276"/>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92388"/>
          </a:xfrm>
          <a:prstGeom prst="rect">
            <a:avLst/>
          </a:prstGeom>
        </p:spPr>
        <p:txBody>
          <a:bodyPr wrap="square" lIns="0" tIns="0" rIns="0" bIns="0">
            <a:spAutoFit/>
          </a:bodyPr>
          <a:lstStyle>
            <a:lvl1pPr>
              <a:defRPr sz="1900" b="1" i="0">
                <a:solidFill>
                  <a:srgbClr val="0D0D0D"/>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a:xfrm>
            <a:off x="552269" y="6556594"/>
            <a:ext cx="3729354" cy="115416"/>
          </a:xfrm>
          <a:prstGeom prst="rect">
            <a:avLst/>
          </a:prstGeom>
        </p:spPr>
        <p:txBody>
          <a:bodyPr wrap="square" lIns="0" tIns="0" rIns="0" bIns="0">
            <a:spAutoFit/>
          </a:bodyPr>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123091036"/>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3.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3.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3.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3.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8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3.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3.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3.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3.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3.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3.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3.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3.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3.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3.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3.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3.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3.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3.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3.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3.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3.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3.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3.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3.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3.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3.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3.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3.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3.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3.xml"/></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3.xml"/></Relationships>
</file>

<file path=ppt/slides/_rels/slide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3.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3.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3.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83.xml"/></Relationships>
</file>

<file path=ppt/slides/_rels/slide7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8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7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3.xml"/></Relationships>
</file>

<file path=ppt/slides/_rels/slide7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3.xml"/></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83.xml"/></Relationships>
</file>

<file path=ppt/slides/_rels/slide7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3.xml"/></Relationships>
</file>

<file path=ppt/slides/_rels/slide8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3.xml"/></Relationships>
</file>

<file path=ppt/slides/_rels/slide8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3.xml"/></Relationships>
</file>

<file path=ppt/slides/_rels/slide8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3.xml"/></Relationships>
</file>

<file path=ppt/slides/_rels/slide8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8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83.xml"/></Relationships>
</file>

<file path=ppt/slides/_rels/slide8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3.xml"/></Relationships>
</file>

<file path=ppt/slides/_rels/slide9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3.xml"/></Relationships>
</file>

<file path=ppt/slides/_rels/slide9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9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83.xml"/></Relationships>
</file>

<file path=ppt/slides/_rels/slide9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83.xml"/></Relationships>
</file>

<file path=ppt/slides/_rels/slide9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8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0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83.xml"/></Relationships>
</file>

<file path=ppt/slides/_rels/slide10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83.xml"/></Relationships>
</file>

<file path=ppt/slides/_rels/slide10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0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83.xml"/></Relationships>
</file>

<file path=ppt/slides/_rels/slide10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8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7.xml"/></Relationships>
</file>

<file path=ppt/slides/_rels/slide11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83.xml"/></Relationships>
</file>

<file path=ppt/slides/_rels/slide115.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72.jpeg"/><Relationship Id="rId1" Type="http://schemas.openxmlformats.org/officeDocument/2006/relationships/slideLayout" Target="../slideLayouts/slideLayout8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CF62-ED9D-4C0F-A976-E9C35DDB35EB}"/>
              </a:ext>
            </a:extLst>
          </p:cNvPr>
          <p:cNvSpPr>
            <a:spLocks noGrp="1"/>
          </p:cNvSpPr>
          <p:nvPr>
            <p:ph type="title"/>
          </p:nvPr>
        </p:nvSpPr>
        <p:spPr>
          <a:xfrm>
            <a:off x="628650" y="1066800"/>
            <a:ext cx="3280028" cy="1284958"/>
          </a:xfrm>
        </p:spPr>
        <p:txBody>
          <a:bodyPr/>
          <a:lstStyle/>
          <a:p>
            <a:r>
              <a:rPr lang="en-AU" sz="2550" dirty="0"/>
              <a:t>Preparation and Guideline for Lab 5</a:t>
            </a:r>
          </a:p>
        </p:txBody>
      </p:sp>
      <p:sp>
        <p:nvSpPr>
          <p:cNvPr id="3" name="Subtitle 2">
            <a:extLst>
              <a:ext uri="{FF2B5EF4-FFF2-40B4-BE49-F238E27FC236}">
                <a16:creationId xmlns:a16="http://schemas.microsoft.com/office/drawing/2014/main" id="{23EEDDFE-62E7-4B7A-B286-FF3EA6C173A5}"/>
              </a:ext>
            </a:extLst>
          </p:cNvPr>
          <p:cNvSpPr>
            <a:spLocks noGrp="1"/>
          </p:cNvSpPr>
          <p:nvPr>
            <p:ph type="subTitle" idx="1"/>
          </p:nvPr>
        </p:nvSpPr>
        <p:spPr>
          <a:xfrm>
            <a:off x="628650" y="4000501"/>
            <a:ext cx="2900363" cy="335756"/>
          </a:xfrm>
        </p:spPr>
        <p:txBody>
          <a:bodyPr/>
          <a:lstStyle/>
          <a:p>
            <a:r>
              <a:rPr lang="en-AU" sz="1500" b="1" dirty="0"/>
              <a:t>Week 10</a:t>
            </a:r>
          </a:p>
        </p:txBody>
      </p:sp>
      <p:sp>
        <p:nvSpPr>
          <p:cNvPr id="4" name="Subtitle 2">
            <a:extLst>
              <a:ext uri="{FF2B5EF4-FFF2-40B4-BE49-F238E27FC236}">
                <a16:creationId xmlns:a16="http://schemas.microsoft.com/office/drawing/2014/main" id="{0E70E932-4411-F845-C640-9F68C2F38075}"/>
              </a:ext>
            </a:extLst>
          </p:cNvPr>
          <p:cNvSpPr txBox="1">
            <a:spLocks/>
          </p:cNvSpPr>
          <p:nvPr/>
        </p:nvSpPr>
        <p:spPr>
          <a:xfrm>
            <a:off x="628650" y="4686301"/>
            <a:ext cx="2900363" cy="335756"/>
          </a:xfrm>
          <a:prstGeom prst="rect">
            <a:avLst/>
          </a:prstGeom>
        </p:spPr>
        <p:txBody>
          <a:bodyPr vert="horz" lIns="68580" tIns="34290" rIns="68580" bIns="34290" rtlCol="0" anchor="b">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863" kern="1200">
                <a:solidFill>
                  <a:srgbClr val="3D3935"/>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100000"/>
              </a:lnSpc>
              <a:spcBef>
                <a:spcPts val="500"/>
              </a:spcBef>
              <a:buClr>
                <a:srgbClr val="F2120C"/>
              </a:buClr>
              <a:buFont typeface="Arial" panose="020B0604020202020204" pitchFamily="34" charset="0"/>
              <a:buNone/>
              <a:defRPr sz="2000" kern="1200">
                <a:solidFill>
                  <a:srgbClr val="3D3935"/>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100000"/>
              </a:lnSpc>
              <a:spcBef>
                <a:spcPts val="500"/>
              </a:spcBef>
              <a:buClr>
                <a:srgbClr val="F2120C"/>
              </a:buClr>
              <a:buFont typeface="Arial" panose="020B0604020202020204" pitchFamily="34" charset="0"/>
              <a:buNone/>
              <a:defRPr sz="1800" kern="1200">
                <a:solidFill>
                  <a:srgbClr val="3D3935"/>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100000"/>
              </a:lnSpc>
              <a:spcBef>
                <a:spcPts val="500"/>
              </a:spcBef>
              <a:buClr>
                <a:srgbClr val="F2120C"/>
              </a:buClr>
              <a:buFont typeface="Arial" panose="020B0604020202020204" pitchFamily="34" charset="0"/>
              <a:buNone/>
              <a:defRPr sz="1600" kern="1200">
                <a:solidFill>
                  <a:srgbClr val="3D3935"/>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100000"/>
              </a:lnSpc>
              <a:spcBef>
                <a:spcPts val="500"/>
              </a:spcBef>
              <a:buClr>
                <a:srgbClr val="F2120C"/>
              </a:buClr>
              <a:buFont typeface="Arial" panose="020B0604020202020204" pitchFamily="34" charset="0"/>
              <a:buNone/>
              <a:defRPr sz="1600" kern="1200">
                <a:solidFill>
                  <a:srgbClr val="3D3935"/>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685800">
              <a:spcBef>
                <a:spcPts val="750"/>
              </a:spcBef>
            </a:pPr>
            <a:r>
              <a:rPr lang="en-AU" sz="1500" b="1" dirty="0"/>
              <a:t>Dr. Farshid Keivanian</a:t>
            </a:r>
          </a:p>
        </p:txBody>
      </p:sp>
    </p:spTree>
    <p:extLst>
      <p:ext uri="{BB962C8B-B14F-4D97-AF65-F5344CB8AC3E}">
        <p14:creationId xmlns:p14="http://schemas.microsoft.com/office/powerpoint/2010/main" val="203354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10D39-A67E-92AE-EED3-33D467C98F1B}"/>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213FE8A-7320-828A-CE9F-D2385172A5DA}"/>
              </a:ext>
            </a:extLst>
          </p:cNvPr>
          <p:cNvSpPr>
            <a:spLocks noGrp="1"/>
          </p:cNvSpPr>
          <p:nvPr>
            <p:ph idx="1"/>
          </p:nvPr>
        </p:nvSpPr>
        <p:spPr>
          <a:xfrm>
            <a:off x="551793" y="1371600"/>
            <a:ext cx="8040414" cy="4495800"/>
          </a:xfrm>
        </p:spPr>
        <p:txBody>
          <a:bodyPr>
            <a:noAutofit/>
          </a:bodyPr>
          <a:lstStyle/>
          <a:p>
            <a:pPr>
              <a:lnSpc>
                <a:spcPct val="150000"/>
              </a:lnSpc>
            </a:pPr>
            <a:r>
              <a:rPr lang="en-US" sz="2800" b="0" dirty="0">
                <a:latin typeface="Calibri" panose="020F0502020204030204" pitchFamily="34" charset="0"/>
                <a:cs typeface="Calibri" panose="020F0502020204030204" pitchFamily="34" charset="0"/>
              </a:rPr>
              <a:t>This PowerPoint is an optional guide designed to support your understanding of the official Lab 5 instructions. It includes step-by-step guidance for selected tasks.</a:t>
            </a:r>
          </a:p>
          <a:p>
            <a:pPr>
              <a:lnSpc>
                <a:spcPct val="150000"/>
              </a:lnSpc>
            </a:pPr>
            <a:r>
              <a:rPr lang="en-US" sz="2800" b="0" dirty="0">
                <a:latin typeface="Calibri" panose="020F0502020204030204" pitchFamily="34" charset="0"/>
                <a:cs typeface="Calibri" panose="020F0502020204030204" pitchFamily="34" charset="0"/>
              </a:rPr>
              <a:t>Please follow the official Lab instructions and assessment requirements on Canvas when completing and submitting your work.</a:t>
            </a:r>
          </a:p>
        </p:txBody>
      </p:sp>
      <p:sp>
        <p:nvSpPr>
          <p:cNvPr id="3" name="Content Placeholder 2">
            <a:extLst>
              <a:ext uri="{FF2B5EF4-FFF2-40B4-BE49-F238E27FC236}">
                <a16:creationId xmlns:a16="http://schemas.microsoft.com/office/drawing/2014/main" id="{DC2196AF-C10D-F162-341A-D78120EFD221}"/>
              </a:ext>
            </a:extLst>
          </p:cNvPr>
          <p:cNvSpPr txBox="1">
            <a:spLocks/>
          </p:cNvSpPr>
          <p:nvPr/>
        </p:nvSpPr>
        <p:spPr>
          <a:xfrm>
            <a:off x="2353867" y="2527102"/>
            <a:ext cx="4436269" cy="2447628"/>
          </a:xfrm>
          <a:prstGeom prst="rect">
            <a:avLst/>
          </a:prstGeom>
        </p:spPr>
        <p:txBody>
          <a:bodyPr vert="horz" lIns="51435" tIns="25718" rIns="51435" bIns="25718" rtlCol="0">
            <a:normAutofit/>
          </a:bodyPr>
          <a:lstStyle>
            <a:lvl1pPr marL="228600" indent="-228600" algn="l" defTabSz="914400" rtl="0" eaLnBrk="1" latinLnBrk="0" hangingPunct="1">
              <a:lnSpc>
                <a:spcPct val="100000"/>
              </a:lnSpc>
              <a:spcBef>
                <a:spcPts val="1000"/>
              </a:spcBef>
              <a:buClr>
                <a:srgbClr val="F2120C"/>
              </a:buClr>
              <a:buFont typeface="Arial" panose="020B0604020202020204" pitchFamily="34" charset="0"/>
              <a:buChar char="•"/>
              <a:defRPr sz="2533"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eaLnBrk="0" fontAlgn="base" hangingPunct="0">
              <a:lnSpc>
                <a:spcPct val="150000"/>
              </a:lnSpc>
              <a:spcBef>
                <a:spcPct val="0"/>
              </a:spcBef>
              <a:spcAft>
                <a:spcPct val="0"/>
              </a:spcAft>
              <a:buClrTx/>
              <a:buNone/>
            </a:pPr>
            <a:endParaRPr lang="en-US" altLang="en-US" sz="1575" dirty="0">
              <a:solidFill>
                <a:prstClr val="black"/>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E6635279-0318-4F1A-5A60-287BB21BB8D9}"/>
              </a:ext>
            </a:extLst>
          </p:cNvPr>
          <p:cNvSpPr>
            <a:spLocks noGrp="1"/>
          </p:cNvSpPr>
          <p:nvPr>
            <p:ph type="title"/>
          </p:nvPr>
        </p:nvSpPr>
        <p:spPr>
          <a:xfrm>
            <a:off x="10510" y="0"/>
            <a:ext cx="5915025" cy="456201"/>
          </a:xfrm>
        </p:spPr>
        <p:txBody>
          <a:bodyPr vert="horz" wrap="square" lIns="68580" tIns="34290" rIns="68580" bIns="34290" rtlCol="0" anchor="ctr">
            <a:normAutofit/>
          </a:bodyPr>
          <a:lstStyle/>
          <a:p>
            <a:r>
              <a:rPr lang="en-US" sz="2250" kern="1200" dirty="0">
                <a:latin typeface="Arial" panose="020B0604020202020204" pitchFamily="34" charset="0"/>
                <a:cs typeface="Arial" panose="020B0604020202020204" pitchFamily="34" charset="0"/>
              </a:rPr>
              <a:t>Preparation and Guideline for Lab 5</a:t>
            </a:r>
          </a:p>
        </p:txBody>
      </p:sp>
    </p:spTree>
    <p:extLst>
      <p:ext uri="{BB962C8B-B14F-4D97-AF65-F5344CB8AC3E}">
        <p14:creationId xmlns:p14="http://schemas.microsoft.com/office/powerpoint/2010/main" val="4160322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BF68B-D485-EC4F-F671-450D90BAB28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E67BA49-F669-0959-82D2-5CDBF08C1F4E}"/>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123CF129-71EF-E273-78B2-ED74E9E0F842}"/>
              </a:ext>
            </a:extLst>
          </p:cNvPr>
          <p:cNvSpPr txBox="1"/>
          <p:nvPr/>
        </p:nvSpPr>
        <p:spPr>
          <a:xfrm>
            <a:off x="81116" y="507751"/>
            <a:ext cx="8981768" cy="5842497"/>
          </a:xfrm>
          <a:prstGeom prst="rect">
            <a:avLst/>
          </a:prstGeom>
          <a:noFill/>
        </p:spPr>
        <p:txBody>
          <a:bodyPr wrap="square">
            <a:spAutoFit/>
          </a:bodyPr>
          <a:lstStyle/>
          <a:p>
            <a:pPr>
              <a:lnSpc>
                <a:spcPct val="150000"/>
              </a:lnSpc>
              <a:buNone/>
            </a:pPr>
            <a:r>
              <a:rPr lang="en-US" sz="2800" b="1" dirty="0">
                <a:latin typeface="+mj-lt"/>
              </a:rPr>
              <a:t>What are we building today?</a:t>
            </a:r>
          </a:p>
          <a:p>
            <a:pPr marL="342900" lvl="0" indent="-342900">
              <a:lnSpc>
                <a:spcPct val="150000"/>
              </a:lnSpc>
              <a:buFont typeface="Arial" panose="020B0604020202020204" pitchFamily="34" charset="0"/>
              <a:buChar char="•"/>
            </a:pPr>
            <a:r>
              <a:rPr lang="en-US" sz="2800" dirty="0">
                <a:latin typeface="+mj-lt"/>
              </a:rPr>
              <a:t>A multi-router Wide Area Network (WAN) connecting two remote office networks.</a:t>
            </a:r>
          </a:p>
          <a:p>
            <a:pPr marL="342900" lvl="0" indent="-342900">
              <a:lnSpc>
                <a:spcPct val="150000"/>
              </a:lnSpc>
              <a:buFont typeface="Arial" panose="020B0604020202020204" pitchFamily="34" charset="0"/>
              <a:buChar char="•"/>
            </a:pPr>
            <a:r>
              <a:rPr lang="en-US" sz="2800" dirty="0">
                <a:latin typeface="+mj-lt"/>
              </a:rPr>
              <a:t>A network using 3 Cisco routers, 2 switches and 2 PCs in Cisco Packet Tracer.</a:t>
            </a:r>
          </a:p>
          <a:p>
            <a:pPr marL="342900" lvl="0" indent="-342900">
              <a:lnSpc>
                <a:spcPct val="150000"/>
              </a:lnSpc>
              <a:buFont typeface="Arial" panose="020B0604020202020204" pitchFamily="34" charset="0"/>
              <a:buChar char="•"/>
            </a:pPr>
            <a:r>
              <a:rPr lang="en-US" sz="2800" dirty="0">
                <a:latin typeface="+mj-lt"/>
              </a:rPr>
              <a:t>An EIGRP-based routing environment for communication between different networks.</a:t>
            </a:r>
          </a:p>
          <a:p>
            <a:pPr marL="342900" lvl="0" indent="-342900">
              <a:lnSpc>
                <a:spcPct val="150000"/>
              </a:lnSpc>
              <a:buFont typeface="Arial" panose="020B0604020202020204" pitchFamily="34" charset="0"/>
              <a:buChar char="•"/>
            </a:pPr>
            <a:r>
              <a:rPr lang="en-US" sz="2800" dirty="0">
                <a:latin typeface="+mj-lt"/>
              </a:rPr>
              <a:t>A practical troubleshooting scenario to identify, diagnose and resolve network connectivity failures.</a:t>
            </a:r>
          </a:p>
        </p:txBody>
      </p:sp>
    </p:spTree>
    <p:extLst>
      <p:ext uri="{BB962C8B-B14F-4D97-AF65-F5344CB8AC3E}">
        <p14:creationId xmlns:p14="http://schemas.microsoft.com/office/powerpoint/2010/main" val="3809106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52C0B-B6D3-51C1-AEA1-9AB4FDA7811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A2398AE-9D4F-56D2-CC28-19CC6B22161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35E23B27-FAB4-94D6-1259-73DC82D39EF9}"/>
              </a:ext>
            </a:extLst>
          </p:cNvPr>
          <p:cNvSpPr txBox="1"/>
          <p:nvPr/>
        </p:nvSpPr>
        <p:spPr>
          <a:xfrm>
            <a:off x="-34413" y="762000"/>
            <a:ext cx="8981768" cy="5842497"/>
          </a:xfrm>
          <a:prstGeom prst="rect">
            <a:avLst/>
          </a:prstGeom>
          <a:noFill/>
        </p:spPr>
        <p:txBody>
          <a:bodyPr wrap="square">
            <a:spAutoFit/>
          </a:bodyPr>
          <a:lstStyle/>
          <a:p>
            <a:pPr>
              <a:lnSpc>
                <a:spcPct val="150000"/>
              </a:lnSpc>
            </a:pPr>
            <a:r>
              <a:rPr lang="en-US" sz="2800" dirty="0">
                <a:latin typeface="+mj-lt"/>
              </a:rPr>
              <a:t>Subtitle: Building, testing and troubleshooting a multi-router enterprise network</a:t>
            </a:r>
          </a:p>
          <a:p>
            <a:pPr>
              <a:lnSpc>
                <a:spcPct val="150000"/>
              </a:lnSpc>
            </a:pPr>
            <a:r>
              <a:rPr lang="en-US" sz="2800" dirty="0">
                <a:latin typeface="+mj-lt"/>
              </a:rPr>
              <a:t>By the end of this lab, you will understand how devices communicate across different networks, how routers select paths and how network engineers identify and resolve connectivity failures.</a:t>
            </a:r>
          </a:p>
          <a:p>
            <a:pPr>
              <a:lnSpc>
                <a:spcPct val="150000"/>
              </a:lnSpc>
            </a:pPr>
            <a:r>
              <a:rPr lang="en-US" sz="2800" dirty="0">
                <a:latin typeface="+mj-lt"/>
              </a:rPr>
              <a:t>Today's practical question: A computer can connect to its local router but cannot reach a computer in another office. How can we determine where the problem is?</a:t>
            </a:r>
          </a:p>
        </p:txBody>
      </p:sp>
    </p:spTree>
    <p:extLst>
      <p:ext uri="{BB962C8B-B14F-4D97-AF65-F5344CB8AC3E}">
        <p14:creationId xmlns:p14="http://schemas.microsoft.com/office/powerpoint/2010/main" val="221254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52F92-991E-E415-4ED9-943FF2BA805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D6FD157-00FE-10DE-B697-714983F2070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559E528A-E5A7-1198-DFA7-3B6782655703}"/>
              </a:ext>
            </a:extLst>
          </p:cNvPr>
          <p:cNvSpPr txBox="1"/>
          <p:nvPr/>
        </p:nvSpPr>
        <p:spPr>
          <a:xfrm>
            <a:off x="0" y="533401"/>
            <a:ext cx="8981768" cy="4549835"/>
          </a:xfrm>
          <a:prstGeom prst="rect">
            <a:avLst/>
          </a:prstGeom>
          <a:noFill/>
        </p:spPr>
        <p:txBody>
          <a:bodyPr wrap="square">
            <a:spAutoFit/>
          </a:bodyPr>
          <a:lstStyle/>
          <a:p>
            <a:pPr>
              <a:lnSpc>
                <a:spcPct val="150000"/>
              </a:lnSpc>
              <a:buNone/>
            </a:pPr>
            <a:r>
              <a:rPr lang="en-US" sz="2800" b="1" dirty="0">
                <a:latin typeface="+mj-lt"/>
              </a:rPr>
              <a:t>Learning Outcomes</a:t>
            </a:r>
          </a:p>
          <a:p>
            <a:pPr>
              <a:lnSpc>
                <a:spcPct val="150000"/>
              </a:lnSpc>
              <a:buNone/>
            </a:pPr>
            <a:r>
              <a:rPr lang="en-US" sz="2800" dirty="0">
                <a:latin typeface="+mj-lt"/>
              </a:rPr>
              <a:t>After completing Lab 5, you should be able to:</a:t>
            </a:r>
          </a:p>
          <a:p>
            <a:pPr marL="342900" lvl="0" indent="-342900">
              <a:lnSpc>
                <a:spcPct val="150000"/>
              </a:lnSpc>
              <a:buFont typeface="Arial" panose="020B0604020202020204" pitchFamily="34" charset="0"/>
              <a:buChar char="•"/>
            </a:pPr>
            <a:r>
              <a:rPr lang="en-US" sz="2800" dirty="0">
                <a:latin typeface="+mj-lt"/>
              </a:rPr>
              <a:t>Build a multi-router WAN topology in Cisco Packet Tracer.</a:t>
            </a:r>
          </a:p>
          <a:p>
            <a:pPr marL="342900" lvl="0" indent="-342900">
              <a:lnSpc>
                <a:spcPct val="150000"/>
              </a:lnSpc>
              <a:buFont typeface="Arial" panose="020B0604020202020204" pitchFamily="34" charset="0"/>
              <a:buChar char="•"/>
            </a:pPr>
            <a:r>
              <a:rPr lang="en-US" sz="2800" dirty="0">
                <a:latin typeface="+mj-lt"/>
              </a:rPr>
              <a:t>Configure IPv4 addresses, subnet masks and default gateways.</a:t>
            </a:r>
          </a:p>
          <a:p>
            <a:pPr marL="342900" lvl="0" indent="-342900">
              <a:lnSpc>
                <a:spcPct val="150000"/>
              </a:lnSpc>
              <a:buFont typeface="Arial" panose="020B0604020202020204" pitchFamily="34" charset="0"/>
              <a:buChar char="•"/>
            </a:pPr>
            <a:r>
              <a:rPr lang="en-US" sz="2800" dirty="0">
                <a:latin typeface="+mj-lt"/>
              </a:rPr>
              <a:t>Configure EIGRP to exchange routing information.</a:t>
            </a:r>
          </a:p>
          <a:p>
            <a:pPr marL="342900" lvl="0" indent="-342900">
              <a:lnSpc>
                <a:spcPct val="150000"/>
              </a:lnSpc>
              <a:buFont typeface="Arial" panose="020B0604020202020204" pitchFamily="34" charset="0"/>
              <a:buChar char="•"/>
            </a:pPr>
            <a:r>
              <a:rPr lang="en-US" sz="2800" dirty="0">
                <a:latin typeface="+mj-lt"/>
              </a:rPr>
              <a:t>Use ping to test connectivity and packet loss.</a:t>
            </a:r>
          </a:p>
        </p:txBody>
      </p:sp>
    </p:spTree>
    <p:extLst>
      <p:ext uri="{BB962C8B-B14F-4D97-AF65-F5344CB8AC3E}">
        <p14:creationId xmlns:p14="http://schemas.microsoft.com/office/powerpoint/2010/main" val="204672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786F9-45B9-1C77-A8C8-88E899F4A99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F710BE0-E350-7CEE-0AF1-93E534AE64E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1E23B629-D24F-4FCF-C1FA-A7C702AB27A3}"/>
              </a:ext>
            </a:extLst>
          </p:cNvPr>
          <p:cNvSpPr txBox="1"/>
          <p:nvPr/>
        </p:nvSpPr>
        <p:spPr>
          <a:xfrm>
            <a:off x="132735" y="1477248"/>
            <a:ext cx="8981768" cy="390350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mj-lt"/>
              </a:rPr>
              <a:t>Use </a:t>
            </a:r>
            <a:r>
              <a:rPr lang="en-US" sz="2800" dirty="0" err="1">
                <a:latin typeface="+mj-lt"/>
              </a:rPr>
              <a:t>tracert</a:t>
            </a:r>
            <a:r>
              <a:rPr lang="en-US" sz="2800" dirty="0">
                <a:latin typeface="+mj-lt"/>
              </a:rPr>
              <a:t> and traceroute to identify network paths.</a:t>
            </a:r>
          </a:p>
          <a:p>
            <a:pPr marL="342900" indent="-342900">
              <a:lnSpc>
                <a:spcPct val="150000"/>
              </a:lnSpc>
              <a:buFont typeface="Arial" panose="020B0604020202020204" pitchFamily="34" charset="0"/>
              <a:buChar char="•"/>
            </a:pPr>
            <a:r>
              <a:rPr lang="en-US" sz="2800" dirty="0">
                <a:latin typeface="+mj-lt"/>
              </a:rPr>
              <a:t>Use Cisco IOS commands to locate incorrect configurations.</a:t>
            </a:r>
          </a:p>
          <a:p>
            <a:pPr marL="342900" indent="-342900">
              <a:lnSpc>
                <a:spcPct val="150000"/>
              </a:lnSpc>
              <a:buFont typeface="Arial" panose="020B0604020202020204" pitchFamily="34" charset="0"/>
              <a:buChar char="•"/>
            </a:pPr>
            <a:r>
              <a:rPr lang="en-US" sz="2800" dirty="0">
                <a:latin typeface="+mj-lt"/>
              </a:rPr>
              <a:t>Repair network faults and verify restored connectivity.</a:t>
            </a:r>
          </a:p>
          <a:p>
            <a:pPr marL="342900" indent="-342900">
              <a:lnSpc>
                <a:spcPct val="150000"/>
              </a:lnSpc>
              <a:buFont typeface="Arial" panose="020B0604020202020204" pitchFamily="34" charset="0"/>
              <a:buChar char="•"/>
            </a:pPr>
            <a:r>
              <a:rPr lang="en-US" sz="2800" dirty="0">
                <a:latin typeface="+mj-lt"/>
              </a:rPr>
              <a:t>Explain troubleshooting decisions using command-output evidence.</a:t>
            </a:r>
          </a:p>
        </p:txBody>
      </p:sp>
    </p:spTree>
    <p:extLst>
      <p:ext uri="{BB962C8B-B14F-4D97-AF65-F5344CB8AC3E}">
        <p14:creationId xmlns:p14="http://schemas.microsoft.com/office/powerpoint/2010/main" val="4091386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1CCBF-2526-CDD0-FDD4-169E841464C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9306F98-A485-DBE1-86D9-DFAC64885FA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graphicFrame>
        <p:nvGraphicFramePr>
          <p:cNvPr id="2" name="Table 1">
            <a:extLst>
              <a:ext uri="{FF2B5EF4-FFF2-40B4-BE49-F238E27FC236}">
                <a16:creationId xmlns:a16="http://schemas.microsoft.com/office/drawing/2014/main" id="{1BBB0EDF-5267-F189-9C06-3918577998E1}"/>
              </a:ext>
            </a:extLst>
          </p:cNvPr>
          <p:cNvGraphicFramePr>
            <a:graphicFrameLocks noGrp="1"/>
          </p:cNvGraphicFramePr>
          <p:nvPr>
            <p:extLst>
              <p:ext uri="{D42A27DB-BD31-4B8C-83A1-F6EECF244321}">
                <p14:modId xmlns:p14="http://schemas.microsoft.com/office/powerpoint/2010/main" val="1240056314"/>
              </p:ext>
            </p:extLst>
          </p:nvPr>
        </p:nvGraphicFramePr>
        <p:xfrm>
          <a:off x="91068" y="914400"/>
          <a:ext cx="9052932" cy="5120640"/>
        </p:xfrm>
        <a:graphic>
          <a:graphicData uri="http://schemas.openxmlformats.org/drawingml/2006/table">
            <a:tbl>
              <a:tblPr/>
              <a:tblGrid>
                <a:gridCol w="838200">
                  <a:extLst>
                    <a:ext uri="{9D8B030D-6E8A-4147-A177-3AD203B41FA5}">
                      <a16:colId xmlns:a16="http://schemas.microsoft.com/office/drawing/2014/main" val="1010316754"/>
                    </a:ext>
                  </a:extLst>
                </a:gridCol>
                <a:gridCol w="6701845">
                  <a:extLst>
                    <a:ext uri="{9D8B030D-6E8A-4147-A177-3AD203B41FA5}">
                      <a16:colId xmlns:a16="http://schemas.microsoft.com/office/drawing/2014/main" val="96047191"/>
                    </a:ext>
                  </a:extLst>
                </a:gridCol>
                <a:gridCol w="1512887">
                  <a:extLst>
                    <a:ext uri="{9D8B030D-6E8A-4147-A177-3AD203B41FA5}">
                      <a16:colId xmlns:a16="http://schemas.microsoft.com/office/drawing/2014/main" val="2379267048"/>
                    </a:ext>
                  </a:extLst>
                </a:gridCol>
              </a:tblGrid>
              <a:tr h="0">
                <a:tc>
                  <a:txBody>
                    <a:bodyPr/>
                    <a:lstStyle/>
                    <a:p>
                      <a:pPr>
                        <a:buNone/>
                      </a:pPr>
                      <a:r>
                        <a:rPr lang="en-US" sz="2500" dirty="0"/>
                        <a:t>Task</a:t>
                      </a:r>
                    </a:p>
                    <a:p>
                      <a:pPr>
                        <a:buNone/>
                      </a:pPr>
                      <a:endParaRPr lang="en-US" sz="2500" dirty="0"/>
                    </a:p>
                  </a:txBody>
                  <a:tcPr anchor="ctr">
                    <a:lnL>
                      <a:noFill/>
                    </a:lnL>
                    <a:lnR>
                      <a:noFill/>
                    </a:lnR>
                    <a:lnT>
                      <a:noFill/>
                    </a:lnT>
                    <a:lnB>
                      <a:noFill/>
                    </a:lnB>
                    <a:solidFill>
                      <a:schemeClr val="accent4">
                        <a:lumMod val="60000"/>
                        <a:lumOff val="40000"/>
                      </a:schemeClr>
                    </a:solidFill>
                  </a:tcPr>
                </a:tc>
                <a:tc>
                  <a:txBody>
                    <a:bodyPr/>
                    <a:lstStyle/>
                    <a:p>
                      <a:pPr>
                        <a:buNone/>
                      </a:pPr>
                      <a:r>
                        <a:rPr lang="en-US" sz="2500" dirty="0"/>
                        <a:t>Description</a:t>
                      </a:r>
                    </a:p>
                    <a:p>
                      <a:pPr>
                        <a:buNone/>
                      </a:pPr>
                      <a:endParaRPr lang="en-US" sz="2500" dirty="0"/>
                    </a:p>
                  </a:txBody>
                  <a:tcPr anchor="ctr">
                    <a:lnL>
                      <a:noFill/>
                    </a:lnL>
                    <a:lnR>
                      <a:noFill/>
                    </a:lnR>
                    <a:lnT>
                      <a:noFill/>
                    </a:lnT>
                    <a:lnB>
                      <a:noFill/>
                    </a:lnB>
                    <a:solidFill>
                      <a:schemeClr val="accent4">
                        <a:lumMod val="60000"/>
                        <a:lumOff val="40000"/>
                      </a:schemeClr>
                    </a:solidFill>
                  </a:tcPr>
                </a:tc>
                <a:tc>
                  <a:txBody>
                    <a:bodyPr/>
                    <a:lstStyle/>
                    <a:p>
                      <a:pPr>
                        <a:buNone/>
                      </a:pPr>
                      <a:r>
                        <a:rPr lang="en-US" sz="2500" dirty="0"/>
                        <a:t>Delivery</a:t>
                      </a:r>
                    </a:p>
                    <a:p>
                      <a:pPr>
                        <a:buNone/>
                      </a:pPr>
                      <a:endParaRPr lang="en-US" sz="2500" dirty="0"/>
                    </a:p>
                  </a:txBody>
                  <a:tcPr anchor="ctr">
                    <a:lnL>
                      <a:noFill/>
                    </a:lnL>
                    <a:lnR>
                      <a:noFill/>
                    </a:lnR>
                    <a:lnT>
                      <a:noFill/>
                    </a:lnT>
                    <a:lnB>
                      <a:noFill/>
                    </a:lnB>
                    <a:solidFill>
                      <a:schemeClr val="accent4">
                        <a:lumMod val="60000"/>
                        <a:lumOff val="40000"/>
                      </a:schemeClr>
                    </a:solidFill>
                  </a:tcPr>
                </a:tc>
                <a:extLst>
                  <a:ext uri="{0D108BD9-81ED-4DB2-BD59-A6C34878D82A}">
                    <a16:rowId xmlns:a16="http://schemas.microsoft.com/office/drawing/2014/main" val="4148526984"/>
                  </a:ext>
                </a:extLst>
              </a:tr>
              <a:tr h="0">
                <a:tc>
                  <a:txBody>
                    <a:bodyPr/>
                    <a:lstStyle/>
                    <a:p>
                      <a:pPr>
                        <a:buNone/>
                      </a:pPr>
                      <a:r>
                        <a:rPr lang="en-US" sz="2500"/>
                        <a:t>1</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Build the physical network topology</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Live demo</a:t>
                      </a:r>
                    </a:p>
                    <a:p>
                      <a:pPr>
                        <a:buNone/>
                      </a:pPr>
                      <a:endParaRPr lang="en-US" sz="250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3102684706"/>
                  </a:ext>
                </a:extLst>
              </a:tr>
              <a:tr h="0">
                <a:tc>
                  <a:txBody>
                    <a:bodyPr/>
                    <a:lstStyle/>
                    <a:p>
                      <a:pPr>
                        <a:buNone/>
                      </a:pPr>
                      <a:r>
                        <a:rPr lang="en-US" sz="2500"/>
                        <a:t>2</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Configure PCs and IP addressing</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Live demo</a:t>
                      </a:r>
                    </a:p>
                    <a:p>
                      <a:pPr>
                        <a:buNone/>
                      </a:pPr>
                      <a:endParaRPr lang="en-US" sz="250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699816837"/>
                  </a:ext>
                </a:extLst>
              </a:tr>
              <a:tr h="0">
                <a:tc>
                  <a:txBody>
                    <a:bodyPr/>
                    <a:lstStyle/>
                    <a:p>
                      <a:pPr>
                        <a:buNone/>
                      </a:pPr>
                      <a:r>
                        <a:rPr lang="en-US" sz="2500"/>
                        <a:t>3</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Configure routers and EIGRP</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Live demo</a:t>
                      </a:r>
                    </a:p>
                    <a:p>
                      <a:pPr>
                        <a:buNone/>
                      </a:pPr>
                      <a:endParaRPr lang="en-US" sz="250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850229384"/>
                  </a:ext>
                </a:extLst>
              </a:tr>
              <a:tr h="0">
                <a:tc>
                  <a:txBody>
                    <a:bodyPr/>
                    <a:lstStyle/>
                    <a:p>
                      <a:pPr>
                        <a:buNone/>
                      </a:pPr>
                      <a:r>
                        <a:rPr lang="en-US" sz="2500"/>
                        <a:t>4</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Configure switches and hostname resolution</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Live demo</a:t>
                      </a:r>
                    </a:p>
                    <a:p>
                      <a:pPr>
                        <a:buNone/>
                      </a:pPr>
                      <a:endParaRPr lang="en-US" sz="250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010499096"/>
                  </a:ext>
                </a:extLst>
              </a:tr>
              <a:tr h="0">
                <a:tc>
                  <a:txBody>
                    <a:bodyPr/>
                    <a:lstStyle/>
                    <a:p>
                      <a:pPr>
                        <a:buNone/>
                      </a:pPr>
                      <a:r>
                        <a:rPr lang="en-US" sz="2500"/>
                        <a:t>5</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a:t>Verify basic connectivity with ping</a:t>
                      </a:r>
                    </a:p>
                    <a:p>
                      <a:pPr>
                        <a:buNone/>
                      </a:pPr>
                      <a:endParaRPr lang="en-US" sz="2500"/>
                    </a:p>
                  </a:txBody>
                  <a:tcPr anchor="ctr">
                    <a:lnL>
                      <a:noFill/>
                    </a:lnL>
                    <a:lnR>
                      <a:noFill/>
                    </a:lnR>
                    <a:lnT>
                      <a:noFill/>
                    </a:lnT>
                    <a:lnB>
                      <a:noFill/>
                    </a:lnB>
                    <a:solidFill>
                      <a:schemeClr val="accent4">
                        <a:lumMod val="20000"/>
                        <a:lumOff val="80000"/>
                      </a:schemeClr>
                    </a:solidFill>
                  </a:tcPr>
                </a:tc>
                <a:tc>
                  <a:txBody>
                    <a:bodyPr/>
                    <a:lstStyle/>
                    <a:p>
                      <a:pPr>
                        <a:buNone/>
                      </a:pPr>
                      <a:r>
                        <a:rPr lang="en-US" sz="2500" dirty="0"/>
                        <a:t>Live demo</a:t>
                      </a:r>
                    </a:p>
                    <a:p>
                      <a:pPr>
                        <a:buNone/>
                      </a:pPr>
                      <a:endParaRPr lang="en-US" sz="2500"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723550612"/>
                  </a:ext>
                </a:extLst>
              </a:tr>
            </a:tbl>
          </a:graphicData>
        </a:graphic>
      </p:graphicFrame>
    </p:spTree>
    <p:extLst>
      <p:ext uri="{BB962C8B-B14F-4D97-AF65-F5344CB8AC3E}">
        <p14:creationId xmlns:p14="http://schemas.microsoft.com/office/powerpoint/2010/main" val="3282859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833E8-B731-4034-8D35-97AC965BC7E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C60B5F8-8ACE-395F-E988-2819DBE83F3E}"/>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graphicFrame>
        <p:nvGraphicFramePr>
          <p:cNvPr id="2" name="Table 1">
            <a:extLst>
              <a:ext uri="{FF2B5EF4-FFF2-40B4-BE49-F238E27FC236}">
                <a16:creationId xmlns:a16="http://schemas.microsoft.com/office/drawing/2014/main" id="{9254B8B6-986D-938B-B7F7-353F15CBD1B5}"/>
              </a:ext>
            </a:extLst>
          </p:cNvPr>
          <p:cNvGraphicFramePr>
            <a:graphicFrameLocks noGrp="1"/>
          </p:cNvGraphicFramePr>
          <p:nvPr>
            <p:extLst>
              <p:ext uri="{D42A27DB-BD31-4B8C-83A1-F6EECF244321}">
                <p14:modId xmlns:p14="http://schemas.microsoft.com/office/powerpoint/2010/main" val="3902644811"/>
              </p:ext>
            </p:extLst>
          </p:nvPr>
        </p:nvGraphicFramePr>
        <p:xfrm>
          <a:off x="91068" y="914400"/>
          <a:ext cx="9052932" cy="4358640"/>
        </p:xfrm>
        <a:graphic>
          <a:graphicData uri="http://schemas.openxmlformats.org/drawingml/2006/table">
            <a:tbl>
              <a:tblPr/>
              <a:tblGrid>
                <a:gridCol w="838200">
                  <a:extLst>
                    <a:ext uri="{9D8B030D-6E8A-4147-A177-3AD203B41FA5}">
                      <a16:colId xmlns:a16="http://schemas.microsoft.com/office/drawing/2014/main" val="1010316754"/>
                    </a:ext>
                  </a:extLst>
                </a:gridCol>
                <a:gridCol w="6309732">
                  <a:extLst>
                    <a:ext uri="{9D8B030D-6E8A-4147-A177-3AD203B41FA5}">
                      <a16:colId xmlns:a16="http://schemas.microsoft.com/office/drawing/2014/main" val="96047191"/>
                    </a:ext>
                  </a:extLst>
                </a:gridCol>
                <a:gridCol w="1905000">
                  <a:extLst>
                    <a:ext uri="{9D8B030D-6E8A-4147-A177-3AD203B41FA5}">
                      <a16:colId xmlns:a16="http://schemas.microsoft.com/office/drawing/2014/main" val="2379267048"/>
                    </a:ext>
                  </a:extLst>
                </a:gridCol>
              </a:tblGrid>
              <a:tr h="0">
                <a:tc>
                  <a:txBody>
                    <a:bodyPr/>
                    <a:lstStyle/>
                    <a:p>
                      <a:pPr>
                        <a:buNone/>
                      </a:pPr>
                      <a:r>
                        <a:rPr lang="en-US" sz="2500" dirty="0"/>
                        <a:t>Task</a:t>
                      </a:r>
                    </a:p>
                    <a:p>
                      <a:pPr>
                        <a:buNone/>
                      </a:pPr>
                      <a:endParaRPr lang="en-US" sz="2500" dirty="0"/>
                    </a:p>
                  </a:txBody>
                  <a:tcPr anchor="ctr">
                    <a:lnL>
                      <a:noFill/>
                    </a:lnL>
                    <a:lnR>
                      <a:noFill/>
                    </a:lnR>
                    <a:lnT>
                      <a:noFill/>
                    </a:lnT>
                    <a:lnB>
                      <a:noFill/>
                    </a:lnB>
                    <a:solidFill>
                      <a:schemeClr val="accent4">
                        <a:lumMod val="60000"/>
                        <a:lumOff val="40000"/>
                      </a:schemeClr>
                    </a:solidFill>
                  </a:tcPr>
                </a:tc>
                <a:tc>
                  <a:txBody>
                    <a:bodyPr/>
                    <a:lstStyle/>
                    <a:p>
                      <a:pPr>
                        <a:buNone/>
                      </a:pPr>
                      <a:r>
                        <a:rPr lang="en-US" sz="2500" dirty="0"/>
                        <a:t>Description</a:t>
                      </a:r>
                    </a:p>
                    <a:p>
                      <a:pPr>
                        <a:buNone/>
                      </a:pPr>
                      <a:endParaRPr lang="en-US" sz="2500" dirty="0"/>
                    </a:p>
                  </a:txBody>
                  <a:tcPr anchor="ctr">
                    <a:lnL>
                      <a:noFill/>
                    </a:lnL>
                    <a:lnR>
                      <a:noFill/>
                    </a:lnR>
                    <a:lnT>
                      <a:noFill/>
                    </a:lnT>
                    <a:lnB>
                      <a:noFill/>
                    </a:lnB>
                    <a:solidFill>
                      <a:schemeClr val="accent4">
                        <a:lumMod val="60000"/>
                        <a:lumOff val="40000"/>
                      </a:schemeClr>
                    </a:solidFill>
                  </a:tcPr>
                </a:tc>
                <a:tc>
                  <a:txBody>
                    <a:bodyPr/>
                    <a:lstStyle/>
                    <a:p>
                      <a:pPr>
                        <a:buNone/>
                      </a:pPr>
                      <a:r>
                        <a:rPr lang="en-US" sz="2500" dirty="0"/>
                        <a:t>Delivery</a:t>
                      </a:r>
                    </a:p>
                    <a:p>
                      <a:pPr>
                        <a:buNone/>
                      </a:pPr>
                      <a:endParaRPr lang="en-US" sz="2500" dirty="0"/>
                    </a:p>
                  </a:txBody>
                  <a:tcPr anchor="ctr">
                    <a:lnL>
                      <a:noFill/>
                    </a:lnL>
                    <a:lnR>
                      <a:noFill/>
                    </a:lnR>
                    <a:lnT>
                      <a:noFill/>
                    </a:lnT>
                    <a:lnB>
                      <a:noFill/>
                    </a:lnB>
                    <a:solidFill>
                      <a:schemeClr val="accent4">
                        <a:lumMod val="60000"/>
                        <a:lumOff val="40000"/>
                      </a:schemeClr>
                    </a:solidFill>
                  </a:tcPr>
                </a:tc>
                <a:extLst>
                  <a:ext uri="{0D108BD9-81ED-4DB2-BD59-A6C34878D82A}">
                    <a16:rowId xmlns:a16="http://schemas.microsoft.com/office/drawing/2014/main" val="4148526984"/>
                  </a:ext>
                </a:extLst>
              </a:tr>
              <a:tr h="0">
                <a:tc>
                  <a:txBody>
                    <a:bodyPr/>
                    <a:lstStyle/>
                    <a:p>
                      <a:pPr>
                        <a:buNone/>
                      </a:pPr>
                      <a:r>
                        <a:rPr lang="en-US" sz="2500" dirty="0"/>
                        <a:t>6</a:t>
                      </a:r>
                    </a:p>
                  </a:txBody>
                  <a:tcPr anchor="ctr">
                    <a:lnL>
                      <a:noFill/>
                    </a:lnL>
                    <a:lnR>
                      <a:noFill/>
                    </a:lnR>
                    <a:lnT>
                      <a:noFill/>
                    </a:lnT>
                    <a:lnB>
                      <a:noFill/>
                    </a:lnB>
                    <a:solidFill>
                      <a:schemeClr val="accent4">
                        <a:lumMod val="20000"/>
                        <a:lumOff val="80000"/>
                      </a:schemeClr>
                    </a:solidFill>
                  </a:tcPr>
                </a:tc>
                <a:tc>
                  <a:txBody>
                    <a:bodyPr/>
                    <a:lstStyle/>
                    <a:p>
                      <a:pPr>
                        <a:buNone/>
                      </a:pPr>
                      <a:r>
                        <a:rPr lang="en-US" sz="2500"/>
                        <a:t>Investigate extended ping and simulated outages</a:t>
                      </a:r>
                    </a:p>
                  </a:txBody>
                  <a:tcPr anchor="ctr">
                    <a:lnL>
                      <a:noFill/>
                    </a:lnL>
                    <a:lnR>
                      <a:noFill/>
                    </a:lnR>
                    <a:lnT>
                      <a:noFill/>
                    </a:lnT>
                    <a:lnB>
                      <a:noFill/>
                    </a:lnB>
                    <a:solidFill>
                      <a:schemeClr val="accent4">
                        <a:lumMod val="20000"/>
                        <a:lumOff val="80000"/>
                      </a:schemeClr>
                    </a:solidFill>
                  </a:tcPr>
                </a:tc>
                <a:tc>
                  <a:txBody>
                    <a:bodyPr/>
                    <a:lstStyle/>
                    <a:p>
                      <a:pPr>
                        <a:buNone/>
                      </a:pPr>
                      <a:r>
                        <a:rPr lang="en-US" sz="2500" dirty="0"/>
                        <a:t>Independent</a:t>
                      </a:r>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3102684706"/>
                  </a:ext>
                </a:extLst>
              </a:tr>
              <a:tr h="0">
                <a:tc>
                  <a:txBody>
                    <a:bodyPr/>
                    <a:lstStyle/>
                    <a:p>
                      <a:pPr>
                        <a:buNone/>
                      </a:pPr>
                      <a:r>
                        <a:rPr lang="en-US" sz="2500" dirty="0"/>
                        <a:t>7</a:t>
                      </a:r>
                    </a:p>
                  </a:txBody>
                  <a:tcPr anchor="ctr">
                    <a:lnL>
                      <a:noFill/>
                    </a:lnL>
                    <a:lnR>
                      <a:noFill/>
                    </a:lnR>
                    <a:lnT>
                      <a:noFill/>
                    </a:lnT>
                    <a:lnB>
                      <a:noFill/>
                    </a:lnB>
                    <a:solidFill>
                      <a:schemeClr val="accent4">
                        <a:lumMod val="20000"/>
                        <a:lumOff val="80000"/>
                      </a:schemeClr>
                    </a:solidFill>
                  </a:tcPr>
                </a:tc>
                <a:tc>
                  <a:txBody>
                    <a:bodyPr/>
                    <a:lstStyle/>
                    <a:p>
                      <a:pPr>
                        <a:buNone/>
                      </a:pPr>
                      <a:r>
                        <a:rPr lang="en-US" sz="2500" dirty="0" err="1"/>
                        <a:t>Analyse</a:t>
                      </a:r>
                      <a:r>
                        <a:rPr lang="en-US" sz="2500" dirty="0"/>
                        <a:t> network paths using </a:t>
                      </a:r>
                      <a:r>
                        <a:rPr lang="en-US" sz="2500" dirty="0" err="1"/>
                        <a:t>tracert</a:t>
                      </a:r>
                      <a:r>
                        <a:rPr lang="en-US" sz="2500" dirty="0"/>
                        <a:t>/traceroute</a:t>
                      </a:r>
                    </a:p>
                  </a:txBody>
                  <a:tcPr anchor="ctr">
                    <a:lnL>
                      <a:noFill/>
                    </a:lnL>
                    <a:lnR>
                      <a:noFill/>
                    </a:lnR>
                    <a:lnT>
                      <a:noFill/>
                    </a:lnT>
                    <a:lnB>
                      <a:noFill/>
                    </a:lnB>
                    <a:solidFill>
                      <a:schemeClr val="accent4">
                        <a:lumMod val="20000"/>
                        <a:lumOff val="80000"/>
                      </a:schemeClr>
                    </a:solidFill>
                  </a:tcPr>
                </a:tc>
                <a:tc>
                  <a:txBody>
                    <a:bodyPr/>
                    <a:lstStyle/>
                    <a:p>
                      <a:pPr>
                        <a:buNone/>
                      </a:pPr>
                      <a:r>
                        <a:rPr lang="en-US" sz="2500"/>
                        <a:t>Independent</a:t>
                      </a:r>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699816837"/>
                  </a:ext>
                </a:extLst>
              </a:tr>
              <a:tr h="0">
                <a:tc>
                  <a:txBody>
                    <a:bodyPr/>
                    <a:lstStyle/>
                    <a:p>
                      <a:pPr>
                        <a:buNone/>
                      </a:pPr>
                      <a:r>
                        <a:rPr lang="en-US" sz="2500" dirty="0"/>
                        <a:t>8</a:t>
                      </a:r>
                    </a:p>
                  </a:txBody>
                  <a:tcPr anchor="ctr">
                    <a:lnL>
                      <a:noFill/>
                    </a:lnL>
                    <a:lnR>
                      <a:noFill/>
                    </a:lnR>
                    <a:lnT>
                      <a:noFill/>
                    </a:lnT>
                    <a:lnB>
                      <a:noFill/>
                    </a:lnB>
                    <a:solidFill>
                      <a:schemeClr val="accent4">
                        <a:lumMod val="20000"/>
                        <a:lumOff val="80000"/>
                      </a:schemeClr>
                    </a:solidFill>
                  </a:tcPr>
                </a:tc>
                <a:tc>
                  <a:txBody>
                    <a:bodyPr/>
                    <a:lstStyle/>
                    <a:p>
                      <a:pPr>
                        <a:buNone/>
                      </a:pPr>
                      <a:r>
                        <a:rPr lang="en-US" sz="2500"/>
                        <a:t>Introduce and isolate a network fault</a:t>
                      </a:r>
                    </a:p>
                  </a:txBody>
                  <a:tcPr anchor="ctr">
                    <a:lnL>
                      <a:noFill/>
                    </a:lnL>
                    <a:lnR>
                      <a:noFill/>
                    </a:lnR>
                    <a:lnT>
                      <a:noFill/>
                    </a:lnT>
                    <a:lnB>
                      <a:noFill/>
                    </a:lnB>
                    <a:solidFill>
                      <a:schemeClr val="accent4">
                        <a:lumMod val="20000"/>
                        <a:lumOff val="80000"/>
                      </a:schemeClr>
                    </a:solidFill>
                  </a:tcPr>
                </a:tc>
                <a:tc>
                  <a:txBody>
                    <a:bodyPr/>
                    <a:lstStyle/>
                    <a:p>
                      <a:pPr>
                        <a:buNone/>
                      </a:pPr>
                      <a:r>
                        <a:rPr lang="en-US" sz="2500"/>
                        <a:t>Independent</a:t>
                      </a:r>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850229384"/>
                  </a:ext>
                </a:extLst>
              </a:tr>
              <a:tr h="0">
                <a:tc>
                  <a:txBody>
                    <a:bodyPr/>
                    <a:lstStyle/>
                    <a:p>
                      <a:pPr>
                        <a:buNone/>
                      </a:pPr>
                      <a:r>
                        <a:rPr lang="en-US" sz="2500" dirty="0"/>
                        <a:t>9</a:t>
                      </a:r>
                    </a:p>
                  </a:txBody>
                  <a:tcPr anchor="ctr">
                    <a:lnL>
                      <a:noFill/>
                    </a:lnL>
                    <a:lnR>
                      <a:noFill/>
                    </a:lnR>
                    <a:lnT>
                      <a:noFill/>
                    </a:lnT>
                    <a:lnB>
                      <a:noFill/>
                    </a:lnB>
                    <a:solidFill>
                      <a:schemeClr val="accent4">
                        <a:lumMod val="20000"/>
                        <a:lumOff val="80000"/>
                      </a:schemeClr>
                    </a:solidFill>
                  </a:tcPr>
                </a:tc>
                <a:tc>
                  <a:txBody>
                    <a:bodyPr/>
                    <a:lstStyle/>
                    <a:p>
                      <a:pPr>
                        <a:buNone/>
                      </a:pPr>
                      <a:r>
                        <a:rPr lang="en-US" sz="2500" dirty="0"/>
                        <a:t>Repair the fault and verify connectivity</a:t>
                      </a:r>
                    </a:p>
                  </a:txBody>
                  <a:tcPr anchor="ctr">
                    <a:lnL>
                      <a:noFill/>
                    </a:lnL>
                    <a:lnR>
                      <a:noFill/>
                    </a:lnR>
                    <a:lnT>
                      <a:noFill/>
                    </a:lnT>
                    <a:lnB>
                      <a:noFill/>
                    </a:lnB>
                    <a:solidFill>
                      <a:schemeClr val="accent4">
                        <a:lumMod val="20000"/>
                        <a:lumOff val="80000"/>
                      </a:schemeClr>
                    </a:solidFill>
                  </a:tcPr>
                </a:tc>
                <a:tc>
                  <a:txBody>
                    <a:bodyPr/>
                    <a:lstStyle/>
                    <a:p>
                      <a:pPr>
                        <a:buNone/>
                      </a:pPr>
                      <a:r>
                        <a:rPr lang="en-US" sz="2500" dirty="0"/>
                        <a:t>Independent</a:t>
                      </a:r>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010499096"/>
                  </a:ext>
                </a:extLst>
              </a:tr>
              <a:tr h="0">
                <a:tc>
                  <a:txBody>
                    <a:bodyPr/>
                    <a:lstStyle/>
                    <a:p>
                      <a:pPr>
                        <a:buNone/>
                      </a:pPr>
                      <a:r>
                        <a:rPr lang="en-US" sz="2500" dirty="0"/>
                        <a:t>10</a:t>
                      </a:r>
                    </a:p>
                  </a:txBody>
                  <a:tcPr anchor="ctr">
                    <a:lnL>
                      <a:noFill/>
                    </a:lnL>
                    <a:lnR>
                      <a:noFill/>
                    </a:lnR>
                    <a:lnT>
                      <a:noFill/>
                    </a:lnT>
                    <a:lnB>
                      <a:noFill/>
                    </a:lnB>
                    <a:solidFill>
                      <a:schemeClr val="accent4">
                        <a:lumMod val="20000"/>
                        <a:lumOff val="80000"/>
                      </a:schemeClr>
                    </a:solidFill>
                  </a:tcPr>
                </a:tc>
                <a:tc>
                  <a:txBody>
                    <a:bodyPr/>
                    <a:lstStyle/>
                    <a:p>
                      <a:pPr>
                        <a:buNone/>
                      </a:pPr>
                      <a:r>
                        <a:rPr lang="en-US" sz="2500" dirty="0"/>
                        <a:t>Complete reflection and technical documentation</a:t>
                      </a:r>
                    </a:p>
                  </a:txBody>
                  <a:tcPr anchor="ctr">
                    <a:lnL>
                      <a:noFill/>
                    </a:lnL>
                    <a:lnR>
                      <a:noFill/>
                    </a:lnR>
                    <a:lnT>
                      <a:noFill/>
                    </a:lnT>
                    <a:lnB>
                      <a:noFill/>
                    </a:lnB>
                    <a:solidFill>
                      <a:schemeClr val="accent4">
                        <a:lumMod val="20000"/>
                        <a:lumOff val="80000"/>
                      </a:schemeClr>
                    </a:solidFill>
                  </a:tcPr>
                </a:tc>
                <a:tc>
                  <a:txBody>
                    <a:bodyPr/>
                    <a:lstStyle/>
                    <a:p>
                      <a:pPr>
                        <a:buNone/>
                      </a:pPr>
                      <a:r>
                        <a:rPr lang="en-US" sz="2500" dirty="0"/>
                        <a:t>Independent</a:t>
                      </a:r>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723550612"/>
                  </a:ext>
                </a:extLst>
              </a:tr>
            </a:tbl>
          </a:graphicData>
        </a:graphic>
      </p:graphicFrame>
      <p:sp>
        <p:nvSpPr>
          <p:cNvPr id="6" name="TextBox 5">
            <a:extLst>
              <a:ext uri="{FF2B5EF4-FFF2-40B4-BE49-F238E27FC236}">
                <a16:creationId xmlns:a16="http://schemas.microsoft.com/office/drawing/2014/main" id="{1BC4F719-F9DE-E244-E5BE-6BC851C5296F}"/>
              </a:ext>
            </a:extLst>
          </p:cNvPr>
          <p:cNvSpPr txBox="1"/>
          <p:nvPr/>
        </p:nvSpPr>
        <p:spPr>
          <a:xfrm>
            <a:off x="0" y="5318928"/>
            <a:ext cx="8965580" cy="1563377"/>
          </a:xfrm>
          <a:prstGeom prst="rect">
            <a:avLst/>
          </a:prstGeom>
          <a:noFill/>
        </p:spPr>
        <p:txBody>
          <a:bodyPr wrap="square">
            <a:spAutoFit/>
          </a:bodyPr>
          <a:lstStyle/>
          <a:p>
            <a:pPr>
              <a:lnSpc>
                <a:spcPct val="150000"/>
              </a:lnSpc>
            </a:pPr>
            <a:r>
              <a:rPr lang="en-US" sz="2200" dirty="0">
                <a:latin typeface="+mj-lt"/>
              </a:rPr>
              <a:t>Watch how the first five tasks are completed, understand the reasoning behind each command, and apply the same methods to the remaining five tasks.</a:t>
            </a:r>
          </a:p>
        </p:txBody>
      </p:sp>
    </p:spTree>
    <p:extLst>
      <p:ext uri="{BB962C8B-B14F-4D97-AF65-F5344CB8AC3E}">
        <p14:creationId xmlns:p14="http://schemas.microsoft.com/office/powerpoint/2010/main" val="883303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12944-8BA6-69DD-EE72-610380B4C99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3F009AD-1F2F-1E47-18BB-132864A46CB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5" name="Picture 4">
            <a:extLst>
              <a:ext uri="{FF2B5EF4-FFF2-40B4-BE49-F238E27FC236}">
                <a16:creationId xmlns:a16="http://schemas.microsoft.com/office/drawing/2014/main" id="{7553A901-CA6A-9B6A-0D97-685BC670A5F2}"/>
              </a:ext>
            </a:extLst>
          </p:cNvPr>
          <p:cNvPicPr>
            <a:picLocks noChangeAspect="1"/>
          </p:cNvPicPr>
          <p:nvPr/>
        </p:nvPicPr>
        <p:blipFill>
          <a:blip r:embed="rId2"/>
          <a:stretch>
            <a:fillRect/>
          </a:stretch>
        </p:blipFill>
        <p:spPr>
          <a:xfrm>
            <a:off x="3284270" y="726692"/>
            <a:ext cx="5859730" cy="6088626"/>
          </a:xfrm>
          <a:prstGeom prst="rect">
            <a:avLst/>
          </a:prstGeom>
        </p:spPr>
      </p:pic>
      <p:sp>
        <p:nvSpPr>
          <p:cNvPr id="8" name="TextBox 7">
            <a:extLst>
              <a:ext uri="{FF2B5EF4-FFF2-40B4-BE49-F238E27FC236}">
                <a16:creationId xmlns:a16="http://schemas.microsoft.com/office/drawing/2014/main" id="{71F57B5D-E335-841B-4AA6-652843E041FD}"/>
              </a:ext>
            </a:extLst>
          </p:cNvPr>
          <p:cNvSpPr txBox="1"/>
          <p:nvPr/>
        </p:nvSpPr>
        <p:spPr>
          <a:xfrm>
            <a:off x="0" y="378260"/>
            <a:ext cx="4661210" cy="1318181"/>
          </a:xfrm>
          <a:prstGeom prst="rect">
            <a:avLst/>
          </a:prstGeom>
          <a:noFill/>
        </p:spPr>
        <p:txBody>
          <a:bodyPr wrap="square">
            <a:spAutoFit/>
          </a:bodyPr>
          <a:lstStyle/>
          <a:p>
            <a:pPr>
              <a:lnSpc>
                <a:spcPct val="150000"/>
              </a:lnSpc>
            </a:pPr>
            <a:r>
              <a:rPr lang="en-US" sz="2800" b="1" dirty="0">
                <a:latin typeface="+mj-lt"/>
              </a:rPr>
              <a:t>Understanding the Enterprise Network Topology</a:t>
            </a:r>
          </a:p>
        </p:txBody>
      </p:sp>
      <p:sp>
        <p:nvSpPr>
          <p:cNvPr id="10" name="TextBox 9">
            <a:extLst>
              <a:ext uri="{FF2B5EF4-FFF2-40B4-BE49-F238E27FC236}">
                <a16:creationId xmlns:a16="http://schemas.microsoft.com/office/drawing/2014/main" id="{5C5CFB27-3D2A-2A03-E6FD-1A79F7CB70A5}"/>
              </a:ext>
            </a:extLst>
          </p:cNvPr>
          <p:cNvSpPr txBox="1"/>
          <p:nvPr/>
        </p:nvSpPr>
        <p:spPr>
          <a:xfrm>
            <a:off x="0" y="1696441"/>
            <a:ext cx="3429000" cy="5196166"/>
          </a:xfrm>
          <a:prstGeom prst="rect">
            <a:avLst/>
          </a:prstGeom>
          <a:noFill/>
        </p:spPr>
        <p:txBody>
          <a:bodyPr wrap="square">
            <a:spAutoFit/>
          </a:bodyPr>
          <a:lstStyle/>
          <a:p>
            <a:pPr>
              <a:lnSpc>
                <a:spcPct val="150000"/>
              </a:lnSpc>
            </a:pPr>
            <a:r>
              <a:rPr lang="en-US" sz="2800" dirty="0">
                <a:latin typeface="+mj-lt"/>
              </a:rPr>
              <a:t>PC-A represents a user in the LOCAL office, while PC-C represents a user in the REMOTE office. The ISP router connects these two networks.</a:t>
            </a:r>
          </a:p>
        </p:txBody>
      </p:sp>
    </p:spTree>
    <p:extLst>
      <p:ext uri="{BB962C8B-B14F-4D97-AF65-F5344CB8AC3E}">
        <p14:creationId xmlns:p14="http://schemas.microsoft.com/office/powerpoint/2010/main" val="1592976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4605B-330B-09A3-02BB-A2C41122068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11BCD5B-33D8-39A7-457F-28A1C5DEBFA2}"/>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5" name="Picture 4">
            <a:extLst>
              <a:ext uri="{FF2B5EF4-FFF2-40B4-BE49-F238E27FC236}">
                <a16:creationId xmlns:a16="http://schemas.microsoft.com/office/drawing/2014/main" id="{5C02F762-CB5E-38B5-4093-8BD000461ADB}"/>
              </a:ext>
            </a:extLst>
          </p:cNvPr>
          <p:cNvPicPr>
            <a:picLocks noChangeAspect="1"/>
          </p:cNvPicPr>
          <p:nvPr/>
        </p:nvPicPr>
        <p:blipFill>
          <a:blip r:embed="rId2"/>
          <a:stretch>
            <a:fillRect/>
          </a:stretch>
        </p:blipFill>
        <p:spPr>
          <a:xfrm>
            <a:off x="3284270" y="726692"/>
            <a:ext cx="5859730" cy="6088626"/>
          </a:xfrm>
          <a:prstGeom prst="rect">
            <a:avLst/>
          </a:prstGeom>
        </p:spPr>
      </p:pic>
      <p:sp>
        <p:nvSpPr>
          <p:cNvPr id="10" name="TextBox 9">
            <a:extLst>
              <a:ext uri="{FF2B5EF4-FFF2-40B4-BE49-F238E27FC236}">
                <a16:creationId xmlns:a16="http://schemas.microsoft.com/office/drawing/2014/main" id="{6C05696F-6956-AF42-7453-F479FE1EF64E}"/>
              </a:ext>
            </a:extLst>
          </p:cNvPr>
          <p:cNvSpPr txBox="1"/>
          <p:nvPr/>
        </p:nvSpPr>
        <p:spPr>
          <a:xfrm>
            <a:off x="0" y="480544"/>
            <a:ext cx="3429000" cy="6260368"/>
          </a:xfrm>
          <a:prstGeom prst="rect">
            <a:avLst/>
          </a:prstGeom>
          <a:noFill/>
        </p:spPr>
        <p:txBody>
          <a:bodyPr wrap="square">
            <a:spAutoFit/>
          </a:bodyPr>
          <a:lstStyle/>
          <a:p>
            <a:pPr>
              <a:lnSpc>
                <a:spcPct val="150000"/>
              </a:lnSpc>
            </a:pPr>
            <a:r>
              <a:rPr lang="en-US" sz="2700" dirty="0">
                <a:latin typeface="+mj-lt"/>
              </a:rPr>
              <a:t>Packets from PC-A to PC-C must pass through LOCAL, ISP and REMOTE before reaching their destination.</a:t>
            </a:r>
          </a:p>
          <a:p>
            <a:pPr>
              <a:lnSpc>
                <a:spcPct val="150000"/>
              </a:lnSpc>
            </a:pPr>
            <a:r>
              <a:rPr lang="en-US" sz="2700" dirty="0">
                <a:latin typeface="+mj-lt"/>
              </a:rPr>
              <a:t>Discussion: Why can't PC-A send packets directly to PC-C without using routers?</a:t>
            </a:r>
          </a:p>
        </p:txBody>
      </p:sp>
    </p:spTree>
    <p:extLst>
      <p:ext uri="{BB962C8B-B14F-4D97-AF65-F5344CB8AC3E}">
        <p14:creationId xmlns:p14="http://schemas.microsoft.com/office/powerpoint/2010/main" val="3573186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5C97C-94D5-032F-95E6-E9061D47A8B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B7622E1-7A25-66A6-07AF-08A052DE6B9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10" name="TextBox 9">
            <a:extLst>
              <a:ext uri="{FF2B5EF4-FFF2-40B4-BE49-F238E27FC236}">
                <a16:creationId xmlns:a16="http://schemas.microsoft.com/office/drawing/2014/main" id="{24A74E54-0C26-B09E-C37C-378C128A3B6B}"/>
              </a:ext>
            </a:extLst>
          </p:cNvPr>
          <p:cNvSpPr txBox="1"/>
          <p:nvPr/>
        </p:nvSpPr>
        <p:spPr>
          <a:xfrm>
            <a:off x="0" y="480544"/>
            <a:ext cx="8686800" cy="523220"/>
          </a:xfrm>
          <a:prstGeom prst="rect">
            <a:avLst/>
          </a:prstGeom>
          <a:noFill/>
        </p:spPr>
        <p:txBody>
          <a:bodyPr wrap="square">
            <a:spAutoFit/>
          </a:bodyPr>
          <a:lstStyle/>
          <a:p>
            <a:pPr>
              <a:lnSpc>
                <a:spcPct val="100000"/>
              </a:lnSpc>
            </a:pPr>
            <a:r>
              <a:rPr lang="en-US" sz="2800" b="1" dirty="0">
                <a:latin typeface="+mj-lt"/>
              </a:rPr>
              <a:t>Equipment and Cable Names in Cisco Packet Tracer</a:t>
            </a:r>
            <a:endParaRPr lang="en-US" sz="2700" b="1" dirty="0">
              <a:latin typeface="+mj-lt"/>
            </a:endParaRPr>
          </a:p>
        </p:txBody>
      </p:sp>
      <p:pic>
        <p:nvPicPr>
          <p:cNvPr id="2" name="Picture 1" descr="Cisco Packet Tracer - HackMD">
            <a:extLst>
              <a:ext uri="{FF2B5EF4-FFF2-40B4-BE49-F238E27FC236}">
                <a16:creationId xmlns:a16="http://schemas.microsoft.com/office/drawing/2014/main" id="{304AB12F-EF3D-AD2C-6FF4-3DE8B70C9241}"/>
              </a:ext>
            </a:extLst>
          </p:cNvPr>
          <p:cNvPicPr>
            <a:picLocks noChangeAspect="1"/>
          </p:cNvPicPr>
          <p:nvPr/>
        </p:nvPicPr>
        <p:blipFill>
          <a:blip r:embed="rId2"/>
          <a:stretch>
            <a:fillRect/>
          </a:stretch>
        </p:blipFill>
        <p:spPr>
          <a:xfrm>
            <a:off x="0" y="1192138"/>
            <a:ext cx="5253347" cy="5185318"/>
          </a:xfrm>
          <a:prstGeom prst="rect">
            <a:avLst/>
          </a:prstGeom>
        </p:spPr>
      </p:pic>
      <p:sp>
        <p:nvSpPr>
          <p:cNvPr id="6" name="TextBox 5">
            <a:extLst>
              <a:ext uri="{FF2B5EF4-FFF2-40B4-BE49-F238E27FC236}">
                <a16:creationId xmlns:a16="http://schemas.microsoft.com/office/drawing/2014/main" id="{DB102A54-36C5-0EF0-A3FB-0976377DDAB5}"/>
              </a:ext>
            </a:extLst>
          </p:cNvPr>
          <p:cNvSpPr txBox="1"/>
          <p:nvPr/>
        </p:nvSpPr>
        <p:spPr>
          <a:xfrm>
            <a:off x="5275649" y="1369664"/>
            <a:ext cx="3890653" cy="5196166"/>
          </a:xfrm>
          <a:prstGeom prst="rect">
            <a:avLst/>
          </a:prstGeom>
          <a:noFill/>
        </p:spPr>
        <p:txBody>
          <a:bodyPr wrap="square">
            <a:spAutoFit/>
          </a:bodyPr>
          <a:lstStyle/>
          <a:p>
            <a:pPr>
              <a:lnSpc>
                <a:spcPct val="150000"/>
              </a:lnSpc>
              <a:buNone/>
            </a:pPr>
            <a:r>
              <a:rPr lang="en-US" sz="2800" dirty="0">
                <a:latin typeface="+mj-lt"/>
              </a:rPr>
              <a:t>3 × Cisco 1941 Routers</a:t>
            </a:r>
          </a:p>
          <a:p>
            <a:pPr>
              <a:lnSpc>
                <a:spcPct val="150000"/>
              </a:lnSpc>
              <a:buNone/>
            </a:pPr>
            <a:r>
              <a:rPr lang="en-US" sz="2800" dirty="0">
                <a:latin typeface="+mj-lt"/>
              </a:rPr>
              <a:t>Packet Tracer: Network Devices → Routers → 1941</a:t>
            </a:r>
          </a:p>
          <a:p>
            <a:pPr>
              <a:lnSpc>
                <a:spcPct val="150000"/>
              </a:lnSpc>
              <a:buNone/>
            </a:pPr>
            <a:r>
              <a:rPr lang="en-US" sz="2800" dirty="0">
                <a:latin typeface="+mj-lt"/>
              </a:rPr>
              <a:t>Rename them LOCAL, ISP and REMOTE. Each requires an HWIC-2T serial module.</a:t>
            </a:r>
          </a:p>
        </p:txBody>
      </p:sp>
    </p:spTree>
    <p:extLst>
      <p:ext uri="{BB962C8B-B14F-4D97-AF65-F5344CB8AC3E}">
        <p14:creationId xmlns:p14="http://schemas.microsoft.com/office/powerpoint/2010/main" val="1026776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1C7-1762-4300-8B8C-10E5B2A231F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50AAC6A-E045-6E52-E37E-596B6F0DE0E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10" name="TextBox 9">
            <a:extLst>
              <a:ext uri="{FF2B5EF4-FFF2-40B4-BE49-F238E27FC236}">
                <a16:creationId xmlns:a16="http://schemas.microsoft.com/office/drawing/2014/main" id="{5B1B9686-33EB-B412-F236-F52B9DC00AB2}"/>
              </a:ext>
            </a:extLst>
          </p:cNvPr>
          <p:cNvSpPr txBox="1"/>
          <p:nvPr/>
        </p:nvSpPr>
        <p:spPr>
          <a:xfrm>
            <a:off x="0" y="480544"/>
            <a:ext cx="8686800" cy="523220"/>
          </a:xfrm>
          <a:prstGeom prst="rect">
            <a:avLst/>
          </a:prstGeom>
          <a:noFill/>
        </p:spPr>
        <p:txBody>
          <a:bodyPr wrap="square">
            <a:spAutoFit/>
          </a:bodyPr>
          <a:lstStyle/>
          <a:p>
            <a:pPr>
              <a:lnSpc>
                <a:spcPct val="100000"/>
              </a:lnSpc>
            </a:pPr>
            <a:r>
              <a:rPr lang="en-US" sz="2800" b="1" dirty="0">
                <a:latin typeface="+mj-lt"/>
              </a:rPr>
              <a:t>Equipment and Cable Names in Cisco Packet Tracer</a:t>
            </a:r>
            <a:endParaRPr lang="en-US" sz="2700" b="1" dirty="0">
              <a:latin typeface="+mj-lt"/>
            </a:endParaRPr>
          </a:p>
        </p:txBody>
      </p:sp>
      <p:pic>
        <p:nvPicPr>
          <p:cNvPr id="4" name="Picture 3" descr="Deploy a Corporate Network - OpenClassrooms">
            <a:extLst>
              <a:ext uri="{FF2B5EF4-FFF2-40B4-BE49-F238E27FC236}">
                <a16:creationId xmlns:a16="http://schemas.microsoft.com/office/drawing/2014/main" id="{F024CBD7-2DED-D0F3-75FC-10480322FF9A}"/>
              </a:ext>
            </a:extLst>
          </p:cNvPr>
          <p:cNvPicPr>
            <a:picLocks noChangeAspect="1"/>
          </p:cNvPicPr>
          <p:nvPr/>
        </p:nvPicPr>
        <p:blipFill>
          <a:blip r:embed="rId2"/>
          <a:stretch>
            <a:fillRect/>
          </a:stretch>
        </p:blipFill>
        <p:spPr>
          <a:xfrm>
            <a:off x="1009185" y="1259883"/>
            <a:ext cx="7125630" cy="3132760"/>
          </a:xfrm>
          <a:prstGeom prst="rect">
            <a:avLst/>
          </a:prstGeom>
          <a:ln>
            <a:solidFill>
              <a:schemeClr val="accent1"/>
            </a:solidFill>
          </a:ln>
        </p:spPr>
      </p:pic>
      <p:sp>
        <p:nvSpPr>
          <p:cNvPr id="7" name="TextBox 6">
            <a:extLst>
              <a:ext uri="{FF2B5EF4-FFF2-40B4-BE49-F238E27FC236}">
                <a16:creationId xmlns:a16="http://schemas.microsoft.com/office/drawing/2014/main" id="{63900E54-13F5-D7C8-BF3A-50132CB26F40}"/>
              </a:ext>
            </a:extLst>
          </p:cNvPr>
          <p:cNvSpPr txBox="1"/>
          <p:nvPr/>
        </p:nvSpPr>
        <p:spPr>
          <a:xfrm>
            <a:off x="0" y="4392643"/>
            <a:ext cx="8965580" cy="1964512"/>
          </a:xfrm>
          <a:prstGeom prst="rect">
            <a:avLst/>
          </a:prstGeom>
          <a:noFill/>
        </p:spPr>
        <p:txBody>
          <a:bodyPr wrap="square">
            <a:spAutoFit/>
          </a:bodyPr>
          <a:lstStyle/>
          <a:p>
            <a:pPr>
              <a:lnSpc>
                <a:spcPct val="150000"/>
              </a:lnSpc>
              <a:buNone/>
            </a:pPr>
            <a:r>
              <a:rPr lang="en-US" sz="2800" dirty="0">
                <a:latin typeface="+mj-lt"/>
              </a:rPr>
              <a:t>2 × Cisco 2960 Switches</a:t>
            </a:r>
          </a:p>
          <a:p>
            <a:pPr>
              <a:lnSpc>
                <a:spcPct val="150000"/>
              </a:lnSpc>
              <a:buNone/>
            </a:pPr>
            <a:r>
              <a:rPr lang="en-US" sz="2800" dirty="0">
                <a:latin typeface="+mj-lt"/>
              </a:rPr>
              <a:t>Packet Tracer: Network Devices → Switches → 2960</a:t>
            </a:r>
          </a:p>
          <a:p>
            <a:pPr>
              <a:lnSpc>
                <a:spcPct val="150000"/>
              </a:lnSpc>
              <a:buNone/>
            </a:pPr>
            <a:r>
              <a:rPr lang="en-US" sz="2800" dirty="0">
                <a:latin typeface="+mj-lt"/>
              </a:rPr>
              <a:t>Rename them S1 and S3.</a:t>
            </a:r>
          </a:p>
        </p:txBody>
      </p:sp>
    </p:spTree>
    <p:extLst>
      <p:ext uri="{BB962C8B-B14F-4D97-AF65-F5344CB8AC3E}">
        <p14:creationId xmlns:p14="http://schemas.microsoft.com/office/powerpoint/2010/main" val="4246918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E85C-6656-52FD-68DF-D7D1A80B67E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1C41FDA-DC06-3BF9-615C-D8962610D18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10" name="TextBox 9">
            <a:extLst>
              <a:ext uri="{FF2B5EF4-FFF2-40B4-BE49-F238E27FC236}">
                <a16:creationId xmlns:a16="http://schemas.microsoft.com/office/drawing/2014/main" id="{46EBFD8D-590E-7FF0-7E56-504A42A548F9}"/>
              </a:ext>
            </a:extLst>
          </p:cNvPr>
          <p:cNvSpPr txBox="1"/>
          <p:nvPr/>
        </p:nvSpPr>
        <p:spPr>
          <a:xfrm>
            <a:off x="0" y="480544"/>
            <a:ext cx="8686800" cy="523220"/>
          </a:xfrm>
          <a:prstGeom prst="rect">
            <a:avLst/>
          </a:prstGeom>
          <a:noFill/>
        </p:spPr>
        <p:txBody>
          <a:bodyPr wrap="square">
            <a:spAutoFit/>
          </a:bodyPr>
          <a:lstStyle/>
          <a:p>
            <a:pPr>
              <a:lnSpc>
                <a:spcPct val="100000"/>
              </a:lnSpc>
            </a:pPr>
            <a:r>
              <a:rPr lang="en-US" sz="2800" b="1" dirty="0">
                <a:latin typeface="+mj-lt"/>
              </a:rPr>
              <a:t>Equipment and Cable Names in Cisco Packet Tracer</a:t>
            </a:r>
            <a:endParaRPr lang="en-US" sz="2700" b="1" dirty="0">
              <a:latin typeface="+mj-lt"/>
            </a:endParaRPr>
          </a:p>
        </p:txBody>
      </p:sp>
      <p:pic>
        <p:nvPicPr>
          <p:cNvPr id="2" name="Picture 1" descr="Konfigurasi Static Routing Cisco Packet Tracer — Belajar Cisco Packet Tracer Part 1 | by Muhammad Rezky Sulihin | Medium">
            <a:extLst>
              <a:ext uri="{FF2B5EF4-FFF2-40B4-BE49-F238E27FC236}">
                <a16:creationId xmlns:a16="http://schemas.microsoft.com/office/drawing/2014/main" id="{45378764-155C-A8B7-3AFC-A7C44609AF8D}"/>
              </a:ext>
            </a:extLst>
          </p:cNvPr>
          <p:cNvPicPr>
            <a:picLocks noChangeAspect="1"/>
          </p:cNvPicPr>
          <p:nvPr/>
        </p:nvPicPr>
        <p:blipFill>
          <a:blip r:embed="rId2"/>
          <a:stretch>
            <a:fillRect/>
          </a:stretch>
        </p:blipFill>
        <p:spPr>
          <a:xfrm>
            <a:off x="3989841" y="1106048"/>
            <a:ext cx="5151372" cy="5185318"/>
          </a:xfrm>
          <a:prstGeom prst="rect">
            <a:avLst/>
          </a:prstGeom>
        </p:spPr>
      </p:pic>
      <p:sp>
        <p:nvSpPr>
          <p:cNvPr id="6" name="TextBox 5">
            <a:extLst>
              <a:ext uri="{FF2B5EF4-FFF2-40B4-BE49-F238E27FC236}">
                <a16:creationId xmlns:a16="http://schemas.microsoft.com/office/drawing/2014/main" id="{5C237132-E101-708F-2CA1-CB1A4793B880}"/>
              </a:ext>
            </a:extLst>
          </p:cNvPr>
          <p:cNvSpPr txBox="1"/>
          <p:nvPr/>
        </p:nvSpPr>
        <p:spPr>
          <a:xfrm>
            <a:off x="4646" y="990600"/>
            <a:ext cx="3896668" cy="5842497"/>
          </a:xfrm>
          <a:prstGeom prst="rect">
            <a:avLst/>
          </a:prstGeom>
          <a:noFill/>
        </p:spPr>
        <p:txBody>
          <a:bodyPr wrap="square">
            <a:spAutoFit/>
          </a:bodyPr>
          <a:lstStyle/>
          <a:p>
            <a:pPr>
              <a:lnSpc>
                <a:spcPct val="150000"/>
              </a:lnSpc>
              <a:buNone/>
            </a:pPr>
            <a:r>
              <a:rPr lang="en-US" sz="2800" dirty="0">
                <a:latin typeface="+mj-lt"/>
              </a:rPr>
              <a:t>2 × PC-PT Computers</a:t>
            </a:r>
          </a:p>
          <a:p>
            <a:pPr>
              <a:lnSpc>
                <a:spcPct val="150000"/>
              </a:lnSpc>
              <a:buNone/>
            </a:pPr>
            <a:r>
              <a:rPr lang="en-US" sz="2800" dirty="0">
                <a:latin typeface="+mj-lt"/>
              </a:rPr>
              <a:t>Packet Tracer: End Devices → End Devices → PC</a:t>
            </a:r>
          </a:p>
          <a:p>
            <a:pPr>
              <a:lnSpc>
                <a:spcPct val="150000"/>
              </a:lnSpc>
              <a:buNone/>
            </a:pPr>
            <a:r>
              <a:rPr lang="en-US" sz="2800" dirty="0">
                <a:latin typeface="+mj-lt"/>
              </a:rPr>
              <a:t>Rename them PC-A and PC-C.</a:t>
            </a:r>
          </a:p>
          <a:p>
            <a:pPr>
              <a:lnSpc>
                <a:spcPct val="150000"/>
              </a:lnSpc>
              <a:buNone/>
            </a:pPr>
            <a:r>
              <a:rPr lang="en-US" sz="2800" dirty="0">
                <a:latin typeface="+mj-lt"/>
              </a:rPr>
              <a:t>Required cables: Find these under Connections (lightning-bolt icon).</a:t>
            </a:r>
          </a:p>
        </p:txBody>
      </p:sp>
    </p:spTree>
    <p:extLst>
      <p:ext uri="{BB962C8B-B14F-4D97-AF65-F5344CB8AC3E}">
        <p14:creationId xmlns:p14="http://schemas.microsoft.com/office/powerpoint/2010/main" val="4237242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293D3-2CEC-D84D-2736-91ADFC716EB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42A490A-638F-27D6-820B-0C3F3A40A11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10" name="TextBox 9">
            <a:extLst>
              <a:ext uri="{FF2B5EF4-FFF2-40B4-BE49-F238E27FC236}">
                <a16:creationId xmlns:a16="http://schemas.microsoft.com/office/drawing/2014/main" id="{CEFB16EF-832D-BF3A-B2E6-AA8E2E620BD6}"/>
              </a:ext>
            </a:extLst>
          </p:cNvPr>
          <p:cNvSpPr txBox="1"/>
          <p:nvPr/>
        </p:nvSpPr>
        <p:spPr>
          <a:xfrm>
            <a:off x="0" y="480544"/>
            <a:ext cx="8686800" cy="523220"/>
          </a:xfrm>
          <a:prstGeom prst="rect">
            <a:avLst/>
          </a:prstGeom>
          <a:noFill/>
        </p:spPr>
        <p:txBody>
          <a:bodyPr wrap="square">
            <a:spAutoFit/>
          </a:bodyPr>
          <a:lstStyle/>
          <a:p>
            <a:pPr>
              <a:lnSpc>
                <a:spcPct val="100000"/>
              </a:lnSpc>
            </a:pPr>
            <a:r>
              <a:rPr lang="en-US" sz="2800" b="1" dirty="0">
                <a:latin typeface="+mj-lt"/>
              </a:rPr>
              <a:t>Equipment and Cable Names in Cisco Packet Tracer</a:t>
            </a:r>
            <a:endParaRPr lang="en-US" sz="2700" b="1" dirty="0">
              <a:latin typeface="+mj-lt"/>
            </a:endParaRPr>
          </a:p>
        </p:txBody>
      </p:sp>
      <p:graphicFrame>
        <p:nvGraphicFramePr>
          <p:cNvPr id="4" name="Table 3">
            <a:extLst>
              <a:ext uri="{FF2B5EF4-FFF2-40B4-BE49-F238E27FC236}">
                <a16:creationId xmlns:a16="http://schemas.microsoft.com/office/drawing/2014/main" id="{E1669895-7168-535E-6BF8-EEF050B42850}"/>
              </a:ext>
            </a:extLst>
          </p:cNvPr>
          <p:cNvGraphicFramePr>
            <a:graphicFrameLocks noGrp="1"/>
          </p:cNvGraphicFramePr>
          <p:nvPr>
            <p:extLst>
              <p:ext uri="{D42A27DB-BD31-4B8C-83A1-F6EECF244321}">
                <p14:modId xmlns:p14="http://schemas.microsoft.com/office/powerpoint/2010/main" val="2113229192"/>
              </p:ext>
            </p:extLst>
          </p:nvPr>
        </p:nvGraphicFramePr>
        <p:xfrm>
          <a:off x="520700" y="1449388"/>
          <a:ext cx="8002588" cy="2834640"/>
        </p:xfrm>
        <a:graphic>
          <a:graphicData uri="http://schemas.openxmlformats.org/drawingml/2006/table">
            <a:tbl>
              <a:tblPr/>
              <a:tblGrid>
                <a:gridCol w="4001294">
                  <a:extLst>
                    <a:ext uri="{9D8B030D-6E8A-4147-A177-3AD203B41FA5}">
                      <a16:colId xmlns:a16="http://schemas.microsoft.com/office/drawing/2014/main" val="361754811"/>
                    </a:ext>
                  </a:extLst>
                </a:gridCol>
                <a:gridCol w="4001294">
                  <a:extLst>
                    <a:ext uri="{9D8B030D-6E8A-4147-A177-3AD203B41FA5}">
                      <a16:colId xmlns:a16="http://schemas.microsoft.com/office/drawing/2014/main" val="1727699712"/>
                    </a:ext>
                  </a:extLst>
                </a:gridCol>
              </a:tblGrid>
              <a:tr h="0">
                <a:tc>
                  <a:txBody>
                    <a:bodyPr/>
                    <a:lstStyle/>
                    <a:p>
                      <a:pPr>
                        <a:buNone/>
                      </a:pPr>
                      <a:r>
                        <a:rPr lang="en-US" b="1" dirty="0"/>
                        <a:t>Cable name</a:t>
                      </a:r>
                    </a:p>
                    <a:p>
                      <a:pPr>
                        <a:buNone/>
                      </a:pPr>
                      <a:endParaRPr lang="en-US" b="1" dirty="0"/>
                    </a:p>
                  </a:txBody>
                  <a:tcPr anchor="ctr">
                    <a:lnL>
                      <a:noFill/>
                    </a:lnL>
                    <a:lnR>
                      <a:noFill/>
                    </a:lnR>
                    <a:lnT>
                      <a:noFill/>
                    </a:lnT>
                    <a:lnB>
                      <a:noFill/>
                    </a:lnB>
                    <a:solidFill>
                      <a:schemeClr val="accent4">
                        <a:lumMod val="60000"/>
                        <a:lumOff val="40000"/>
                      </a:schemeClr>
                    </a:solidFill>
                  </a:tcPr>
                </a:tc>
                <a:tc>
                  <a:txBody>
                    <a:bodyPr/>
                    <a:lstStyle/>
                    <a:p>
                      <a:pPr>
                        <a:buNone/>
                      </a:pPr>
                      <a:r>
                        <a:rPr lang="en-US" b="1" dirty="0"/>
                        <a:t>Use</a:t>
                      </a:r>
                    </a:p>
                    <a:p>
                      <a:pPr>
                        <a:buNone/>
                      </a:pPr>
                      <a:endParaRPr lang="en-US" b="1" dirty="0"/>
                    </a:p>
                  </a:txBody>
                  <a:tcPr anchor="ctr">
                    <a:lnL>
                      <a:noFill/>
                    </a:lnL>
                    <a:lnR>
                      <a:noFill/>
                    </a:lnR>
                    <a:lnT>
                      <a:noFill/>
                    </a:lnT>
                    <a:lnB>
                      <a:noFill/>
                    </a:lnB>
                    <a:solidFill>
                      <a:schemeClr val="accent4">
                        <a:lumMod val="60000"/>
                        <a:lumOff val="40000"/>
                      </a:schemeClr>
                    </a:solidFill>
                  </a:tcPr>
                </a:tc>
                <a:extLst>
                  <a:ext uri="{0D108BD9-81ED-4DB2-BD59-A6C34878D82A}">
                    <a16:rowId xmlns:a16="http://schemas.microsoft.com/office/drawing/2014/main" val="1709088302"/>
                  </a:ext>
                </a:extLst>
              </a:tr>
              <a:tr h="0">
                <a:tc>
                  <a:txBody>
                    <a:bodyPr/>
                    <a:lstStyle/>
                    <a:p>
                      <a:pPr>
                        <a:buNone/>
                      </a:pPr>
                      <a:r>
                        <a:rPr lang="en-US"/>
                        <a:t>Serial DCE</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Router-to-router WAN links</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819031579"/>
                  </a:ext>
                </a:extLst>
              </a:tr>
              <a:tr h="0">
                <a:tc>
                  <a:txBody>
                    <a:bodyPr/>
                    <a:lstStyle/>
                    <a:p>
                      <a:pPr>
                        <a:buNone/>
                      </a:pPr>
                      <a:r>
                        <a:rPr lang="en-US"/>
                        <a:t>Copper Straight-Through</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Router-to-switch and switch-to-PC</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871727135"/>
                  </a:ext>
                </a:extLst>
              </a:tr>
              <a:tr h="0">
                <a:tc>
                  <a:txBody>
                    <a:bodyPr/>
                    <a:lstStyle/>
                    <a:p>
                      <a:pPr>
                        <a:buNone/>
                      </a:pPr>
                      <a:r>
                        <a:rPr lang="en-US"/>
                        <a:t>Console</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Optional PC-to-device console configuration</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08696400"/>
                  </a:ext>
                </a:extLst>
              </a:tr>
            </a:tbl>
          </a:graphicData>
        </a:graphic>
      </p:graphicFrame>
      <p:sp>
        <p:nvSpPr>
          <p:cNvPr id="9" name="TextBox 8">
            <a:extLst>
              <a:ext uri="{FF2B5EF4-FFF2-40B4-BE49-F238E27FC236}">
                <a16:creationId xmlns:a16="http://schemas.microsoft.com/office/drawing/2014/main" id="{76CD1D97-98C0-A5DF-571E-3979B4552789}"/>
              </a:ext>
            </a:extLst>
          </p:cNvPr>
          <p:cNvSpPr txBox="1"/>
          <p:nvPr/>
        </p:nvSpPr>
        <p:spPr>
          <a:xfrm>
            <a:off x="12290" y="4284028"/>
            <a:ext cx="8981768" cy="1964512"/>
          </a:xfrm>
          <a:prstGeom prst="rect">
            <a:avLst/>
          </a:prstGeom>
          <a:noFill/>
        </p:spPr>
        <p:txBody>
          <a:bodyPr wrap="square">
            <a:spAutoFit/>
          </a:bodyPr>
          <a:lstStyle/>
          <a:p>
            <a:pPr>
              <a:lnSpc>
                <a:spcPct val="150000"/>
              </a:lnSpc>
              <a:buNone/>
            </a:pPr>
            <a:r>
              <a:rPr lang="en-US" sz="2800" dirty="0">
                <a:latin typeface="+mj-lt"/>
              </a:rPr>
              <a:t>Why: Serial connections simulate WAN links, while copper straight-through cables provide Ethernet connections within the local networks.</a:t>
            </a:r>
          </a:p>
        </p:txBody>
      </p:sp>
    </p:spTree>
    <p:extLst>
      <p:ext uri="{BB962C8B-B14F-4D97-AF65-F5344CB8AC3E}">
        <p14:creationId xmlns:p14="http://schemas.microsoft.com/office/powerpoint/2010/main" val="136378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B1A2A-753F-3C25-C9D7-EB74C927ED4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9489426-3848-4FB7-A934-992A35EFCF4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1BF8ECDE-FEBB-CA30-8BD2-2CCFAC4F0FE9}"/>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5" name="TextBox 4">
            <a:extLst>
              <a:ext uri="{FF2B5EF4-FFF2-40B4-BE49-F238E27FC236}">
                <a16:creationId xmlns:a16="http://schemas.microsoft.com/office/drawing/2014/main" id="{2CECE922-8655-D25E-A738-637E4855C088}"/>
              </a:ext>
            </a:extLst>
          </p:cNvPr>
          <p:cNvSpPr txBox="1"/>
          <p:nvPr/>
        </p:nvSpPr>
        <p:spPr>
          <a:xfrm>
            <a:off x="0" y="915472"/>
            <a:ext cx="8981768" cy="2610843"/>
          </a:xfrm>
          <a:prstGeom prst="rect">
            <a:avLst/>
          </a:prstGeom>
          <a:noFill/>
        </p:spPr>
        <p:txBody>
          <a:bodyPr wrap="square">
            <a:spAutoFit/>
          </a:bodyPr>
          <a:lstStyle/>
          <a:p>
            <a:pPr>
              <a:lnSpc>
                <a:spcPct val="150000"/>
              </a:lnSpc>
              <a:buNone/>
            </a:pPr>
            <a:r>
              <a:rPr lang="en-US" sz="2800" b="1" dirty="0">
                <a:latin typeface="+mj-lt"/>
              </a:rPr>
              <a:t>Task 1: Build the Physical Topology</a:t>
            </a:r>
          </a:p>
          <a:p>
            <a:pPr>
              <a:lnSpc>
                <a:spcPct val="150000"/>
              </a:lnSpc>
              <a:buNone/>
            </a:pPr>
            <a:r>
              <a:rPr lang="en-US" sz="2800" dirty="0">
                <a:latin typeface="+mj-lt"/>
              </a:rPr>
              <a:t>Live demonstration</a:t>
            </a:r>
          </a:p>
          <a:p>
            <a:pPr>
              <a:lnSpc>
                <a:spcPct val="150000"/>
              </a:lnSpc>
              <a:buNone/>
            </a:pPr>
            <a:r>
              <a:rPr lang="en-US" sz="2800" b="1" dirty="0">
                <a:latin typeface="+mj-lt"/>
              </a:rPr>
              <a:t>Step 1: </a:t>
            </a:r>
            <a:r>
              <a:rPr lang="en-US" sz="2800" dirty="0">
                <a:latin typeface="+mj-lt"/>
              </a:rPr>
              <a:t>Drag three 1941 routers into the Logical workspace. Rename them LOCAL, ISP and REMOTE.</a:t>
            </a:r>
          </a:p>
        </p:txBody>
      </p:sp>
      <p:pic>
        <p:nvPicPr>
          <p:cNvPr id="7" name="Picture 6">
            <a:extLst>
              <a:ext uri="{FF2B5EF4-FFF2-40B4-BE49-F238E27FC236}">
                <a16:creationId xmlns:a16="http://schemas.microsoft.com/office/drawing/2014/main" id="{0583017D-CEB1-C062-4B89-5F42D7F77048}"/>
              </a:ext>
            </a:extLst>
          </p:cNvPr>
          <p:cNvPicPr>
            <a:picLocks noChangeAspect="1"/>
          </p:cNvPicPr>
          <p:nvPr/>
        </p:nvPicPr>
        <p:blipFill>
          <a:blip r:embed="rId2"/>
          <a:srcRect r="44167" b="5555"/>
          <a:stretch>
            <a:fillRect/>
          </a:stretch>
        </p:blipFill>
        <p:spPr>
          <a:xfrm>
            <a:off x="5638800" y="3507669"/>
            <a:ext cx="3487994" cy="3318800"/>
          </a:xfrm>
          <a:prstGeom prst="rect">
            <a:avLst/>
          </a:prstGeom>
          <a:ln>
            <a:solidFill>
              <a:srgbClr val="FF0000"/>
            </a:solidFill>
          </a:ln>
        </p:spPr>
      </p:pic>
    </p:spTree>
    <p:extLst>
      <p:ext uri="{BB962C8B-B14F-4D97-AF65-F5344CB8AC3E}">
        <p14:creationId xmlns:p14="http://schemas.microsoft.com/office/powerpoint/2010/main" val="399154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A7177-8D83-438D-D552-AD9AFF87E7A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35F6D4A-5C5F-1F4D-7589-185745634C8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793F8AEB-EB10-6548-DEDF-D1C7F98DA208}"/>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5" name="TextBox 4">
            <a:extLst>
              <a:ext uri="{FF2B5EF4-FFF2-40B4-BE49-F238E27FC236}">
                <a16:creationId xmlns:a16="http://schemas.microsoft.com/office/drawing/2014/main" id="{5EA828D9-7B7E-A5F2-1C82-0C90AE6363D0}"/>
              </a:ext>
            </a:extLst>
          </p:cNvPr>
          <p:cNvSpPr txBox="1"/>
          <p:nvPr/>
        </p:nvSpPr>
        <p:spPr>
          <a:xfrm>
            <a:off x="0" y="915472"/>
            <a:ext cx="8981768" cy="2610843"/>
          </a:xfrm>
          <a:prstGeom prst="rect">
            <a:avLst/>
          </a:prstGeom>
          <a:noFill/>
        </p:spPr>
        <p:txBody>
          <a:bodyPr wrap="square">
            <a:spAutoFit/>
          </a:bodyPr>
          <a:lstStyle/>
          <a:p>
            <a:pPr>
              <a:lnSpc>
                <a:spcPct val="150000"/>
              </a:lnSpc>
              <a:buNone/>
            </a:pPr>
            <a:r>
              <a:rPr lang="en-US" sz="2800" b="1" dirty="0">
                <a:latin typeface="+mj-lt"/>
              </a:rPr>
              <a:t>Task 1: Build the Physical Topology</a:t>
            </a:r>
          </a:p>
          <a:p>
            <a:pPr>
              <a:lnSpc>
                <a:spcPct val="150000"/>
              </a:lnSpc>
              <a:buNone/>
            </a:pPr>
            <a:r>
              <a:rPr lang="en-US" sz="2800" dirty="0">
                <a:latin typeface="+mj-lt"/>
              </a:rPr>
              <a:t>Live demonstration</a:t>
            </a:r>
          </a:p>
          <a:p>
            <a:pPr>
              <a:lnSpc>
                <a:spcPct val="150000"/>
              </a:lnSpc>
              <a:buNone/>
            </a:pPr>
            <a:r>
              <a:rPr lang="en-US" sz="2800" b="1" dirty="0">
                <a:latin typeface="+mj-lt"/>
              </a:rPr>
              <a:t>Step 1: </a:t>
            </a:r>
            <a:r>
              <a:rPr lang="en-US" sz="2800" dirty="0">
                <a:latin typeface="+mj-lt"/>
              </a:rPr>
              <a:t>Drag three 1941 routers into the Logical workspace. Rename them LOCAL, ISP and REMOTE.</a:t>
            </a:r>
          </a:p>
        </p:txBody>
      </p:sp>
      <p:pic>
        <p:nvPicPr>
          <p:cNvPr id="4" name="Picture 3">
            <a:extLst>
              <a:ext uri="{FF2B5EF4-FFF2-40B4-BE49-F238E27FC236}">
                <a16:creationId xmlns:a16="http://schemas.microsoft.com/office/drawing/2014/main" id="{E7BA261B-E519-7D47-D1C0-77B9E1DA3532}"/>
              </a:ext>
            </a:extLst>
          </p:cNvPr>
          <p:cNvPicPr>
            <a:picLocks noChangeAspect="1"/>
          </p:cNvPicPr>
          <p:nvPr/>
        </p:nvPicPr>
        <p:blipFill>
          <a:blip r:embed="rId2"/>
          <a:srcRect r="48333" b="50000"/>
          <a:stretch>
            <a:fillRect/>
          </a:stretch>
        </p:blipFill>
        <p:spPr>
          <a:xfrm>
            <a:off x="3124200" y="3543142"/>
            <a:ext cx="6019800" cy="3276907"/>
          </a:xfrm>
          <a:prstGeom prst="rect">
            <a:avLst/>
          </a:prstGeom>
          <a:ln>
            <a:solidFill>
              <a:srgbClr val="FF0000"/>
            </a:solidFill>
          </a:ln>
        </p:spPr>
      </p:pic>
    </p:spTree>
    <p:extLst>
      <p:ext uri="{BB962C8B-B14F-4D97-AF65-F5344CB8AC3E}">
        <p14:creationId xmlns:p14="http://schemas.microsoft.com/office/powerpoint/2010/main" val="1899709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30289-FFBC-2951-65B1-B83FEEC7B4B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1FF2267-BEB0-759F-07CE-36F622ECE83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B1F6F412-789D-7448-F13B-66FAA8AEBD57}"/>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5" name="TextBox 4">
            <a:extLst>
              <a:ext uri="{FF2B5EF4-FFF2-40B4-BE49-F238E27FC236}">
                <a16:creationId xmlns:a16="http://schemas.microsoft.com/office/drawing/2014/main" id="{97881AAA-450A-6EFC-A37E-C0F1C00D1A22}"/>
              </a:ext>
            </a:extLst>
          </p:cNvPr>
          <p:cNvSpPr txBox="1"/>
          <p:nvPr/>
        </p:nvSpPr>
        <p:spPr>
          <a:xfrm>
            <a:off x="0" y="915472"/>
            <a:ext cx="8981768" cy="3257174"/>
          </a:xfrm>
          <a:prstGeom prst="rect">
            <a:avLst/>
          </a:prstGeom>
          <a:noFill/>
        </p:spPr>
        <p:txBody>
          <a:bodyPr wrap="square">
            <a:spAutoFit/>
          </a:bodyPr>
          <a:lstStyle/>
          <a:p>
            <a:pPr>
              <a:lnSpc>
                <a:spcPct val="150000"/>
              </a:lnSpc>
              <a:buNone/>
            </a:pPr>
            <a:r>
              <a:rPr lang="en-US" sz="2800" b="1" dirty="0">
                <a:latin typeface="+mj-lt"/>
              </a:rPr>
              <a:t>Step 2: </a:t>
            </a:r>
            <a:r>
              <a:rPr lang="en-US" sz="2800" dirty="0">
                <a:latin typeface="+mj-lt"/>
              </a:rPr>
              <a:t>Open each router → Physical → zoom in and switch off power → select HWIC-2T → insert into an available HWIC slot → switch on power.</a:t>
            </a:r>
          </a:p>
          <a:p>
            <a:pPr>
              <a:lnSpc>
                <a:spcPct val="150000"/>
              </a:lnSpc>
              <a:buNone/>
            </a:pPr>
            <a:r>
              <a:rPr lang="en-US" sz="2800" b="1" dirty="0">
                <a:latin typeface="+mj-lt"/>
              </a:rPr>
              <a:t>Step 3: </a:t>
            </a:r>
            <a:r>
              <a:rPr lang="en-US" sz="2800" dirty="0">
                <a:latin typeface="+mj-lt"/>
              </a:rPr>
              <a:t>Add two 2960 switches, S1 and S3.</a:t>
            </a:r>
          </a:p>
          <a:p>
            <a:pPr>
              <a:lnSpc>
                <a:spcPct val="150000"/>
              </a:lnSpc>
              <a:buNone/>
            </a:pPr>
            <a:r>
              <a:rPr lang="en-US" sz="2800" b="1" dirty="0">
                <a:latin typeface="+mj-lt"/>
              </a:rPr>
              <a:t>Step 4: </a:t>
            </a:r>
            <a:r>
              <a:rPr lang="en-US" sz="2800" dirty="0">
                <a:latin typeface="+mj-lt"/>
              </a:rPr>
              <a:t>Add two PC-PT computers, PC-A and PC-C.</a:t>
            </a:r>
          </a:p>
        </p:txBody>
      </p:sp>
      <p:pic>
        <p:nvPicPr>
          <p:cNvPr id="4" name="Picture 3">
            <a:extLst>
              <a:ext uri="{FF2B5EF4-FFF2-40B4-BE49-F238E27FC236}">
                <a16:creationId xmlns:a16="http://schemas.microsoft.com/office/drawing/2014/main" id="{1EF65BC6-445E-2692-09C7-716D3EDEF0F1}"/>
              </a:ext>
            </a:extLst>
          </p:cNvPr>
          <p:cNvPicPr>
            <a:picLocks noChangeAspect="1"/>
          </p:cNvPicPr>
          <p:nvPr/>
        </p:nvPicPr>
        <p:blipFill>
          <a:blip r:embed="rId2"/>
          <a:srcRect l="26129" t="3405" r="26667" b="57407"/>
          <a:stretch>
            <a:fillRect/>
          </a:stretch>
        </p:blipFill>
        <p:spPr>
          <a:xfrm>
            <a:off x="3429000" y="4165272"/>
            <a:ext cx="5692877" cy="2658405"/>
          </a:xfrm>
          <a:prstGeom prst="rect">
            <a:avLst/>
          </a:prstGeom>
          <a:ln>
            <a:solidFill>
              <a:srgbClr val="FF0000"/>
            </a:solidFill>
          </a:ln>
        </p:spPr>
      </p:pic>
    </p:spTree>
    <p:extLst>
      <p:ext uri="{BB962C8B-B14F-4D97-AF65-F5344CB8AC3E}">
        <p14:creationId xmlns:p14="http://schemas.microsoft.com/office/powerpoint/2010/main" val="3328521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09431-BCDD-DD14-EF1D-4781248CB2B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16542E6-CC1B-7DA6-7C1E-91074F16C04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87609B86-C347-EBCA-A27E-8A52C4169F45}"/>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5" name="TextBox 4">
            <a:extLst>
              <a:ext uri="{FF2B5EF4-FFF2-40B4-BE49-F238E27FC236}">
                <a16:creationId xmlns:a16="http://schemas.microsoft.com/office/drawing/2014/main" id="{A11F4BB2-B44F-C798-B631-35CE3889936D}"/>
              </a:ext>
            </a:extLst>
          </p:cNvPr>
          <p:cNvSpPr txBox="1"/>
          <p:nvPr/>
        </p:nvSpPr>
        <p:spPr>
          <a:xfrm>
            <a:off x="0" y="915472"/>
            <a:ext cx="8981768" cy="4549835"/>
          </a:xfrm>
          <a:prstGeom prst="rect">
            <a:avLst/>
          </a:prstGeom>
          <a:noFill/>
        </p:spPr>
        <p:txBody>
          <a:bodyPr wrap="square">
            <a:spAutoFit/>
          </a:bodyPr>
          <a:lstStyle/>
          <a:p>
            <a:pPr>
              <a:lnSpc>
                <a:spcPct val="150000"/>
              </a:lnSpc>
              <a:buNone/>
            </a:pPr>
            <a:r>
              <a:rPr lang="en-US" sz="2800" b="1" dirty="0">
                <a:latin typeface="+mj-lt"/>
              </a:rPr>
              <a:t>Step 2: </a:t>
            </a:r>
            <a:r>
              <a:rPr lang="en-US" sz="2800" dirty="0">
                <a:latin typeface="+mj-lt"/>
              </a:rPr>
              <a:t>Open each router → Physical → zoom in and switch off power → select HWIC-2T → insert into an available HWIC slot → switch on power.</a:t>
            </a:r>
          </a:p>
          <a:p>
            <a:pPr>
              <a:lnSpc>
                <a:spcPct val="150000"/>
              </a:lnSpc>
              <a:buNone/>
            </a:pPr>
            <a:r>
              <a:rPr lang="en-US" sz="2800" b="1" dirty="0">
                <a:latin typeface="+mj-lt"/>
              </a:rPr>
              <a:t>Step 3: </a:t>
            </a:r>
            <a:r>
              <a:rPr lang="en-US" sz="2800" dirty="0">
                <a:latin typeface="+mj-lt"/>
              </a:rPr>
              <a:t>Add two 2960-24TT (third option) switches, S1 and S3.</a:t>
            </a:r>
          </a:p>
          <a:p>
            <a:pPr>
              <a:lnSpc>
                <a:spcPct val="150000"/>
              </a:lnSpc>
              <a:buNone/>
            </a:pPr>
            <a:r>
              <a:rPr lang="en-US" sz="2800" b="1" dirty="0">
                <a:latin typeface="+mj-lt"/>
              </a:rPr>
              <a:t>Step 4: </a:t>
            </a:r>
            <a:r>
              <a:rPr lang="en-US" sz="2800" dirty="0">
                <a:latin typeface="+mj-lt"/>
              </a:rPr>
              <a:t>Add two PC-PT </a:t>
            </a:r>
            <a:br>
              <a:rPr lang="en-US" sz="2800" dirty="0">
                <a:latin typeface="+mj-lt"/>
              </a:rPr>
            </a:br>
            <a:r>
              <a:rPr lang="en-US" sz="2800" dirty="0">
                <a:latin typeface="+mj-lt"/>
              </a:rPr>
              <a:t>computers, PC-A and PC-C.</a:t>
            </a:r>
          </a:p>
        </p:txBody>
      </p:sp>
      <p:pic>
        <p:nvPicPr>
          <p:cNvPr id="6" name="Picture 5">
            <a:extLst>
              <a:ext uri="{FF2B5EF4-FFF2-40B4-BE49-F238E27FC236}">
                <a16:creationId xmlns:a16="http://schemas.microsoft.com/office/drawing/2014/main" id="{C354032B-D597-33A4-1858-E6888E0270C6}"/>
              </a:ext>
            </a:extLst>
          </p:cNvPr>
          <p:cNvPicPr>
            <a:picLocks noChangeAspect="1"/>
          </p:cNvPicPr>
          <p:nvPr/>
        </p:nvPicPr>
        <p:blipFill>
          <a:blip r:embed="rId2"/>
          <a:srcRect l="26667" t="4074" r="26667" b="52963"/>
          <a:stretch>
            <a:fillRect/>
          </a:stretch>
        </p:blipFill>
        <p:spPr>
          <a:xfrm>
            <a:off x="4038600" y="4196848"/>
            <a:ext cx="5105400" cy="2643868"/>
          </a:xfrm>
          <a:prstGeom prst="rect">
            <a:avLst/>
          </a:prstGeom>
          <a:ln>
            <a:solidFill>
              <a:srgbClr val="FF0000"/>
            </a:solidFill>
          </a:ln>
        </p:spPr>
      </p:pic>
    </p:spTree>
    <p:extLst>
      <p:ext uri="{BB962C8B-B14F-4D97-AF65-F5344CB8AC3E}">
        <p14:creationId xmlns:p14="http://schemas.microsoft.com/office/powerpoint/2010/main" val="2515525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04A0A-4DD1-A2B1-5A38-FE45EE2D2D0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0F99BF1-3673-CB6D-F9C3-616631390B12}"/>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668ADF8C-D97C-8D55-E3ED-5B0931F1BB2E}"/>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5" name="TextBox 4">
            <a:extLst>
              <a:ext uri="{FF2B5EF4-FFF2-40B4-BE49-F238E27FC236}">
                <a16:creationId xmlns:a16="http://schemas.microsoft.com/office/drawing/2014/main" id="{E70128BF-F645-F5AD-4F49-A99621404DEB}"/>
              </a:ext>
            </a:extLst>
          </p:cNvPr>
          <p:cNvSpPr txBox="1"/>
          <p:nvPr/>
        </p:nvSpPr>
        <p:spPr>
          <a:xfrm>
            <a:off x="0" y="915472"/>
            <a:ext cx="8981768" cy="523220"/>
          </a:xfrm>
          <a:prstGeom prst="rect">
            <a:avLst/>
          </a:prstGeom>
          <a:noFill/>
        </p:spPr>
        <p:txBody>
          <a:bodyPr wrap="square">
            <a:spAutoFit/>
          </a:bodyPr>
          <a:lstStyle/>
          <a:p>
            <a:pPr>
              <a:lnSpc>
                <a:spcPct val="100000"/>
              </a:lnSpc>
              <a:buNone/>
            </a:pPr>
            <a:r>
              <a:rPr lang="en-US" sz="2800" dirty="0">
                <a:latin typeface="+mj-lt"/>
              </a:rPr>
              <a:t>Repeat for the ISP router.</a:t>
            </a:r>
          </a:p>
        </p:txBody>
      </p:sp>
      <p:pic>
        <p:nvPicPr>
          <p:cNvPr id="4" name="Picture 3">
            <a:extLst>
              <a:ext uri="{FF2B5EF4-FFF2-40B4-BE49-F238E27FC236}">
                <a16:creationId xmlns:a16="http://schemas.microsoft.com/office/drawing/2014/main" id="{DC2664FA-3754-63D0-1ABD-8B6C00BBD5FA}"/>
              </a:ext>
            </a:extLst>
          </p:cNvPr>
          <p:cNvPicPr>
            <a:picLocks noChangeAspect="1"/>
          </p:cNvPicPr>
          <p:nvPr/>
        </p:nvPicPr>
        <p:blipFill>
          <a:blip r:embed="rId2"/>
          <a:srcRect l="26290" t="2545" r="26667" b="11542"/>
          <a:stretch>
            <a:fillRect/>
          </a:stretch>
        </p:blipFill>
        <p:spPr>
          <a:xfrm>
            <a:off x="4869426" y="2439057"/>
            <a:ext cx="4301613" cy="4418943"/>
          </a:xfrm>
          <a:prstGeom prst="rect">
            <a:avLst/>
          </a:prstGeom>
          <a:ln>
            <a:solidFill>
              <a:srgbClr val="FF0000"/>
            </a:solidFill>
          </a:ln>
        </p:spPr>
      </p:pic>
    </p:spTree>
    <p:extLst>
      <p:ext uri="{BB962C8B-B14F-4D97-AF65-F5344CB8AC3E}">
        <p14:creationId xmlns:p14="http://schemas.microsoft.com/office/powerpoint/2010/main" val="3634181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0A32D-438A-2F1F-2FE7-40FD379A2AF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8CBEE4F-E968-F291-02D4-C273B97EFE5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64DB694F-2A20-3AA4-7F15-3276B0E3EE15}"/>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graphicFrame>
        <p:nvGraphicFramePr>
          <p:cNvPr id="2" name="Table 1">
            <a:extLst>
              <a:ext uri="{FF2B5EF4-FFF2-40B4-BE49-F238E27FC236}">
                <a16:creationId xmlns:a16="http://schemas.microsoft.com/office/drawing/2014/main" id="{9F592FB6-ACCD-08E4-CD17-AA28C3A87AA1}"/>
              </a:ext>
            </a:extLst>
          </p:cNvPr>
          <p:cNvGraphicFramePr>
            <a:graphicFrameLocks noGrp="1"/>
          </p:cNvGraphicFramePr>
          <p:nvPr>
            <p:extLst>
              <p:ext uri="{D42A27DB-BD31-4B8C-83A1-F6EECF244321}">
                <p14:modId xmlns:p14="http://schemas.microsoft.com/office/powerpoint/2010/main" val="3569213352"/>
              </p:ext>
            </p:extLst>
          </p:nvPr>
        </p:nvGraphicFramePr>
        <p:xfrm>
          <a:off x="453513" y="1480179"/>
          <a:ext cx="8001000" cy="5334000"/>
        </p:xfrm>
        <a:graphic>
          <a:graphicData uri="http://schemas.openxmlformats.org/drawingml/2006/table">
            <a:tbl>
              <a:tblPr/>
              <a:tblGrid>
                <a:gridCol w="2438400">
                  <a:extLst>
                    <a:ext uri="{9D8B030D-6E8A-4147-A177-3AD203B41FA5}">
                      <a16:colId xmlns:a16="http://schemas.microsoft.com/office/drawing/2014/main" val="3621838026"/>
                    </a:ext>
                  </a:extLst>
                </a:gridCol>
                <a:gridCol w="2514600">
                  <a:extLst>
                    <a:ext uri="{9D8B030D-6E8A-4147-A177-3AD203B41FA5}">
                      <a16:colId xmlns:a16="http://schemas.microsoft.com/office/drawing/2014/main" val="4110444364"/>
                    </a:ext>
                  </a:extLst>
                </a:gridCol>
                <a:gridCol w="3048000">
                  <a:extLst>
                    <a:ext uri="{9D8B030D-6E8A-4147-A177-3AD203B41FA5}">
                      <a16:colId xmlns:a16="http://schemas.microsoft.com/office/drawing/2014/main" val="547814420"/>
                    </a:ext>
                  </a:extLst>
                </a:gridCol>
              </a:tblGrid>
              <a:tr h="0">
                <a:tc>
                  <a:txBody>
                    <a:bodyPr/>
                    <a:lstStyle/>
                    <a:p>
                      <a:pPr>
                        <a:buNone/>
                      </a:pPr>
                      <a:r>
                        <a:rPr lang="en-US" sz="2200" b="1" dirty="0"/>
                        <a:t>From</a:t>
                      </a:r>
                    </a:p>
                    <a:p>
                      <a:pPr>
                        <a:buNone/>
                      </a:pPr>
                      <a:endParaRPr lang="en-US" sz="2200" b="1" dirty="0"/>
                    </a:p>
                  </a:txBody>
                  <a:tcPr anchor="ctr">
                    <a:lnL>
                      <a:noFill/>
                    </a:lnL>
                    <a:lnR>
                      <a:noFill/>
                    </a:lnR>
                    <a:lnT>
                      <a:noFill/>
                    </a:lnT>
                    <a:lnB>
                      <a:noFill/>
                    </a:lnB>
                    <a:solidFill>
                      <a:schemeClr val="accent4">
                        <a:lumMod val="60000"/>
                        <a:lumOff val="40000"/>
                      </a:schemeClr>
                    </a:solidFill>
                  </a:tcPr>
                </a:tc>
                <a:tc>
                  <a:txBody>
                    <a:bodyPr/>
                    <a:lstStyle/>
                    <a:p>
                      <a:pPr>
                        <a:buNone/>
                      </a:pPr>
                      <a:r>
                        <a:rPr lang="en-US" sz="2200" b="1" dirty="0"/>
                        <a:t>To</a:t>
                      </a:r>
                    </a:p>
                    <a:p>
                      <a:pPr>
                        <a:buNone/>
                      </a:pPr>
                      <a:endParaRPr lang="en-US" sz="2200" b="1" dirty="0"/>
                    </a:p>
                  </a:txBody>
                  <a:tcPr anchor="ctr">
                    <a:lnL>
                      <a:noFill/>
                    </a:lnL>
                    <a:lnR>
                      <a:noFill/>
                    </a:lnR>
                    <a:lnT>
                      <a:noFill/>
                    </a:lnT>
                    <a:lnB>
                      <a:noFill/>
                    </a:lnB>
                    <a:solidFill>
                      <a:schemeClr val="accent4">
                        <a:lumMod val="60000"/>
                        <a:lumOff val="40000"/>
                      </a:schemeClr>
                    </a:solidFill>
                  </a:tcPr>
                </a:tc>
                <a:tc>
                  <a:txBody>
                    <a:bodyPr/>
                    <a:lstStyle/>
                    <a:p>
                      <a:pPr>
                        <a:buNone/>
                      </a:pPr>
                      <a:r>
                        <a:rPr lang="en-US" sz="2200" b="1" dirty="0"/>
                        <a:t>Cable</a:t>
                      </a:r>
                    </a:p>
                    <a:p>
                      <a:pPr>
                        <a:buNone/>
                      </a:pPr>
                      <a:endParaRPr lang="en-US" sz="2200" b="1" dirty="0"/>
                    </a:p>
                  </a:txBody>
                  <a:tcPr anchor="ctr">
                    <a:lnL>
                      <a:noFill/>
                    </a:lnL>
                    <a:lnR>
                      <a:noFill/>
                    </a:lnR>
                    <a:lnT>
                      <a:noFill/>
                    </a:lnT>
                    <a:lnB>
                      <a:noFill/>
                    </a:lnB>
                    <a:solidFill>
                      <a:schemeClr val="accent4">
                        <a:lumMod val="60000"/>
                        <a:lumOff val="40000"/>
                      </a:schemeClr>
                    </a:solidFill>
                  </a:tcPr>
                </a:tc>
                <a:extLst>
                  <a:ext uri="{0D108BD9-81ED-4DB2-BD59-A6C34878D82A}">
                    <a16:rowId xmlns:a16="http://schemas.microsoft.com/office/drawing/2014/main" val="196659957"/>
                  </a:ext>
                </a:extLst>
              </a:tr>
              <a:tr h="0">
                <a:tc>
                  <a:txBody>
                    <a:bodyPr/>
                    <a:lstStyle/>
                    <a:p>
                      <a:pPr>
                        <a:buNone/>
                      </a:pPr>
                      <a:r>
                        <a:rPr lang="en-US" sz="2200" dirty="0"/>
                        <a:t>LOCAL S0/0/0 (DCE)</a:t>
                      </a:r>
                    </a:p>
                    <a:p>
                      <a:pPr>
                        <a:buNone/>
                      </a:pPr>
                      <a:endParaRPr lang="en-US" sz="2200" dirty="0"/>
                    </a:p>
                  </a:txBody>
                  <a:tcPr anchor="ctr">
                    <a:lnL>
                      <a:noFill/>
                    </a:lnL>
                    <a:lnR>
                      <a:noFill/>
                    </a:lnR>
                    <a:lnT>
                      <a:noFill/>
                    </a:lnT>
                    <a:lnB>
                      <a:noFill/>
                    </a:lnB>
                    <a:solidFill>
                      <a:schemeClr val="accent4">
                        <a:lumMod val="20000"/>
                        <a:lumOff val="80000"/>
                      </a:schemeClr>
                    </a:solidFill>
                  </a:tcPr>
                </a:tc>
                <a:tc>
                  <a:txBody>
                    <a:bodyPr/>
                    <a:lstStyle/>
                    <a:p>
                      <a:pPr>
                        <a:buNone/>
                      </a:pPr>
                      <a:r>
                        <a:rPr lang="en-US" sz="2200" dirty="0"/>
                        <a:t>ISP S0/0/0</a:t>
                      </a:r>
                    </a:p>
                    <a:p>
                      <a:pPr>
                        <a:buNone/>
                      </a:pPr>
                      <a:endParaRPr lang="en-US" sz="2200" dirty="0"/>
                    </a:p>
                  </a:txBody>
                  <a:tcPr anchor="ctr">
                    <a:lnL>
                      <a:noFill/>
                    </a:lnL>
                    <a:lnR>
                      <a:noFill/>
                    </a:lnR>
                    <a:lnT>
                      <a:noFill/>
                    </a:lnT>
                    <a:lnB>
                      <a:noFill/>
                    </a:lnB>
                    <a:solidFill>
                      <a:schemeClr val="accent4">
                        <a:lumMod val="20000"/>
                        <a:lumOff val="80000"/>
                      </a:schemeClr>
                    </a:solidFill>
                  </a:tcPr>
                </a:tc>
                <a:tc>
                  <a:txBody>
                    <a:bodyPr/>
                    <a:lstStyle/>
                    <a:p>
                      <a:pPr>
                        <a:buNone/>
                      </a:pPr>
                      <a:r>
                        <a:rPr lang="en-US" sz="2200" dirty="0"/>
                        <a:t>Serial DCE</a:t>
                      </a:r>
                    </a:p>
                    <a:p>
                      <a:pPr>
                        <a:buNone/>
                      </a:pPr>
                      <a:endParaRPr lang="en-US" sz="2200"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224536664"/>
                  </a:ext>
                </a:extLst>
              </a:tr>
              <a:tr h="0">
                <a:tc>
                  <a:txBody>
                    <a:bodyPr/>
                    <a:lstStyle/>
                    <a:p>
                      <a:pPr>
                        <a:buNone/>
                      </a:pPr>
                      <a:r>
                        <a:rPr lang="en-US" sz="2200"/>
                        <a:t>ISP S0/0/1 (DCE)</a:t>
                      </a:r>
                    </a:p>
                    <a:p>
                      <a:pPr>
                        <a:buNone/>
                      </a:pPr>
                      <a:endParaRPr lang="en-US" sz="2200"/>
                    </a:p>
                  </a:txBody>
                  <a:tcPr anchor="ctr">
                    <a:lnL>
                      <a:noFill/>
                    </a:lnL>
                    <a:lnR>
                      <a:noFill/>
                    </a:lnR>
                    <a:lnT>
                      <a:noFill/>
                    </a:lnT>
                    <a:lnB>
                      <a:noFill/>
                    </a:lnB>
                    <a:solidFill>
                      <a:schemeClr val="accent4">
                        <a:lumMod val="20000"/>
                        <a:lumOff val="80000"/>
                      </a:schemeClr>
                    </a:solidFill>
                  </a:tcPr>
                </a:tc>
                <a:tc>
                  <a:txBody>
                    <a:bodyPr/>
                    <a:lstStyle/>
                    <a:p>
                      <a:pPr>
                        <a:buNone/>
                      </a:pPr>
                      <a:r>
                        <a:rPr lang="en-US" sz="2200" dirty="0"/>
                        <a:t>REMOTE S0/0/1</a:t>
                      </a:r>
                    </a:p>
                    <a:p>
                      <a:pPr>
                        <a:buNone/>
                      </a:pPr>
                      <a:endParaRPr lang="en-US" sz="2200" dirty="0"/>
                    </a:p>
                  </a:txBody>
                  <a:tcPr anchor="ctr">
                    <a:lnL>
                      <a:noFill/>
                    </a:lnL>
                    <a:lnR>
                      <a:noFill/>
                    </a:lnR>
                    <a:lnT>
                      <a:noFill/>
                    </a:lnT>
                    <a:lnB>
                      <a:noFill/>
                    </a:lnB>
                    <a:solidFill>
                      <a:schemeClr val="accent4">
                        <a:lumMod val="20000"/>
                        <a:lumOff val="80000"/>
                      </a:schemeClr>
                    </a:solidFill>
                  </a:tcPr>
                </a:tc>
                <a:tc>
                  <a:txBody>
                    <a:bodyPr/>
                    <a:lstStyle/>
                    <a:p>
                      <a:pPr>
                        <a:buNone/>
                      </a:pPr>
                      <a:r>
                        <a:rPr lang="en-US" sz="2200"/>
                        <a:t>Serial DCE</a:t>
                      </a:r>
                    </a:p>
                    <a:p>
                      <a:pPr>
                        <a:buNone/>
                      </a:pPr>
                      <a:endParaRPr lang="en-US" sz="220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798772166"/>
                  </a:ext>
                </a:extLst>
              </a:tr>
              <a:tr h="0">
                <a:tc>
                  <a:txBody>
                    <a:bodyPr/>
                    <a:lstStyle/>
                    <a:p>
                      <a:pPr>
                        <a:buNone/>
                      </a:pPr>
                      <a:r>
                        <a:rPr lang="en-US" sz="2200"/>
                        <a:t>LOCAL G0/1</a:t>
                      </a:r>
                    </a:p>
                    <a:p>
                      <a:pPr>
                        <a:buNone/>
                      </a:pPr>
                      <a:endParaRPr lang="en-US" sz="2200"/>
                    </a:p>
                  </a:txBody>
                  <a:tcPr anchor="ctr">
                    <a:lnL>
                      <a:noFill/>
                    </a:lnL>
                    <a:lnR>
                      <a:noFill/>
                    </a:lnR>
                    <a:lnT>
                      <a:noFill/>
                    </a:lnT>
                    <a:lnB>
                      <a:noFill/>
                    </a:lnB>
                    <a:solidFill>
                      <a:schemeClr val="accent4">
                        <a:lumMod val="20000"/>
                        <a:lumOff val="80000"/>
                      </a:schemeClr>
                    </a:solidFill>
                  </a:tcPr>
                </a:tc>
                <a:tc>
                  <a:txBody>
                    <a:bodyPr/>
                    <a:lstStyle/>
                    <a:p>
                      <a:pPr>
                        <a:buNone/>
                      </a:pPr>
                      <a:r>
                        <a:rPr lang="en-US" sz="2200" dirty="0"/>
                        <a:t>S1 F0/5</a:t>
                      </a:r>
                    </a:p>
                    <a:p>
                      <a:pPr>
                        <a:buNone/>
                      </a:pPr>
                      <a:endParaRPr lang="en-US" sz="2200" dirty="0"/>
                    </a:p>
                  </a:txBody>
                  <a:tcPr anchor="ctr">
                    <a:lnL>
                      <a:noFill/>
                    </a:lnL>
                    <a:lnR>
                      <a:noFill/>
                    </a:lnR>
                    <a:lnT>
                      <a:noFill/>
                    </a:lnT>
                    <a:lnB>
                      <a:noFill/>
                    </a:lnB>
                    <a:solidFill>
                      <a:schemeClr val="accent4">
                        <a:lumMod val="20000"/>
                        <a:lumOff val="80000"/>
                      </a:schemeClr>
                    </a:solidFill>
                  </a:tcPr>
                </a:tc>
                <a:tc>
                  <a:txBody>
                    <a:bodyPr/>
                    <a:lstStyle/>
                    <a:p>
                      <a:pPr>
                        <a:buNone/>
                      </a:pPr>
                      <a:r>
                        <a:rPr lang="en-US" sz="2200"/>
                        <a:t>Copper Straight-Through</a:t>
                      </a:r>
                    </a:p>
                    <a:p>
                      <a:pPr>
                        <a:buNone/>
                      </a:pPr>
                      <a:endParaRPr lang="en-US" sz="220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44022915"/>
                  </a:ext>
                </a:extLst>
              </a:tr>
              <a:tr h="0">
                <a:tc>
                  <a:txBody>
                    <a:bodyPr/>
                    <a:lstStyle/>
                    <a:p>
                      <a:pPr>
                        <a:buNone/>
                      </a:pPr>
                      <a:r>
                        <a:rPr lang="en-US" sz="2200"/>
                        <a:t>S1 F0/6</a:t>
                      </a:r>
                    </a:p>
                    <a:p>
                      <a:pPr>
                        <a:buNone/>
                      </a:pPr>
                      <a:endParaRPr lang="en-US" sz="2200"/>
                    </a:p>
                  </a:txBody>
                  <a:tcPr anchor="ctr">
                    <a:lnL>
                      <a:noFill/>
                    </a:lnL>
                    <a:lnR>
                      <a:noFill/>
                    </a:lnR>
                    <a:lnT>
                      <a:noFill/>
                    </a:lnT>
                    <a:lnB>
                      <a:noFill/>
                    </a:lnB>
                    <a:solidFill>
                      <a:schemeClr val="accent4">
                        <a:lumMod val="20000"/>
                        <a:lumOff val="80000"/>
                      </a:schemeClr>
                    </a:solidFill>
                  </a:tcPr>
                </a:tc>
                <a:tc>
                  <a:txBody>
                    <a:bodyPr/>
                    <a:lstStyle/>
                    <a:p>
                      <a:pPr>
                        <a:buNone/>
                      </a:pPr>
                      <a:r>
                        <a:rPr lang="en-US" sz="2200" dirty="0"/>
                        <a:t>PC-A FastEthernet0</a:t>
                      </a:r>
                    </a:p>
                    <a:p>
                      <a:pPr>
                        <a:buNone/>
                      </a:pPr>
                      <a:endParaRPr lang="en-US" sz="2200" dirty="0"/>
                    </a:p>
                  </a:txBody>
                  <a:tcPr anchor="ctr">
                    <a:lnL>
                      <a:noFill/>
                    </a:lnL>
                    <a:lnR>
                      <a:noFill/>
                    </a:lnR>
                    <a:lnT>
                      <a:noFill/>
                    </a:lnT>
                    <a:lnB>
                      <a:noFill/>
                    </a:lnB>
                    <a:solidFill>
                      <a:schemeClr val="accent4">
                        <a:lumMod val="20000"/>
                        <a:lumOff val="80000"/>
                      </a:schemeClr>
                    </a:solidFill>
                  </a:tcPr>
                </a:tc>
                <a:tc>
                  <a:txBody>
                    <a:bodyPr/>
                    <a:lstStyle/>
                    <a:p>
                      <a:pPr>
                        <a:buNone/>
                      </a:pPr>
                      <a:r>
                        <a:rPr lang="en-US" sz="2200" dirty="0"/>
                        <a:t>Copper Straight-Through</a:t>
                      </a:r>
                    </a:p>
                    <a:p>
                      <a:pPr>
                        <a:buNone/>
                      </a:pPr>
                      <a:endParaRPr lang="en-US" sz="2200"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724104532"/>
                  </a:ext>
                </a:extLst>
              </a:tr>
              <a:tr h="0">
                <a:tc>
                  <a:txBody>
                    <a:bodyPr/>
                    <a:lstStyle/>
                    <a:p>
                      <a:pPr>
                        <a:buNone/>
                      </a:pPr>
                      <a:r>
                        <a:rPr lang="en-US" sz="2200"/>
                        <a:t>REMOTE G0/1</a:t>
                      </a:r>
                    </a:p>
                    <a:p>
                      <a:pPr>
                        <a:buNone/>
                      </a:pPr>
                      <a:endParaRPr lang="en-US" sz="2200"/>
                    </a:p>
                  </a:txBody>
                  <a:tcPr anchor="ctr">
                    <a:lnL>
                      <a:noFill/>
                    </a:lnL>
                    <a:lnR>
                      <a:noFill/>
                    </a:lnR>
                    <a:lnT>
                      <a:noFill/>
                    </a:lnT>
                    <a:lnB>
                      <a:noFill/>
                    </a:lnB>
                    <a:solidFill>
                      <a:schemeClr val="accent4">
                        <a:lumMod val="20000"/>
                        <a:lumOff val="80000"/>
                      </a:schemeClr>
                    </a:solidFill>
                  </a:tcPr>
                </a:tc>
                <a:tc>
                  <a:txBody>
                    <a:bodyPr/>
                    <a:lstStyle/>
                    <a:p>
                      <a:pPr>
                        <a:buNone/>
                      </a:pPr>
                      <a:r>
                        <a:rPr lang="en-US" sz="2200"/>
                        <a:t>S3 F0/5</a:t>
                      </a:r>
                    </a:p>
                    <a:p>
                      <a:pPr>
                        <a:buNone/>
                      </a:pPr>
                      <a:endParaRPr lang="en-US" sz="2200"/>
                    </a:p>
                  </a:txBody>
                  <a:tcPr anchor="ctr">
                    <a:lnL>
                      <a:noFill/>
                    </a:lnL>
                    <a:lnR>
                      <a:noFill/>
                    </a:lnR>
                    <a:lnT>
                      <a:noFill/>
                    </a:lnT>
                    <a:lnB>
                      <a:noFill/>
                    </a:lnB>
                    <a:solidFill>
                      <a:schemeClr val="accent4">
                        <a:lumMod val="20000"/>
                        <a:lumOff val="80000"/>
                      </a:schemeClr>
                    </a:solidFill>
                  </a:tcPr>
                </a:tc>
                <a:tc>
                  <a:txBody>
                    <a:bodyPr/>
                    <a:lstStyle/>
                    <a:p>
                      <a:pPr>
                        <a:buNone/>
                      </a:pPr>
                      <a:r>
                        <a:rPr lang="en-US" sz="2200" dirty="0"/>
                        <a:t>Copper Straight-Through</a:t>
                      </a:r>
                    </a:p>
                    <a:p>
                      <a:pPr>
                        <a:buNone/>
                      </a:pPr>
                      <a:endParaRPr lang="en-US" sz="2200"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787780045"/>
                  </a:ext>
                </a:extLst>
              </a:tr>
              <a:tr h="0">
                <a:tc>
                  <a:txBody>
                    <a:bodyPr/>
                    <a:lstStyle/>
                    <a:p>
                      <a:pPr>
                        <a:buNone/>
                      </a:pPr>
                      <a:r>
                        <a:rPr lang="en-US" sz="2200"/>
                        <a:t>S3 F0/6</a:t>
                      </a:r>
                    </a:p>
                    <a:p>
                      <a:pPr>
                        <a:buNone/>
                      </a:pPr>
                      <a:endParaRPr lang="en-US" sz="2200"/>
                    </a:p>
                  </a:txBody>
                  <a:tcPr anchor="ctr">
                    <a:lnL>
                      <a:noFill/>
                    </a:lnL>
                    <a:lnR>
                      <a:noFill/>
                    </a:lnR>
                    <a:lnT>
                      <a:noFill/>
                    </a:lnT>
                    <a:lnB>
                      <a:noFill/>
                    </a:lnB>
                    <a:solidFill>
                      <a:schemeClr val="accent4">
                        <a:lumMod val="20000"/>
                        <a:lumOff val="80000"/>
                      </a:schemeClr>
                    </a:solidFill>
                  </a:tcPr>
                </a:tc>
                <a:tc>
                  <a:txBody>
                    <a:bodyPr/>
                    <a:lstStyle/>
                    <a:p>
                      <a:pPr>
                        <a:buNone/>
                      </a:pPr>
                      <a:r>
                        <a:rPr lang="en-US" sz="2200"/>
                        <a:t>PC-C FastEthernet0</a:t>
                      </a:r>
                    </a:p>
                    <a:p>
                      <a:pPr>
                        <a:buNone/>
                      </a:pPr>
                      <a:endParaRPr lang="en-US" sz="2200"/>
                    </a:p>
                  </a:txBody>
                  <a:tcPr anchor="ctr">
                    <a:lnL>
                      <a:noFill/>
                    </a:lnL>
                    <a:lnR>
                      <a:noFill/>
                    </a:lnR>
                    <a:lnT>
                      <a:noFill/>
                    </a:lnT>
                    <a:lnB>
                      <a:noFill/>
                    </a:lnB>
                    <a:solidFill>
                      <a:schemeClr val="accent4">
                        <a:lumMod val="20000"/>
                        <a:lumOff val="80000"/>
                      </a:schemeClr>
                    </a:solidFill>
                  </a:tcPr>
                </a:tc>
                <a:tc>
                  <a:txBody>
                    <a:bodyPr/>
                    <a:lstStyle/>
                    <a:p>
                      <a:pPr>
                        <a:buNone/>
                      </a:pPr>
                      <a:r>
                        <a:rPr lang="en-US" sz="2200" dirty="0"/>
                        <a:t>Copper Straight-Through</a:t>
                      </a:r>
                    </a:p>
                    <a:p>
                      <a:pPr>
                        <a:buNone/>
                      </a:pPr>
                      <a:endParaRPr lang="en-US" sz="2200"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475100024"/>
                  </a:ext>
                </a:extLst>
              </a:tr>
            </a:tbl>
          </a:graphicData>
        </a:graphic>
      </p:graphicFrame>
      <p:sp>
        <p:nvSpPr>
          <p:cNvPr id="8" name="TextBox 7">
            <a:extLst>
              <a:ext uri="{FF2B5EF4-FFF2-40B4-BE49-F238E27FC236}">
                <a16:creationId xmlns:a16="http://schemas.microsoft.com/office/drawing/2014/main" id="{5CA95068-9AD2-F921-6499-97797E6FBC3D}"/>
              </a:ext>
            </a:extLst>
          </p:cNvPr>
          <p:cNvSpPr txBox="1"/>
          <p:nvPr/>
        </p:nvSpPr>
        <p:spPr>
          <a:xfrm>
            <a:off x="0" y="908476"/>
            <a:ext cx="6854313" cy="523220"/>
          </a:xfrm>
          <a:prstGeom prst="rect">
            <a:avLst/>
          </a:prstGeom>
          <a:noFill/>
        </p:spPr>
        <p:txBody>
          <a:bodyPr wrap="square">
            <a:spAutoFit/>
          </a:bodyPr>
          <a:lstStyle/>
          <a:p>
            <a:pPr>
              <a:buNone/>
            </a:pPr>
            <a:r>
              <a:rPr lang="en-US" sz="2800" b="1" dirty="0">
                <a:latin typeface="+mj-lt"/>
              </a:rPr>
              <a:t>Step 5: </a:t>
            </a:r>
            <a:r>
              <a:rPr lang="en-US" sz="2800" dirty="0">
                <a:latin typeface="+mj-lt"/>
              </a:rPr>
              <a:t>Connect the devices as follows.</a:t>
            </a:r>
          </a:p>
        </p:txBody>
      </p:sp>
    </p:spTree>
    <p:extLst>
      <p:ext uri="{BB962C8B-B14F-4D97-AF65-F5344CB8AC3E}">
        <p14:creationId xmlns:p14="http://schemas.microsoft.com/office/powerpoint/2010/main" val="1926656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0A17D-8ED8-1806-B57A-0727D19A1C2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806597C-8A27-CADE-04DE-4669EBCB8A4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E808EEDF-0C98-5F0E-383B-6AAAEE13837A}"/>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pic>
        <p:nvPicPr>
          <p:cNvPr id="8" name="Picture 7">
            <a:extLst>
              <a:ext uri="{FF2B5EF4-FFF2-40B4-BE49-F238E27FC236}">
                <a16:creationId xmlns:a16="http://schemas.microsoft.com/office/drawing/2014/main" id="{38D2E226-9B4B-1BC0-F9FE-742942584928}"/>
              </a:ext>
            </a:extLst>
          </p:cNvPr>
          <p:cNvPicPr>
            <a:picLocks noChangeAspect="1"/>
          </p:cNvPicPr>
          <p:nvPr/>
        </p:nvPicPr>
        <p:blipFill>
          <a:blip r:embed="rId2"/>
          <a:srcRect r="50000" b="5555"/>
          <a:stretch>
            <a:fillRect/>
          </a:stretch>
        </p:blipFill>
        <p:spPr>
          <a:xfrm>
            <a:off x="0" y="857249"/>
            <a:ext cx="5638800" cy="5991225"/>
          </a:xfrm>
          <a:prstGeom prst="rect">
            <a:avLst/>
          </a:prstGeom>
          <a:ln>
            <a:solidFill>
              <a:srgbClr val="FF0000"/>
            </a:solidFill>
          </a:ln>
        </p:spPr>
      </p:pic>
    </p:spTree>
    <p:extLst>
      <p:ext uri="{BB962C8B-B14F-4D97-AF65-F5344CB8AC3E}">
        <p14:creationId xmlns:p14="http://schemas.microsoft.com/office/powerpoint/2010/main" val="3417055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E054A-B718-BF85-34A3-C7D5E89B1CA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782DE00-200C-3612-647B-FD8CB2D4FAB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6CC60ABD-301A-09B0-02DB-EF9AF318978C}"/>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4" name="TextBox 3">
            <a:extLst>
              <a:ext uri="{FF2B5EF4-FFF2-40B4-BE49-F238E27FC236}">
                <a16:creationId xmlns:a16="http://schemas.microsoft.com/office/drawing/2014/main" id="{4065061F-5A23-B609-712B-8E64C1DDA950}"/>
              </a:ext>
            </a:extLst>
          </p:cNvPr>
          <p:cNvSpPr txBox="1"/>
          <p:nvPr/>
        </p:nvSpPr>
        <p:spPr>
          <a:xfrm>
            <a:off x="0" y="1066800"/>
            <a:ext cx="8981768" cy="3903504"/>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sz="2800" dirty="0">
                <a:latin typeface="+mj-lt"/>
              </a:rPr>
              <a:t>Select Connections → Serial DCE (red zigzag cable with a clock).</a:t>
            </a:r>
          </a:p>
          <a:p>
            <a:pPr marL="342900" indent="-342900">
              <a:lnSpc>
                <a:spcPct val="150000"/>
              </a:lnSpc>
              <a:buFont typeface="Arial" panose="020B0604020202020204" pitchFamily="34" charset="0"/>
              <a:buChar char="•"/>
            </a:pPr>
            <a:r>
              <a:rPr lang="en-US" sz="2800" dirty="0">
                <a:latin typeface="+mj-lt"/>
              </a:rPr>
              <a:t>Click LOCAL first and </a:t>
            </a:r>
            <a:br>
              <a:rPr lang="en-US" sz="2800" dirty="0">
                <a:latin typeface="+mj-lt"/>
              </a:rPr>
            </a:br>
            <a:r>
              <a:rPr lang="en-US" sz="2800" dirty="0">
                <a:latin typeface="+mj-lt"/>
              </a:rPr>
              <a:t>select Serial0/0/0.</a:t>
            </a:r>
          </a:p>
          <a:p>
            <a:pPr marL="342900" indent="-342900">
              <a:lnSpc>
                <a:spcPct val="150000"/>
              </a:lnSpc>
              <a:buFont typeface="Arial" panose="020B0604020202020204" pitchFamily="34" charset="0"/>
              <a:buChar char="•"/>
            </a:pPr>
            <a:r>
              <a:rPr lang="en-US" sz="2800" dirty="0">
                <a:latin typeface="+mj-lt"/>
              </a:rPr>
              <a:t>Click ISP and select </a:t>
            </a:r>
            <a:br>
              <a:rPr lang="en-US" sz="2800" dirty="0">
                <a:latin typeface="+mj-lt"/>
              </a:rPr>
            </a:br>
            <a:r>
              <a:rPr lang="en-US" sz="2800" dirty="0">
                <a:latin typeface="+mj-lt"/>
              </a:rPr>
              <a:t>Serial0/0/0.</a:t>
            </a:r>
          </a:p>
        </p:txBody>
      </p:sp>
      <p:pic>
        <p:nvPicPr>
          <p:cNvPr id="6" name="Picture 5">
            <a:extLst>
              <a:ext uri="{FF2B5EF4-FFF2-40B4-BE49-F238E27FC236}">
                <a16:creationId xmlns:a16="http://schemas.microsoft.com/office/drawing/2014/main" id="{D2185750-B7C2-2C2F-F95D-557646D4D63A}"/>
              </a:ext>
            </a:extLst>
          </p:cNvPr>
          <p:cNvPicPr>
            <a:picLocks noChangeAspect="1"/>
          </p:cNvPicPr>
          <p:nvPr/>
        </p:nvPicPr>
        <p:blipFill>
          <a:blip r:embed="rId2"/>
          <a:srcRect r="47500" b="7037"/>
          <a:stretch>
            <a:fillRect/>
          </a:stretch>
        </p:blipFill>
        <p:spPr>
          <a:xfrm>
            <a:off x="3962400" y="1680120"/>
            <a:ext cx="5166852" cy="5146349"/>
          </a:xfrm>
          <a:prstGeom prst="rect">
            <a:avLst/>
          </a:prstGeom>
          <a:ln>
            <a:solidFill>
              <a:srgbClr val="FF0000"/>
            </a:solidFill>
          </a:ln>
        </p:spPr>
      </p:pic>
    </p:spTree>
    <p:extLst>
      <p:ext uri="{BB962C8B-B14F-4D97-AF65-F5344CB8AC3E}">
        <p14:creationId xmlns:p14="http://schemas.microsoft.com/office/powerpoint/2010/main" val="1512206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59C68-C494-DC85-D640-A627022D953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C59945C-E402-2800-FA5E-CC7C2063492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6F52E683-7A8F-2175-DDE5-1E61EF2C19B5}"/>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4" name="TextBox 3">
            <a:extLst>
              <a:ext uri="{FF2B5EF4-FFF2-40B4-BE49-F238E27FC236}">
                <a16:creationId xmlns:a16="http://schemas.microsoft.com/office/drawing/2014/main" id="{0A8A8389-F76B-4D5A-5E9A-DD19B02A56FD}"/>
              </a:ext>
            </a:extLst>
          </p:cNvPr>
          <p:cNvSpPr txBox="1"/>
          <p:nvPr/>
        </p:nvSpPr>
        <p:spPr>
          <a:xfrm>
            <a:off x="0" y="1066800"/>
            <a:ext cx="8981768" cy="3257174"/>
          </a:xfrm>
          <a:prstGeom prst="rect">
            <a:avLst/>
          </a:prstGeom>
          <a:noFill/>
        </p:spPr>
        <p:txBody>
          <a:bodyPr wrap="square">
            <a:spAutoFit/>
          </a:bodyPr>
          <a:lstStyle/>
          <a:p>
            <a:pPr marL="457200" lvl="0" indent="-457200">
              <a:lnSpc>
                <a:spcPct val="150000"/>
              </a:lnSpc>
              <a:buFont typeface="Arial" panose="020B0604020202020204" pitchFamily="34" charset="0"/>
              <a:buChar char="•"/>
            </a:pPr>
            <a:r>
              <a:rPr lang="en-US" sz="2800" dirty="0">
                <a:latin typeface="+mj-lt"/>
              </a:rPr>
              <a:t>Open the REMOTE router → Physical tab.</a:t>
            </a:r>
          </a:p>
          <a:p>
            <a:pPr marL="457200" lvl="0" indent="-457200">
              <a:lnSpc>
                <a:spcPct val="150000"/>
              </a:lnSpc>
              <a:buFont typeface="Arial" panose="020B0604020202020204" pitchFamily="34" charset="0"/>
              <a:buChar char="•"/>
            </a:pPr>
            <a:r>
              <a:rPr lang="en-US" sz="2800" dirty="0">
                <a:latin typeface="+mj-lt"/>
              </a:rPr>
              <a:t>Turn off the router, verify</a:t>
            </a:r>
            <a:br>
              <a:rPr lang="en-US" sz="2800" dirty="0">
                <a:latin typeface="+mj-lt"/>
              </a:rPr>
            </a:br>
            <a:r>
              <a:rPr lang="en-US" sz="2800" dirty="0">
                <a:latin typeface="+mj-lt"/>
              </a:rPr>
              <a:t> that the HWIC-2T module</a:t>
            </a:r>
            <a:br>
              <a:rPr lang="en-US" sz="2800" dirty="0">
                <a:latin typeface="+mj-lt"/>
              </a:rPr>
            </a:br>
            <a:r>
              <a:rPr lang="en-US" sz="2800" dirty="0">
                <a:latin typeface="+mj-lt"/>
              </a:rPr>
              <a:t> is installed, and turn it </a:t>
            </a:r>
            <a:br>
              <a:rPr lang="en-US" sz="2800" dirty="0">
                <a:latin typeface="+mj-lt"/>
              </a:rPr>
            </a:br>
            <a:r>
              <a:rPr lang="en-US" sz="2800" dirty="0">
                <a:latin typeface="+mj-lt"/>
              </a:rPr>
              <a:t>back on.</a:t>
            </a:r>
          </a:p>
        </p:txBody>
      </p:sp>
      <p:pic>
        <p:nvPicPr>
          <p:cNvPr id="5" name="Picture 4">
            <a:extLst>
              <a:ext uri="{FF2B5EF4-FFF2-40B4-BE49-F238E27FC236}">
                <a16:creationId xmlns:a16="http://schemas.microsoft.com/office/drawing/2014/main" id="{FF939E98-2E55-F936-8441-D81351A53549}"/>
              </a:ext>
            </a:extLst>
          </p:cNvPr>
          <p:cNvPicPr>
            <a:picLocks noChangeAspect="1"/>
          </p:cNvPicPr>
          <p:nvPr/>
        </p:nvPicPr>
        <p:blipFill>
          <a:blip r:embed="rId2"/>
          <a:srcRect l="26667" t="4074" r="26667" b="12963"/>
          <a:stretch>
            <a:fillRect/>
          </a:stretch>
        </p:blipFill>
        <p:spPr>
          <a:xfrm>
            <a:off x="4419600" y="2102069"/>
            <a:ext cx="4724400" cy="4724400"/>
          </a:xfrm>
          <a:prstGeom prst="rect">
            <a:avLst/>
          </a:prstGeom>
          <a:ln>
            <a:solidFill>
              <a:srgbClr val="FF0000"/>
            </a:solidFill>
          </a:ln>
        </p:spPr>
      </p:pic>
    </p:spTree>
    <p:extLst>
      <p:ext uri="{BB962C8B-B14F-4D97-AF65-F5344CB8AC3E}">
        <p14:creationId xmlns:p14="http://schemas.microsoft.com/office/powerpoint/2010/main" val="1343178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60686-C584-633B-F48B-4DAD8BB02EF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7CD1A50-8AB1-FC82-63EA-4EC7638BA67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DF2B8CC2-4E6A-BFEC-1BDA-001A09C173C0}"/>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4" name="TextBox 3">
            <a:extLst>
              <a:ext uri="{FF2B5EF4-FFF2-40B4-BE49-F238E27FC236}">
                <a16:creationId xmlns:a16="http://schemas.microsoft.com/office/drawing/2014/main" id="{6C38C608-A7A0-2F95-5F74-681B68B3CC33}"/>
              </a:ext>
            </a:extLst>
          </p:cNvPr>
          <p:cNvSpPr txBox="1"/>
          <p:nvPr/>
        </p:nvSpPr>
        <p:spPr>
          <a:xfrm>
            <a:off x="0" y="838200"/>
            <a:ext cx="8981768" cy="3903504"/>
          </a:xfrm>
          <a:prstGeom prst="rect">
            <a:avLst/>
          </a:prstGeom>
          <a:noFill/>
        </p:spPr>
        <p:txBody>
          <a:bodyPr wrap="square">
            <a:spAutoFit/>
          </a:bodyPr>
          <a:lstStyle/>
          <a:p>
            <a:pPr marL="457200" lvl="0" indent="-457200">
              <a:lnSpc>
                <a:spcPct val="150000"/>
              </a:lnSpc>
              <a:buFont typeface="Arial" panose="020B0604020202020204" pitchFamily="34" charset="0"/>
              <a:buChar char="•"/>
            </a:pPr>
            <a:r>
              <a:rPr lang="en-US" sz="2800" dirty="0">
                <a:latin typeface="+mj-lt"/>
              </a:rPr>
              <a:t>Return to the Logical workspace.</a:t>
            </a:r>
          </a:p>
          <a:p>
            <a:pPr marL="457200" lvl="0" indent="-457200">
              <a:lnSpc>
                <a:spcPct val="150000"/>
              </a:lnSpc>
              <a:buFont typeface="Arial" panose="020B0604020202020204" pitchFamily="34" charset="0"/>
              <a:buChar char="•"/>
            </a:pPr>
            <a:r>
              <a:rPr lang="en-US" sz="2800" dirty="0">
                <a:latin typeface="+mj-lt"/>
              </a:rPr>
              <a:t>Select Connections → Serial DCE (red zigzag cable with a clock).</a:t>
            </a:r>
          </a:p>
          <a:p>
            <a:pPr marL="457200" lvl="0" indent="-457200">
              <a:lnSpc>
                <a:spcPct val="150000"/>
              </a:lnSpc>
              <a:buFont typeface="Arial" panose="020B0604020202020204" pitchFamily="34" charset="0"/>
              <a:buChar char="•"/>
            </a:pPr>
            <a:r>
              <a:rPr lang="en-US" sz="2800" dirty="0">
                <a:latin typeface="+mj-lt"/>
              </a:rPr>
              <a:t>Click ISP first and select Serial0/0/1.</a:t>
            </a:r>
          </a:p>
          <a:p>
            <a:pPr marL="457200" lvl="0" indent="-457200">
              <a:lnSpc>
                <a:spcPct val="150000"/>
              </a:lnSpc>
              <a:buFont typeface="Arial" panose="020B0604020202020204" pitchFamily="34" charset="0"/>
              <a:buChar char="•"/>
            </a:pPr>
            <a:r>
              <a:rPr lang="en-US" sz="2800" dirty="0">
                <a:latin typeface="+mj-lt"/>
              </a:rPr>
              <a:t>Click REMOTE and select </a:t>
            </a:r>
            <a:br>
              <a:rPr lang="en-US" sz="2800" dirty="0">
                <a:latin typeface="+mj-lt"/>
              </a:rPr>
            </a:br>
            <a:r>
              <a:rPr lang="en-US" sz="2800" dirty="0">
                <a:latin typeface="+mj-lt"/>
              </a:rPr>
              <a:t>Serial0/0/1.</a:t>
            </a:r>
          </a:p>
        </p:txBody>
      </p:sp>
      <p:pic>
        <p:nvPicPr>
          <p:cNvPr id="6" name="Picture 5">
            <a:extLst>
              <a:ext uri="{FF2B5EF4-FFF2-40B4-BE49-F238E27FC236}">
                <a16:creationId xmlns:a16="http://schemas.microsoft.com/office/drawing/2014/main" id="{335F80D1-F690-6B05-3185-F1CBA6130D6B}"/>
              </a:ext>
            </a:extLst>
          </p:cNvPr>
          <p:cNvPicPr>
            <a:picLocks noChangeAspect="1"/>
          </p:cNvPicPr>
          <p:nvPr/>
        </p:nvPicPr>
        <p:blipFill>
          <a:blip r:embed="rId2"/>
          <a:srcRect r="47500" b="32600"/>
          <a:stretch>
            <a:fillRect/>
          </a:stretch>
        </p:blipFill>
        <p:spPr>
          <a:xfrm>
            <a:off x="4343400" y="3429000"/>
            <a:ext cx="4800600" cy="3466724"/>
          </a:xfrm>
          <a:prstGeom prst="rect">
            <a:avLst/>
          </a:prstGeom>
          <a:ln>
            <a:solidFill>
              <a:srgbClr val="FF0000"/>
            </a:solidFill>
          </a:ln>
        </p:spPr>
      </p:pic>
    </p:spTree>
    <p:extLst>
      <p:ext uri="{BB962C8B-B14F-4D97-AF65-F5344CB8AC3E}">
        <p14:creationId xmlns:p14="http://schemas.microsoft.com/office/powerpoint/2010/main" val="2037985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22E36-F4E2-2862-E30C-223C186B1AC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AC3D196-5A55-AB9E-7FC4-0A645EF2E4B9}"/>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C15B89C9-7A87-6590-4648-4BFF9D18F06B}"/>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5" name="TextBox 4">
            <a:extLst>
              <a:ext uri="{FF2B5EF4-FFF2-40B4-BE49-F238E27FC236}">
                <a16:creationId xmlns:a16="http://schemas.microsoft.com/office/drawing/2014/main" id="{F6F3166E-9516-A421-0174-64E27123E9D1}"/>
              </a:ext>
            </a:extLst>
          </p:cNvPr>
          <p:cNvSpPr txBox="1"/>
          <p:nvPr/>
        </p:nvSpPr>
        <p:spPr>
          <a:xfrm>
            <a:off x="81116" y="934272"/>
            <a:ext cx="8981768" cy="1964512"/>
          </a:xfrm>
          <a:prstGeom prst="rect">
            <a:avLst/>
          </a:prstGeom>
          <a:noFill/>
        </p:spPr>
        <p:txBody>
          <a:bodyPr wrap="square">
            <a:spAutoFit/>
          </a:bodyPr>
          <a:lstStyle/>
          <a:p>
            <a:pPr>
              <a:lnSpc>
                <a:spcPct val="150000"/>
              </a:lnSpc>
              <a:buNone/>
            </a:pPr>
            <a:r>
              <a:rPr lang="en-US" sz="2800" dirty="0">
                <a:latin typeface="+mj-lt"/>
              </a:rPr>
              <a:t>For each serial connection, click the intended DCE router first. Check the actual DCE endpoint if the cable was attached differently.</a:t>
            </a:r>
          </a:p>
        </p:txBody>
      </p:sp>
      <p:sp>
        <p:nvSpPr>
          <p:cNvPr id="7" name="TextBox 6">
            <a:extLst>
              <a:ext uri="{FF2B5EF4-FFF2-40B4-BE49-F238E27FC236}">
                <a16:creationId xmlns:a16="http://schemas.microsoft.com/office/drawing/2014/main" id="{50F87CB2-737F-63F5-67F2-1BFB70F53304}"/>
              </a:ext>
            </a:extLst>
          </p:cNvPr>
          <p:cNvSpPr txBox="1"/>
          <p:nvPr/>
        </p:nvSpPr>
        <p:spPr>
          <a:xfrm>
            <a:off x="0" y="2924580"/>
            <a:ext cx="9018639" cy="3257174"/>
          </a:xfrm>
          <a:prstGeom prst="rect">
            <a:avLst/>
          </a:prstGeom>
          <a:noFill/>
        </p:spPr>
        <p:txBody>
          <a:bodyPr wrap="square">
            <a:spAutoFit/>
          </a:bodyPr>
          <a:lstStyle/>
          <a:p>
            <a:pPr>
              <a:lnSpc>
                <a:spcPct val="150000"/>
              </a:lnSpc>
              <a:buNone/>
            </a:pPr>
            <a:r>
              <a:rPr lang="en-US" sz="2800" dirty="0">
                <a:latin typeface="+mj-lt"/>
              </a:rPr>
              <a:t>Why: A router must have an appropriate interface before a serial connection can be established. The DCE end provides the clocking needed for the serial link.</a:t>
            </a:r>
          </a:p>
          <a:p>
            <a:pPr>
              <a:lnSpc>
                <a:spcPct val="150000"/>
              </a:lnSpc>
              <a:buNone/>
            </a:pPr>
            <a:r>
              <a:rPr lang="en-US" sz="2800" dirty="0">
                <a:latin typeface="+mj-lt"/>
              </a:rPr>
              <a:t>Expected result: Seven devices connected by six cables. Router interfaces may initially be down until configured.</a:t>
            </a:r>
          </a:p>
        </p:txBody>
      </p:sp>
    </p:spTree>
    <p:extLst>
      <p:ext uri="{BB962C8B-B14F-4D97-AF65-F5344CB8AC3E}">
        <p14:creationId xmlns:p14="http://schemas.microsoft.com/office/powerpoint/2010/main" val="4284739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663C1-7DB9-48A7-864F-9B7C0641998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5048A25-21B9-4A1B-445D-C5BAE37483F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74A5D874-5254-62C4-64DF-D708A59B9C57}"/>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5" name="TextBox 4">
            <a:extLst>
              <a:ext uri="{FF2B5EF4-FFF2-40B4-BE49-F238E27FC236}">
                <a16:creationId xmlns:a16="http://schemas.microsoft.com/office/drawing/2014/main" id="{732EB911-1C48-7FB0-82C4-5AFC1B3E3EF3}"/>
              </a:ext>
            </a:extLst>
          </p:cNvPr>
          <p:cNvSpPr txBox="1"/>
          <p:nvPr/>
        </p:nvSpPr>
        <p:spPr>
          <a:xfrm>
            <a:off x="81116" y="934272"/>
            <a:ext cx="8981768" cy="669094"/>
          </a:xfrm>
          <a:prstGeom prst="rect">
            <a:avLst/>
          </a:prstGeom>
          <a:noFill/>
        </p:spPr>
        <p:txBody>
          <a:bodyPr wrap="square">
            <a:spAutoFit/>
          </a:bodyPr>
          <a:lstStyle/>
          <a:p>
            <a:pPr>
              <a:lnSpc>
                <a:spcPct val="150000"/>
              </a:lnSpc>
              <a:buNone/>
            </a:pPr>
            <a:r>
              <a:rPr lang="en-US" sz="2800" dirty="0">
                <a:latin typeface="+mj-lt"/>
              </a:rPr>
              <a:t>All devices should be turn on</a:t>
            </a:r>
          </a:p>
        </p:txBody>
      </p:sp>
      <p:pic>
        <p:nvPicPr>
          <p:cNvPr id="4" name="Picture 3">
            <a:extLst>
              <a:ext uri="{FF2B5EF4-FFF2-40B4-BE49-F238E27FC236}">
                <a16:creationId xmlns:a16="http://schemas.microsoft.com/office/drawing/2014/main" id="{DB9156D6-B0FA-824B-DDE6-676082B02AB7}"/>
              </a:ext>
            </a:extLst>
          </p:cNvPr>
          <p:cNvPicPr>
            <a:picLocks noChangeAspect="1"/>
          </p:cNvPicPr>
          <p:nvPr/>
        </p:nvPicPr>
        <p:blipFill>
          <a:blip r:embed="rId2"/>
          <a:srcRect b="11481"/>
          <a:stretch>
            <a:fillRect/>
          </a:stretch>
        </p:blipFill>
        <p:spPr>
          <a:xfrm>
            <a:off x="81116" y="1887839"/>
            <a:ext cx="9144000" cy="4552950"/>
          </a:xfrm>
          <a:prstGeom prst="rect">
            <a:avLst/>
          </a:prstGeom>
        </p:spPr>
      </p:pic>
    </p:spTree>
    <p:extLst>
      <p:ext uri="{BB962C8B-B14F-4D97-AF65-F5344CB8AC3E}">
        <p14:creationId xmlns:p14="http://schemas.microsoft.com/office/powerpoint/2010/main" val="293652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7AE66-5CF0-5801-F958-891AF65C133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035151B-E573-A793-AFDC-392BD43BF33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BFAC3DAC-38CD-4C89-0694-E92071EC0645}"/>
              </a:ext>
            </a:extLst>
          </p:cNvPr>
          <p:cNvSpPr txBox="1"/>
          <p:nvPr/>
        </p:nvSpPr>
        <p:spPr>
          <a:xfrm>
            <a:off x="-36871" y="385256"/>
            <a:ext cx="8981768" cy="523220"/>
          </a:xfrm>
          <a:prstGeom prst="rect">
            <a:avLst/>
          </a:prstGeom>
          <a:noFill/>
        </p:spPr>
        <p:txBody>
          <a:bodyPr wrap="square">
            <a:spAutoFit/>
          </a:bodyPr>
          <a:lstStyle/>
          <a:p>
            <a:pPr>
              <a:lnSpc>
                <a:spcPct val="100000"/>
              </a:lnSpc>
              <a:buNone/>
            </a:pPr>
            <a:r>
              <a:rPr lang="en-US" sz="2800" b="1" dirty="0">
                <a:latin typeface="+mj-lt"/>
              </a:rPr>
              <a:t>Instructor demonstration – Tasks 1–5</a:t>
            </a:r>
          </a:p>
        </p:txBody>
      </p:sp>
      <p:sp>
        <p:nvSpPr>
          <p:cNvPr id="5" name="TextBox 4">
            <a:extLst>
              <a:ext uri="{FF2B5EF4-FFF2-40B4-BE49-F238E27FC236}">
                <a16:creationId xmlns:a16="http://schemas.microsoft.com/office/drawing/2014/main" id="{EA688E30-06A0-FD9A-9877-962747183F0B}"/>
              </a:ext>
            </a:extLst>
          </p:cNvPr>
          <p:cNvSpPr txBox="1"/>
          <p:nvPr/>
        </p:nvSpPr>
        <p:spPr>
          <a:xfrm>
            <a:off x="81116" y="934272"/>
            <a:ext cx="8981768" cy="669094"/>
          </a:xfrm>
          <a:prstGeom prst="rect">
            <a:avLst/>
          </a:prstGeom>
          <a:noFill/>
        </p:spPr>
        <p:txBody>
          <a:bodyPr wrap="square">
            <a:spAutoFit/>
          </a:bodyPr>
          <a:lstStyle/>
          <a:p>
            <a:pPr>
              <a:lnSpc>
                <a:spcPct val="150000"/>
              </a:lnSpc>
              <a:buNone/>
            </a:pPr>
            <a:r>
              <a:rPr lang="en-US" sz="2800" dirty="0">
                <a:latin typeface="+mj-lt"/>
              </a:rPr>
              <a:t>All devices should be turn on</a:t>
            </a:r>
          </a:p>
        </p:txBody>
      </p:sp>
      <p:pic>
        <p:nvPicPr>
          <p:cNvPr id="8" name="Picture 7">
            <a:extLst>
              <a:ext uri="{FF2B5EF4-FFF2-40B4-BE49-F238E27FC236}">
                <a16:creationId xmlns:a16="http://schemas.microsoft.com/office/drawing/2014/main" id="{5AEFE6DC-2B4A-134E-0CE4-D07B063F04C6}"/>
              </a:ext>
            </a:extLst>
          </p:cNvPr>
          <p:cNvPicPr>
            <a:picLocks noChangeAspect="1"/>
          </p:cNvPicPr>
          <p:nvPr/>
        </p:nvPicPr>
        <p:blipFill>
          <a:blip r:embed="rId2"/>
          <a:srcRect b="14445"/>
          <a:stretch>
            <a:fillRect/>
          </a:stretch>
        </p:blipFill>
        <p:spPr>
          <a:xfrm>
            <a:off x="0" y="2054988"/>
            <a:ext cx="9144000" cy="4400550"/>
          </a:xfrm>
          <a:prstGeom prst="rect">
            <a:avLst/>
          </a:prstGeom>
        </p:spPr>
      </p:pic>
    </p:spTree>
    <p:extLst>
      <p:ext uri="{BB962C8B-B14F-4D97-AF65-F5344CB8AC3E}">
        <p14:creationId xmlns:p14="http://schemas.microsoft.com/office/powerpoint/2010/main" val="4019040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8F50-E8DB-EC0E-64CB-5772901E2E1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45AC07E-31D2-5F75-5256-5EBD0631694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014CC3BD-870E-CFEF-F70D-A262CC741426}"/>
              </a:ext>
            </a:extLst>
          </p:cNvPr>
          <p:cNvSpPr txBox="1"/>
          <p:nvPr/>
        </p:nvSpPr>
        <p:spPr>
          <a:xfrm>
            <a:off x="0" y="609600"/>
            <a:ext cx="8981768" cy="5842497"/>
          </a:xfrm>
          <a:prstGeom prst="rect">
            <a:avLst/>
          </a:prstGeom>
          <a:noFill/>
        </p:spPr>
        <p:txBody>
          <a:bodyPr wrap="square">
            <a:spAutoFit/>
          </a:bodyPr>
          <a:lstStyle/>
          <a:p>
            <a:pPr>
              <a:lnSpc>
                <a:spcPct val="150000"/>
              </a:lnSpc>
              <a:buNone/>
            </a:pPr>
            <a:r>
              <a:rPr lang="en-US" sz="2800" b="1" dirty="0">
                <a:latin typeface="+mj-lt"/>
              </a:rPr>
              <a:t>Task 1: Understanding Serial Clocking</a:t>
            </a:r>
          </a:p>
          <a:p>
            <a:pPr>
              <a:lnSpc>
                <a:spcPct val="150000"/>
              </a:lnSpc>
              <a:buNone/>
            </a:pPr>
            <a:r>
              <a:rPr lang="en-US" sz="2800" dirty="0">
                <a:latin typeface="+mj-lt"/>
              </a:rPr>
              <a:t>A serial WAN link needs timing information so that devices can exchange bits correctly.</a:t>
            </a:r>
          </a:p>
          <a:p>
            <a:pPr>
              <a:lnSpc>
                <a:spcPct val="150000"/>
              </a:lnSpc>
              <a:buNone/>
            </a:pPr>
            <a:r>
              <a:rPr lang="en-US" sz="2800" dirty="0">
                <a:latin typeface="+mj-lt"/>
              </a:rPr>
              <a:t>On the LOCAL router:</a:t>
            </a:r>
          </a:p>
          <a:p>
            <a:pPr rtl="0">
              <a:lnSpc>
                <a:spcPct val="150000"/>
              </a:lnSpc>
              <a:buNone/>
            </a:pPr>
            <a:r>
              <a:rPr lang="en-US" sz="2800" dirty="0">
                <a:latin typeface="+mj-lt"/>
              </a:rPr>
              <a:t>enable</a:t>
            </a:r>
          </a:p>
          <a:p>
            <a:pPr rtl="0">
              <a:lnSpc>
                <a:spcPct val="150000"/>
              </a:lnSpc>
              <a:buNone/>
            </a:pPr>
            <a:r>
              <a:rPr lang="en-US" sz="2800" dirty="0">
                <a:latin typeface="+mj-lt"/>
              </a:rPr>
              <a:t>configure terminal</a:t>
            </a:r>
          </a:p>
          <a:p>
            <a:pPr rtl="0">
              <a:lnSpc>
                <a:spcPct val="150000"/>
              </a:lnSpc>
              <a:buNone/>
            </a:pPr>
            <a:r>
              <a:rPr lang="en-US" sz="2800" dirty="0">
                <a:latin typeface="+mj-lt"/>
              </a:rPr>
              <a:t>interface serial 0/0/0</a:t>
            </a:r>
          </a:p>
          <a:p>
            <a:pPr rtl="0">
              <a:lnSpc>
                <a:spcPct val="150000"/>
              </a:lnSpc>
              <a:buNone/>
            </a:pPr>
            <a:r>
              <a:rPr lang="en-US" sz="2800" dirty="0">
                <a:latin typeface="+mj-lt"/>
              </a:rPr>
              <a:t>clock rate 56000</a:t>
            </a:r>
          </a:p>
          <a:p>
            <a:pPr rtl="0">
              <a:lnSpc>
                <a:spcPct val="150000"/>
              </a:lnSpc>
              <a:buNone/>
            </a:pPr>
            <a:r>
              <a:rPr lang="en-US" sz="2800" dirty="0">
                <a:latin typeface="+mj-lt"/>
              </a:rPr>
              <a:t>no shutdown</a:t>
            </a:r>
          </a:p>
        </p:txBody>
      </p:sp>
      <p:pic>
        <p:nvPicPr>
          <p:cNvPr id="7" name="Picture 6">
            <a:extLst>
              <a:ext uri="{FF2B5EF4-FFF2-40B4-BE49-F238E27FC236}">
                <a16:creationId xmlns:a16="http://schemas.microsoft.com/office/drawing/2014/main" id="{CEA77940-8419-F205-1173-B3D1C37EADC8}"/>
              </a:ext>
            </a:extLst>
          </p:cNvPr>
          <p:cNvPicPr>
            <a:picLocks noChangeAspect="1"/>
          </p:cNvPicPr>
          <p:nvPr/>
        </p:nvPicPr>
        <p:blipFill>
          <a:blip r:embed="rId2"/>
          <a:srcRect l="26290" t="3978" r="27501" b="14445"/>
          <a:stretch>
            <a:fillRect/>
          </a:stretch>
        </p:blipFill>
        <p:spPr>
          <a:xfrm>
            <a:off x="4191001" y="1905000"/>
            <a:ext cx="4953000" cy="4918424"/>
          </a:xfrm>
          <a:prstGeom prst="rect">
            <a:avLst/>
          </a:prstGeom>
          <a:ln>
            <a:solidFill>
              <a:srgbClr val="FF0000"/>
            </a:solidFill>
          </a:ln>
        </p:spPr>
      </p:pic>
    </p:spTree>
    <p:extLst>
      <p:ext uri="{BB962C8B-B14F-4D97-AF65-F5344CB8AC3E}">
        <p14:creationId xmlns:p14="http://schemas.microsoft.com/office/powerpoint/2010/main" val="2776361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C359E-FF71-3336-21E5-61E09D6EBEC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032E424-60FE-1DE8-1624-EB2899F50622}"/>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DE4AE868-ABA3-9B97-CBE8-897C8DB35254}"/>
              </a:ext>
            </a:extLst>
          </p:cNvPr>
          <p:cNvSpPr txBox="1"/>
          <p:nvPr/>
        </p:nvSpPr>
        <p:spPr>
          <a:xfrm>
            <a:off x="0" y="1066800"/>
            <a:ext cx="8981768" cy="5196166"/>
          </a:xfrm>
          <a:prstGeom prst="rect">
            <a:avLst/>
          </a:prstGeom>
          <a:noFill/>
        </p:spPr>
        <p:txBody>
          <a:bodyPr wrap="square">
            <a:spAutoFit/>
          </a:bodyPr>
          <a:lstStyle/>
          <a:p>
            <a:pPr>
              <a:lnSpc>
                <a:spcPct val="150000"/>
              </a:lnSpc>
              <a:buNone/>
            </a:pPr>
            <a:r>
              <a:rPr lang="en-US" sz="2800" b="1" dirty="0">
                <a:latin typeface="+mj-lt"/>
              </a:rPr>
              <a:t>Configure the LOCAL router</a:t>
            </a:r>
          </a:p>
          <a:p>
            <a:pPr>
              <a:lnSpc>
                <a:spcPct val="150000"/>
              </a:lnSpc>
              <a:buNone/>
            </a:pPr>
            <a:r>
              <a:rPr lang="en-US" sz="2800" b="1" dirty="0">
                <a:latin typeface="+mj-lt"/>
              </a:rPr>
              <a:t>1. Skip the initial configuration dialog</a:t>
            </a:r>
          </a:p>
          <a:p>
            <a:pPr>
              <a:lnSpc>
                <a:spcPct val="150000"/>
              </a:lnSpc>
              <a:buNone/>
            </a:pPr>
            <a:r>
              <a:rPr lang="en-US" sz="2800" dirty="0">
                <a:latin typeface="+mj-lt"/>
              </a:rPr>
              <a:t>Type:</a:t>
            </a:r>
          </a:p>
          <a:p>
            <a:pPr rtl="0">
              <a:lnSpc>
                <a:spcPct val="150000"/>
              </a:lnSpc>
              <a:buNone/>
            </a:pPr>
            <a:r>
              <a:rPr lang="en-US" sz="2800" dirty="0">
                <a:latin typeface="+mj-lt"/>
              </a:rPr>
              <a:t>no</a:t>
            </a:r>
          </a:p>
          <a:p>
            <a:pPr>
              <a:lnSpc>
                <a:spcPct val="150000"/>
              </a:lnSpc>
              <a:buNone/>
            </a:pPr>
            <a:r>
              <a:rPr lang="en-US" sz="2800" dirty="0">
                <a:latin typeface="+mj-lt"/>
              </a:rPr>
              <a:t>Press Enter.</a:t>
            </a:r>
          </a:p>
          <a:p>
            <a:pPr>
              <a:lnSpc>
                <a:spcPct val="150000"/>
              </a:lnSpc>
              <a:buNone/>
            </a:pPr>
            <a:r>
              <a:rPr lang="en-US" sz="2800" dirty="0">
                <a:latin typeface="+mj-lt"/>
              </a:rPr>
              <a:t>If you see:</a:t>
            </a:r>
          </a:p>
          <a:p>
            <a:pPr rtl="0">
              <a:lnSpc>
                <a:spcPct val="150000"/>
              </a:lnSpc>
              <a:buNone/>
            </a:pPr>
            <a:r>
              <a:rPr lang="en-US" sz="2800" dirty="0">
                <a:latin typeface="+mj-lt"/>
              </a:rPr>
              <a:t>Press RETURN to get started!</a:t>
            </a:r>
          </a:p>
          <a:p>
            <a:pPr>
              <a:lnSpc>
                <a:spcPct val="150000"/>
              </a:lnSpc>
              <a:buNone/>
            </a:pPr>
            <a:r>
              <a:rPr lang="en-US" sz="2800" dirty="0">
                <a:latin typeface="+mj-lt"/>
              </a:rPr>
              <a:t>Press Enter again.</a:t>
            </a:r>
          </a:p>
        </p:txBody>
      </p:sp>
      <p:pic>
        <p:nvPicPr>
          <p:cNvPr id="7" name="Picture 6">
            <a:extLst>
              <a:ext uri="{FF2B5EF4-FFF2-40B4-BE49-F238E27FC236}">
                <a16:creationId xmlns:a16="http://schemas.microsoft.com/office/drawing/2014/main" id="{BB3E45BE-65DE-529B-EA48-FA6777AFCC5A}"/>
              </a:ext>
            </a:extLst>
          </p:cNvPr>
          <p:cNvPicPr>
            <a:picLocks noChangeAspect="1"/>
          </p:cNvPicPr>
          <p:nvPr/>
        </p:nvPicPr>
        <p:blipFill>
          <a:blip r:embed="rId2"/>
          <a:srcRect l="26291" t="3405" r="25833" b="12964"/>
          <a:stretch>
            <a:fillRect/>
          </a:stretch>
        </p:blipFill>
        <p:spPr>
          <a:xfrm>
            <a:off x="4748981" y="2495359"/>
            <a:ext cx="4377813" cy="4301613"/>
          </a:xfrm>
          <a:prstGeom prst="rect">
            <a:avLst/>
          </a:prstGeom>
          <a:ln>
            <a:solidFill>
              <a:srgbClr val="FF0000"/>
            </a:solidFill>
          </a:ln>
        </p:spPr>
      </p:pic>
    </p:spTree>
    <p:extLst>
      <p:ext uri="{BB962C8B-B14F-4D97-AF65-F5344CB8AC3E}">
        <p14:creationId xmlns:p14="http://schemas.microsoft.com/office/powerpoint/2010/main" val="1875363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EF48B-9858-C383-8472-A35186299AF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A06E201-731A-9668-B0DB-BFAE310297E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550ACE0B-1764-C88B-04C2-B40BF1FB9E24}"/>
              </a:ext>
            </a:extLst>
          </p:cNvPr>
          <p:cNvSpPr txBox="1"/>
          <p:nvPr/>
        </p:nvSpPr>
        <p:spPr>
          <a:xfrm>
            <a:off x="0" y="1066800"/>
            <a:ext cx="8981768" cy="1318181"/>
          </a:xfrm>
          <a:prstGeom prst="rect">
            <a:avLst/>
          </a:prstGeom>
          <a:noFill/>
        </p:spPr>
        <p:txBody>
          <a:bodyPr wrap="square">
            <a:spAutoFit/>
          </a:bodyPr>
          <a:lstStyle/>
          <a:p>
            <a:pPr>
              <a:lnSpc>
                <a:spcPct val="150000"/>
              </a:lnSpc>
            </a:pPr>
            <a:r>
              <a:rPr lang="en-US" sz="2800" dirty="0">
                <a:latin typeface="+mj-lt"/>
              </a:rPr>
              <a:t>You should see:</a:t>
            </a:r>
          </a:p>
          <a:p>
            <a:pPr rtl="0">
              <a:lnSpc>
                <a:spcPct val="150000"/>
              </a:lnSpc>
            </a:pPr>
            <a:r>
              <a:rPr lang="en-US" sz="2800" dirty="0">
                <a:latin typeface="+mj-lt"/>
              </a:rPr>
              <a:t>Router&gt;</a:t>
            </a:r>
          </a:p>
        </p:txBody>
      </p:sp>
      <p:pic>
        <p:nvPicPr>
          <p:cNvPr id="7" name="Picture 6">
            <a:extLst>
              <a:ext uri="{FF2B5EF4-FFF2-40B4-BE49-F238E27FC236}">
                <a16:creationId xmlns:a16="http://schemas.microsoft.com/office/drawing/2014/main" id="{4F6ECBE4-0291-7938-8F5E-E95A873A5FB4}"/>
              </a:ext>
            </a:extLst>
          </p:cNvPr>
          <p:cNvPicPr>
            <a:picLocks noChangeAspect="1"/>
          </p:cNvPicPr>
          <p:nvPr/>
        </p:nvPicPr>
        <p:blipFill>
          <a:blip r:embed="rId2"/>
          <a:srcRect l="26291" t="3405" r="25833" b="12964"/>
          <a:stretch>
            <a:fillRect/>
          </a:stretch>
        </p:blipFill>
        <p:spPr>
          <a:xfrm>
            <a:off x="4748981" y="2495359"/>
            <a:ext cx="4377813" cy="4301613"/>
          </a:xfrm>
          <a:prstGeom prst="rect">
            <a:avLst/>
          </a:prstGeom>
          <a:ln>
            <a:solidFill>
              <a:srgbClr val="FF0000"/>
            </a:solidFill>
          </a:ln>
        </p:spPr>
      </p:pic>
    </p:spTree>
    <p:extLst>
      <p:ext uri="{BB962C8B-B14F-4D97-AF65-F5344CB8AC3E}">
        <p14:creationId xmlns:p14="http://schemas.microsoft.com/office/powerpoint/2010/main" val="393815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627DE-7B04-45F3-DFF3-14F0D3CF790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35425AC-5D93-C927-132B-CEB85772FBE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A76430B7-565C-07F5-8D95-D26A16E3C0EF}"/>
              </a:ext>
            </a:extLst>
          </p:cNvPr>
          <p:cNvSpPr txBox="1"/>
          <p:nvPr/>
        </p:nvSpPr>
        <p:spPr>
          <a:xfrm>
            <a:off x="0" y="1066800"/>
            <a:ext cx="8981768" cy="5196166"/>
          </a:xfrm>
          <a:prstGeom prst="rect">
            <a:avLst/>
          </a:prstGeom>
          <a:noFill/>
        </p:spPr>
        <p:txBody>
          <a:bodyPr wrap="square">
            <a:spAutoFit/>
          </a:bodyPr>
          <a:lstStyle/>
          <a:p>
            <a:pPr>
              <a:lnSpc>
                <a:spcPct val="150000"/>
              </a:lnSpc>
            </a:pPr>
            <a:r>
              <a:rPr lang="en-US" sz="2800" b="1" dirty="0">
                <a:latin typeface="+mj-lt"/>
              </a:rPr>
              <a:t>Enter privileged EXEC mode</a:t>
            </a:r>
          </a:p>
          <a:p>
            <a:pPr>
              <a:lnSpc>
                <a:spcPct val="150000"/>
              </a:lnSpc>
            </a:pPr>
            <a:r>
              <a:rPr lang="en-US" sz="2800" dirty="0">
                <a:latin typeface="+mj-lt"/>
              </a:rPr>
              <a:t>Type:</a:t>
            </a:r>
          </a:p>
          <a:p>
            <a:pPr rtl="0">
              <a:lnSpc>
                <a:spcPct val="150000"/>
              </a:lnSpc>
            </a:pPr>
            <a:r>
              <a:rPr lang="en-US" sz="2800" dirty="0">
                <a:latin typeface="+mj-lt"/>
              </a:rPr>
              <a:t>enable</a:t>
            </a:r>
          </a:p>
          <a:p>
            <a:pPr>
              <a:lnSpc>
                <a:spcPct val="150000"/>
              </a:lnSpc>
            </a:pPr>
            <a:r>
              <a:rPr lang="en-US" sz="2800" dirty="0">
                <a:latin typeface="+mj-lt"/>
              </a:rPr>
              <a:t>The prompt changes:</a:t>
            </a:r>
          </a:p>
          <a:p>
            <a:pPr rtl="0">
              <a:lnSpc>
                <a:spcPct val="150000"/>
              </a:lnSpc>
            </a:pPr>
            <a:r>
              <a:rPr lang="en-US" sz="2800" dirty="0">
                <a:latin typeface="+mj-lt"/>
              </a:rPr>
              <a:t>Router#</a:t>
            </a:r>
          </a:p>
          <a:p>
            <a:pPr>
              <a:lnSpc>
                <a:spcPct val="150000"/>
              </a:lnSpc>
            </a:pPr>
            <a:r>
              <a:rPr lang="en-US" sz="2800" dirty="0">
                <a:latin typeface="+mj-lt"/>
              </a:rPr>
              <a:t>Why? This mode gives you</a:t>
            </a:r>
            <a:br>
              <a:rPr lang="en-US" sz="2800" dirty="0">
                <a:latin typeface="+mj-lt"/>
              </a:rPr>
            </a:br>
            <a:r>
              <a:rPr lang="en-US" sz="2800" dirty="0">
                <a:latin typeface="+mj-lt"/>
              </a:rPr>
              <a:t> access to administrative </a:t>
            </a:r>
            <a:br>
              <a:rPr lang="en-US" sz="2800" dirty="0">
                <a:latin typeface="+mj-lt"/>
              </a:rPr>
            </a:br>
            <a:r>
              <a:rPr lang="en-US" sz="2800" dirty="0">
                <a:latin typeface="+mj-lt"/>
              </a:rPr>
              <a:t>commands.</a:t>
            </a:r>
          </a:p>
        </p:txBody>
      </p:sp>
      <p:pic>
        <p:nvPicPr>
          <p:cNvPr id="4" name="Picture 3">
            <a:extLst>
              <a:ext uri="{FF2B5EF4-FFF2-40B4-BE49-F238E27FC236}">
                <a16:creationId xmlns:a16="http://schemas.microsoft.com/office/drawing/2014/main" id="{951D8A44-53F0-16A0-EDAC-51AC0D5A3D09}"/>
              </a:ext>
            </a:extLst>
          </p:cNvPr>
          <p:cNvPicPr>
            <a:picLocks noChangeAspect="1"/>
          </p:cNvPicPr>
          <p:nvPr/>
        </p:nvPicPr>
        <p:blipFill>
          <a:blip r:embed="rId2"/>
          <a:srcRect l="26290" t="2259" r="26667" b="11541"/>
          <a:stretch>
            <a:fillRect/>
          </a:stretch>
        </p:blipFill>
        <p:spPr>
          <a:xfrm>
            <a:off x="4114800" y="1671022"/>
            <a:ext cx="4992329" cy="5145615"/>
          </a:xfrm>
          <a:prstGeom prst="rect">
            <a:avLst/>
          </a:prstGeom>
          <a:ln>
            <a:solidFill>
              <a:srgbClr val="FF0000"/>
            </a:solidFill>
          </a:ln>
        </p:spPr>
      </p:pic>
    </p:spTree>
    <p:extLst>
      <p:ext uri="{BB962C8B-B14F-4D97-AF65-F5344CB8AC3E}">
        <p14:creationId xmlns:p14="http://schemas.microsoft.com/office/powerpoint/2010/main" val="3477936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F834F-C296-E391-10F5-5CA8A4517FC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614BBC7-D71A-A962-7D41-144097832E7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86BB792A-7A64-90B0-C3EB-A7B0FE8490BC}"/>
              </a:ext>
            </a:extLst>
          </p:cNvPr>
          <p:cNvSpPr txBox="1"/>
          <p:nvPr/>
        </p:nvSpPr>
        <p:spPr>
          <a:xfrm>
            <a:off x="0" y="1066800"/>
            <a:ext cx="8981768" cy="5196166"/>
          </a:xfrm>
          <a:prstGeom prst="rect">
            <a:avLst/>
          </a:prstGeom>
          <a:noFill/>
        </p:spPr>
        <p:txBody>
          <a:bodyPr wrap="square">
            <a:spAutoFit/>
          </a:bodyPr>
          <a:lstStyle/>
          <a:p>
            <a:pPr>
              <a:lnSpc>
                <a:spcPct val="150000"/>
              </a:lnSpc>
            </a:pPr>
            <a:r>
              <a:rPr lang="en-US" sz="2800" b="1" dirty="0">
                <a:latin typeface="+mj-lt"/>
              </a:rPr>
              <a:t>Enter global configuration mode</a:t>
            </a:r>
          </a:p>
          <a:p>
            <a:pPr>
              <a:lnSpc>
                <a:spcPct val="150000"/>
              </a:lnSpc>
            </a:pPr>
            <a:r>
              <a:rPr lang="en-US" sz="2800" dirty="0">
                <a:latin typeface="+mj-lt"/>
              </a:rPr>
              <a:t>Type:</a:t>
            </a:r>
          </a:p>
          <a:p>
            <a:pPr rtl="0">
              <a:lnSpc>
                <a:spcPct val="150000"/>
              </a:lnSpc>
            </a:pPr>
            <a:r>
              <a:rPr lang="en-US" sz="2800" dirty="0">
                <a:latin typeface="+mj-lt"/>
              </a:rPr>
              <a:t>configure terminal</a:t>
            </a:r>
          </a:p>
          <a:p>
            <a:pPr>
              <a:lnSpc>
                <a:spcPct val="150000"/>
              </a:lnSpc>
            </a:pPr>
            <a:r>
              <a:rPr lang="en-US" sz="2800" dirty="0">
                <a:latin typeface="+mj-lt"/>
              </a:rPr>
              <a:t>The prompt changes:</a:t>
            </a:r>
          </a:p>
          <a:p>
            <a:pPr rtl="0">
              <a:lnSpc>
                <a:spcPct val="150000"/>
              </a:lnSpc>
            </a:pPr>
            <a:r>
              <a:rPr lang="en-US" sz="2800" dirty="0">
                <a:latin typeface="+mj-lt"/>
              </a:rPr>
              <a:t>Router(config)#</a:t>
            </a:r>
          </a:p>
          <a:p>
            <a:pPr>
              <a:lnSpc>
                <a:spcPct val="150000"/>
              </a:lnSpc>
            </a:pPr>
            <a:r>
              <a:rPr lang="en-US" sz="2800" dirty="0">
                <a:latin typeface="+mj-lt"/>
              </a:rPr>
              <a:t>Why? This mode allows </a:t>
            </a:r>
            <a:br>
              <a:rPr lang="en-US" sz="2800" dirty="0">
                <a:latin typeface="+mj-lt"/>
              </a:rPr>
            </a:br>
            <a:r>
              <a:rPr lang="en-US" sz="2800" dirty="0">
                <a:latin typeface="+mj-lt"/>
              </a:rPr>
              <a:t>you to change the router </a:t>
            </a:r>
            <a:br>
              <a:rPr lang="en-US" sz="2800" dirty="0">
                <a:latin typeface="+mj-lt"/>
              </a:rPr>
            </a:br>
            <a:r>
              <a:rPr lang="en-US" sz="2800" dirty="0">
                <a:latin typeface="+mj-lt"/>
              </a:rPr>
              <a:t>configuration.</a:t>
            </a:r>
          </a:p>
        </p:txBody>
      </p:sp>
      <p:pic>
        <p:nvPicPr>
          <p:cNvPr id="6" name="Picture 5">
            <a:extLst>
              <a:ext uri="{FF2B5EF4-FFF2-40B4-BE49-F238E27FC236}">
                <a16:creationId xmlns:a16="http://schemas.microsoft.com/office/drawing/2014/main" id="{38731385-34D8-5227-AFEA-1AABBD9151AC}"/>
              </a:ext>
            </a:extLst>
          </p:cNvPr>
          <p:cNvPicPr>
            <a:picLocks noChangeAspect="1"/>
          </p:cNvPicPr>
          <p:nvPr/>
        </p:nvPicPr>
        <p:blipFill>
          <a:blip r:embed="rId2"/>
          <a:srcRect l="25968" t="2545" r="25833" b="11542"/>
          <a:stretch>
            <a:fillRect/>
          </a:stretch>
        </p:blipFill>
        <p:spPr>
          <a:xfrm>
            <a:off x="3962400" y="1631192"/>
            <a:ext cx="5181600" cy="5195277"/>
          </a:xfrm>
          <a:prstGeom prst="rect">
            <a:avLst/>
          </a:prstGeom>
          <a:ln>
            <a:solidFill>
              <a:srgbClr val="FF0000"/>
            </a:solidFill>
          </a:ln>
        </p:spPr>
      </p:pic>
    </p:spTree>
    <p:extLst>
      <p:ext uri="{BB962C8B-B14F-4D97-AF65-F5344CB8AC3E}">
        <p14:creationId xmlns:p14="http://schemas.microsoft.com/office/powerpoint/2010/main" val="12597832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3000-6D82-04C6-A958-01629515ADC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73FD9DD-B3CE-6DDE-35C3-BF902C1CD2C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AD30FF18-AB2A-4345-0BC4-978A6A66FF95}"/>
              </a:ext>
            </a:extLst>
          </p:cNvPr>
          <p:cNvSpPr txBox="1"/>
          <p:nvPr/>
        </p:nvSpPr>
        <p:spPr>
          <a:xfrm>
            <a:off x="-2458" y="378260"/>
            <a:ext cx="8981768" cy="5196166"/>
          </a:xfrm>
          <a:prstGeom prst="rect">
            <a:avLst/>
          </a:prstGeom>
          <a:noFill/>
        </p:spPr>
        <p:txBody>
          <a:bodyPr wrap="square">
            <a:spAutoFit/>
          </a:bodyPr>
          <a:lstStyle/>
          <a:p>
            <a:pPr>
              <a:lnSpc>
                <a:spcPct val="150000"/>
              </a:lnSpc>
            </a:pPr>
            <a:r>
              <a:rPr lang="en-US" sz="2800" b="1" dirty="0">
                <a:latin typeface="+mj-lt"/>
              </a:rPr>
              <a:t>Configure the serial interface</a:t>
            </a:r>
          </a:p>
          <a:p>
            <a:pPr>
              <a:lnSpc>
                <a:spcPct val="150000"/>
              </a:lnSpc>
            </a:pPr>
            <a:r>
              <a:rPr lang="en-US" sz="2800" dirty="0">
                <a:latin typeface="+mj-lt"/>
              </a:rPr>
              <a:t>Enter the following commands one at a time:</a:t>
            </a:r>
          </a:p>
          <a:p>
            <a:pPr rtl="0">
              <a:lnSpc>
                <a:spcPct val="150000"/>
              </a:lnSpc>
            </a:pPr>
            <a:r>
              <a:rPr lang="en-US" sz="2800" dirty="0">
                <a:latin typeface="+mj-lt"/>
              </a:rPr>
              <a:t>hostname LOCAL</a:t>
            </a:r>
          </a:p>
          <a:p>
            <a:pPr rtl="0">
              <a:lnSpc>
                <a:spcPct val="150000"/>
              </a:lnSpc>
            </a:pPr>
            <a:r>
              <a:rPr lang="en-US" sz="2800" dirty="0">
                <a:latin typeface="+mj-lt"/>
              </a:rPr>
              <a:t>interface serial 0/0/0</a:t>
            </a:r>
          </a:p>
          <a:p>
            <a:pPr rtl="0">
              <a:lnSpc>
                <a:spcPct val="150000"/>
              </a:lnSpc>
            </a:pPr>
            <a:r>
              <a:rPr lang="en-US" sz="2800" dirty="0">
                <a:latin typeface="+mj-lt"/>
              </a:rPr>
              <a:t>clock rate 56000</a:t>
            </a:r>
          </a:p>
          <a:p>
            <a:pPr rtl="0">
              <a:lnSpc>
                <a:spcPct val="150000"/>
              </a:lnSpc>
            </a:pPr>
            <a:r>
              <a:rPr lang="en-US" sz="2800" dirty="0">
                <a:latin typeface="+mj-lt"/>
              </a:rPr>
              <a:t>no shutdown</a:t>
            </a:r>
          </a:p>
          <a:p>
            <a:pPr rtl="0">
              <a:lnSpc>
                <a:spcPct val="150000"/>
              </a:lnSpc>
            </a:pPr>
            <a:r>
              <a:rPr lang="en-US" sz="2800" dirty="0">
                <a:latin typeface="+mj-lt"/>
              </a:rPr>
              <a:t>exit</a:t>
            </a:r>
          </a:p>
          <a:p>
            <a:pPr rtl="0">
              <a:lnSpc>
                <a:spcPct val="150000"/>
              </a:lnSpc>
            </a:pPr>
            <a:r>
              <a:rPr lang="en-US" sz="2800" dirty="0">
                <a:latin typeface="+mj-lt"/>
              </a:rPr>
              <a:t>end</a:t>
            </a:r>
          </a:p>
        </p:txBody>
      </p:sp>
      <p:pic>
        <p:nvPicPr>
          <p:cNvPr id="4" name="Picture 3">
            <a:extLst>
              <a:ext uri="{FF2B5EF4-FFF2-40B4-BE49-F238E27FC236}">
                <a16:creationId xmlns:a16="http://schemas.microsoft.com/office/drawing/2014/main" id="{5957E7DD-69F9-6AA1-3122-C32A4D7386BF}"/>
              </a:ext>
            </a:extLst>
          </p:cNvPr>
          <p:cNvPicPr>
            <a:picLocks noChangeAspect="1"/>
          </p:cNvPicPr>
          <p:nvPr/>
        </p:nvPicPr>
        <p:blipFill>
          <a:blip r:embed="rId2"/>
          <a:srcRect l="26614" t="2832" r="26290" b="12581"/>
          <a:stretch>
            <a:fillRect/>
          </a:stretch>
        </p:blipFill>
        <p:spPr>
          <a:xfrm>
            <a:off x="4114801" y="1752600"/>
            <a:ext cx="5029200" cy="5080871"/>
          </a:xfrm>
          <a:prstGeom prst="rect">
            <a:avLst/>
          </a:prstGeom>
          <a:ln>
            <a:solidFill>
              <a:srgbClr val="FF0000"/>
            </a:solidFill>
          </a:ln>
        </p:spPr>
      </p:pic>
    </p:spTree>
    <p:extLst>
      <p:ext uri="{BB962C8B-B14F-4D97-AF65-F5344CB8AC3E}">
        <p14:creationId xmlns:p14="http://schemas.microsoft.com/office/powerpoint/2010/main" val="2783044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318B0-2353-E912-6D18-B0A77923527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B6C23E5-B00B-A5ED-564B-D0A9C6336569}"/>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5C2C8567-BB14-0771-0ADD-032C20CEAA70}"/>
              </a:ext>
            </a:extLst>
          </p:cNvPr>
          <p:cNvSpPr txBox="1"/>
          <p:nvPr/>
        </p:nvSpPr>
        <p:spPr>
          <a:xfrm>
            <a:off x="-2458" y="609600"/>
            <a:ext cx="8981768" cy="5196166"/>
          </a:xfrm>
          <a:prstGeom prst="rect">
            <a:avLst/>
          </a:prstGeom>
          <a:noFill/>
        </p:spPr>
        <p:txBody>
          <a:bodyPr wrap="square">
            <a:spAutoFit/>
          </a:bodyPr>
          <a:lstStyle/>
          <a:p>
            <a:pPr>
              <a:lnSpc>
                <a:spcPct val="150000"/>
              </a:lnSpc>
            </a:pPr>
            <a:r>
              <a:rPr lang="en-US" sz="2800" dirty="0">
                <a:latin typeface="+mj-lt"/>
              </a:rPr>
              <a:t>Important: clock rate 56000 should be configured only if LOCAL Serial0/0/0 is the DCE end of the cable connecting LOCAL to ISP.</a:t>
            </a:r>
          </a:p>
          <a:p>
            <a:pPr>
              <a:lnSpc>
                <a:spcPct val="150000"/>
              </a:lnSpc>
            </a:pPr>
            <a:r>
              <a:rPr lang="en-US" sz="2800" dirty="0">
                <a:latin typeface="+mj-lt"/>
              </a:rPr>
              <a:t>If Packet Tracer displays an </a:t>
            </a:r>
            <a:br>
              <a:rPr lang="en-US" sz="2800" dirty="0">
                <a:latin typeface="+mj-lt"/>
              </a:rPr>
            </a:br>
            <a:r>
              <a:rPr lang="en-US" sz="2800" dirty="0">
                <a:latin typeface="+mj-lt"/>
              </a:rPr>
              <a:t>error indicating that the clock</a:t>
            </a:r>
            <a:br>
              <a:rPr lang="en-US" sz="2800" dirty="0">
                <a:latin typeface="+mj-lt"/>
              </a:rPr>
            </a:br>
            <a:r>
              <a:rPr lang="en-US" sz="2800" dirty="0">
                <a:latin typeface="+mj-lt"/>
              </a:rPr>
              <a:t> rate applies only to DCE </a:t>
            </a:r>
            <a:br>
              <a:rPr lang="en-US" sz="2800" dirty="0">
                <a:latin typeface="+mj-lt"/>
              </a:rPr>
            </a:br>
            <a:r>
              <a:rPr lang="en-US" sz="2800" dirty="0">
                <a:latin typeface="+mj-lt"/>
              </a:rPr>
              <a:t>interfaces, verify the cable</a:t>
            </a:r>
            <a:br>
              <a:rPr lang="en-US" sz="2800" dirty="0">
                <a:latin typeface="+mj-lt"/>
              </a:rPr>
            </a:br>
            <a:r>
              <a:rPr lang="en-US" sz="2800" dirty="0">
                <a:latin typeface="+mj-lt"/>
              </a:rPr>
              <a:t> direction.</a:t>
            </a:r>
          </a:p>
        </p:txBody>
      </p:sp>
      <p:pic>
        <p:nvPicPr>
          <p:cNvPr id="4" name="Picture 3">
            <a:extLst>
              <a:ext uri="{FF2B5EF4-FFF2-40B4-BE49-F238E27FC236}">
                <a16:creationId xmlns:a16="http://schemas.microsoft.com/office/drawing/2014/main" id="{D5AB4E8B-EA61-E5D6-F642-A03C021B7299}"/>
              </a:ext>
            </a:extLst>
          </p:cNvPr>
          <p:cNvPicPr>
            <a:picLocks noChangeAspect="1"/>
          </p:cNvPicPr>
          <p:nvPr/>
        </p:nvPicPr>
        <p:blipFill>
          <a:blip r:embed="rId2"/>
          <a:srcRect l="26614" t="2832" r="26290" b="12581"/>
          <a:stretch>
            <a:fillRect/>
          </a:stretch>
        </p:blipFill>
        <p:spPr>
          <a:xfrm>
            <a:off x="4491925" y="2133600"/>
            <a:ext cx="4652075" cy="4699871"/>
          </a:xfrm>
          <a:prstGeom prst="rect">
            <a:avLst/>
          </a:prstGeom>
          <a:ln>
            <a:solidFill>
              <a:srgbClr val="FF0000"/>
            </a:solidFill>
          </a:ln>
        </p:spPr>
      </p:pic>
    </p:spTree>
    <p:extLst>
      <p:ext uri="{BB962C8B-B14F-4D97-AF65-F5344CB8AC3E}">
        <p14:creationId xmlns:p14="http://schemas.microsoft.com/office/powerpoint/2010/main" val="4244569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F6B4D-F539-528E-D98D-B92781413A5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18E2EC2-8350-88F5-F6EF-309C5741D9A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0ADAB5D7-6E47-197D-CEEF-E58A0B04001C}"/>
              </a:ext>
            </a:extLst>
          </p:cNvPr>
          <p:cNvSpPr txBox="1"/>
          <p:nvPr/>
        </p:nvSpPr>
        <p:spPr>
          <a:xfrm>
            <a:off x="-2458" y="381000"/>
            <a:ext cx="8981768" cy="5842497"/>
          </a:xfrm>
          <a:prstGeom prst="rect">
            <a:avLst/>
          </a:prstGeom>
          <a:noFill/>
        </p:spPr>
        <p:txBody>
          <a:bodyPr wrap="square">
            <a:spAutoFit/>
          </a:bodyPr>
          <a:lstStyle/>
          <a:p>
            <a:pPr>
              <a:lnSpc>
                <a:spcPct val="150000"/>
              </a:lnSpc>
            </a:pPr>
            <a:r>
              <a:rPr lang="en-US" sz="2800" b="1" dirty="0">
                <a:latin typeface="+mj-lt"/>
              </a:rPr>
              <a:t>Verify the configuration</a:t>
            </a:r>
          </a:p>
          <a:p>
            <a:pPr>
              <a:lnSpc>
                <a:spcPct val="150000"/>
              </a:lnSpc>
            </a:pPr>
            <a:r>
              <a:rPr lang="en-US" sz="2800" dirty="0">
                <a:latin typeface="+mj-lt"/>
              </a:rPr>
              <a:t>Type: </a:t>
            </a:r>
            <a:r>
              <a:rPr lang="en-US" sz="2800" dirty="0">
                <a:highlight>
                  <a:srgbClr val="FFFF00"/>
                </a:highlight>
                <a:latin typeface="+mj-lt"/>
              </a:rPr>
              <a:t>show </a:t>
            </a:r>
            <a:r>
              <a:rPr lang="en-US" sz="2800" dirty="0" err="1">
                <a:highlight>
                  <a:srgbClr val="FFFF00"/>
                </a:highlight>
                <a:latin typeface="+mj-lt"/>
              </a:rPr>
              <a:t>ip</a:t>
            </a:r>
            <a:r>
              <a:rPr lang="en-US" sz="2800" dirty="0">
                <a:highlight>
                  <a:srgbClr val="FFFF00"/>
                </a:highlight>
                <a:latin typeface="+mj-lt"/>
              </a:rPr>
              <a:t> interface brief</a:t>
            </a:r>
          </a:p>
          <a:p>
            <a:pPr>
              <a:lnSpc>
                <a:spcPct val="150000"/>
              </a:lnSpc>
            </a:pPr>
            <a:r>
              <a:rPr lang="en-US" sz="2800" dirty="0">
                <a:latin typeface="+mj-lt"/>
              </a:rPr>
              <a:t>You should see Serial0/0/0 in </a:t>
            </a:r>
            <a:br>
              <a:rPr lang="en-US" sz="2800" dirty="0">
                <a:latin typeface="+mj-lt"/>
              </a:rPr>
            </a:br>
            <a:r>
              <a:rPr lang="en-US" sz="2800" dirty="0">
                <a:latin typeface="+mj-lt"/>
              </a:rPr>
              <a:t>the interface list.</a:t>
            </a:r>
          </a:p>
          <a:p>
            <a:pPr>
              <a:lnSpc>
                <a:spcPct val="150000"/>
              </a:lnSpc>
            </a:pPr>
            <a:r>
              <a:rPr lang="en-US" sz="2800" dirty="0">
                <a:latin typeface="+mj-lt"/>
              </a:rPr>
              <a:t>The interface may not yet show </a:t>
            </a:r>
            <a:br>
              <a:rPr lang="en-US" sz="2800" dirty="0">
                <a:latin typeface="+mj-lt"/>
              </a:rPr>
            </a:br>
            <a:r>
              <a:rPr lang="en-US" sz="2800" dirty="0">
                <a:latin typeface="+mj-lt"/>
              </a:rPr>
              <a:t>up/up because the IP address </a:t>
            </a:r>
            <a:br>
              <a:rPr lang="en-US" sz="2800" dirty="0">
                <a:latin typeface="+mj-lt"/>
              </a:rPr>
            </a:br>
            <a:r>
              <a:rPr lang="en-US" sz="2800" dirty="0">
                <a:latin typeface="+mj-lt"/>
              </a:rPr>
              <a:t>and other end of the serial </a:t>
            </a:r>
            <a:br>
              <a:rPr lang="en-US" sz="2800" dirty="0">
                <a:latin typeface="+mj-lt"/>
              </a:rPr>
            </a:br>
            <a:r>
              <a:rPr lang="en-US" sz="2800" dirty="0">
                <a:latin typeface="+mj-lt"/>
              </a:rPr>
              <a:t>connection still need </a:t>
            </a:r>
            <a:br>
              <a:rPr lang="en-US" sz="2800" dirty="0">
                <a:latin typeface="+mj-lt"/>
              </a:rPr>
            </a:br>
            <a:r>
              <a:rPr lang="en-US" sz="2800" dirty="0">
                <a:latin typeface="+mj-lt"/>
              </a:rPr>
              <a:t>configuration.</a:t>
            </a:r>
          </a:p>
        </p:txBody>
      </p:sp>
      <p:pic>
        <p:nvPicPr>
          <p:cNvPr id="6" name="Picture 5">
            <a:extLst>
              <a:ext uri="{FF2B5EF4-FFF2-40B4-BE49-F238E27FC236}">
                <a16:creationId xmlns:a16="http://schemas.microsoft.com/office/drawing/2014/main" id="{B9B7466F-D931-24AC-126F-B266F3D9D410}"/>
              </a:ext>
            </a:extLst>
          </p:cNvPr>
          <p:cNvPicPr>
            <a:picLocks noChangeAspect="1"/>
          </p:cNvPicPr>
          <p:nvPr/>
        </p:nvPicPr>
        <p:blipFill>
          <a:blip r:embed="rId2"/>
          <a:srcRect l="26290" t="3979" r="26667" b="11858"/>
          <a:stretch>
            <a:fillRect/>
          </a:stretch>
        </p:blipFill>
        <p:spPr>
          <a:xfrm>
            <a:off x="4842387" y="2529109"/>
            <a:ext cx="4301613" cy="4328891"/>
          </a:xfrm>
          <a:prstGeom prst="rect">
            <a:avLst/>
          </a:prstGeom>
          <a:ln>
            <a:solidFill>
              <a:srgbClr val="FF0000"/>
            </a:solidFill>
          </a:ln>
        </p:spPr>
      </p:pic>
    </p:spTree>
    <p:extLst>
      <p:ext uri="{BB962C8B-B14F-4D97-AF65-F5344CB8AC3E}">
        <p14:creationId xmlns:p14="http://schemas.microsoft.com/office/powerpoint/2010/main" val="26451660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0EAB3-EE0F-2A1F-C647-54F4954E890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4F8A0AB-D5A9-C963-0A23-838A744BC14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2157C592-076A-8E69-F018-001519FCC23C}"/>
              </a:ext>
            </a:extLst>
          </p:cNvPr>
          <p:cNvSpPr txBox="1"/>
          <p:nvPr/>
        </p:nvSpPr>
        <p:spPr>
          <a:xfrm>
            <a:off x="0" y="533400"/>
            <a:ext cx="8996516" cy="5196166"/>
          </a:xfrm>
          <a:prstGeom prst="rect">
            <a:avLst/>
          </a:prstGeom>
          <a:noFill/>
        </p:spPr>
        <p:txBody>
          <a:bodyPr wrap="square">
            <a:spAutoFit/>
          </a:bodyPr>
          <a:lstStyle/>
          <a:p>
            <a:pPr>
              <a:lnSpc>
                <a:spcPct val="150000"/>
              </a:lnSpc>
              <a:buNone/>
            </a:pPr>
            <a:r>
              <a:rPr lang="en-US" sz="2800" b="1" dirty="0">
                <a:latin typeface="+mj-lt"/>
              </a:rPr>
              <a:t>Configure the ISP router</a:t>
            </a:r>
          </a:p>
          <a:p>
            <a:pPr>
              <a:lnSpc>
                <a:spcPct val="150000"/>
              </a:lnSpc>
              <a:buNone/>
            </a:pPr>
            <a:r>
              <a:rPr lang="en-US" sz="2800" dirty="0">
                <a:latin typeface="+mj-lt"/>
              </a:rPr>
              <a:t>Now close the LOCAL router window.</a:t>
            </a:r>
          </a:p>
          <a:p>
            <a:pPr marL="342900" lvl="0" indent="-342900">
              <a:lnSpc>
                <a:spcPct val="150000"/>
              </a:lnSpc>
              <a:buFont typeface="+mj-lt"/>
              <a:buAutoNum type="arabicPeriod"/>
            </a:pPr>
            <a:r>
              <a:rPr lang="en-US" sz="2800" dirty="0">
                <a:latin typeface="+mj-lt"/>
              </a:rPr>
              <a:t>Double-click the ISP router at the top of your topology.</a:t>
            </a:r>
          </a:p>
          <a:p>
            <a:pPr marL="342900" lvl="0" indent="-342900">
              <a:lnSpc>
                <a:spcPct val="150000"/>
              </a:lnSpc>
              <a:buFont typeface="+mj-lt"/>
              <a:buAutoNum type="arabicPeriod"/>
            </a:pPr>
            <a:r>
              <a:rPr lang="en-US" sz="2800" dirty="0">
                <a:latin typeface="+mj-lt"/>
              </a:rPr>
              <a:t>Select CLI.</a:t>
            </a:r>
          </a:p>
          <a:p>
            <a:pPr marL="342900" lvl="0" indent="-342900">
              <a:lnSpc>
                <a:spcPct val="150000"/>
              </a:lnSpc>
              <a:buFont typeface="+mj-lt"/>
              <a:buAutoNum type="arabicPeriod"/>
            </a:pPr>
            <a:r>
              <a:rPr lang="en-US" sz="2800" dirty="0">
                <a:latin typeface="+mj-lt"/>
              </a:rPr>
              <a:t>If the initial configuration </a:t>
            </a:r>
            <a:br>
              <a:rPr lang="en-US" sz="2800" dirty="0">
                <a:latin typeface="+mj-lt"/>
              </a:rPr>
            </a:br>
            <a:r>
              <a:rPr lang="en-US" sz="2800" dirty="0">
                <a:latin typeface="+mj-lt"/>
              </a:rPr>
              <a:t>dialog appears, type no.</a:t>
            </a:r>
          </a:p>
          <a:p>
            <a:pPr marL="342900" lvl="0" indent="-342900">
              <a:lnSpc>
                <a:spcPct val="150000"/>
              </a:lnSpc>
              <a:buFont typeface="+mj-lt"/>
              <a:buAutoNum type="arabicPeriod"/>
            </a:pPr>
            <a:r>
              <a:rPr lang="en-US" sz="2800" dirty="0">
                <a:latin typeface="+mj-lt"/>
              </a:rPr>
              <a:t>Press Enter until you see </a:t>
            </a:r>
            <a:br>
              <a:rPr lang="en-US" sz="2800" dirty="0">
                <a:latin typeface="+mj-lt"/>
              </a:rPr>
            </a:br>
            <a:r>
              <a:rPr lang="en-US" sz="2800" dirty="0">
                <a:latin typeface="+mj-lt"/>
              </a:rPr>
              <a:t>Router&gt;.</a:t>
            </a:r>
          </a:p>
        </p:txBody>
      </p:sp>
      <p:pic>
        <p:nvPicPr>
          <p:cNvPr id="8" name="Picture 7">
            <a:extLst>
              <a:ext uri="{FF2B5EF4-FFF2-40B4-BE49-F238E27FC236}">
                <a16:creationId xmlns:a16="http://schemas.microsoft.com/office/drawing/2014/main" id="{095209A6-A21A-2DB9-D337-D4655C18E653}"/>
              </a:ext>
            </a:extLst>
          </p:cNvPr>
          <p:cNvPicPr>
            <a:picLocks noChangeAspect="1"/>
          </p:cNvPicPr>
          <p:nvPr/>
        </p:nvPicPr>
        <p:blipFill>
          <a:blip r:embed="rId2"/>
          <a:srcRect l="26667" t="2592" r="26667" b="12963"/>
          <a:stretch>
            <a:fillRect/>
          </a:stretch>
        </p:blipFill>
        <p:spPr>
          <a:xfrm>
            <a:off x="4876800" y="2485152"/>
            <a:ext cx="4267200" cy="4343400"/>
          </a:xfrm>
          <a:prstGeom prst="rect">
            <a:avLst/>
          </a:prstGeom>
          <a:ln>
            <a:solidFill>
              <a:srgbClr val="FF0000"/>
            </a:solidFill>
          </a:ln>
        </p:spPr>
      </p:pic>
    </p:spTree>
    <p:extLst>
      <p:ext uri="{BB962C8B-B14F-4D97-AF65-F5344CB8AC3E}">
        <p14:creationId xmlns:p14="http://schemas.microsoft.com/office/powerpoint/2010/main" val="1480200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2DD67-B2E7-9659-D7B2-4266FDE930B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21F7E30-3206-B64A-5268-F339C4C195F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8C6A4FA3-BE6F-540F-78D4-C84B1010D977}"/>
              </a:ext>
            </a:extLst>
          </p:cNvPr>
          <p:cNvSpPr txBox="1"/>
          <p:nvPr/>
        </p:nvSpPr>
        <p:spPr>
          <a:xfrm>
            <a:off x="0" y="533400"/>
            <a:ext cx="8996516" cy="5196166"/>
          </a:xfrm>
          <a:prstGeom prst="rect">
            <a:avLst/>
          </a:prstGeom>
          <a:noFill/>
        </p:spPr>
        <p:txBody>
          <a:bodyPr wrap="square">
            <a:spAutoFit/>
          </a:bodyPr>
          <a:lstStyle/>
          <a:p>
            <a:pPr>
              <a:lnSpc>
                <a:spcPct val="150000"/>
              </a:lnSpc>
              <a:buNone/>
            </a:pPr>
            <a:r>
              <a:rPr lang="en-US" sz="2800" b="1" dirty="0">
                <a:latin typeface="+mj-lt"/>
              </a:rPr>
              <a:t>Configure the ISP router</a:t>
            </a:r>
          </a:p>
          <a:p>
            <a:pPr>
              <a:lnSpc>
                <a:spcPct val="150000"/>
              </a:lnSpc>
              <a:buNone/>
            </a:pPr>
            <a:r>
              <a:rPr lang="en-US" sz="2800" dirty="0">
                <a:latin typeface="+mj-lt"/>
              </a:rPr>
              <a:t>Now close the LOCAL router window.</a:t>
            </a:r>
          </a:p>
          <a:p>
            <a:pPr marL="342900" lvl="0" indent="-342900">
              <a:lnSpc>
                <a:spcPct val="150000"/>
              </a:lnSpc>
              <a:buFont typeface="+mj-lt"/>
              <a:buAutoNum type="arabicPeriod"/>
            </a:pPr>
            <a:r>
              <a:rPr lang="en-US" sz="2800" dirty="0">
                <a:latin typeface="+mj-lt"/>
              </a:rPr>
              <a:t>Double-click the ISP router at the top of your topology.</a:t>
            </a:r>
          </a:p>
          <a:p>
            <a:pPr marL="342900" lvl="0" indent="-342900">
              <a:lnSpc>
                <a:spcPct val="150000"/>
              </a:lnSpc>
              <a:buFont typeface="+mj-lt"/>
              <a:buAutoNum type="arabicPeriod"/>
            </a:pPr>
            <a:r>
              <a:rPr lang="en-US" sz="2800" dirty="0">
                <a:latin typeface="+mj-lt"/>
              </a:rPr>
              <a:t>Select CLI.</a:t>
            </a:r>
          </a:p>
          <a:p>
            <a:pPr marL="342900" lvl="0" indent="-342900">
              <a:lnSpc>
                <a:spcPct val="150000"/>
              </a:lnSpc>
              <a:buFont typeface="+mj-lt"/>
              <a:buAutoNum type="arabicPeriod"/>
            </a:pPr>
            <a:r>
              <a:rPr lang="en-US" sz="2800" dirty="0">
                <a:latin typeface="+mj-lt"/>
              </a:rPr>
              <a:t>If the initial configuration </a:t>
            </a:r>
            <a:br>
              <a:rPr lang="en-US" sz="2800" dirty="0">
                <a:latin typeface="+mj-lt"/>
              </a:rPr>
            </a:br>
            <a:r>
              <a:rPr lang="en-US" sz="2800" dirty="0">
                <a:latin typeface="+mj-lt"/>
              </a:rPr>
              <a:t>dialog appears, type no.</a:t>
            </a:r>
          </a:p>
          <a:p>
            <a:pPr marL="342900" lvl="0" indent="-342900">
              <a:lnSpc>
                <a:spcPct val="150000"/>
              </a:lnSpc>
              <a:buFont typeface="+mj-lt"/>
              <a:buAutoNum type="arabicPeriod"/>
            </a:pPr>
            <a:r>
              <a:rPr lang="en-US" sz="2800" dirty="0">
                <a:latin typeface="+mj-lt"/>
              </a:rPr>
              <a:t>Press Enter until you see </a:t>
            </a:r>
            <a:br>
              <a:rPr lang="en-US" sz="2800" dirty="0">
                <a:latin typeface="+mj-lt"/>
              </a:rPr>
            </a:br>
            <a:r>
              <a:rPr lang="en-US" sz="2800" dirty="0">
                <a:latin typeface="+mj-lt"/>
              </a:rPr>
              <a:t>Router&gt;.</a:t>
            </a:r>
          </a:p>
        </p:txBody>
      </p:sp>
      <p:pic>
        <p:nvPicPr>
          <p:cNvPr id="5" name="Picture 4">
            <a:extLst>
              <a:ext uri="{FF2B5EF4-FFF2-40B4-BE49-F238E27FC236}">
                <a16:creationId xmlns:a16="http://schemas.microsoft.com/office/drawing/2014/main" id="{95F43E74-CBB9-21A8-A73B-59BDE5607B76}"/>
              </a:ext>
            </a:extLst>
          </p:cNvPr>
          <p:cNvPicPr>
            <a:picLocks noChangeAspect="1"/>
          </p:cNvPicPr>
          <p:nvPr/>
        </p:nvPicPr>
        <p:blipFill>
          <a:blip r:embed="rId2"/>
          <a:srcRect l="26774" t="3405" r="27500" b="12964"/>
          <a:stretch>
            <a:fillRect/>
          </a:stretch>
        </p:blipFill>
        <p:spPr>
          <a:xfrm>
            <a:off x="4972664" y="2507650"/>
            <a:ext cx="4181168" cy="4301613"/>
          </a:xfrm>
          <a:prstGeom prst="rect">
            <a:avLst/>
          </a:prstGeom>
          <a:ln>
            <a:solidFill>
              <a:srgbClr val="FF0000"/>
            </a:solidFill>
          </a:ln>
        </p:spPr>
      </p:pic>
    </p:spTree>
    <p:extLst>
      <p:ext uri="{BB962C8B-B14F-4D97-AF65-F5344CB8AC3E}">
        <p14:creationId xmlns:p14="http://schemas.microsoft.com/office/powerpoint/2010/main" val="28157546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73204-A098-A619-DC89-47584C3EF3F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380CF45-810C-AABE-3127-9FBAC5BD2F3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CE225087-F42B-B65E-63BA-138A561F7E92}"/>
              </a:ext>
            </a:extLst>
          </p:cNvPr>
          <p:cNvSpPr txBox="1"/>
          <p:nvPr/>
        </p:nvSpPr>
        <p:spPr>
          <a:xfrm>
            <a:off x="0" y="533401"/>
            <a:ext cx="9011264" cy="5842497"/>
          </a:xfrm>
          <a:prstGeom prst="rect">
            <a:avLst/>
          </a:prstGeom>
          <a:noFill/>
        </p:spPr>
        <p:txBody>
          <a:bodyPr wrap="square">
            <a:spAutoFit/>
          </a:bodyPr>
          <a:lstStyle/>
          <a:p>
            <a:pPr>
              <a:lnSpc>
                <a:spcPct val="150000"/>
              </a:lnSpc>
              <a:buNone/>
            </a:pPr>
            <a:r>
              <a:rPr lang="en-US" sz="2800" dirty="0">
                <a:latin typeface="+mj-lt"/>
              </a:rPr>
              <a:t>Enter:</a:t>
            </a:r>
          </a:p>
          <a:p>
            <a:pPr rtl="0">
              <a:lnSpc>
                <a:spcPct val="150000"/>
              </a:lnSpc>
              <a:buNone/>
            </a:pPr>
            <a:r>
              <a:rPr lang="en-US" sz="2800" dirty="0">
                <a:latin typeface="+mj-lt"/>
              </a:rPr>
              <a:t>enable</a:t>
            </a:r>
          </a:p>
          <a:p>
            <a:pPr rtl="0">
              <a:lnSpc>
                <a:spcPct val="150000"/>
              </a:lnSpc>
              <a:buNone/>
            </a:pPr>
            <a:r>
              <a:rPr lang="en-US" sz="2800" dirty="0">
                <a:latin typeface="+mj-lt"/>
              </a:rPr>
              <a:t>configure terminal</a:t>
            </a:r>
          </a:p>
          <a:p>
            <a:pPr rtl="0">
              <a:lnSpc>
                <a:spcPct val="150000"/>
              </a:lnSpc>
              <a:buNone/>
            </a:pPr>
            <a:r>
              <a:rPr lang="en-US" sz="2800" dirty="0">
                <a:latin typeface="+mj-lt"/>
              </a:rPr>
              <a:t>hostname ISP</a:t>
            </a:r>
          </a:p>
          <a:p>
            <a:pPr rtl="0">
              <a:lnSpc>
                <a:spcPct val="150000"/>
              </a:lnSpc>
              <a:buNone/>
            </a:pPr>
            <a:r>
              <a:rPr lang="en-US" sz="2800" dirty="0">
                <a:latin typeface="+mj-lt"/>
              </a:rPr>
              <a:t>interface serial 0/0/1</a:t>
            </a:r>
          </a:p>
          <a:p>
            <a:pPr rtl="0">
              <a:lnSpc>
                <a:spcPct val="150000"/>
              </a:lnSpc>
              <a:buNone/>
            </a:pPr>
            <a:r>
              <a:rPr lang="en-US" sz="2800" dirty="0">
                <a:latin typeface="+mj-lt"/>
              </a:rPr>
              <a:t>clock rate 56000</a:t>
            </a:r>
          </a:p>
          <a:p>
            <a:pPr rtl="0">
              <a:lnSpc>
                <a:spcPct val="150000"/>
              </a:lnSpc>
              <a:buNone/>
            </a:pPr>
            <a:r>
              <a:rPr lang="en-US" sz="2800" dirty="0">
                <a:latin typeface="+mj-lt"/>
              </a:rPr>
              <a:t>no shutdown</a:t>
            </a:r>
          </a:p>
          <a:p>
            <a:pPr rtl="0">
              <a:lnSpc>
                <a:spcPct val="150000"/>
              </a:lnSpc>
              <a:buNone/>
            </a:pPr>
            <a:r>
              <a:rPr lang="en-US" sz="2800" dirty="0">
                <a:latin typeface="+mj-lt"/>
              </a:rPr>
              <a:t>exit</a:t>
            </a:r>
          </a:p>
          <a:p>
            <a:pPr rtl="0">
              <a:lnSpc>
                <a:spcPct val="150000"/>
              </a:lnSpc>
              <a:buNone/>
            </a:pPr>
            <a:r>
              <a:rPr lang="en-US" sz="2800" dirty="0">
                <a:latin typeface="+mj-lt"/>
              </a:rPr>
              <a:t>end</a:t>
            </a:r>
          </a:p>
        </p:txBody>
      </p:sp>
      <p:pic>
        <p:nvPicPr>
          <p:cNvPr id="8" name="Picture 7">
            <a:extLst>
              <a:ext uri="{FF2B5EF4-FFF2-40B4-BE49-F238E27FC236}">
                <a16:creationId xmlns:a16="http://schemas.microsoft.com/office/drawing/2014/main" id="{8D57BD65-DC56-1063-4191-2FE8C7B91631}"/>
              </a:ext>
            </a:extLst>
          </p:cNvPr>
          <p:cNvPicPr>
            <a:picLocks noChangeAspect="1"/>
          </p:cNvPicPr>
          <p:nvPr/>
        </p:nvPicPr>
        <p:blipFill>
          <a:blip r:embed="rId2"/>
          <a:srcRect l="26613" t="2832" r="26667" b="11481"/>
          <a:stretch>
            <a:fillRect/>
          </a:stretch>
        </p:blipFill>
        <p:spPr>
          <a:xfrm>
            <a:off x="3505200" y="762000"/>
            <a:ext cx="5638800" cy="5817244"/>
          </a:xfrm>
          <a:prstGeom prst="rect">
            <a:avLst/>
          </a:prstGeom>
          <a:ln>
            <a:solidFill>
              <a:srgbClr val="FF0000"/>
            </a:solidFill>
          </a:ln>
        </p:spPr>
      </p:pic>
    </p:spTree>
    <p:extLst>
      <p:ext uri="{BB962C8B-B14F-4D97-AF65-F5344CB8AC3E}">
        <p14:creationId xmlns:p14="http://schemas.microsoft.com/office/powerpoint/2010/main" val="26620257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0BF75-BDD1-FE5B-B167-BDBB37B8576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9FCD96C-71A8-9411-E785-596A5B63473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03EDFADB-262B-CEEA-9E65-BE1BE0DDE878}"/>
              </a:ext>
            </a:extLst>
          </p:cNvPr>
          <p:cNvSpPr txBox="1"/>
          <p:nvPr/>
        </p:nvSpPr>
        <p:spPr>
          <a:xfrm>
            <a:off x="0" y="533401"/>
            <a:ext cx="9011264" cy="1318181"/>
          </a:xfrm>
          <a:prstGeom prst="rect">
            <a:avLst/>
          </a:prstGeom>
          <a:noFill/>
        </p:spPr>
        <p:txBody>
          <a:bodyPr wrap="square">
            <a:spAutoFit/>
          </a:bodyPr>
          <a:lstStyle/>
          <a:p>
            <a:pPr>
              <a:lnSpc>
                <a:spcPct val="150000"/>
              </a:lnSpc>
              <a:buNone/>
            </a:pPr>
            <a:r>
              <a:rPr lang="en-US" sz="2800" dirty="0">
                <a:latin typeface="+mj-lt"/>
              </a:rPr>
              <a:t>Why ISP Serial0/0/1?</a:t>
            </a:r>
          </a:p>
          <a:p>
            <a:pPr>
              <a:lnSpc>
                <a:spcPct val="150000"/>
              </a:lnSpc>
              <a:buNone/>
            </a:pPr>
            <a:r>
              <a:rPr lang="en-US" sz="2800" dirty="0">
                <a:latin typeface="+mj-lt"/>
              </a:rPr>
              <a:t>Your lab requires the following serial connections:</a:t>
            </a:r>
          </a:p>
        </p:txBody>
      </p:sp>
      <p:graphicFrame>
        <p:nvGraphicFramePr>
          <p:cNvPr id="2" name="Table 1">
            <a:extLst>
              <a:ext uri="{FF2B5EF4-FFF2-40B4-BE49-F238E27FC236}">
                <a16:creationId xmlns:a16="http://schemas.microsoft.com/office/drawing/2014/main" id="{640ED88E-6BCC-B723-771C-B3E84535BEF3}"/>
              </a:ext>
            </a:extLst>
          </p:cNvPr>
          <p:cNvGraphicFramePr>
            <a:graphicFrameLocks noGrp="1"/>
          </p:cNvGraphicFramePr>
          <p:nvPr>
            <p:extLst>
              <p:ext uri="{D42A27DB-BD31-4B8C-83A1-F6EECF244321}">
                <p14:modId xmlns:p14="http://schemas.microsoft.com/office/powerpoint/2010/main" val="398997751"/>
              </p:ext>
            </p:extLst>
          </p:nvPr>
        </p:nvGraphicFramePr>
        <p:xfrm>
          <a:off x="0" y="1863872"/>
          <a:ext cx="8002587" cy="2834640"/>
        </p:xfrm>
        <a:graphic>
          <a:graphicData uri="http://schemas.openxmlformats.org/drawingml/2006/table">
            <a:tbl>
              <a:tblPr/>
              <a:tblGrid>
                <a:gridCol w="2667529">
                  <a:extLst>
                    <a:ext uri="{9D8B030D-6E8A-4147-A177-3AD203B41FA5}">
                      <a16:colId xmlns:a16="http://schemas.microsoft.com/office/drawing/2014/main" val="1668138883"/>
                    </a:ext>
                  </a:extLst>
                </a:gridCol>
                <a:gridCol w="2667529">
                  <a:extLst>
                    <a:ext uri="{9D8B030D-6E8A-4147-A177-3AD203B41FA5}">
                      <a16:colId xmlns:a16="http://schemas.microsoft.com/office/drawing/2014/main" val="2520276313"/>
                    </a:ext>
                  </a:extLst>
                </a:gridCol>
                <a:gridCol w="2667529">
                  <a:extLst>
                    <a:ext uri="{9D8B030D-6E8A-4147-A177-3AD203B41FA5}">
                      <a16:colId xmlns:a16="http://schemas.microsoft.com/office/drawing/2014/main" val="3416099113"/>
                    </a:ext>
                  </a:extLst>
                </a:gridCol>
              </a:tblGrid>
              <a:tr h="0">
                <a:tc>
                  <a:txBody>
                    <a:bodyPr/>
                    <a:lstStyle/>
                    <a:p>
                      <a:pPr>
                        <a:buNone/>
                      </a:pPr>
                      <a:r>
                        <a:rPr lang="en-US" sz="2800" dirty="0"/>
                        <a:t>Connection</a:t>
                      </a:r>
                    </a:p>
                    <a:p>
                      <a:pPr>
                        <a:buNone/>
                      </a:pPr>
                      <a:endParaRPr lang="en-US" sz="2800" dirty="0"/>
                    </a:p>
                  </a:txBody>
                  <a:tcPr anchor="ctr">
                    <a:lnL>
                      <a:noFill/>
                    </a:lnL>
                    <a:lnR>
                      <a:noFill/>
                    </a:lnR>
                    <a:lnT>
                      <a:noFill/>
                    </a:lnT>
                    <a:lnB>
                      <a:noFill/>
                    </a:lnB>
                    <a:solidFill>
                      <a:schemeClr val="accent4">
                        <a:lumMod val="60000"/>
                        <a:lumOff val="40000"/>
                      </a:schemeClr>
                    </a:solidFill>
                  </a:tcPr>
                </a:tc>
                <a:tc>
                  <a:txBody>
                    <a:bodyPr/>
                    <a:lstStyle/>
                    <a:p>
                      <a:pPr>
                        <a:buNone/>
                      </a:pPr>
                      <a:r>
                        <a:rPr lang="en-US" sz="2800" dirty="0"/>
                        <a:t>DCE side</a:t>
                      </a:r>
                    </a:p>
                    <a:p>
                      <a:pPr>
                        <a:buNone/>
                      </a:pPr>
                      <a:endParaRPr lang="en-US" sz="2800" dirty="0"/>
                    </a:p>
                  </a:txBody>
                  <a:tcPr anchor="ctr">
                    <a:lnL>
                      <a:noFill/>
                    </a:lnL>
                    <a:lnR>
                      <a:noFill/>
                    </a:lnR>
                    <a:lnT>
                      <a:noFill/>
                    </a:lnT>
                    <a:lnB>
                      <a:noFill/>
                    </a:lnB>
                    <a:solidFill>
                      <a:schemeClr val="accent4">
                        <a:lumMod val="60000"/>
                        <a:lumOff val="40000"/>
                      </a:schemeClr>
                    </a:solidFill>
                  </a:tcPr>
                </a:tc>
                <a:tc>
                  <a:txBody>
                    <a:bodyPr/>
                    <a:lstStyle/>
                    <a:p>
                      <a:pPr>
                        <a:buNone/>
                      </a:pPr>
                      <a:r>
                        <a:rPr lang="en-US" sz="2800"/>
                        <a:t>DTE side</a:t>
                      </a:r>
                    </a:p>
                    <a:p>
                      <a:pPr>
                        <a:buNone/>
                      </a:pPr>
                      <a:endParaRPr lang="en-US" sz="2800"/>
                    </a:p>
                  </a:txBody>
                  <a:tcPr anchor="ctr">
                    <a:lnL>
                      <a:noFill/>
                    </a:lnL>
                    <a:lnR>
                      <a:noFill/>
                    </a:lnR>
                    <a:lnT>
                      <a:noFill/>
                    </a:lnT>
                    <a:lnB>
                      <a:noFill/>
                    </a:lnB>
                    <a:solidFill>
                      <a:schemeClr val="accent4">
                        <a:lumMod val="60000"/>
                        <a:lumOff val="40000"/>
                      </a:schemeClr>
                    </a:solidFill>
                  </a:tcPr>
                </a:tc>
                <a:extLst>
                  <a:ext uri="{0D108BD9-81ED-4DB2-BD59-A6C34878D82A}">
                    <a16:rowId xmlns:a16="http://schemas.microsoft.com/office/drawing/2014/main" val="423896877"/>
                  </a:ext>
                </a:extLst>
              </a:tr>
              <a:tr h="0">
                <a:tc>
                  <a:txBody>
                    <a:bodyPr/>
                    <a:lstStyle/>
                    <a:p>
                      <a:pPr>
                        <a:buNone/>
                      </a:pPr>
                      <a:r>
                        <a:rPr lang="en-US" sz="2800" dirty="0"/>
                        <a:t>LOCAL ↔ ISP</a:t>
                      </a:r>
                    </a:p>
                    <a:p>
                      <a:pPr>
                        <a:buNone/>
                      </a:pPr>
                      <a:endParaRPr lang="en-US" sz="2800" dirty="0"/>
                    </a:p>
                  </a:txBody>
                  <a:tcPr anchor="ctr">
                    <a:lnL>
                      <a:noFill/>
                    </a:lnL>
                    <a:lnR>
                      <a:noFill/>
                    </a:lnR>
                    <a:lnT>
                      <a:noFill/>
                    </a:lnT>
                    <a:lnB>
                      <a:noFill/>
                    </a:lnB>
                    <a:solidFill>
                      <a:schemeClr val="accent4">
                        <a:lumMod val="20000"/>
                        <a:lumOff val="80000"/>
                      </a:schemeClr>
                    </a:solidFill>
                  </a:tcPr>
                </a:tc>
                <a:tc>
                  <a:txBody>
                    <a:bodyPr/>
                    <a:lstStyle/>
                    <a:p>
                      <a:pPr>
                        <a:buNone/>
                      </a:pPr>
                      <a:r>
                        <a:rPr lang="en-US" sz="2800" dirty="0"/>
                        <a:t>LOCAL S0/0/0</a:t>
                      </a:r>
                    </a:p>
                    <a:p>
                      <a:pPr>
                        <a:buNone/>
                      </a:pPr>
                      <a:endParaRPr lang="en-US" sz="2800" dirty="0"/>
                    </a:p>
                  </a:txBody>
                  <a:tcPr anchor="ctr">
                    <a:lnL>
                      <a:noFill/>
                    </a:lnL>
                    <a:lnR>
                      <a:noFill/>
                    </a:lnR>
                    <a:lnT>
                      <a:noFill/>
                    </a:lnT>
                    <a:lnB>
                      <a:noFill/>
                    </a:lnB>
                    <a:solidFill>
                      <a:schemeClr val="accent4">
                        <a:lumMod val="20000"/>
                        <a:lumOff val="80000"/>
                      </a:schemeClr>
                    </a:solidFill>
                  </a:tcPr>
                </a:tc>
                <a:tc>
                  <a:txBody>
                    <a:bodyPr/>
                    <a:lstStyle/>
                    <a:p>
                      <a:pPr>
                        <a:buNone/>
                      </a:pPr>
                      <a:r>
                        <a:rPr lang="en-US" sz="2800" dirty="0"/>
                        <a:t>ISP S0/0/0</a:t>
                      </a:r>
                    </a:p>
                    <a:p>
                      <a:pPr>
                        <a:buNone/>
                      </a:pPr>
                      <a:endParaRPr lang="en-US" sz="2800"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58525983"/>
                  </a:ext>
                </a:extLst>
              </a:tr>
              <a:tr h="0">
                <a:tc>
                  <a:txBody>
                    <a:bodyPr/>
                    <a:lstStyle/>
                    <a:p>
                      <a:pPr>
                        <a:buNone/>
                      </a:pPr>
                      <a:r>
                        <a:rPr lang="en-US" sz="2800"/>
                        <a:t>ISP ↔ REMOTE</a:t>
                      </a:r>
                    </a:p>
                    <a:p>
                      <a:pPr>
                        <a:buNone/>
                      </a:pPr>
                      <a:endParaRPr lang="en-US" sz="2800"/>
                    </a:p>
                  </a:txBody>
                  <a:tcPr anchor="ctr">
                    <a:lnL>
                      <a:noFill/>
                    </a:lnL>
                    <a:lnR>
                      <a:noFill/>
                    </a:lnR>
                    <a:lnT>
                      <a:noFill/>
                    </a:lnT>
                    <a:lnB>
                      <a:noFill/>
                    </a:lnB>
                    <a:solidFill>
                      <a:schemeClr val="accent4">
                        <a:lumMod val="20000"/>
                        <a:lumOff val="80000"/>
                      </a:schemeClr>
                    </a:solidFill>
                  </a:tcPr>
                </a:tc>
                <a:tc>
                  <a:txBody>
                    <a:bodyPr/>
                    <a:lstStyle/>
                    <a:p>
                      <a:pPr>
                        <a:buNone/>
                      </a:pPr>
                      <a:r>
                        <a:rPr lang="en-US" sz="2800"/>
                        <a:t>ISP S0/0/1</a:t>
                      </a:r>
                    </a:p>
                    <a:p>
                      <a:pPr>
                        <a:buNone/>
                      </a:pPr>
                      <a:endParaRPr lang="en-US" sz="2800"/>
                    </a:p>
                  </a:txBody>
                  <a:tcPr anchor="ctr">
                    <a:lnL>
                      <a:noFill/>
                    </a:lnL>
                    <a:lnR>
                      <a:noFill/>
                    </a:lnR>
                    <a:lnT>
                      <a:noFill/>
                    </a:lnT>
                    <a:lnB>
                      <a:noFill/>
                    </a:lnB>
                    <a:solidFill>
                      <a:schemeClr val="accent4">
                        <a:lumMod val="20000"/>
                        <a:lumOff val="80000"/>
                      </a:schemeClr>
                    </a:solidFill>
                  </a:tcPr>
                </a:tc>
                <a:tc>
                  <a:txBody>
                    <a:bodyPr/>
                    <a:lstStyle/>
                    <a:p>
                      <a:pPr>
                        <a:buNone/>
                      </a:pPr>
                      <a:r>
                        <a:rPr lang="en-US" sz="2800" dirty="0"/>
                        <a:t>REMOTE S0/0/1</a:t>
                      </a:r>
                    </a:p>
                    <a:p>
                      <a:pPr>
                        <a:buNone/>
                      </a:pPr>
                      <a:endParaRPr lang="en-US" sz="2800"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3741050628"/>
                  </a:ext>
                </a:extLst>
              </a:tr>
            </a:tbl>
          </a:graphicData>
        </a:graphic>
      </p:graphicFrame>
      <p:sp>
        <p:nvSpPr>
          <p:cNvPr id="9" name="TextBox 8">
            <a:extLst>
              <a:ext uri="{FF2B5EF4-FFF2-40B4-BE49-F238E27FC236}">
                <a16:creationId xmlns:a16="http://schemas.microsoft.com/office/drawing/2014/main" id="{ED9AEFF0-C5D2-CB56-FD53-1BFBBD2C09DB}"/>
              </a:ext>
            </a:extLst>
          </p:cNvPr>
          <p:cNvSpPr txBox="1"/>
          <p:nvPr/>
        </p:nvSpPr>
        <p:spPr>
          <a:xfrm>
            <a:off x="29496" y="4686221"/>
            <a:ext cx="8981768" cy="1318181"/>
          </a:xfrm>
          <a:prstGeom prst="rect">
            <a:avLst/>
          </a:prstGeom>
          <a:noFill/>
        </p:spPr>
        <p:txBody>
          <a:bodyPr wrap="square">
            <a:spAutoFit/>
          </a:bodyPr>
          <a:lstStyle/>
          <a:p>
            <a:pPr>
              <a:lnSpc>
                <a:spcPct val="150000"/>
              </a:lnSpc>
              <a:buNone/>
            </a:pPr>
            <a:r>
              <a:rPr lang="en-US" sz="2800" dirty="0">
                <a:latin typeface="+mj-lt"/>
              </a:rPr>
              <a:t>The DCE side supplies clocking, so the clock rate is configured on LOCAL S0/0/0 and ISP S0/0/1.</a:t>
            </a:r>
          </a:p>
        </p:txBody>
      </p:sp>
    </p:spTree>
    <p:extLst>
      <p:ext uri="{BB962C8B-B14F-4D97-AF65-F5344CB8AC3E}">
        <p14:creationId xmlns:p14="http://schemas.microsoft.com/office/powerpoint/2010/main" val="2099440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31BA7-E785-20A2-2DA1-96FF03D8C96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1F3683F-B7D3-5E88-1FFC-636770C98649}"/>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50D112E2-2067-B9F2-F13C-99129D5CA481}"/>
              </a:ext>
            </a:extLst>
          </p:cNvPr>
          <p:cNvSpPr txBox="1"/>
          <p:nvPr/>
        </p:nvSpPr>
        <p:spPr>
          <a:xfrm>
            <a:off x="0" y="533401"/>
            <a:ext cx="9011264" cy="671851"/>
          </a:xfrm>
          <a:prstGeom prst="rect">
            <a:avLst/>
          </a:prstGeom>
          <a:noFill/>
        </p:spPr>
        <p:txBody>
          <a:bodyPr wrap="square">
            <a:spAutoFit/>
          </a:bodyPr>
          <a:lstStyle/>
          <a:p>
            <a:pPr>
              <a:lnSpc>
                <a:spcPct val="150000"/>
              </a:lnSpc>
              <a:buNone/>
            </a:pPr>
            <a:r>
              <a:rPr lang="en-US" sz="2800" b="1" dirty="0">
                <a:latin typeface="+mj-lt"/>
              </a:rPr>
              <a:t>Configure IP addresses for both WAN links</a:t>
            </a:r>
          </a:p>
        </p:txBody>
      </p:sp>
      <p:sp>
        <p:nvSpPr>
          <p:cNvPr id="9" name="TextBox 8">
            <a:extLst>
              <a:ext uri="{FF2B5EF4-FFF2-40B4-BE49-F238E27FC236}">
                <a16:creationId xmlns:a16="http://schemas.microsoft.com/office/drawing/2014/main" id="{8565C189-A567-0F29-D12B-E37F9310289E}"/>
              </a:ext>
            </a:extLst>
          </p:cNvPr>
          <p:cNvSpPr txBox="1"/>
          <p:nvPr/>
        </p:nvSpPr>
        <p:spPr>
          <a:xfrm>
            <a:off x="0" y="1205252"/>
            <a:ext cx="8981768" cy="2610843"/>
          </a:xfrm>
          <a:prstGeom prst="rect">
            <a:avLst/>
          </a:prstGeom>
          <a:noFill/>
        </p:spPr>
        <p:txBody>
          <a:bodyPr wrap="square">
            <a:spAutoFit/>
          </a:bodyPr>
          <a:lstStyle/>
          <a:p>
            <a:pPr>
              <a:lnSpc>
                <a:spcPct val="150000"/>
              </a:lnSpc>
            </a:pPr>
            <a:r>
              <a:rPr lang="en-US" sz="2800" dirty="0">
                <a:latin typeface="+mj-lt"/>
              </a:rPr>
              <a:t>Clocking alone does not provide IP connectivity. You also need to assign addresses.</a:t>
            </a:r>
          </a:p>
          <a:p>
            <a:pPr>
              <a:lnSpc>
                <a:spcPct val="150000"/>
              </a:lnSpc>
            </a:pPr>
            <a:r>
              <a:rPr lang="en-US" sz="2800" b="1" dirty="0">
                <a:latin typeface="+mj-lt"/>
              </a:rPr>
              <a:t>LOCAL router</a:t>
            </a:r>
          </a:p>
          <a:p>
            <a:pPr>
              <a:lnSpc>
                <a:spcPct val="150000"/>
              </a:lnSpc>
            </a:pPr>
            <a:r>
              <a:rPr lang="en-US" sz="2800" dirty="0">
                <a:latin typeface="+mj-lt"/>
              </a:rPr>
              <a:t>Open LOCAL → CLI:</a:t>
            </a:r>
          </a:p>
        </p:txBody>
      </p:sp>
    </p:spTree>
    <p:extLst>
      <p:ext uri="{BB962C8B-B14F-4D97-AF65-F5344CB8AC3E}">
        <p14:creationId xmlns:p14="http://schemas.microsoft.com/office/powerpoint/2010/main" val="19148343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4C0F7-093B-BB3A-7933-804D031A607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552944F-A710-073E-4D24-69B8FF7F103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65023C8E-951B-ABE0-8087-A84D2EAAA84A}"/>
              </a:ext>
            </a:extLst>
          </p:cNvPr>
          <p:cNvSpPr txBox="1"/>
          <p:nvPr/>
        </p:nvSpPr>
        <p:spPr>
          <a:xfrm>
            <a:off x="152400" y="671691"/>
            <a:ext cx="4655574" cy="6186309"/>
          </a:xfrm>
          <a:prstGeom prst="rect">
            <a:avLst/>
          </a:prstGeom>
          <a:noFill/>
        </p:spPr>
        <p:txBody>
          <a:bodyPr wrap="square">
            <a:spAutoFit/>
          </a:bodyPr>
          <a:lstStyle/>
          <a:p>
            <a:r>
              <a:rPr lang="en-US" dirty="0">
                <a:highlight>
                  <a:srgbClr val="FFFF00"/>
                </a:highlight>
                <a:latin typeface="+mj-lt"/>
              </a:rPr>
              <a:t>enable</a:t>
            </a:r>
          </a:p>
          <a:p>
            <a:r>
              <a:rPr lang="en-US" dirty="0">
                <a:highlight>
                  <a:srgbClr val="FFFF00"/>
                </a:highlight>
                <a:latin typeface="+mj-lt"/>
              </a:rPr>
              <a:t>configure terminal</a:t>
            </a:r>
          </a:p>
          <a:p>
            <a:r>
              <a:rPr lang="en-US" dirty="0">
                <a:highlight>
                  <a:srgbClr val="FFFF00"/>
                </a:highlight>
                <a:latin typeface="+mj-lt"/>
              </a:rPr>
              <a:t>no </a:t>
            </a:r>
            <a:r>
              <a:rPr lang="en-US" dirty="0" err="1">
                <a:highlight>
                  <a:srgbClr val="FFFF00"/>
                </a:highlight>
                <a:latin typeface="+mj-lt"/>
              </a:rPr>
              <a:t>ip</a:t>
            </a:r>
            <a:r>
              <a:rPr lang="en-US" dirty="0">
                <a:highlight>
                  <a:srgbClr val="FFFF00"/>
                </a:highlight>
                <a:latin typeface="+mj-lt"/>
              </a:rPr>
              <a:t> domain-lookup</a:t>
            </a:r>
          </a:p>
          <a:p>
            <a:endParaRPr lang="en-US" dirty="0">
              <a:highlight>
                <a:srgbClr val="FFFF00"/>
              </a:highlight>
              <a:latin typeface="+mj-lt"/>
            </a:endParaRPr>
          </a:p>
          <a:p>
            <a:r>
              <a:rPr lang="en-US" dirty="0">
                <a:highlight>
                  <a:srgbClr val="FFFF00"/>
                </a:highlight>
                <a:latin typeface="+mj-lt"/>
              </a:rPr>
              <a:t>interface serial 0/1/0</a:t>
            </a:r>
          </a:p>
          <a:p>
            <a:r>
              <a:rPr lang="en-US" dirty="0" err="1">
                <a:highlight>
                  <a:srgbClr val="FFFF00"/>
                </a:highlight>
                <a:latin typeface="+mj-lt"/>
              </a:rPr>
              <a:t>ip</a:t>
            </a:r>
            <a:r>
              <a:rPr lang="en-US" dirty="0">
                <a:highlight>
                  <a:srgbClr val="FFFF00"/>
                </a:highlight>
                <a:latin typeface="+mj-lt"/>
              </a:rPr>
              <a:t> address 10.1.1.1 255.255.255.252</a:t>
            </a:r>
          </a:p>
          <a:p>
            <a:r>
              <a:rPr lang="en-US" dirty="0">
                <a:highlight>
                  <a:srgbClr val="FFFF00"/>
                </a:highlight>
                <a:latin typeface="+mj-lt"/>
              </a:rPr>
              <a:t>clock rate 56000</a:t>
            </a:r>
          </a:p>
          <a:p>
            <a:r>
              <a:rPr lang="en-US" dirty="0">
                <a:highlight>
                  <a:srgbClr val="FFFF00"/>
                </a:highlight>
                <a:latin typeface="+mj-lt"/>
              </a:rPr>
              <a:t>no shutdown</a:t>
            </a:r>
          </a:p>
          <a:p>
            <a:r>
              <a:rPr lang="en-US" dirty="0">
                <a:highlight>
                  <a:srgbClr val="FFFF00"/>
                </a:highlight>
                <a:latin typeface="+mj-lt"/>
              </a:rPr>
              <a:t>exit</a:t>
            </a:r>
          </a:p>
          <a:p>
            <a:endParaRPr lang="en-US" dirty="0">
              <a:highlight>
                <a:srgbClr val="FFFF00"/>
              </a:highlight>
              <a:latin typeface="+mj-lt"/>
            </a:endParaRPr>
          </a:p>
          <a:p>
            <a:r>
              <a:rPr lang="en-US" dirty="0">
                <a:highlight>
                  <a:srgbClr val="FFFF00"/>
                </a:highlight>
                <a:latin typeface="+mj-lt"/>
              </a:rPr>
              <a:t>interface </a:t>
            </a:r>
            <a:r>
              <a:rPr lang="en-US" dirty="0" err="1">
                <a:highlight>
                  <a:srgbClr val="FFFF00"/>
                </a:highlight>
                <a:latin typeface="+mj-lt"/>
              </a:rPr>
              <a:t>gigabitEthernet</a:t>
            </a:r>
            <a:r>
              <a:rPr lang="en-US" dirty="0">
                <a:highlight>
                  <a:srgbClr val="FFFF00"/>
                </a:highlight>
                <a:latin typeface="+mj-lt"/>
              </a:rPr>
              <a:t> 0/1</a:t>
            </a:r>
          </a:p>
          <a:p>
            <a:r>
              <a:rPr lang="en-US" dirty="0" err="1">
                <a:highlight>
                  <a:srgbClr val="FFFF00"/>
                </a:highlight>
                <a:latin typeface="+mj-lt"/>
              </a:rPr>
              <a:t>ip</a:t>
            </a:r>
            <a:r>
              <a:rPr lang="en-US" dirty="0">
                <a:highlight>
                  <a:srgbClr val="FFFF00"/>
                </a:highlight>
                <a:latin typeface="+mj-lt"/>
              </a:rPr>
              <a:t> address 192.168.1.1 255.255.255.0</a:t>
            </a:r>
          </a:p>
          <a:p>
            <a:r>
              <a:rPr lang="en-US" dirty="0">
                <a:highlight>
                  <a:srgbClr val="FFFF00"/>
                </a:highlight>
                <a:latin typeface="+mj-lt"/>
              </a:rPr>
              <a:t>no shutdown</a:t>
            </a:r>
          </a:p>
          <a:p>
            <a:r>
              <a:rPr lang="en-US" dirty="0">
                <a:highlight>
                  <a:srgbClr val="FFFF00"/>
                </a:highlight>
                <a:latin typeface="+mj-lt"/>
              </a:rPr>
              <a:t>exit</a:t>
            </a:r>
          </a:p>
          <a:p>
            <a:endParaRPr lang="en-US" dirty="0">
              <a:highlight>
                <a:srgbClr val="FFFF00"/>
              </a:highlight>
              <a:latin typeface="+mj-lt"/>
            </a:endParaRPr>
          </a:p>
          <a:p>
            <a:r>
              <a:rPr lang="en-US" dirty="0">
                <a:highlight>
                  <a:srgbClr val="FFFF00"/>
                </a:highlight>
                <a:latin typeface="+mj-lt"/>
              </a:rPr>
              <a:t>router </a:t>
            </a:r>
            <a:r>
              <a:rPr lang="en-US" dirty="0" err="1">
                <a:highlight>
                  <a:srgbClr val="FFFF00"/>
                </a:highlight>
                <a:latin typeface="+mj-lt"/>
              </a:rPr>
              <a:t>eigrp</a:t>
            </a:r>
            <a:r>
              <a:rPr lang="en-US" dirty="0">
                <a:highlight>
                  <a:srgbClr val="FFFF00"/>
                </a:highlight>
                <a:latin typeface="+mj-lt"/>
              </a:rPr>
              <a:t> 1</a:t>
            </a:r>
          </a:p>
          <a:p>
            <a:r>
              <a:rPr lang="en-US" dirty="0">
                <a:highlight>
                  <a:srgbClr val="FFFF00"/>
                </a:highlight>
                <a:latin typeface="+mj-lt"/>
              </a:rPr>
              <a:t>network 10.1.1.0 0.0.0.3</a:t>
            </a:r>
          </a:p>
          <a:p>
            <a:r>
              <a:rPr lang="en-US" dirty="0">
                <a:highlight>
                  <a:srgbClr val="FFFF00"/>
                </a:highlight>
                <a:latin typeface="+mj-lt"/>
              </a:rPr>
              <a:t>network 192.168.1.0 0.0.0.255</a:t>
            </a:r>
          </a:p>
          <a:p>
            <a:r>
              <a:rPr lang="en-US" dirty="0">
                <a:highlight>
                  <a:srgbClr val="FFFF00"/>
                </a:highlight>
                <a:latin typeface="+mj-lt"/>
              </a:rPr>
              <a:t>no auto-summary</a:t>
            </a:r>
          </a:p>
          <a:p>
            <a:r>
              <a:rPr lang="en-US" dirty="0">
                <a:highlight>
                  <a:srgbClr val="FFFF00"/>
                </a:highlight>
                <a:latin typeface="+mj-lt"/>
              </a:rPr>
              <a:t>end</a:t>
            </a:r>
          </a:p>
          <a:p>
            <a:endParaRPr lang="en-US" dirty="0">
              <a:highlight>
                <a:srgbClr val="FFFF00"/>
              </a:highlight>
              <a:latin typeface="+mj-lt"/>
            </a:endParaRPr>
          </a:p>
          <a:p>
            <a:r>
              <a:rPr lang="en-US" dirty="0">
                <a:highlight>
                  <a:srgbClr val="FFFF00"/>
                </a:highlight>
                <a:latin typeface="+mj-lt"/>
              </a:rPr>
              <a:t>copy running-config startup-config</a:t>
            </a:r>
          </a:p>
        </p:txBody>
      </p:sp>
      <p:pic>
        <p:nvPicPr>
          <p:cNvPr id="7" name="Picture 6">
            <a:extLst>
              <a:ext uri="{FF2B5EF4-FFF2-40B4-BE49-F238E27FC236}">
                <a16:creationId xmlns:a16="http://schemas.microsoft.com/office/drawing/2014/main" id="{8980AE94-F4CD-3269-8384-CB4FBEA276BD}"/>
              </a:ext>
            </a:extLst>
          </p:cNvPr>
          <p:cNvPicPr>
            <a:picLocks noChangeAspect="1"/>
          </p:cNvPicPr>
          <p:nvPr/>
        </p:nvPicPr>
        <p:blipFill>
          <a:blip r:embed="rId2"/>
          <a:srcRect l="26667" t="2592" r="26667" b="12963"/>
          <a:stretch>
            <a:fillRect/>
          </a:stretch>
        </p:blipFill>
        <p:spPr>
          <a:xfrm>
            <a:off x="4753897" y="1371742"/>
            <a:ext cx="4267200" cy="4343400"/>
          </a:xfrm>
          <a:prstGeom prst="rect">
            <a:avLst/>
          </a:prstGeom>
          <a:ln>
            <a:solidFill>
              <a:srgbClr val="FF0000"/>
            </a:solidFill>
          </a:ln>
        </p:spPr>
      </p:pic>
      <p:sp>
        <p:nvSpPr>
          <p:cNvPr id="10" name="TextBox 9">
            <a:extLst>
              <a:ext uri="{FF2B5EF4-FFF2-40B4-BE49-F238E27FC236}">
                <a16:creationId xmlns:a16="http://schemas.microsoft.com/office/drawing/2014/main" id="{BB00AFBB-B8D3-239C-E06E-C056D3795B0B}"/>
              </a:ext>
            </a:extLst>
          </p:cNvPr>
          <p:cNvSpPr txBox="1"/>
          <p:nvPr/>
        </p:nvSpPr>
        <p:spPr>
          <a:xfrm>
            <a:off x="4488427" y="5953528"/>
            <a:ext cx="4655573" cy="923330"/>
          </a:xfrm>
          <a:prstGeom prst="rect">
            <a:avLst/>
          </a:prstGeom>
          <a:noFill/>
        </p:spPr>
        <p:txBody>
          <a:bodyPr wrap="square">
            <a:spAutoFit/>
          </a:bodyPr>
          <a:lstStyle/>
          <a:p>
            <a:pPr>
              <a:buNone/>
            </a:pPr>
            <a:r>
              <a:rPr lang="en-US" dirty="0">
                <a:latin typeface="+mj-lt"/>
              </a:rPr>
              <a:t>Important: This assumes LOCAL Serial0/1/0 is the DCE end of the cable. If the clock rate command fails, check the DCE cable direction.</a:t>
            </a:r>
          </a:p>
        </p:txBody>
      </p:sp>
    </p:spTree>
    <p:extLst>
      <p:ext uri="{BB962C8B-B14F-4D97-AF65-F5344CB8AC3E}">
        <p14:creationId xmlns:p14="http://schemas.microsoft.com/office/powerpoint/2010/main" val="3325612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8E139-82B8-B91D-7A03-1FBEF26F621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5128FA9-0FE1-2D48-49ED-7A63F156BBC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4826F2C3-21A5-30F7-FDF7-C571497B0989}"/>
              </a:ext>
            </a:extLst>
          </p:cNvPr>
          <p:cNvSpPr txBox="1"/>
          <p:nvPr/>
        </p:nvSpPr>
        <p:spPr>
          <a:xfrm>
            <a:off x="152400" y="671691"/>
            <a:ext cx="4655574" cy="5877506"/>
          </a:xfrm>
          <a:prstGeom prst="rect">
            <a:avLst/>
          </a:prstGeom>
          <a:noFill/>
        </p:spPr>
        <p:txBody>
          <a:bodyPr wrap="square">
            <a:spAutoFit/>
          </a:bodyPr>
          <a:lstStyle/>
          <a:p>
            <a:pPr>
              <a:lnSpc>
                <a:spcPct val="150000"/>
              </a:lnSpc>
            </a:pPr>
            <a:r>
              <a:rPr lang="en-US" sz="2300" dirty="0">
                <a:latin typeface="+mj-lt"/>
              </a:rPr>
              <a:t>You are currently at:</a:t>
            </a:r>
          </a:p>
          <a:p>
            <a:pPr rtl="0">
              <a:lnSpc>
                <a:spcPct val="150000"/>
              </a:lnSpc>
            </a:pPr>
            <a:r>
              <a:rPr lang="en-US" sz="2300" dirty="0">
                <a:latin typeface="+mj-lt"/>
              </a:rPr>
              <a:t>Destination filename [startup-config]?</a:t>
            </a:r>
          </a:p>
          <a:p>
            <a:pPr>
              <a:lnSpc>
                <a:spcPct val="150000"/>
              </a:lnSpc>
            </a:pPr>
            <a:r>
              <a:rPr lang="en-US" sz="2300" b="1" dirty="0">
                <a:latin typeface="+mj-lt"/>
              </a:rPr>
              <a:t>What to enter now</a:t>
            </a:r>
          </a:p>
          <a:p>
            <a:pPr>
              <a:lnSpc>
                <a:spcPct val="150000"/>
              </a:lnSpc>
            </a:pPr>
            <a:r>
              <a:rPr lang="en-US" sz="2300" dirty="0">
                <a:latin typeface="+mj-lt"/>
              </a:rPr>
              <a:t>Simply press Enter. Do not type anything.</a:t>
            </a:r>
          </a:p>
          <a:p>
            <a:pPr>
              <a:lnSpc>
                <a:spcPct val="150000"/>
              </a:lnSpc>
            </a:pPr>
            <a:r>
              <a:rPr lang="en-US" sz="2300" dirty="0">
                <a:latin typeface="+mj-lt"/>
              </a:rPr>
              <a:t>You should see something similar to:</a:t>
            </a:r>
          </a:p>
          <a:p>
            <a:pPr rtl="0">
              <a:lnSpc>
                <a:spcPct val="150000"/>
              </a:lnSpc>
            </a:pPr>
            <a:r>
              <a:rPr lang="en-US" sz="2300" dirty="0">
                <a:latin typeface="+mj-lt"/>
              </a:rPr>
              <a:t>Building configuration...</a:t>
            </a:r>
          </a:p>
          <a:p>
            <a:pPr rtl="0">
              <a:lnSpc>
                <a:spcPct val="150000"/>
              </a:lnSpc>
            </a:pPr>
            <a:r>
              <a:rPr lang="en-US" sz="2300" dirty="0">
                <a:latin typeface="+mj-lt"/>
              </a:rPr>
              <a:t>[OK]</a:t>
            </a:r>
          </a:p>
          <a:p>
            <a:pPr rtl="0">
              <a:lnSpc>
                <a:spcPct val="150000"/>
              </a:lnSpc>
            </a:pPr>
            <a:r>
              <a:rPr lang="en-US" sz="2300" dirty="0">
                <a:latin typeface="+mj-lt"/>
              </a:rPr>
              <a:t>LOCAL#</a:t>
            </a:r>
          </a:p>
          <a:p>
            <a:pPr>
              <a:lnSpc>
                <a:spcPct val="150000"/>
              </a:lnSpc>
            </a:pPr>
            <a:r>
              <a:rPr lang="en-US" sz="2300" dirty="0">
                <a:latin typeface="+mj-lt"/>
              </a:rPr>
              <a:t>This saves your configuration.</a:t>
            </a:r>
          </a:p>
        </p:txBody>
      </p:sp>
      <p:pic>
        <p:nvPicPr>
          <p:cNvPr id="5" name="Picture 4">
            <a:extLst>
              <a:ext uri="{FF2B5EF4-FFF2-40B4-BE49-F238E27FC236}">
                <a16:creationId xmlns:a16="http://schemas.microsoft.com/office/drawing/2014/main" id="{FBF8F2D2-226D-E918-FA3C-0CAEC591A3C7}"/>
              </a:ext>
            </a:extLst>
          </p:cNvPr>
          <p:cNvPicPr>
            <a:picLocks noChangeAspect="1"/>
          </p:cNvPicPr>
          <p:nvPr/>
        </p:nvPicPr>
        <p:blipFill>
          <a:blip r:embed="rId2"/>
          <a:srcRect l="27097" t="2831" r="26667" b="12963"/>
          <a:stretch>
            <a:fillRect/>
          </a:stretch>
        </p:blipFill>
        <p:spPr>
          <a:xfrm>
            <a:off x="4837471" y="1444889"/>
            <a:ext cx="4227871" cy="4331110"/>
          </a:xfrm>
          <a:prstGeom prst="rect">
            <a:avLst/>
          </a:prstGeom>
          <a:ln>
            <a:solidFill>
              <a:srgbClr val="FF0000"/>
            </a:solidFill>
          </a:ln>
        </p:spPr>
      </p:pic>
    </p:spTree>
    <p:extLst>
      <p:ext uri="{BB962C8B-B14F-4D97-AF65-F5344CB8AC3E}">
        <p14:creationId xmlns:p14="http://schemas.microsoft.com/office/powerpoint/2010/main" val="35659496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B7FD4-5286-4171-4799-E290F9B2D6F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3190801-4887-4C37-0BA5-2511696E3FB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6" name="Picture 5">
            <a:extLst>
              <a:ext uri="{FF2B5EF4-FFF2-40B4-BE49-F238E27FC236}">
                <a16:creationId xmlns:a16="http://schemas.microsoft.com/office/drawing/2014/main" id="{29AEF055-A61B-1866-92C3-F61F522A98F6}"/>
              </a:ext>
            </a:extLst>
          </p:cNvPr>
          <p:cNvPicPr>
            <a:picLocks noChangeAspect="1"/>
          </p:cNvPicPr>
          <p:nvPr/>
        </p:nvPicPr>
        <p:blipFill>
          <a:blip r:embed="rId2"/>
          <a:srcRect l="27097" t="3119" r="26774" b="12868"/>
          <a:stretch>
            <a:fillRect/>
          </a:stretch>
        </p:blipFill>
        <p:spPr>
          <a:xfrm>
            <a:off x="4930877" y="1449805"/>
            <a:ext cx="4218039" cy="4321277"/>
          </a:xfrm>
          <a:prstGeom prst="rect">
            <a:avLst/>
          </a:prstGeom>
          <a:ln>
            <a:solidFill>
              <a:srgbClr val="FF0000"/>
            </a:solidFill>
          </a:ln>
        </p:spPr>
      </p:pic>
      <p:graphicFrame>
        <p:nvGraphicFramePr>
          <p:cNvPr id="8" name="Table 7">
            <a:extLst>
              <a:ext uri="{FF2B5EF4-FFF2-40B4-BE49-F238E27FC236}">
                <a16:creationId xmlns:a16="http://schemas.microsoft.com/office/drawing/2014/main" id="{B851ABC1-0374-12C1-2791-30772C3F0B9B}"/>
              </a:ext>
            </a:extLst>
          </p:cNvPr>
          <p:cNvGraphicFramePr>
            <a:graphicFrameLocks noGrp="1"/>
          </p:cNvGraphicFramePr>
          <p:nvPr>
            <p:extLst>
              <p:ext uri="{D42A27DB-BD31-4B8C-83A1-F6EECF244321}">
                <p14:modId xmlns:p14="http://schemas.microsoft.com/office/powerpoint/2010/main" val="3895091918"/>
              </p:ext>
            </p:extLst>
          </p:nvPr>
        </p:nvGraphicFramePr>
        <p:xfrm>
          <a:off x="0" y="533400"/>
          <a:ext cx="4572000" cy="5419130"/>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3963049057"/>
                    </a:ext>
                  </a:extLst>
                </a:gridCol>
                <a:gridCol w="1143000">
                  <a:extLst>
                    <a:ext uri="{9D8B030D-6E8A-4147-A177-3AD203B41FA5}">
                      <a16:colId xmlns:a16="http://schemas.microsoft.com/office/drawing/2014/main" val="1351183014"/>
                    </a:ext>
                  </a:extLst>
                </a:gridCol>
                <a:gridCol w="1143000">
                  <a:extLst>
                    <a:ext uri="{9D8B030D-6E8A-4147-A177-3AD203B41FA5}">
                      <a16:colId xmlns:a16="http://schemas.microsoft.com/office/drawing/2014/main" val="1902704055"/>
                    </a:ext>
                  </a:extLst>
                </a:gridCol>
                <a:gridCol w="1143000">
                  <a:extLst>
                    <a:ext uri="{9D8B030D-6E8A-4147-A177-3AD203B41FA5}">
                      <a16:colId xmlns:a16="http://schemas.microsoft.com/office/drawing/2014/main" val="2636026741"/>
                    </a:ext>
                  </a:extLst>
                </a:gridCol>
              </a:tblGrid>
              <a:tr h="0">
                <a:tc>
                  <a:txBody>
                    <a:bodyPr/>
                    <a:lstStyle/>
                    <a:p>
                      <a:pPr>
                        <a:buNone/>
                      </a:pPr>
                      <a:r>
                        <a:rPr lang="en-US" sz="2200"/>
                        <a:t>Interface</a:t>
                      </a:r>
                    </a:p>
                  </a:txBody>
                  <a:tcPr marL="10929" marR="10929" marT="5465" marB="5465" anchor="ctr">
                    <a:solidFill>
                      <a:schemeClr val="accent4">
                        <a:lumMod val="20000"/>
                        <a:lumOff val="80000"/>
                      </a:schemeClr>
                    </a:solidFill>
                  </a:tcPr>
                </a:tc>
                <a:tc>
                  <a:txBody>
                    <a:bodyPr/>
                    <a:lstStyle/>
                    <a:p>
                      <a:pPr>
                        <a:buNone/>
                      </a:pPr>
                      <a:r>
                        <a:rPr lang="en-US" sz="2200"/>
                        <a:t>IP address</a:t>
                      </a:r>
                    </a:p>
                  </a:txBody>
                  <a:tcPr marL="10929" marR="10929" marT="5465" marB="5465" anchor="ctr">
                    <a:solidFill>
                      <a:schemeClr val="accent4">
                        <a:lumMod val="20000"/>
                        <a:lumOff val="80000"/>
                      </a:schemeClr>
                    </a:solidFill>
                  </a:tcPr>
                </a:tc>
                <a:tc>
                  <a:txBody>
                    <a:bodyPr/>
                    <a:lstStyle/>
                    <a:p>
                      <a:pPr>
                        <a:buNone/>
                      </a:pPr>
                      <a:r>
                        <a:rPr lang="en-US" sz="2200"/>
                        <a:t>Current status</a:t>
                      </a:r>
                    </a:p>
                  </a:txBody>
                  <a:tcPr marL="10929" marR="10929" marT="5465" marB="5465" anchor="ctr">
                    <a:solidFill>
                      <a:schemeClr val="accent4">
                        <a:lumMod val="20000"/>
                        <a:lumOff val="80000"/>
                      </a:schemeClr>
                    </a:solidFill>
                  </a:tcPr>
                </a:tc>
                <a:tc>
                  <a:txBody>
                    <a:bodyPr/>
                    <a:lstStyle/>
                    <a:p>
                      <a:pPr>
                        <a:buNone/>
                      </a:pPr>
                      <a:r>
                        <a:rPr lang="en-US" sz="2200"/>
                        <a:t>Result</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423285922"/>
                  </a:ext>
                </a:extLst>
              </a:tr>
              <a:tr h="0">
                <a:tc>
                  <a:txBody>
                    <a:bodyPr/>
                    <a:lstStyle/>
                    <a:p>
                      <a:pPr>
                        <a:buNone/>
                      </a:pPr>
                      <a:r>
                        <a:rPr lang="en-US" sz="2200"/>
                        <a:t>GigabitEthernet0/1</a:t>
                      </a:r>
                    </a:p>
                  </a:txBody>
                  <a:tcPr marL="10929" marR="10929" marT="5465" marB="5465" anchor="ctr">
                    <a:solidFill>
                      <a:schemeClr val="accent4">
                        <a:lumMod val="20000"/>
                        <a:lumOff val="80000"/>
                      </a:schemeClr>
                    </a:solidFill>
                  </a:tcPr>
                </a:tc>
                <a:tc>
                  <a:txBody>
                    <a:bodyPr/>
                    <a:lstStyle/>
                    <a:p>
                      <a:pPr>
                        <a:buNone/>
                      </a:pPr>
                      <a:r>
                        <a:rPr lang="en-US" sz="2200"/>
                        <a:t>192.168.1.1</a:t>
                      </a:r>
                    </a:p>
                  </a:txBody>
                  <a:tcPr marL="10929" marR="10929" marT="5465" marB="5465" anchor="ctr">
                    <a:solidFill>
                      <a:schemeClr val="accent4">
                        <a:lumMod val="20000"/>
                        <a:lumOff val="80000"/>
                      </a:schemeClr>
                    </a:solidFill>
                  </a:tcPr>
                </a:tc>
                <a:tc>
                  <a:txBody>
                    <a:bodyPr/>
                    <a:lstStyle/>
                    <a:p>
                      <a:pPr>
                        <a:buNone/>
                      </a:pPr>
                      <a:r>
                        <a:rPr lang="en-US" sz="2200"/>
                        <a:t>down/down</a:t>
                      </a:r>
                    </a:p>
                  </a:txBody>
                  <a:tcPr marL="10929" marR="10929" marT="5465" marB="5465" anchor="ctr">
                    <a:solidFill>
                      <a:schemeClr val="accent4">
                        <a:lumMod val="20000"/>
                        <a:lumOff val="80000"/>
                      </a:schemeClr>
                    </a:solidFill>
                  </a:tcPr>
                </a:tc>
                <a:tc>
                  <a:txBody>
                    <a:bodyPr/>
                    <a:lstStyle/>
                    <a:p>
                      <a:pPr>
                        <a:buNone/>
                      </a:pPr>
                      <a:r>
                        <a:rPr lang="en-US" sz="2200"/>
                        <a:t>Check cable to S1</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2600507401"/>
                  </a:ext>
                </a:extLst>
              </a:tr>
              <a:tr h="54340">
                <a:tc>
                  <a:txBody>
                    <a:bodyPr/>
                    <a:lstStyle/>
                    <a:p>
                      <a:pPr>
                        <a:buNone/>
                      </a:pPr>
                      <a:r>
                        <a:rPr lang="en-US" sz="2200"/>
                        <a:t>Serial0/1/0</a:t>
                      </a:r>
                    </a:p>
                  </a:txBody>
                  <a:tcPr marL="10929" marR="10929" marT="5465" marB="5465" anchor="ctr">
                    <a:solidFill>
                      <a:schemeClr val="accent4">
                        <a:lumMod val="20000"/>
                        <a:lumOff val="80000"/>
                      </a:schemeClr>
                    </a:solidFill>
                  </a:tcPr>
                </a:tc>
                <a:tc>
                  <a:txBody>
                    <a:bodyPr/>
                    <a:lstStyle/>
                    <a:p>
                      <a:pPr>
                        <a:buNone/>
                      </a:pPr>
                      <a:r>
                        <a:rPr lang="en-US" sz="2200"/>
                        <a:t>10.1.1.1</a:t>
                      </a:r>
                    </a:p>
                  </a:txBody>
                  <a:tcPr marL="10929" marR="10929" marT="5465" marB="5465" anchor="ctr">
                    <a:solidFill>
                      <a:schemeClr val="accent4">
                        <a:lumMod val="20000"/>
                        <a:lumOff val="80000"/>
                      </a:schemeClr>
                    </a:solidFill>
                  </a:tcPr>
                </a:tc>
                <a:tc>
                  <a:txBody>
                    <a:bodyPr/>
                    <a:lstStyle/>
                    <a:p>
                      <a:pPr>
                        <a:buNone/>
                      </a:pPr>
                      <a:r>
                        <a:rPr lang="en-US" sz="2200"/>
                        <a:t>down/down</a:t>
                      </a:r>
                    </a:p>
                  </a:txBody>
                  <a:tcPr marL="10929" marR="10929" marT="5465" marB="5465" anchor="ctr">
                    <a:solidFill>
                      <a:schemeClr val="accent4">
                        <a:lumMod val="20000"/>
                        <a:lumOff val="80000"/>
                      </a:schemeClr>
                    </a:solidFill>
                  </a:tcPr>
                </a:tc>
                <a:tc>
                  <a:txBody>
                    <a:bodyPr/>
                    <a:lstStyle/>
                    <a:p>
                      <a:pPr>
                        <a:buNone/>
                      </a:pPr>
                      <a:r>
                        <a:rPr lang="en-US" sz="2200"/>
                        <a:t>Check cable to ISP</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3237621862"/>
                  </a:ext>
                </a:extLst>
              </a:tr>
              <a:tr h="0">
                <a:tc>
                  <a:txBody>
                    <a:bodyPr/>
                    <a:lstStyle/>
                    <a:p>
                      <a:pPr>
                        <a:buNone/>
                      </a:pPr>
                      <a:r>
                        <a:rPr lang="en-US" sz="2200"/>
                        <a:t>GigabitEthernet0/0</a:t>
                      </a:r>
                    </a:p>
                  </a:txBody>
                  <a:tcPr marL="10929" marR="10929" marT="5465" marB="5465" anchor="ctr">
                    <a:solidFill>
                      <a:schemeClr val="accent4">
                        <a:lumMod val="20000"/>
                        <a:lumOff val="80000"/>
                      </a:schemeClr>
                    </a:solidFill>
                  </a:tcPr>
                </a:tc>
                <a:tc>
                  <a:txBody>
                    <a:bodyPr/>
                    <a:lstStyle/>
                    <a:p>
                      <a:pPr>
                        <a:buNone/>
                      </a:pPr>
                      <a:r>
                        <a:rPr lang="en-US" sz="2200"/>
                        <a:t>Unassigned</a:t>
                      </a:r>
                    </a:p>
                  </a:txBody>
                  <a:tcPr marL="10929" marR="10929" marT="5465" marB="5465" anchor="ctr">
                    <a:solidFill>
                      <a:schemeClr val="accent4">
                        <a:lumMod val="20000"/>
                        <a:lumOff val="80000"/>
                      </a:schemeClr>
                    </a:solidFill>
                  </a:tcPr>
                </a:tc>
                <a:tc>
                  <a:txBody>
                    <a:bodyPr/>
                    <a:lstStyle/>
                    <a:p>
                      <a:pPr>
                        <a:buNone/>
                      </a:pPr>
                      <a:r>
                        <a:rPr lang="en-US" sz="2200"/>
                        <a:t>administratively down/down</a:t>
                      </a:r>
                    </a:p>
                  </a:txBody>
                  <a:tcPr marL="10929" marR="10929" marT="5465" marB="5465" anchor="ctr">
                    <a:solidFill>
                      <a:schemeClr val="accent4">
                        <a:lumMod val="20000"/>
                        <a:lumOff val="80000"/>
                      </a:schemeClr>
                    </a:solidFill>
                  </a:tcPr>
                </a:tc>
                <a:tc>
                  <a:txBody>
                    <a:bodyPr/>
                    <a:lstStyle/>
                    <a:p>
                      <a:pPr>
                        <a:buNone/>
                      </a:pPr>
                      <a:r>
                        <a:rPr lang="en-US" sz="2200"/>
                        <a:t>Normal — unused</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2061878959"/>
                  </a:ext>
                </a:extLst>
              </a:tr>
              <a:tr h="657320">
                <a:tc>
                  <a:txBody>
                    <a:bodyPr/>
                    <a:lstStyle/>
                    <a:p>
                      <a:pPr>
                        <a:buNone/>
                      </a:pPr>
                      <a:r>
                        <a:rPr lang="en-US" sz="2200"/>
                        <a:t>Serial0/1/1</a:t>
                      </a:r>
                    </a:p>
                  </a:txBody>
                  <a:tcPr marL="10929" marR="10929" marT="5465" marB="5465" anchor="ctr">
                    <a:solidFill>
                      <a:schemeClr val="accent4">
                        <a:lumMod val="20000"/>
                        <a:lumOff val="80000"/>
                      </a:schemeClr>
                    </a:solidFill>
                  </a:tcPr>
                </a:tc>
                <a:tc>
                  <a:txBody>
                    <a:bodyPr/>
                    <a:lstStyle/>
                    <a:p>
                      <a:pPr>
                        <a:buNone/>
                      </a:pPr>
                      <a:r>
                        <a:rPr lang="en-US" sz="2200"/>
                        <a:t>Unassigned</a:t>
                      </a:r>
                    </a:p>
                  </a:txBody>
                  <a:tcPr marL="10929" marR="10929" marT="5465" marB="5465" anchor="ctr">
                    <a:solidFill>
                      <a:schemeClr val="accent4">
                        <a:lumMod val="20000"/>
                        <a:lumOff val="80000"/>
                      </a:schemeClr>
                    </a:solidFill>
                  </a:tcPr>
                </a:tc>
                <a:tc>
                  <a:txBody>
                    <a:bodyPr/>
                    <a:lstStyle/>
                    <a:p>
                      <a:pPr>
                        <a:buNone/>
                      </a:pPr>
                      <a:r>
                        <a:rPr lang="en-US" sz="2200"/>
                        <a:t>administratively down/down</a:t>
                      </a:r>
                    </a:p>
                  </a:txBody>
                  <a:tcPr marL="10929" marR="10929" marT="5465" marB="5465" anchor="ctr">
                    <a:solidFill>
                      <a:schemeClr val="accent4">
                        <a:lumMod val="20000"/>
                        <a:lumOff val="80000"/>
                      </a:schemeClr>
                    </a:solidFill>
                  </a:tcPr>
                </a:tc>
                <a:tc>
                  <a:txBody>
                    <a:bodyPr/>
                    <a:lstStyle/>
                    <a:p>
                      <a:pPr>
                        <a:buNone/>
                      </a:pPr>
                      <a:r>
                        <a:rPr lang="en-US" sz="2200" dirty="0"/>
                        <a:t>Normal — unused</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3477863544"/>
                  </a:ext>
                </a:extLst>
              </a:tr>
            </a:tbl>
          </a:graphicData>
        </a:graphic>
      </p:graphicFrame>
    </p:spTree>
    <p:extLst>
      <p:ext uri="{BB962C8B-B14F-4D97-AF65-F5344CB8AC3E}">
        <p14:creationId xmlns:p14="http://schemas.microsoft.com/office/powerpoint/2010/main" val="29700433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D7D82-3417-F576-0C8D-2E09FF6D11D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EE2B666-19C8-40C7-8EA4-2857299019A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BB010876-BA78-A7E7-073A-1EA82C2A7294}"/>
              </a:ext>
            </a:extLst>
          </p:cNvPr>
          <p:cNvSpPr txBox="1"/>
          <p:nvPr/>
        </p:nvSpPr>
        <p:spPr>
          <a:xfrm>
            <a:off x="0" y="378260"/>
            <a:ext cx="8965580" cy="5626027"/>
          </a:xfrm>
          <a:prstGeom prst="rect">
            <a:avLst/>
          </a:prstGeom>
          <a:noFill/>
        </p:spPr>
        <p:txBody>
          <a:bodyPr wrap="square">
            <a:spAutoFit/>
          </a:bodyPr>
          <a:lstStyle/>
          <a:p>
            <a:pPr>
              <a:lnSpc>
                <a:spcPct val="150000"/>
              </a:lnSpc>
              <a:buNone/>
            </a:pPr>
            <a:r>
              <a:rPr lang="en-US" sz="2200" b="1" dirty="0">
                <a:latin typeface="+mj-lt"/>
              </a:rPr>
              <a:t>Fix LOCAL ↔ S1 first</a:t>
            </a:r>
          </a:p>
          <a:p>
            <a:pPr>
              <a:lnSpc>
                <a:spcPct val="150000"/>
              </a:lnSpc>
              <a:buNone/>
            </a:pPr>
            <a:r>
              <a:rPr lang="en-US" sz="2200" dirty="0">
                <a:latin typeface="+mj-lt"/>
              </a:rPr>
              <a:t>Follow these steps:</a:t>
            </a:r>
          </a:p>
          <a:p>
            <a:pPr marL="342900" lvl="0" indent="-342900">
              <a:lnSpc>
                <a:spcPct val="150000"/>
              </a:lnSpc>
              <a:buFont typeface="+mj-lt"/>
              <a:buAutoNum type="arabicPeriod"/>
            </a:pPr>
            <a:r>
              <a:rPr lang="en-US" sz="2200" dirty="0">
                <a:latin typeface="+mj-lt"/>
              </a:rPr>
              <a:t>Select the Delete tool (X) in Packet Tracer.</a:t>
            </a:r>
          </a:p>
          <a:p>
            <a:pPr marL="342900" lvl="0" indent="-342900">
              <a:lnSpc>
                <a:spcPct val="150000"/>
              </a:lnSpc>
              <a:buFont typeface="+mj-lt"/>
              <a:buAutoNum type="arabicPeriod"/>
            </a:pPr>
            <a:r>
              <a:rPr lang="en-US" sz="2200" dirty="0">
                <a:latin typeface="+mj-lt"/>
              </a:rPr>
              <a:t>Click the black cable connecting LOCAL and S1 to remove it.</a:t>
            </a:r>
          </a:p>
          <a:p>
            <a:pPr marL="342900" lvl="0" indent="-342900">
              <a:lnSpc>
                <a:spcPct val="150000"/>
              </a:lnSpc>
              <a:buFont typeface="+mj-lt"/>
              <a:buAutoNum type="arabicPeriod"/>
            </a:pPr>
            <a:r>
              <a:rPr lang="en-US" sz="2200" dirty="0">
                <a:latin typeface="+mj-lt"/>
              </a:rPr>
              <a:t>Click Connections (lightning icon).</a:t>
            </a:r>
          </a:p>
          <a:p>
            <a:pPr marL="342900" lvl="0" indent="-342900">
              <a:lnSpc>
                <a:spcPct val="150000"/>
              </a:lnSpc>
              <a:buFont typeface="+mj-lt"/>
              <a:buAutoNum type="arabicPeriod"/>
            </a:pPr>
            <a:r>
              <a:rPr lang="en-US" sz="2200" dirty="0">
                <a:latin typeface="+mj-lt"/>
              </a:rPr>
              <a:t>Select Copper Straight-Through (solid black line).</a:t>
            </a:r>
          </a:p>
          <a:p>
            <a:pPr marL="342900" lvl="0" indent="-342900">
              <a:lnSpc>
                <a:spcPct val="150000"/>
              </a:lnSpc>
              <a:buFont typeface="+mj-lt"/>
              <a:buAutoNum type="arabicPeriod"/>
            </a:pPr>
            <a:r>
              <a:rPr lang="en-US" sz="2200" dirty="0">
                <a:latin typeface="+mj-lt"/>
              </a:rPr>
              <a:t>Click LOCAL → select </a:t>
            </a:r>
            <a:br>
              <a:rPr lang="en-US" sz="2200" dirty="0">
                <a:latin typeface="+mj-lt"/>
              </a:rPr>
            </a:br>
            <a:r>
              <a:rPr lang="en-US" sz="2200" dirty="0">
                <a:latin typeface="+mj-lt"/>
              </a:rPr>
              <a:t>GigabitEthernet0/1.</a:t>
            </a:r>
          </a:p>
          <a:p>
            <a:pPr marL="342900" lvl="0" indent="-342900">
              <a:lnSpc>
                <a:spcPct val="150000"/>
              </a:lnSpc>
              <a:buFont typeface="+mj-lt"/>
              <a:buAutoNum type="arabicPeriod"/>
            </a:pPr>
            <a:r>
              <a:rPr lang="en-US" sz="2200" dirty="0">
                <a:latin typeface="+mj-lt"/>
              </a:rPr>
              <a:t>Click S1 → select FastEthernet0/5.</a:t>
            </a:r>
          </a:p>
          <a:p>
            <a:pPr marL="342900" lvl="0" indent="-342900">
              <a:lnSpc>
                <a:spcPct val="150000"/>
              </a:lnSpc>
              <a:buFont typeface="+mj-lt"/>
              <a:buAutoNum type="arabicPeriod"/>
            </a:pPr>
            <a:r>
              <a:rPr lang="en-US" sz="2200" dirty="0">
                <a:latin typeface="+mj-lt"/>
              </a:rPr>
              <a:t>Wait a few seconds for the link </a:t>
            </a:r>
            <a:br>
              <a:rPr lang="en-US" sz="2200" dirty="0">
                <a:latin typeface="+mj-lt"/>
              </a:rPr>
            </a:br>
            <a:r>
              <a:rPr lang="en-US" sz="2200" dirty="0">
                <a:latin typeface="+mj-lt"/>
              </a:rPr>
              <a:t>indicators to update.</a:t>
            </a:r>
          </a:p>
        </p:txBody>
      </p:sp>
      <p:pic>
        <p:nvPicPr>
          <p:cNvPr id="7" name="Picture 6">
            <a:extLst>
              <a:ext uri="{FF2B5EF4-FFF2-40B4-BE49-F238E27FC236}">
                <a16:creationId xmlns:a16="http://schemas.microsoft.com/office/drawing/2014/main" id="{4E8B47ED-3486-950F-3AFC-DE63955B3C03}"/>
              </a:ext>
            </a:extLst>
          </p:cNvPr>
          <p:cNvPicPr>
            <a:picLocks noChangeAspect="1"/>
          </p:cNvPicPr>
          <p:nvPr/>
        </p:nvPicPr>
        <p:blipFill>
          <a:blip r:embed="rId2"/>
          <a:srcRect r="50000" b="29259"/>
          <a:stretch>
            <a:fillRect/>
          </a:stretch>
        </p:blipFill>
        <p:spPr>
          <a:xfrm>
            <a:off x="5077342" y="3581399"/>
            <a:ext cx="4033203" cy="3209757"/>
          </a:xfrm>
          <a:prstGeom prst="rect">
            <a:avLst/>
          </a:prstGeom>
        </p:spPr>
      </p:pic>
    </p:spTree>
    <p:extLst>
      <p:ext uri="{BB962C8B-B14F-4D97-AF65-F5344CB8AC3E}">
        <p14:creationId xmlns:p14="http://schemas.microsoft.com/office/powerpoint/2010/main" val="2488460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3A51A-27F4-5211-5FD7-55B4892CE9D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38D8AE9-BB55-5D47-A981-1B59C274845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ECA75DFD-77E8-C8D3-CE82-EE413AD16BB6}"/>
              </a:ext>
            </a:extLst>
          </p:cNvPr>
          <p:cNvSpPr txBox="1"/>
          <p:nvPr/>
        </p:nvSpPr>
        <p:spPr>
          <a:xfrm>
            <a:off x="0" y="378260"/>
            <a:ext cx="8965580" cy="5021055"/>
          </a:xfrm>
          <a:prstGeom prst="rect">
            <a:avLst/>
          </a:prstGeom>
          <a:noFill/>
        </p:spPr>
        <p:txBody>
          <a:bodyPr wrap="square">
            <a:spAutoFit/>
          </a:bodyPr>
          <a:lstStyle/>
          <a:p>
            <a:pPr>
              <a:lnSpc>
                <a:spcPct val="150000"/>
              </a:lnSpc>
            </a:pPr>
            <a:r>
              <a:rPr lang="en-US" sz="2400" dirty="0">
                <a:latin typeface="+mj-lt"/>
              </a:rPr>
              <a:t>Then open LOCAL → CLI and enter:</a:t>
            </a:r>
          </a:p>
          <a:p>
            <a:pPr rtl="0">
              <a:lnSpc>
                <a:spcPct val="150000"/>
              </a:lnSpc>
            </a:pPr>
            <a:r>
              <a:rPr lang="en-US" sz="2400" dirty="0">
                <a:latin typeface="+mj-lt"/>
              </a:rPr>
              <a:t>enable</a:t>
            </a:r>
          </a:p>
          <a:p>
            <a:pPr rtl="0">
              <a:lnSpc>
                <a:spcPct val="150000"/>
              </a:lnSpc>
            </a:pPr>
            <a:r>
              <a:rPr lang="en-US" sz="2400" dirty="0">
                <a:latin typeface="+mj-lt"/>
              </a:rPr>
              <a:t>configure terminal</a:t>
            </a:r>
          </a:p>
          <a:p>
            <a:pPr rtl="0">
              <a:lnSpc>
                <a:spcPct val="150000"/>
              </a:lnSpc>
            </a:pPr>
            <a:r>
              <a:rPr lang="en-US" sz="2400" dirty="0">
                <a:latin typeface="+mj-lt"/>
              </a:rPr>
              <a:t>interface </a:t>
            </a:r>
            <a:r>
              <a:rPr lang="en-US" sz="2400" dirty="0" err="1">
                <a:latin typeface="+mj-lt"/>
              </a:rPr>
              <a:t>gigabitEthernet</a:t>
            </a:r>
            <a:r>
              <a:rPr lang="en-US" sz="2400" dirty="0">
                <a:latin typeface="+mj-lt"/>
              </a:rPr>
              <a:t> 0/1</a:t>
            </a:r>
          </a:p>
          <a:p>
            <a:pPr rtl="0">
              <a:lnSpc>
                <a:spcPct val="150000"/>
              </a:lnSpc>
            </a:pPr>
            <a:r>
              <a:rPr lang="en-US" sz="2400" dirty="0">
                <a:latin typeface="+mj-lt"/>
              </a:rPr>
              <a:t>no shutdown</a:t>
            </a:r>
          </a:p>
          <a:p>
            <a:pPr rtl="0">
              <a:lnSpc>
                <a:spcPct val="150000"/>
              </a:lnSpc>
            </a:pPr>
            <a:r>
              <a:rPr lang="en-US" sz="2400" dirty="0">
                <a:latin typeface="+mj-lt"/>
              </a:rPr>
              <a:t>end</a:t>
            </a:r>
          </a:p>
          <a:p>
            <a:pPr rtl="0">
              <a:lnSpc>
                <a:spcPct val="150000"/>
              </a:lnSpc>
            </a:pPr>
            <a:r>
              <a:rPr lang="en-US" sz="2400" dirty="0">
                <a:latin typeface="+mj-lt"/>
              </a:rPr>
              <a:t>show </a:t>
            </a:r>
            <a:r>
              <a:rPr lang="en-US" sz="2400" dirty="0" err="1">
                <a:latin typeface="+mj-lt"/>
              </a:rPr>
              <a:t>ip</a:t>
            </a:r>
            <a:r>
              <a:rPr lang="en-US" sz="2400" dirty="0">
                <a:latin typeface="+mj-lt"/>
              </a:rPr>
              <a:t> interface brief</a:t>
            </a:r>
          </a:p>
          <a:p>
            <a:pPr>
              <a:lnSpc>
                <a:spcPct val="150000"/>
              </a:lnSpc>
            </a:pPr>
            <a:r>
              <a:rPr lang="en-US" sz="2400" dirty="0">
                <a:latin typeface="+mj-lt"/>
              </a:rPr>
              <a:t>Expected result:</a:t>
            </a:r>
          </a:p>
          <a:p>
            <a:pPr>
              <a:lnSpc>
                <a:spcPct val="150000"/>
              </a:lnSpc>
            </a:pPr>
            <a:r>
              <a:rPr lang="en-US" sz="2400" dirty="0">
                <a:latin typeface="+mj-lt"/>
              </a:rPr>
              <a:t>GigabitEthernet0/1  192.168.1.1  up </a:t>
            </a:r>
            <a:r>
              <a:rPr lang="en-US" sz="2400" dirty="0" err="1">
                <a:latin typeface="+mj-lt"/>
              </a:rPr>
              <a:t>up</a:t>
            </a:r>
            <a:endParaRPr lang="en-US" sz="2400" dirty="0">
              <a:latin typeface="+mj-lt"/>
            </a:endParaRPr>
          </a:p>
        </p:txBody>
      </p:sp>
      <p:pic>
        <p:nvPicPr>
          <p:cNvPr id="5" name="Picture 4">
            <a:extLst>
              <a:ext uri="{FF2B5EF4-FFF2-40B4-BE49-F238E27FC236}">
                <a16:creationId xmlns:a16="http://schemas.microsoft.com/office/drawing/2014/main" id="{CBD146EE-35FC-196A-39C7-9631E66B5833}"/>
              </a:ext>
            </a:extLst>
          </p:cNvPr>
          <p:cNvPicPr>
            <a:picLocks noChangeAspect="1"/>
          </p:cNvPicPr>
          <p:nvPr/>
        </p:nvPicPr>
        <p:blipFill>
          <a:blip r:embed="rId2"/>
          <a:srcRect l="26463" t="3063" r="26667" b="15722"/>
          <a:stretch>
            <a:fillRect/>
          </a:stretch>
        </p:blipFill>
        <p:spPr>
          <a:xfrm>
            <a:off x="4858215" y="800145"/>
            <a:ext cx="4285785" cy="4177285"/>
          </a:xfrm>
          <a:prstGeom prst="rect">
            <a:avLst/>
          </a:prstGeom>
          <a:ln>
            <a:solidFill>
              <a:srgbClr val="FF0000"/>
            </a:solidFill>
          </a:ln>
        </p:spPr>
      </p:pic>
      <p:sp>
        <p:nvSpPr>
          <p:cNvPr id="8" name="TextBox 7">
            <a:extLst>
              <a:ext uri="{FF2B5EF4-FFF2-40B4-BE49-F238E27FC236}">
                <a16:creationId xmlns:a16="http://schemas.microsoft.com/office/drawing/2014/main" id="{23285DC8-700E-98A9-B165-5DC5DA9C466F}"/>
              </a:ext>
            </a:extLst>
          </p:cNvPr>
          <p:cNvSpPr txBox="1"/>
          <p:nvPr/>
        </p:nvSpPr>
        <p:spPr>
          <a:xfrm>
            <a:off x="78059" y="5378123"/>
            <a:ext cx="8987882" cy="1318181"/>
          </a:xfrm>
          <a:prstGeom prst="rect">
            <a:avLst/>
          </a:prstGeom>
          <a:noFill/>
        </p:spPr>
        <p:txBody>
          <a:bodyPr wrap="square">
            <a:spAutoFit/>
          </a:bodyPr>
          <a:lstStyle/>
          <a:p>
            <a:pPr>
              <a:lnSpc>
                <a:spcPct val="150000"/>
              </a:lnSpc>
              <a:buNone/>
            </a:pPr>
            <a:r>
              <a:rPr lang="en-US" sz="2800" dirty="0">
                <a:latin typeface="+mj-lt"/>
              </a:rPr>
              <a:t>This means the LOCAL router can communicate with the S1 switch at the interface level.</a:t>
            </a:r>
          </a:p>
        </p:txBody>
      </p:sp>
    </p:spTree>
    <p:extLst>
      <p:ext uri="{BB962C8B-B14F-4D97-AF65-F5344CB8AC3E}">
        <p14:creationId xmlns:p14="http://schemas.microsoft.com/office/powerpoint/2010/main" val="40427315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D8CC2-3526-A031-E7BB-039428413AA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A072830-59B6-E24A-441C-73FCBEE73C2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431F4BA1-AEF7-2507-4D70-AA109FCF46F7}"/>
              </a:ext>
            </a:extLst>
          </p:cNvPr>
          <p:cNvSpPr txBox="1"/>
          <p:nvPr/>
        </p:nvSpPr>
        <p:spPr>
          <a:xfrm>
            <a:off x="0" y="378260"/>
            <a:ext cx="8965580" cy="4467057"/>
          </a:xfrm>
          <a:prstGeom prst="rect">
            <a:avLst/>
          </a:prstGeom>
          <a:noFill/>
        </p:spPr>
        <p:txBody>
          <a:bodyPr wrap="square">
            <a:spAutoFit/>
          </a:bodyPr>
          <a:lstStyle/>
          <a:p>
            <a:pPr>
              <a:lnSpc>
                <a:spcPct val="150000"/>
              </a:lnSpc>
            </a:pPr>
            <a:r>
              <a:rPr lang="en-US" sz="2400" b="1" dirty="0">
                <a:latin typeface="+mj-lt"/>
              </a:rPr>
              <a:t>Fix the LOCAL ↔ ISP serial connection</a:t>
            </a:r>
          </a:p>
          <a:p>
            <a:pPr>
              <a:lnSpc>
                <a:spcPct val="150000"/>
              </a:lnSpc>
            </a:pPr>
            <a:r>
              <a:rPr lang="en-US" sz="2400" dirty="0">
                <a:latin typeface="+mj-lt"/>
              </a:rPr>
              <a:t>Your serial interface is:</a:t>
            </a:r>
          </a:p>
          <a:p>
            <a:pPr rtl="0">
              <a:lnSpc>
                <a:spcPct val="150000"/>
              </a:lnSpc>
            </a:pPr>
            <a:r>
              <a:rPr lang="en-US" sz="2400" dirty="0">
                <a:latin typeface="+mj-lt"/>
              </a:rPr>
              <a:t>Serial0/1/0  10.1.1.1  down </a:t>
            </a:r>
            <a:r>
              <a:rPr lang="en-US" sz="2400" dirty="0" err="1">
                <a:latin typeface="+mj-lt"/>
              </a:rPr>
              <a:t>down</a:t>
            </a:r>
            <a:endParaRPr lang="en-US" sz="2400" dirty="0">
              <a:latin typeface="+mj-lt"/>
            </a:endParaRPr>
          </a:p>
          <a:p>
            <a:pPr>
              <a:lnSpc>
                <a:spcPct val="150000"/>
              </a:lnSpc>
            </a:pPr>
            <a:r>
              <a:rPr lang="en-US" sz="2400" dirty="0">
                <a:latin typeface="+mj-lt"/>
              </a:rPr>
              <a:t>The screenshot shows the DCE clock symbol on LOCAL, which is correct.</a:t>
            </a:r>
          </a:p>
          <a:p>
            <a:pPr>
              <a:lnSpc>
                <a:spcPct val="150000"/>
              </a:lnSpc>
            </a:pPr>
            <a:r>
              <a:rPr lang="en-US" sz="2400" dirty="0">
                <a:latin typeface="+mj-lt"/>
              </a:rPr>
              <a:t>You have already configured LOCAL with clock rate 56000, so we should now check ISP.</a:t>
            </a:r>
          </a:p>
          <a:p>
            <a:pPr>
              <a:lnSpc>
                <a:spcPct val="150000"/>
              </a:lnSpc>
            </a:pPr>
            <a:r>
              <a:rPr lang="en-US" sz="2400" dirty="0">
                <a:latin typeface="+mj-lt"/>
              </a:rPr>
              <a:t>Open ISP → CLI and enter:</a:t>
            </a:r>
          </a:p>
        </p:txBody>
      </p:sp>
      <p:sp>
        <p:nvSpPr>
          <p:cNvPr id="8" name="TextBox 7">
            <a:extLst>
              <a:ext uri="{FF2B5EF4-FFF2-40B4-BE49-F238E27FC236}">
                <a16:creationId xmlns:a16="http://schemas.microsoft.com/office/drawing/2014/main" id="{00501025-D6DC-D63E-5C75-06089AFBD893}"/>
              </a:ext>
            </a:extLst>
          </p:cNvPr>
          <p:cNvSpPr txBox="1"/>
          <p:nvPr/>
        </p:nvSpPr>
        <p:spPr>
          <a:xfrm>
            <a:off x="78059" y="5378123"/>
            <a:ext cx="8987882" cy="1318181"/>
          </a:xfrm>
          <a:prstGeom prst="rect">
            <a:avLst/>
          </a:prstGeom>
          <a:noFill/>
        </p:spPr>
        <p:txBody>
          <a:bodyPr wrap="square">
            <a:spAutoFit/>
          </a:bodyPr>
          <a:lstStyle/>
          <a:p>
            <a:pPr>
              <a:lnSpc>
                <a:spcPct val="150000"/>
              </a:lnSpc>
              <a:buNone/>
            </a:pPr>
            <a:r>
              <a:rPr lang="en-US" sz="2800" dirty="0">
                <a:latin typeface="+mj-lt"/>
              </a:rPr>
              <a:t>This means the LOCAL router can communicate with the S1 switch at the interface level.</a:t>
            </a:r>
          </a:p>
        </p:txBody>
      </p:sp>
    </p:spTree>
    <p:extLst>
      <p:ext uri="{BB962C8B-B14F-4D97-AF65-F5344CB8AC3E}">
        <p14:creationId xmlns:p14="http://schemas.microsoft.com/office/powerpoint/2010/main" val="1240854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37C7E-A39E-2774-CE5B-E0AE7F55A0F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3E4DC73-5397-3CAA-74E0-928240D3F18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7" name="Picture 6">
            <a:extLst>
              <a:ext uri="{FF2B5EF4-FFF2-40B4-BE49-F238E27FC236}">
                <a16:creationId xmlns:a16="http://schemas.microsoft.com/office/drawing/2014/main" id="{08788F60-A389-F281-2E11-A76CD32E5022}"/>
              </a:ext>
            </a:extLst>
          </p:cNvPr>
          <p:cNvPicPr>
            <a:picLocks noChangeAspect="1"/>
          </p:cNvPicPr>
          <p:nvPr/>
        </p:nvPicPr>
        <p:blipFill>
          <a:blip r:embed="rId2"/>
          <a:srcRect r="45000" b="32222"/>
          <a:stretch>
            <a:fillRect/>
          </a:stretch>
        </p:blipFill>
        <p:spPr>
          <a:xfrm>
            <a:off x="4757639" y="1828800"/>
            <a:ext cx="4369633" cy="3028950"/>
          </a:xfrm>
          <a:prstGeom prst="rect">
            <a:avLst/>
          </a:prstGeom>
          <a:ln>
            <a:solidFill>
              <a:srgbClr val="FF0000"/>
            </a:solidFill>
          </a:ln>
        </p:spPr>
      </p:pic>
      <p:sp>
        <p:nvSpPr>
          <p:cNvPr id="10" name="TextBox 9">
            <a:extLst>
              <a:ext uri="{FF2B5EF4-FFF2-40B4-BE49-F238E27FC236}">
                <a16:creationId xmlns:a16="http://schemas.microsoft.com/office/drawing/2014/main" id="{E596AC97-03BC-0D81-90B8-4F5DB449B3BF}"/>
              </a:ext>
            </a:extLst>
          </p:cNvPr>
          <p:cNvSpPr txBox="1"/>
          <p:nvPr/>
        </p:nvSpPr>
        <p:spPr>
          <a:xfrm>
            <a:off x="16727" y="457200"/>
            <a:ext cx="4655634" cy="6129050"/>
          </a:xfrm>
          <a:prstGeom prst="rect">
            <a:avLst/>
          </a:prstGeom>
          <a:noFill/>
        </p:spPr>
        <p:txBody>
          <a:bodyPr wrap="square">
            <a:spAutoFit/>
          </a:bodyPr>
          <a:lstStyle/>
          <a:p>
            <a:pPr>
              <a:lnSpc>
                <a:spcPct val="150000"/>
              </a:lnSpc>
              <a:buNone/>
            </a:pPr>
            <a:r>
              <a:rPr lang="en-US" sz="2400" dirty="0">
                <a:latin typeface="+mj-lt"/>
              </a:rPr>
              <a:t>The screenshot shows that the LOCAL ↔ S1 connection is now green, which is excellent. The right-side connection is still red.</a:t>
            </a:r>
          </a:p>
          <a:p>
            <a:pPr>
              <a:lnSpc>
                <a:spcPct val="150000"/>
              </a:lnSpc>
              <a:buNone/>
            </a:pPr>
            <a:r>
              <a:rPr lang="en-US" sz="2400" b="1" dirty="0">
                <a:latin typeface="+mj-lt"/>
              </a:rPr>
              <a:t>Step 1 – Remove the existing cable</a:t>
            </a:r>
          </a:p>
          <a:p>
            <a:pPr marL="342900" lvl="0" indent="-342900">
              <a:lnSpc>
                <a:spcPct val="150000"/>
              </a:lnSpc>
              <a:buFont typeface="+mj-lt"/>
              <a:buAutoNum type="arabicPeriod"/>
            </a:pPr>
            <a:r>
              <a:rPr lang="en-US" sz="2400" dirty="0">
                <a:latin typeface="+mj-lt"/>
              </a:rPr>
              <a:t>Select the Delete (X) tool from the top toolbar.</a:t>
            </a:r>
          </a:p>
          <a:p>
            <a:pPr marL="342900" lvl="0" indent="-342900">
              <a:lnSpc>
                <a:spcPct val="150000"/>
              </a:lnSpc>
              <a:buFont typeface="+mj-lt"/>
              <a:buAutoNum type="arabicPeriod"/>
            </a:pPr>
            <a:r>
              <a:rPr lang="en-US" sz="2400" dirty="0">
                <a:latin typeface="+mj-lt"/>
              </a:rPr>
              <a:t>Click the black cable connecting REMOTE to S3.</a:t>
            </a:r>
          </a:p>
          <a:p>
            <a:pPr marL="342900" lvl="0" indent="-342900">
              <a:lnSpc>
                <a:spcPct val="150000"/>
              </a:lnSpc>
              <a:buFont typeface="+mj-lt"/>
              <a:buAutoNum type="arabicPeriod"/>
            </a:pPr>
            <a:r>
              <a:rPr lang="en-US" sz="2400" dirty="0">
                <a:latin typeface="+mj-lt"/>
              </a:rPr>
              <a:t>This removes the existing connection.</a:t>
            </a:r>
          </a:p>
        </p:txBody>
      </p:sp>
    </p:spTree>
    <p:extLst>
      <p:ext uri="{BB962C8B-B14F-4D97-AF65-F5344CB8AC3E}">
        <p14:creationId xmlns:p14="http://schemas.microsoft.com/office/powerpoint/2010/main" val="12567042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F196C-0779-E831-C414-064C47FF716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D60B490-4CDD-C55A-AE21-B434ACB1ECC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7" name="Picture 6">
            <a:extLst>
              <a:ext uri="{FF2B5EF4-FFF2-40B4-BE49-F238E27FC236}">
                <a16:creationId xmlns:a16="http://schemas.microsoft.com/office/drawing/2014/main" id="{858E8FC9-6E5B-97B6-7376-8D5C8AB5F6C2}"/>
              </a:ext>
            </a:extLst>
          </p:cNvPr>
          <p:cNvPicPr>
            <a:picLocks noChangeAspect="1"/>
          </p:cNvPicPr>
          <p:nvPr/>
        </p:nvPicPr>
        <p:blipFill>
          <a:blip r:embed="rId2"/>
          <a:srcRect r="45000" b="32222"/>
          <a:stretch>
            <a:fillRect/>
          </a:stretch>
        </p:blipFill>
        <p:spPr>
          <a:xfrm>
            <a:off x="4757639" y="1828800"/>
            <a:ext cx="4369633" cy="3028950"/>
          </a:xfrm>
          <a:prstGeom prst="rect">
            <a:avLst/>
          </a:prstGeom>
          <a:ln>
            <a:solidFill>
              <a:srgbClr val="FF0000"/>
            </a:solidFill>
          </a:ln>
        </p:spPr>
      </p:pic>
      <p:sp>
        <p:nvSpPr>
          <p:cNvPr id="10" name="TextBox 9">
            <a:extLst>
              <a:ext uri="{FF2B5EF4-FFF2-40B4-BE49-F238E27FC236}">
                <a16:creationId xmlns:a16="http://schemas.microsoft.com/office/drawing/2014/main" id="{382E3473-4A18-212A-34C5-161E464A4A8A}"/>
              </a:ext>
            </a:extLst>
          </p:cNvPr>
          <p:cNvSpPr txBox="1"/>
          <p:nvPr/>
        </p:nvSpPr>
        <p:spPr>
          <a:xfrm>
            <a:off x="16727" y="457200"/>
            <a:ext cx="4655634" cy="6117829"/>
          </a:xfrm>
          <a:prstGeom prst="rect">
            <a:avLst/>
          </a:prstGeom>
          <a:noFill/>
        </p:spPr>
        <p:txBody>
          <a:bodyPr wrap="square">
            <a:spAutoFit/>
          </a:bodyPr>
          <a:lstStyle/>
          <a:p>
            <a:pPr>
              <a:lnSpc>
                <a:spcPct val="150000"/>
              </a:lnSpc>
              <a:buNone/>
            </a:pPr>
            <a:r>
              <a:rPr lang="en-US" sz="2400" b="1" dirty="0">
                <a:latin typeface="+mj-lt"/>
              </a:rPr>
              <a:t>Step 2 – Connect REMOTE to S3 correctly</a:t>
            </a:r>
          </a:p>
          <a:p>
            <a:pPr marL="342900" indent="-342900">
              <a:lnSpc>
                <a:spcPct val="150000"/>
              </a:lnSpc>
              <a:buFont typeface="+mj-lt"/>
              <a:buAutoNum type="arabicPeriod"/>
            </a:pPr>
            <a:r>
              <a:rPr lang="en-US" sz="2400" dirty="0">
                <a:latin typeface="+mj-lt"/>
              </a:rPr>
              <a:t>Click Connections (lightning icon).</a:t>
            </a:r>
          </a:p>
          <a:p>
            <a:pPr marL="342900" indent="-342900">
              <a:lnSpc>
                <a:spcPct val="150000"/>
              </a:lnSpc>
              <a:buFont typeface="+mj-lt"/>
              <a:buAutoNum type="arabicPeriod"/>
            </a:pPr>
            <a:r>
              <a:rPr lang="en-US" sz="2400" dirty="0">
                <a:latin typeface="+mj-lt"/>
              </a:rPr>
              <a:t>Select Copper Straight-Through (solid black cable).</a:t>
            </a:r>
          </a:p>
          <a:p>
            <a:pPr marL="342900" indent="-342900">
              <a:lnSpc>
                <a:spcPct val="150000"/>
              </a:lnSpc>
              <a:buFont typeface="+mj-lt"/>
              <a:buAutoNum type="arabicPeriod"/>
            </a:pPr>
            <a:r>
              <a:rPr lang="en-US" sz="2400" dirty="0">
                <a:latin typeface="+mj-lt"/>
              </a:rPr>
              <a:t>Click the REMOTE router.</a:t>
            </a:r>
          </a:p>
          <a:p>
            <a:pPr marL="342900" indent="-342900">
              <a:lnSpc>
                <a:spcPct val="150000"/>
              </a:lnSpc>
              <a:buFont typeface="+mj-lt"/>
              <a:buAutoNum type="arabicPeriod"/>
            </a:pPr>
            <a:r>
              <a:rPr lang="en-US" sz="2400" dirty="0">
                <a:latin typeface="+mj-lt"/>
              </a:rPr>
              <a:t>Select GigabitEthernet0/1 (not GigabitEthernet0/0).</a:t>
            </a:r>
          </a:p>
          <a:p>
            <a:pPr marL="342900" indent="-342900">
              <a:lnSpc>
                <a:spcPct val="150000"/>
              </a:lnSpc>
              <a:buFont typeface="+mj-lt"/>
              <a:buAutoNum type="arabicPeriod"/>
            </a:pPr>
            <a:r>
              <a:rPr lang="en-US" sz="2400" dirty="0">
                <a:latin typeface="+mj-lt"/>
              </a:rPr>
              <a:t>Click the S3 switch.</a:t>
            </a:r>
          </a:p>
          <a:p>
            <a:pPr marL="342900" indent="-342900">
              <a:lnSpc>
                <a:spcPct val="150000"/>
              </a:lnSpc>
              <a:buFont typeface="+mj-lt"/>
              <a:buAutoNum type="arabicPeriod"/>
            </a:pPr>
            <a:r>
              <a:rPr lang="en-US" sz="2400" dirty="0">
                <a:latin typeface="+mj-lt"/>
              </a:rPr>
              <a:t>Select FastEthernet0/1.</a:t>
            </a:r>
          </a:p>
        </p:txBody>
      </p:sp>
    </p:spTree>
    <p:extLst>
      <p:ext uri="{BB962C8B-B14F-4D97-AF65-F5344CB8AC3E}">
        <p14:creationId xmlns:p14="http://schemas.microsoft.com/office/powerpoint/2010/main" val="31480027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34711-C2BF-B743-4AB2-6EB42AFB289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2276B99-0656-F271-60EC-199319979AE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E6E66B56-4047-6A4E-A679-6C8ABE0F979E}"/>
              </a:ext>
            </a:extLst>
          </p:cNvPr>
          <p:cNvSpPr txBox="1"/>
          <p:nvPr/>
        </p:nvSpPr>
        <p:spPr>
          <a:xfrm>
            <a:off x="16728" y="685800"/>
            <a:ext cx="4653116" cy="6133859"/>
          </a:xfrm>
          <a:prstGeom prst="rect">
            <a:avLst/>
          </a:prstGeom>
          <a:noFill/>
        </p:spPr>
        <p:txBody>
          <a:bodyPr wrap="square">
            <a:spAutoFit/>
          </a:bodyPr>
          <a:lstStyle/>
          <a:p>
            <a:pPr>
              <a:lnSpc>
                <a:spcPct val="150000"/>
              </a:lnSpc>
              <a:buNone/>
            </a:pPr>
            <a:r>
              <a:rPr lang="en-US" sz="2200" b="1" dirty="0">
                <a:latin typeface="+mj-lt"/>
              </a:rPr>
              <a:t>Open REMOTE router</a:t>
            </a:r>
          </a:p>
          <a:p>
            <a:pPr marL="342900" lvl="0" indent="-342900">
              <a:lnSpc>
                <a:spcPct val="150000"/>
              </a:lnSpc>
              <a:buFont typeface="+mj-lt"/>
              <a:buAutoNum type="arabicPeriod"/>
            </a:pPr>
            <a:r>
              <a:rPr lang="en-US" sz="2200" dirty="0">
                <a:latin typeface="+mj-lt"/>
              </a:rPr>
              <a:t>Double-click the REMOTE router on the right.</a:t>
            </a:r>
          </a:p>
          <a:p>
            <a:pPr marL="342900" lvl="0" indent="-342900">
              <a:lnSpc>
                <a:spcPct val="150000"/>
              </a:lnSpc>
              <a:buFont typeface="+mj-lt"/>
              <a:buAutoNum type="arabicPeriod"/>
            </a:pPr>
            <a:r>
              <a:rPr lang="en-US" sz="2200" dirty="0">
                <a:latin typeface="+mj-lt"/>
              </a:rPr>
              <a:t>Select the CLI tab.</a:t>
            </a:r>
          </a:p>
          <a:p>
            <a:pPr marL="342900" lvl="0" indent="-342900">
              <a:lnSpc>
                <a:spcPct val="150000"/>
              </a:lnSpc>
              <a:buFont typeface="+mj-lt"/>
              <a:buAutoNum type="arabicPeriod"/>
            </a:pPr>
            <a:r>
              <a:rPr lang="en-US" sz="2200" dirty="0">
                <a:latin typeface="+mj-lt"/>
              </a:rPr>
              <a:t>Press Enter if necessary.</a:t>
            </a:r>
          </a:p>
          <a:p>
            <a:pPr marL="342900" lvl="0" indent="-342900">
              <a:lnSpc>
                <a:spcPct val="150000"/>
              </a:lnSpc>
              <a:buFont typeface="+mj-lt"/>
              <a:buAutoNum type="arabicPeriod"/>
            </a:pPr>
            <a:r>
              <a:rPr lang="en-US" sz="2200" dirty="0">
                <a:latin typeface="+mj-lt"/>
              </a:rPr>
              <a:t>Enter the following commands.</a:t>
            </a:r>
          </a:p>
          <a:p>
            <a:pPr rtl="0">
              <a:lnSpc>
                <a:spcPct val="150000"/>
              </a:lnSpc>
              <a:buNone/>
            </a:pPr>
            <a:r>
              <a:rPr lang="en-US" sz="2200" dirty="0">
                <a:latin typeface="+mj-lt"/>
              </a:rPr>
              <a:t>enable</a:t>
            </a:r>
          </a:p>
          <a:p>
            <a:pPr rtl="0">
              <a:lnSpc>
                <a:spcPct val="150000"/>
              </a:lnSpc>
              <a:buNone/>
            </a:pPr>
            <a:r>
              <a:rPr lang="en-US" sz="2200" dirty="0">
                <a:latin typeface="+mj-lt"/>
              </a:rPr>
              <a:t>configure terminal</a:t>
            </a:r>
          </a:p>
          <a:p>
            <a:pPr rtl="0">
              <a:lnSpc>
                <a:spcPct val="150000"/>
              </a:lnSpc>
              <a:buNone/>
            </a:pPr>
            <a:r>
              <a:rPr lang="en-US" sz="2200" dirty="0">
                <a:latin typeface="+mj-lt"/>
              </a:rPr>
              <a:t>interface </a:t>
            </a:r>
            <a:r>
              <a:rPr lang="en-US" sz="2200" dirty="0" err="1">
                <a:latin typeface="+mj-lt"/>
              </a:rPr>
              <a:t>gigabitEthernet</a:t>
            </a:r>
            <a:r>
              <a:rPr lang="en-US" sz="2200" dirty="0">
                <a:latin typeface="+mj-lt"/>
              </a:rPr>
              <a:t> 0/1</a:t>
            </a:r>
          </a:p>
          <a:p>
            <a:pPr rtl="0">
              <a:lnSpc>
                <a:spcPct val="150000"/>
              </a:lnSpc>
              <a:buNone/>
            </a:pPr>
            <a:r>
              <a:rPr lang="en-US" sz="2200" dirty="0" err="1">
                <a:latin typeface="+mj-lt"/>
              </a:rPr>
              <a:t>ip</a:t>
            </a:r>
            <a:r>
              <a:rPr lang="en-US" sz="2200" dirty="0">
                <a:latin typeface="+mj-lt"/>
              </a:rPr>
              <a:t> address 192.168.3.1 255.255.255.0</a:t>
            </a:r>
          </a:p>
          <a:p>
            <a:pPr rtl="0">
              <a:lnSpc>
                <a:spcPct val="150000"/>
              </a:lnSpc>
              <a:buNone/>
            </a:pPr>
            <a:r>
              <a:rPr lang="en-US" sz="2200" dirty="0">
                <a:latin typeface="+mj-lt"/>
              </a:rPr>
              <a:t>no shutdown</a:t>
            </a:r>
          </a:p>
          <a:p>
            <a:pPr rtl="0">
              <a:lnSpc>
                <a:spcPct val="150000"/>
              </a:lnSpc>
              <a:buNone/>
            </a:pPr>
            <a:r>
              <a:rPr lang="en-US" sz="2200" dirty="0">
                <a:latin typeface="+mj-lt"/>
              </a:rPr>
              <a:t>end</a:t>
            </a:r>
          </a:p>
        </p:txBody>
      </p:sp>
      <p:pic>
        <p:nvPicPr>
          <p:cNvPr id="6" name="Picture 5">
            <a:extLst>
              <a:ext uri="{FF2B5EF4-FFF2-40B4-BE49-F238E27FC236}">
                <a16:creationId xmlns:a16="http://schemas.microsoft.com/office/drawing/2014/main" id="{AE2CADC7-3507-B988-6561-E4B572BEB03A}"/>
              </a:ext>
            </a:extLst>
          </p:cNvPr>
          <p:cNvPicPr>
            <a:picLocks noChangeAspect="1"/>
          </p:cNvPicPr>
          <p:nvPr/>
        </p:nvPicPr>
        <p:blipFill>
          <a:blip r:embed="rId2"/>
          <a:srcRect l="26451" t="2545" r="27500" b="12963"/>
          <a:stretch>
            <a:fillRect/>
          </a:stretch>
        </p:blipFill>
        <p:spPr>
          <a:xfrm>
            <a:off x="4901859" y="1447800"/>
            <a:ext cx="4210665" cy="4345858"/>
          </a:xfrm>
          <a:prstGeom prst="rect">
            <a:avLst/>
          </a:prstGeom>
          <a:ln>
            <a:solidFill>
              <a:srgbClr val="FF0000"/>
            </a:solidFill>
          </a:ln>
        </p:spPr>
      </p:pic>
    </p:spTree>
    <p:extLst>
      <p:ext uri="{BB962C8B-B14F-4D97-AF65-F5344CB8AC3E}">
        <p14:creationId xmlns:p14="http://schemas.microsoft.com/office/powerpoint/2010/main" val="31893060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76CF-2C5F-AA24-6AEA-30FFFAF3503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B6830EB-CFAE-D6A4-84E7-DF796FC0959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5" name="Picture 4">
            <a:extLst>
              <a:ext uri="{FF2B5EF4-FFF2-40B4-BE49-F238E27FC236}">
                <a16:creationId xmlns:a16="http://schemas.microsoft.com/office/drawing/2014/main" id="{D9CE09D6-D0B8-2812-CD2D-BA02E5F729D7}"/>
              </a:ext>
            </a:extLst>
          </p:cNvPr>
          <p:cNvPicPr>
            <a:picLocks noChangeAspect="1"/>
          </p:cNvPicPr>
          <p:nvPr/>
        </p:nvPicPr>
        <p:blipFill>
          <a:blip r:embed="rId2"/>
          <a:srcRect l="26451" t="2831" r="26667" b="12963"/>
          <a:stretch>
            <a:fillRect/>
          </a:stretch>
        </p:blipFill>
        <p:spPr>
          <a:xfrm>
            <a:off x="4857135" y="1587174"/>
            <a:ext cx="4286865" cy="4331110"/>
          </a:xfrm>
          <a:prstGeom prst="rect">
            <a:avLst/>
          </a:prstGeom>
          <a:ln>
            <a:solidFill>
              <a:srgbClr val="FF0000"/>
            </a:solidFill>
          </a:ln>
        </p:spPr>
      </p:pic>
      <p:sp>
        <p:nvSpPr>
          <p:cNvPr id="8" name="TextBox 7">
            <a:extLst>
              <a:ext uri="{FF2B5EF4-FFF2-40B4-BE49-F238E27FC236}">
                <a16:creationId xmlns:a16="http://schemas.microsoft.com/office/drawing/2014/main" id="{51D1735F-9FF0-9D34-3EED-F00A66FF1ED5}"/>
              </a:ext>
            </a:extLst>
          </p:cNvPr>
          <p:cNvSpPr txBox="1"/>
          <p:nvPr/>
        </p:nvSpPr>
        <p:spPr>
          <a:xfrm>
            <a:off x="164690" y="939715"/>
            <a:ext cx="4660490" cy="5626027"/>
          </a:xfrm>
          <a:prstGeom prst="rect">
            <a:avLst/>
          </a:prstGeom>
          <a:noFill/>
        </p:spPr>
        <p:txBody>
          <a:bodyPr wrap="square">
            <a:spAutoFit/>
          </a:bodyPr>
          <a:lstStyle/>
          <a:p>
            <a:pPr>
              <a:lnSpc>
                <a:spcPct val="150000"/>
              </a:lnSpc>
              <a:buNone/>
            </a:pPr>
            <a:r>
              <a:rPr lang="en-US" sz="2200" b="1" dirty="0">
                <a:latin typeface="+mj-lt"/>
              </a:rPr>
              <a:t>Check the connection</a:t>
            </a:r>
          </a:p>
          <a:p>
            <a:pPr>
              <a:lnSpc>
                <a:spcPct val="150000"/>
              </a:lnSpc>
              <a:buNone/>
            </a:pPr>
            <a:r>
              <a:rPr lang="en-US" sz="2200" dirty="0">
                <a:latin typeface="+mj-lt"/>
              </a:rPr>
              <a:t>Still on REMOTE → CLI, enter:</a:t>
            </a:r>
          </a:p>
          <a:p>
            <a:pPr rtl="0">
              <a:lnSpc>
                <a:spcPct val="150000"/>
              </a:lnSpc>
              <a:buNone/>
            </a:pPr>
            <a:r>
              <a:rPr lang="en-US" sz="2200" dirty="0">
                <a:latin typeface="+mj-lt"/>
              </a:rPr>
              <a:t>show </a:t>
            </a:r>
            <a:r>
              <a:rPr lang="en-US" sz="2200" dirty="0" err="1">
                <a:latin typeface="+mj-lt"/>
              </a:rPr>
              <a:t>ip</a:t>
            </a:r>
            <a:r>
              <a:rPr lang="en-US" sz="2200" dirty="0">
                <a:latin typeface="+mj-lt"/>
              </a:rPr>
              <a:t> interface brief</a:t>
            </a:r>
          </a:p>
          <a:p>
            <a:pPr>
              <a:lnSpc>
                <a:spcPct val="150000"/>
              </a:lnSpc>
              <a:buNone/>
            </a:pPr>
            <a:r>
              <a:rPr lang="en-US" sz="2200" dirty="0">
                <a:latin typeface="+mj-lt"/>
              </a:rPr>
              <a:t>Look for:</a:t>
            </a:r>
          </a:p>
          <a:p>
            <a:pPr rtl="0">
              <a:lnSpc>
                <a:spcPct val="150000"/>
              </a:lnSpc>
              <a:buNone/>
            </a:pPr>
            <a:r>
              <a:rPr lang="en-US" sz="2200" dirty="0">
                <a:latin typeface="+mj-lt"/>
              </a:rPr>
              <a:t>GigabitEthernet0/1  192.168.3.1  YES manual up </a:t>
            </a:r>
            <a:r>
              <a:rPr lang="en-US" sz="2200" dirty="0" err="1">
                <a:latin typeface="+mj-lt"/>
              </a:rPr>
              <a:t>up</a:t>
            </a:r>
            <a:endParaRPr lang="en-US" sz="2200" dirty="0">
              <a:latin typeface="+mj-lt"/>
            </a:endParaRPr>
          </a:p>
          <a:p>
            <a:pPr>
              <a:lnSpc>
                <a:spcPct val="150000"/>
              </a:lnSpc>
              <a:buNone/>
            </a:pPr>
            <a:r>
              <a:rPr lang="en-US" sz="2200" dirty="0">
                <a:latin typeface="+mj-lt"/>
              </a:rPr>
              <a:t>If you see up/up, the REMOTE ↔ S3 connection is operational.</a:t>
            </a:r>
          </a:p>
          <a:p>
            <a:pPr>
              <a:lnSpc>
                <a:spcPct val="150000"/>
              </a:lnSpc>
              <a:buNone/>
            </a:pPr>
            <a:r>
              <a:rPr lang="en-US" sz="2200" dirty="0">
                <a:latin typeface="+mj-lt"/>
              </a:rPr>
              <a:t>The red indicators should turn green after Packet Tracer processes the interface change.</a:t>
            </a:r>
          </a:p>
        </p:txBody>
      </p:sp>
    </p:spTree>
    <p:extLst>
      <p:ext uri="{BB962C8B-B14F-4D97-AF65-F5344CB8AC3E}">
        <p14:creationId xmlns:p14="http://schemas.microsoft.com/office/powerpoint/2010/main" val="520192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2E95F-0194-24B8-C955-C6C4AFFA68F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6914A41-C510-4921-B99E-D7ED579C695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8" name="TextBox 7">
            <a:extLst>
              <a:ext uri="{FF2B5EF4-FFF2-40B4-BE49-F238E27FC236}">
                <a16:creationId xmlns:a16="http://schemas.microsoft.com/office/drawing/2014/main" id="{8A9BB60F-3A8D-67ED-6E14-A1B7535E6F6A}"/>
              </a:ext>
            </a:extLst>
          </p:cNvPr>
          <p:cNvSpPr txBox="1"/>
          <p:nvPr/>
        </p:nvSpPr>
        <p:spPr>
          <a:xfrm>
            <a:off x="164690" y="939715"/>
            <a:ext cx="4660490" cy="2805063"/>
          </a:xfrm>
          <a:prstGeom prst="rect">
            <a:avLst/>
          </a:prstGeom>
          <a:noFill/>
        </p:spPr>
        <p:txBody>
          <a:bodyPr wrap="square">
            <a:spAutoFit/>
          </a:bodyPr>
          <a:lstStyle/>
          <a:p>
            <a:pPr>
              <a:lnSpc>
                <a:spcPct val="150000"/>
              </a:lnSpc>
            </a:pPr>
            <a:r>
              <a:rPr lang="en-US" sz="2400" b="1" dirty="0">
                <a:latin typeface="+mj-lt"/>
              </a:rPr>
              <a:t>Save your configuration</a:t>
            </a:r>
          </a:p>
          <a:p>
            <a:pPr>
              <a:lnSpc>
                <a:spcPct val="150000"/>
              </a:lnSpc>
            </a:pPr>
            <a:r>
              <a:rPr lang="en-US" sz="2400" dirty="0">
                <a:latin typeface="+mj-lt"/>
              </a:rPr>
              <a:t>Enter:</a:t>
            </a:r>
          </a:p>
          <a:p>
            <a:pPr rtl="0">
              <a:lnSpc>
                <a:spcPct val="150000"/>
              </a:lnSpc>
            </a:pPr>
            <a:r>
              <a:rPr lang="en-US" sz="2400" dirty="0">
                <a:latin typeface="+mj-lt"/>
              </a:rPr>
              <a:t>copy running-config startup-config</a:t>
            </a:r>
          </a:p>
          <a:p>
            <a:pPr>
              <a:lnSpc>
                <a:spcPct val="150000"/>
              </a:lnSpc>
            </a:pPr>
            <a:r>
              <a:rPr lang="en-US" sz="2400" dirty="0">
                <a:latin typeface="+mj-lt"/>
              </a:rPr>
              <a:t>Press Enter when prompted for the filename.</a:t>
            </a:r>
          </a:p>
        </p:txBody>
      </p:sp>
      <p:pic>
        <p:nvPicPr>
          <p:cNvPr id="4" name="Picture 3">
            <a:extLst>
              <a:ext uri="{FF2B5EF4-FFF2-40B4-BE49-F238E27FC236}">
                <a16:creationId xmlns:a16="http://schemas.microsoft.com/office/drawing/2014/main" id="{04AC1DEE-08F6-7250-D2F7-88CB2710F4DE}"/>
              </a:ext>
            </a:extLst>
          </p:cNvPr>
          <p:cNvPicPr>
            <a:picLocks noChangeAspect="1"/>
          </p:cNvPicPr>
          <p:nvPr/>
        </p:nvPicPr>
        <p:blipFill>
          <a:blip r:embed="rId2"/>
          <a:srcRect l="27500" t="70741" r="27500" b="12963"/>
          <a:stretch>
            <a:fillRect/>
          </a:stretch>
        </p:blipFill>
        <p:spPr>
          <a:xfrm>
            <a:off x="0" y="4114799"/>
            <a:ext cx="9144000" cy="1862666"/>
          </a:xfrm>
          <a:prstGeom prst="rect">
            <a:avLst/>
          </a:prstGeom>
          <a:ln>
            <a:solidFill>
              <a:srgbClr val="FF0000"/>
            </a:solidFill>
          </a:ln>
        </p:spPr>
      </p:pic>
    </p:spTree>
    <p:extLst>
      <p:ext uri="{BB962C8B-B14F-4D97-AF65-F5344CB8AC3E}">
        <p14:creationId xmlns:p14="http://schemas.microsoft.com/office/powerpoint/2010/main" val="28619695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448D-0563-A7FC-6325-E7E7F9AEB08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B523D77-1F2A-C2F4-DD58-C4B89714872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5" name="Picture 4">
            <a:extLst>
              <a:ext uri="{FF2B5EF4-FFF2-40B4-BE49-F238E27FC236}">
                <a16:creationId xmlns:a16="http://schemas.microsoft.com/office/drawing/2014/main" id="{3FCDE84D-3667-05C8-372E-B290610F478B}"/>
              </a:ext>
            </a:extLst>
          </p:cNvPr>
          <p:cNvPicPr>
            <a:picLocks noChangeAspect="1"/>
          </p:cNvPicPr>
          <p:nvPr/>
        </p:nvPicPr>
        <p:blipFill>
          <a:blip r:embed="rId2"/>
          <a:srcRect b="27778"/>
          <a:stretch>
            <a:fillRect/>
          </a:stretch>
        </p:blipFill>
        <p:spPr>
          <a:xfrm>
            <a:off x="0" y="378260"/>
            <a:ext cx="8382000" cy="3405188"/>
          </a:xfrm>
          <a:prstGeom prst="rect">
            <a:avLst/>
          </a:prstGeom>
        </p:spPr>
      </p:pic>
      <p:graphicFrame>
        <p:nvGraphicFramePr>
          <p:cNvPr id="6" name="Table 5">
            <a:extLst>
              <a:ext uri="{FF2B5EF4-FFF2-40B4-BE49-F238E27FC236}">
                <a16:creationId xmlns:a16="http://schemas.microsoft.com/office/drawing/2014/main" id="{71A924AF-133A-23FA-A7CA-AB8C39A499A4}"/>
              </a:ext>
            </a:extLst>
          </p:cNvPr>
          <p:cNvGraphicFramePr>
            <a:graphicFrameLocks noGrp="1"/>
          </p:cNvGraphicFramePr>
          <p:nvPr>
            <p:extLst>
              <p:ext uri="{D42A27DB-BD31-4B8C-83A1-F6EECF244321}">
                <p14:modId xmlns:p14="http://schemas.microsoft.com/office/powerpoint/2010/main" val="618265705"/>
              </p:ext>
            </p:extLst>
          </p:nvPr>
        </p:nvGraphicFramePr>
        <p:xfrm>
          <a:off x="570706" y="3763210"/>
          <a:ext cx="8002588" cy="3108960"/>
        </p:xfrm>
        <a:graphic>
          <a:graphicData uri="http://schemas.openxmlformats.org/drawingml/2006/table">
            <a:tbl>
              <a:tblPr/>
              <a:tblGrid>
                <a:gridCol w="4001294">
                  <a:extLst>
                    <a:ext uri="{9D8B030D-6E8A-4147-A177-3AD203B41FA5}">
                      <a16:colId xmlns:a16="http://schemas.microsoft.com/office/drawing/2014/main" val="3000219451"/>
                    </a:ext>
                  </a:extLst>
                </a:gridCol>
                <a:gridCol w="4001294">
                  <a:extLst>
                    <a:ext uri="{9D8B030D-6E8A-4147-A177-3AD203B41FA5}">
                      <a16:colId xmlns:a16="http://schemas.microsoft.com/office/drawing/2014/main" val="2535077874"/>
                    </a:ext>
                  </a:extLst>
                </a:gridCol>
              </a:tblGrid>
              <a:tr h="0">
                <a:tc>
                  <a:txBody>
                    <a:bodyPr/>
                    <a:lstStyle/>
                    <a:p>
                      <a:pPr>
                        <a:buNone/>
                      </a:pPr>
                      <a:r>
                        <a:rPr lang="en-US" b="1" dirty="0" err="1"/>
                        <a:t>Colour</a:t>
                      </a:r>
                      <a:endParaRPr lang="en-US" b="1" dirty="0"/>
                    </a:p>
                    <a:p>
                      <a:pPr>
                        <a:buNone/>
                      </a:pPr>
                      <a:endParaRPr lang="en-US" b="1" dirty="0"/>
                    </a:p>
                  </a:txBody>
                  <a:tcPr anchor="ctr">
                    <a:lnL>
                      <a:noFill/>
                    </a:lnL>
                    <a:lnR>
                      <a:noFill/>
                    </a:lnR>
                    <a:lnT>
                      <a:noFill/>
                    </a:lnT>
                    <a:lnB>
                      <a:noFill/>
                    </a:lnB>
                    <a:solidFill>
                      <a:schemeClr val="accent4">
                        <a:lumMod val="40000"/>
                        <a:lumOff val="60000"/>
                      </a:schemeClr>
                    </a:solidFill>
                  </a:tcPr>
                </a:tc>
                <a:tc>
                  <a:txBody>
                    <a:bodyPr/>
                    <a:lstStyle/>
                    <a:p>
                      <a:pPr>
                        <a:buNone/>
                      </a:pPr>
                      <a:r>
                        <a:rPr lang="en-US" b="1" dirty="0"/>
                        <a:t>Meaning</a:t>
                      </a:r>
                    </a:p>
                    <a:p>
                      <a:pPr>
                        <a:buNone/>
                      </a:pPr>
                      <a:endParaRPr lang="en-US" b="1"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108633299"/>
                  </a:ext>
                </a:extLst>
              </a:tr>
              <a:tr h="0">
                <a:tc>
                  <a:txBody>
                    <a:bodyPr/>
                    <a:lstStyle/>
                    <a:p>
                      <a:pPr>
                        <a:buNone/>
                      </a:pPr>
                      <a:r>
                        <a:rPr lang="en-US"/>
                        <a:t>Green</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Connection is operational</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289142561"/>
                  </a:ext>
                </a:extLst>
              </a:tr>
              <a:tr h="0">
                <a:tc>
                  <a:txBody>
                    <a:bodyPr/>
                    <a:lstStyle/>
                    <a:p>
                      <a:pPr>
                        <a:buNone/>
                      </a:pPr>
                      <a:r>
                        <a:rPr lang="en-US"/>
                        <a:t>Red</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Connection is down or an interface is disabled</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758185514"/>
                  </a:ext>
                </a:extLst>
              </a:tr>
              <a:tr h="0">
                <a:tc>
                  <a:txBody>
                    <a:bodyPr/>
                    <a:lstStyle/>
                    <a:p>
                      <a:pPr>
                        <a:buNone/>
                      </a:pPr>
                      <a:r>
                        <a:rPr lang="en-US"/>
                        <a:t>Amber</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dirty="0"/>
                        <a:t>Port may be transitioning or blocked by a switching protocol</a:t>
                      </a:r>
                    </a:p>
                    <a:p>
                      <a:pPr>
                        <a:buNone/>
                      </a:pPr>
                      <a:endParaRPr lang="en-US"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152964600"/>
                  </a:ext>
                </a:extLst>
              </a:tr>
            </a:tbl>
          </a:graphicData>
        </a:graphic>
      </p:graphicFrame>
    </p:spTree>
    <p:extLst>
      <p:ext uri="{BB962C8B-B14F-4D97-AF65-F5344CB8AC3E}">
        <p14:creationId xmlns:p14="http://schemas.microsoft.com/office/powerpoint/2010/main" val="7416995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99A24-9DE3-748B-ACC7-56153AF66B1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1DD270C-B5E1-EACD-A742-3B81D46C490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graphicFrame>
        <p:nvGraphicFramePr>
          <p:cNvPr id="2" name="Table 1">
            <a:extLst>
              <a:ext uri="{FF2B5EF4-FFF2-40B4-BE49-F238E27FC236}">
                <a16:creationId xmlns:a16="http://schemas.microsoft.com/office/drawing/2014/main" id="{F0719C45-323A-967D-E07F-C6CBE313D6BF}"/>
              </a:ext>
            </a:extLst>
          </p:cNvPr>
          <p:cNvGraphicFramePr>
            <a:graphicFrameLocks noGrp="1"/>
          </p:cNvGraphicFramePr>
          <p:nvPr>
            <p:extLst>
              <p:ext uri="{D42A27DB-BD31-4B8C-83A1-F6EECF244321}">
                <p14:modId xmlns:p14="http://schemas.microsoft.com/office/powerpoint/2010/main" val="4002750534"/>
              </p:ext>
            </p:extLst>
          </p:nvPr>
        </p:nvGraphicFramePr>
        <p:xfrm>
          <a:off x="570706" y="762000"/>
          <a:ext cx="8002588" cy="4480560"/>
        </p:xfrm>
        <a:graphic>
          <a:graphicData uri="http://schemas.openxmlformats.org/drawingml/2006/table">
            <a:tbl>
              <a:tblPr/>
              <a:tblGrid>
                <a:gridCol w="4001294">
                  <a:extLst>
                    <a:ext uri="{9D8B030D-6E8A-4147-A177-3AD203B41FA5}">
                      <a16:colId xmlns:a16="http://schemas.microsoft.com/office/drawing/2014/main" val="807764049"/>
                    </a:ext>
                  </a:extLst>
                </a:gridCol>
                <a:gridCol w="4001294">
                  <a:extLst>
                    <a:ext uri="{9D8B030D-6E8A-4147-A177-3AD203B41FA5}">
                      <a16:colId xmlns:a16="http://schemas.microsoft.com/office/drawing/2014/main" val="1943631963"/>
                    </a:ext>
                  </a:extLst>
                </a:gridCol>
              </a:tblGrid>
              <a:tr h="0">
                <a:tc>
                  <a:txBody>
                    <a:bodyPr/>
                    <a:lstStyle/>
                    <a:p>
                      <a:pPr>
                        <a:buNone/>
                      </a:pPr>
                      <a:r>
                        <a:rPr lang="en-US" b="1" dirty="0"/>
                        <a:t>Connection</a:t>
                      </a:r>
                    </a:p>
                    <a:p>
                      <a:pPr>
                        <a:buNone/>
                      </a:pPr>
                      <a:endParaRPr lang="en-US" b="1" dirty="0"/>
                    </a:p>
                  </a:txBody>
                  <a:tcPr anchor="ctr">
                    <a:lnL>
                      <a:noFill/>
                    </a:lnL>
                    <a:lnR>
                      <a:noFill/>
                    </a:lnR>
                    <a:lnT>
                      <a:noFill/>
                    </a:lnT>
                    <a:lnB>
                      <a:noFill/>
                    </a:lnB>
                    <a:solidFill>
                      <a:schemeClr val="accent4">
                        <a:lumMod val="40000"/>
                        <a:lumOff val="60000"/>
                      </a:schemeClr>
                    </a:solidFill>
                  </a:tcPr>
                </a:tc>
                <a:tc>
                  <a:txBody>
                    <a:bodyPr/>
                    <a:lstStyle/>
                    <a:p>
                      <a:pPr>
                        <a:buNone/>
                      </a:pPr>
                      <a:r>
                        <a:rPr lang="en-US" b="1" dirty="0"/>
                        <a:t>Status</a:t>
                      </a:r>
                    </a:p>
                    <a:p>
                      <a:pPr>
                        <a:buNone/>
                      </a:pPr>
                      <a:endParaRPr lang="en-US" b="1"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947666044"/>
                  </a:ext>
                </a:extLst>
              </a:tr>
              <a:tr h="0">
                <a:tc>
                  <a:txBody>
                    <a:bodyPr/>
                    <a:lstStyle/>
                    <a:p>
                      <a:pPr>
                        <a:buNone/>
                      </a:pPr>
                      <a:r>
                        <a:rPr lang="en-US"/>
                        <a:t>LOCAL ↔ S1</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Working</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723394324"/>
                  </a:ext>
                </a:extLst>
              </a:tr>
              <a:tr h="0">
                <a:tc>
                  <a:txBody>
                    <a:bodyPr/>
                    <a:lstStyle/>
                    <a:p>
                      <a:pPr>
                        <a:buNone/>
                      </a:pPr>
                      <a:r>
                        <a:rPr lang="en-US"/>
                        <a:t>S1 ↔ PC-A</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Working</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946749471"/>
                  </a:ext>
                </a:extLst>
              </a:tr>
              <a:tr h="0">
                <a:tc>
                  <a:txBody>
                    <a:bodyPr/>
                    <a:lstStyle/>
                    <a:p>
                      <a:pPr>
                        <a:buNone/>
                      </a:pPr>
                      <a:r>
                        <a:rPr lang="en-US"/>
                        <a:t>REMOTE ↔ S3</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Working</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4183941567"/>
                  </a:ext>
                </a:extLst>
              </a:tr>
              <a:tr h="0">
                <a:tc>
                  <a:txBody>
                    <a:bodyPr/>
                    <a:lstStyle/>
                    <a:p>
                      <a:pPr>
                        <a:buNone/>
                      </a:pPr>
                      <a:r>
                        <a:rPr lang="en-US"/>
                        <a:t>S3 ↔ PC-C</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Working</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254324808"/>
                  </a:ext>
                </a:extLst>
              </a:tr>
              <a:tr h="0">
                <a:tc>
                  <a:txBody>
                    <a:bodyPr/>
                    <a:lstStyle/>
                    <a:p>
                      <a:pPr>
                        <a:buNone/>
                      </a:pPr>
                      <a:r>
                        <a:rPr lang="en-US"/>
                        <a:t>LOCAL ↔ ISP</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Not operational</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037773723"/>
                  </a:ext>
                </a:extLst>
              </a:tr>
              <a:tr h="0">
                <a:tc>
                  <a:txBody>
                    <a:bodyPr/>
                    <a:lstStyle/>
                    <a:p>
                      <a:pPr>
                        <a:buNone/>
                      </a:pPr>
                      <a:r>
                        <a:rPr lang="en-US"/>
                        <a:t>ISP ↔ REMOTE</a:t>
                      </a:r>
                    </a:p>
                    <a:p>
                      <a:pPr>
                        <a:buNone/>
                      </a:pPr>
                      <a:endParaRPr lang="en-US"/>
                    </a:p>
                  </a:txBody>
                  <a:tcPr anchor="ctr">
                    <a:lnL>
                      <a:noFill/>
                    </a:lnL>
                    <a:lnR>
                      <a:noFill/>
                    </a:lnR>
                    <a:lnT>
                      <a:noFill/>
                    </a:lnT>
                    <a:lnB>
                      <a:noFill/>
                    </a:lnB>
                    <a:solidFill>
                      <a:schemeClr val="accent4">
                        <a:lumMod val="40000"/>
                        <a:lumOff val="60000"/>
                      </a:schemeClr>
                    </a:solidFill>
                  </a:tcPr>
                </a:tc>
                <a:tc>
                  <a:txBody>
                    <a:bodyPr/>
                    <a:lstStyle/>
                    <a:p>
                      <a:pPr>
                        <a:buNone/>
                      </a:pPr>
                      <a:r>
                        <a:rPr lang="en-US" dirty="0"/>
                        <a:t>Not operational</a:t>
                      </a:r>
                    </a:p>
                    <a:p>
                      <a:pPr>
                        <a:buNone/>
                      </a:pPr>
                      <a:endParaRPr lang="en-US" dirty="0"/>
                    </a:p>
                  </a:txBody>
                  <a:tcPr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540731050"/>
                  </a:ext>
                </a:extLst>
              </a:tr>
            </a:tbl>
          </a:graphicData>
        </a:graphic>
      </p:graphicFrame>
      <p:sp>
        <p:nvSpPr>
          <p:cNvPr id="9" name="TextBox 8">
            <a:extLst>
              <a:ext uri="{FF2B5EF4-FFF2-40B4-BE49-F238E27FC236}">
                <a16:creationId xmlns:a16="http://schemas.microsoft.com/office/drawing/2014/main" id="{BA123D0A-AFF2-2AC9-A6C0-B4771339D42A}"/>
              </a:ext>
            </a:extLst>
          </p:cNvPr>
          <p:cNvSpPr txBox="1"/>
          <p:nvPr/>
        </p:nvSpPr>
        <p:spPr>
          <a:xfrm>
            <a:off x="0" y="5105400"/>
            <a:ext cx="8981768" cy="1830758"/>
          </a:xfrm>
          <a:prstGeom prst="rect">
            <a:avLst/>
          </a:prstGeom>
          <a:noFill/>
        </p:spPr>
        <p:txBody>
          <a:bodyPr wrap="square">
            <a:spAutoFit/>
          </a:bodyPr>
          <a:lstStyle/>
          <a:p>
            <a:pPr>
              <a:lnSpc>
                <a:spcPct val="150000"/>
              </a:lnSpc>
              <a:buNone/>
            </a:pPr>
            <a:r>
              <a:rPr lang="en-US" sz="2600" dirty="0">
                <a:latin typeface="+mj-lt"/>
              </a:rPr>
              <a:t>Important: Green does not yet guarantee that the PCs can communicate across the network. We still need IP addressing, routing and connectivity testing.</a:t>
            </a:r>
          </a:p>
        </p:txBody>
      </p:sp>
    </p:spTree>
    <p:extLst>
      <p:ext uri="{BB962C8B-B14F-4D97-AF65-F5344CB8AC3E}">
        <p14:creationId xmlns:p14="http://schemas.microsoft.com/office/powerpoint/2010/main" val="24694360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486CA-CD1B-7736-86FD-A10E72FDECC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2E954F2-E1A5-915F-2908-A3C21DE12A1B}"/>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12" name="TextBox 11">
            <a:extLst>
              <a:ext uri="{FF2B5EF4-FFF2-40B4-BE49-F238E27FC236}">
                <a16:creationId xmlns:a16="http://schemas.microsoft.com/office/drawing/2014/main" id="{A915BFF2-85EE-1204-525D-8FEDAB3E70BB}"/>
              </a:ext>
            </a:extLst>
          </p:cNvPr>
          <p:cNvSpPr txBox="1"/>
          <p:nvPr/>
        </p:nvSpPr>
        <p:spPr>
          <a:xfrm>
            <a:off x="-29497" y="378260"/>
            <a:ext cx="8981768" cy="2610843"/>
          </a:xfrm>
          <a:prstGeom prst="rect">
            <a:avLst/>
          </a:prstGeom>
          <a:noFill/>
        </p:spPr>
        <p:txBody>
          <a:bodyPr wrap="square">
            <a:spAutoFit/>
          </a:bodyPr>
          <a:lstStyle/>
          <a:p>
            <a:pPr>
              <a:lnSpc>
                <a:spcPct val="150000"/>
              </a:lnSpc>
            </a:pPr>
            <a:r>
              <a:rPr lang="en-US" sz="2800" b="1" dirty="0">
                <a:latin typeface="+mj-lt"/>
              </a:rPr>
              <a:t>Next step: Configure the ISP router</a:t>
            </a:r>
          </a:p>
          <a:p>
            <a:pPr>
              <a:lnSpc>
                <a:spcPct val="150000"/>
              </a:lnSpc>
            </a:pPr>
            <a:r>
              <a:rPr lang="en-US" sz="2800" dirty="0">
                <a:latin typeface="+mj-lt"/>
              </a:rPr>
              <a:t>Now we need to bring the two red serial WAN links online.</a:t>
            </a:r>
          </a:p>
          <a:p>
            <a:pPr>
              <a:lnSpc>
                <a:spcPct val="150000"/>
              </a:lnSpc>
            </a:pPr>
            <a:r>
              <a:rPr lang="en-US" sz="2800" b="1" dirty="0">
                <a:latin typeface="+mj-lt"/>
              </a:rPr>
              <a:t>ISP router</a:t>
            </a:r>
          </a:p>
          <a:p>
            <a:pPr>
              <a:lnSpc>
                <a:spcPct val="150000"/>
              </a:lnSpc>
            </a:pPr>
            <a:r>
              <a:rPr lang="en-US" sz="2800" dirty="0">
                <a:latin typeface="+mj-lt"/>
              </a:rPr>
              <a:t>Open ISP → CLI and enter:</a:t>
            </a:r>
          </a:p>
        </p:txBody>
      </p:sp>
      <p:sp>
        <p:nvSpPr>
          <p:cNvPr id="14" name="TextBox 13">
            <a:extLst>
              <a:ext uri="{FF2B5EF4-FFF2-40B4-BE49-F238E27FC236}">
                <a16:creationId xmlns:a16="http://schemas.microsoft.com/office/drawing/2014/main" id="{3C9EE23D-72B5-00DC-99FB-2343F797A562}"/>
              </a:ext>
            </a:extLst>
          </p:cNvPr>
          <p:cNvSpPr txBox="1"/>
          <p:nvPr/>
        </p:nvSpPr>
        <p:spPr>
          <a:xfrm>
            <a:off x="0" y="3133150"/>
            <a:ext cx="4653116" cy="3693319"/>
          </a:xfrm>
          <a:prstGeom prst="rect">
            <a:avLst/>
          </a:prstGeom>
          <a:noFill/>
        </p:spPr>
        <p:txBody>
          <a:bodyPr wrap="square">
            <a:spAutoFit/>
          </a:bodyPr>
          <a:lstStyle/>
          <a:p>
            <a:r>
              <a:rPr lang="en-US" dirty="0">
                <a:highlight>
                  <a:srgbClr val="FFFF00"/>
                </a:highlight>
              </a:rPr>
              <a:t>enable</a:t>
            </a:r>
          </a:p>
          <a:p>
            <a:r>
              <a:rPr lang="en-US" dirty="0">
                <a:highlight>
                  <a:srgbClr val="FFFF00"/>
                </a:highlight>
              </a:rPr>
              <a:t>configure terminal</a:t>
            </a:r>
          </a:p>
          <a:p>
            <a:r>
              <a:rPr lang="en-US" dirty="0">
                <a:highlight>
                  <a:srgbClr val="FFFF00"/>
                </a:highlight>
              </a:rPr>
              <a:t>no </a:t>
            </a:r>
            <a:r>
              <a:rPr lang="en-US" dirty="0" err="1">
                <a:highlight>
                  <a:srgbClr val="FFFF00"/>
                </a:highlight>
              </a:rPr>
              <a:t>ip</a:t>
            </a:r>
            <a:r>
              <a:rPr lang="en-US" dirty="0">
                <a:highlight>
                  <a:srgbClr val="FFFF00"/>
                </a:highlight>
              </a:rPr>
              <a:t> domain-lookup</a:t>
            </a:r>
          </a:p>
          <a:p>
            <a:r>
              <a:rPr lang="en-US" dirty="0">
                <a:highlight>
                  <a:srgbClr val="FFFF00"/>
                </a:highlight>
              </a:rPr>
              <a:t>interface serial 0/1/0</a:t>
            </a:r>
          </a:p>
          <a:p>
            <a:r>
              <a:rPr lang="en-US" dirty="0" err="1">
                <a:highlight>
                  <a:srgbClr val="FFFF00"/>
                </a:highlight>
              </a:rPr>
              <a:t>ip</a:t>
            </a:r>
            <a:r>
              <a:rPr lang="en-US" dirty="0">
                <a:highlight>
                  <a:srgbClr val="FFFF00"/>
                </a:highlight>
              </a:rPr>
              <a:t> address 10.1.1.2 255.255.255.252</a:t>
            </a:r>
          </a:p>
          <a:p>
            <a:r>
              <a:rPr lang="en-US" dirty="0">
                <a:highlight>
                  <a:srgbClr val="FFFF00"/>
                </a:highlight>
              </a:rPr>
              <a:t>no shutdown</a:t>
            </a:r>
          </a:p>
          <a:p>
            <a:r>
              <a:rPr lang="en-US" dirty="0">
                <a:highlight>
                  <a:srgbClr val="FFFF00"/>
                </a:highlight>
              </a:rPr>
              <a:t>exit</a:t>
            </a:r>
          </a:p>
          <a:p>
            <a:r>
              <a:rPr lang="en-US" dirty="0">
                <a:highlight>
                  <a:srgbClr val="FFFF00"/>
                </a:highlight>
              </a:rPr>
              <a:t>interface serial 0/1/1</a:t>
            </a:r>
          </a:p>
          <a:p>
            <a:r>
              <a:rPr lang="en-US" dirty="0" err="1">
                <a:highlight>
                  <a:srgbClr val="FFFF00"/>
                </a:highlight>
              </a:rPr>
              <a:t>ip</a:t>
            </a:r>
            <a:r>
              <a:rPr lang="en-US" dirty="0">
                <a:highlight>
                  <a:srgbClr val="FFFF00"/>
                </a:highlight>
              </a:rPr>
              <a:t> address 10.2.2.2 255.255.255.252</a:t>
            </a:r>
          </a:p>
          <a:p>
            <a:r>
              <a:rPr lang="en-US" dirty="0">
                <a:highlight>
                  <a:srgbClr val="FFFF00"/>
                </a:highlight>
              </a:rPr>
              <a:t>clock rate 56000</a:t>
            </a:r>
          </a:p>
          <a:p>
            <a:r>
              <a:rPr lang="en-US" dirty="0">
                <a:highlight>
                  <a:srgbClr val="FFFF00"/>
                </a:highlight>
              </a:rPr>
              <a:t>no shutdown</a:t>
            </a:r>
          </a:p>
          <a:p>
            <a:r>
              <a:rPr lang="en-US" dirty="0">
                <a:highlight>
                  <a:srgbClr val="FFFF00"/>
                </a:highlight>
              </a:rPr>
              <a:t>end</a:t>
            </a:r>
          </a:p>
          <a:p>
            <a:r>
              <a:rPr lang="en-US" dirty="0">
                <a:highlight>
                  <a:srgbClr val="FFFF00"/>
                </a:highlight>
              </a:rPr>
              <a:t>show </a:t>
            </a:r>
            <a:r>
              <a:rPr lang="en-US" dirty="0" err="1">
                <a:highlight>
                  <a:srgbClr val="FFFF00"/>
                </a:highlight>
              </a:rPr>
              <a:t>ip</a:t>
            </a:r>
            <a:r>
              <a:rPr lang="en-US" dirty="0">
                <a:highlight>
                  <a:srgbClr val="FFFF00"/>
                </a:highlight>
              </a:rPr>
              <a:t> interface brief</a:t>
            </a:r>
          </a:p>
        </p:txBody>
      </p:sp>
      <p:pic>
        <p:nvPicPr>
          <p:cNvPr id="16" name="Picture 15">
            <a:extLst>
              <a:ext uri="{FF2B5EF4-FFF2-40B4-BE49-F238E27FC236}">
                <a16:creationId xmlns:a16="http://schemas.microsoft.com/office/drawing/2014/main" id="{04AE4C83-5DFB-1D59-A8FD-71CC259C3A00}"/>
              </a:ext>
            </a:extLst>
          </p:cNvPr>
          <p:cNvPicPr>
            <a:picLocks noChangeAspect="1"/>
          </p:cNvPicPr>
          <p:nvPr/>
        </p:nvPicPr>
        <p:blipFill>
          <a:blip r:embed="rId2"/>
          <a:srcRect l="26774" t="2832" r="26667" b="11481"/>
          <a:stretch>
            <a:fillRect/>
          </a:stretch>
        </p:blipFill>
        <p:spPr>
          <a:xfrm>
            <a:off x="4886632" y="2087178"/>
            <a:ext cx="4257368" cy="4407310"/>
          </a:xfrm>
          <a:prstGeom prst="rect">
            <a:avLst/>
          </a:prstGeom>
          <a:ln>
            <a:solidFill>
              <a:srgbClr val="FF0000"/>
            </a:solidFill>
          </a:ln>
        </p:spPr>
      </p:pic>
    </p:spTree>
    <p:extLst>
      <p:ext uri="{BB962C8B-B14F-4D97-AF65-F5344CB8AC3E}">
        <p14:creationId xmlns:p14="http://schemas.microsoft.com/office/powerpoint/2010/main" val="15716458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DE31B-7F98-2E10-3BCF-86075BA3540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EE9E956-9765-8FB3-C993-E99C36614F6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12" name="TextBox 11">
            <a:extLst>
              <a:ext uri="{FF2B5EF4-FFF2-40B4-BE49-F238E27FC236}">
                <a16:creationId xmlns:a16="http://schemas.microsoft.com/office/drawing/2014/main" id="{E51DBF73-B80F-208B-A051-E49A368061B6}"/>
              </a:ext>
            </a:extLst>
          </p:cNvPr>
          <p:cNvSpPr txBox="1"/>
          <p:nvPr/>
        </p:nvSpPr>
        <p:spPr>
          <a:xfrm>
            <a:off x="81116" y="762000"/>
            <a:ext cx="8981768" cy="5842497"/>
          </a:xfrm>
          <a:prstGeom prst="rect">
            <a:avLst/>
          </a:prstGeom>
          <a:noFill/>
        </p:spPr>
        <p:txBody>
          <a:bodyPr wrap="square">
            <a:spAutoFit/>
          </a:bodyPr>
          <a:lstStyle/>
          <a:p>
            <a:pPr>
              <a:lnSpc>
                <a:spcPct val="150000"/>
              </a:lnSpc>
            </a:pPr>
            <a:r>
              <a:rPr lang="en-US" sz="2800" dirty="0">
                <a:latin typeface="+mj-lt"/>
              </a:rPr>
              <a:t>The clock rate 56000 command belongs on ISP's Serial0/1/1 because that is the DCE end of the ISP–REMOTE connection in your topology.</a:t>
            </a:r>
          </a:p>
          <a:p>
            <a:pPr>
              <a:lnSpc>
                <a:spcPct val="150000"/>
              </a:lnSpc>
            </a:pPr>
            <a:r>
              <a:rPr lang="en-US" sz="2800" dirty="0">
                <a:latin typeface="+mj-lt"/>
              </a:rPr>
              <a:t>Afterwards, configure REMOTE's Serial0/1/1 with 10.2.2.1/30 and no shutdown, if you have not already done so.</a:t>
            </a:r>
          </a:p>
          <a:p>
            <a:pPr>
              <a:lnSpc>
                <a:spcPct val="150000"/>
              </a:lnSpc>
            </a:pPr>
            <a:r>
              <a:rPr lang="en-US" sz="2800" dirty="0">
                <a:latin typeface="+mj-lt"/>
              </a:rPr>
              <a:t>Our next goal: Make both red WAN connections green. Once that happens, we can configure EIGRP, test ping and </a:t>
            </a:r>
            <a:r>
              <a:rPr lang="en-US" sz="2800" dirty="0" err="1">
                <a:latin typeface="+mj-lt"/>
              </a:rPr>
              <a:t>tracert</a:t>
            </a:r>
            <a:r>
              <a:rPr lang="en-US" sz="2800" dirty="0">
                <a:latin typeface="+mj-lt"/>
              </a:rPr>
              <a:t>, and complete the troubleshooting activities in Lab 5.</a:t>
            </a:r>
          </a:p>
        </p:txBody>
      </p:sp>
    </p:spTree>
    <p:extLst>
      <p:ext uri="{BB962C8B-B14F-4D97-AF65-F5344CB8AC3E}">
        <p14:creationId xmlns:p14="http://schemas.microsoft.com/office/powerpoint/2010/main" val="20694768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207BE-0090-4725-858E-F93365C77B0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B0333EF-C2BF-DE10-42AF-071B861604C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5DC82D84-9B20-272E-EF1F-5FC8D96D63D1}"/>
              </a:ext>
            </a:extLst>
          </p:cNvPr>
          <p:cNvSpPr txBox="1"/>
          <p:nvPr/>
        </p:nvSpPr>
        <p:spPr>
          <a:xfrm>
            <a:off x="0" y="533401"/>
            <a:ext cx="8976852" cy="3788858"/>
          </a:xfrm>
          <a:prstGeom prst="rect">
            <a:avLst/>
          </a:prstGeom>
          <a:noFill/>
        </p:spPr>
        <p:txBody>
          <a:bodyPr wrap="square">
            <a:spAutoFit/>
          </a:bodyPr>
          <a:lstStyle/>
          <a:p>
            <a:pPr>
              <a:lnSpc>
                <a:spcPct val="150000"/>
              </a:lnSpc>
              <a:buNone/>
            </a:pPr>
            <a:r>
              <a:rPr lang="en-US" b="1" dirty="0">
                <a:latin typeface="+mj-lt"/>
              </a:rPr>
              <a:t>Correct the REMOTE router</a:t>
            </a:r>
          </a:p>
          <a:p>
            <a:pPr>
              <a:lnSpc>
                <a:spcPct val="150000"/>
              </a:lnSpc>
              <a:buNone/>
            </a:pPr>
            <a:r>
              <a:rPr lang="en-US" dirty="0">
                <a:latin typeface="+mj-lt"/>
              </a:rPr>
              <a:t>Open REMOTE → CLI.</a:t>
            </a:r>
          </a:p>
          <a:p>
            <a:pPr>
              <a:lnSpc>
                <a:spcPct val="150000"/>
              </a:lnSpc>
              <a:buNone/>
            </a:pPr>
            <a:r>
              <a:rPr lang="en-US" dirty="0">
                <a:latin typeface="+mj-lt"/>
              </a:rPr>
              <a:t>First check the available interfaces:</a:t>
            </a:r>
          </a:p>
          <a:p>
            <a:pPr rtl="0">
              <a:lnSpc>
                <a:spcPct val="150000"/>
              </a:lnSpc>
              <a:buNone/>
            </a:pPr>
            <a:r>
              <a:rPr lang="en-US" dirty="0">
                <a:highlight>
                  <a:srgbClr val="FFFF00"/>
                </a:highlight>
                <a:latin typeface="+mj-lt"/>
              </a:rPr>
              <a:t>enable</a:t>
            </a:r>
          </a:p>
          <a:p>
            <a:pPr rtl="0">
              <a:lnSpc>
                <a:spcPct val="150000"/>
              </a:lnSpc>
              <a:buNone/>
            </a:pPr>
            <a:r>
              <a:rPr lang="en-US" dirty="0">
                <a:highlight>
                  <a:srgbClr val="FFFF00"/>
                </a:highlight>
                <a:latin typeface="+mj-lt"/>
              </a:rPr>
              <a:t>show </a:t>
            </a:r>
            <a:r>
              <a:rPr lang="en-US" dirty="0" err="1">
                <a:highlight>
                  <a:srgbClr val="FFFF00"/>
                </a:highlight>
                <a:latin typeface="+mj-lt"/>
              </a:rPr>
              <a:t>ip</a:t>
            </a:r>
            <a:r>
              <a:rPr lang="en-US" dirty="0">
                <a:highlight>
                  <a:srgbClr val="FFFF00"/>
                </a:highlight>
                <a:latin typeface="+mj-lt"/>
              </a:rPr>
              <a:t> interface brief</a:t>
            </a:r>
          </a:p>
          <a:p>
            <a:pPr>
              <a:lnSpc>
                <a:spcPct val="150000"/>
              </a:lnSpc>
              <a:buNone/>
            </a:pPr>
            <a:r>
              <a:rPr lang="en-US" dirty="0">
                <a:highlight>
                  <a:srgbClr val="FFFF00"/>
                </a:highlight>
                <a:latin typeface="+mj-lt"/>
              </a:rPr>
              <a:t>Assuming its connected serial interface is Serial0/1/1, enter:</a:t>
            </a:r>
          </a:p>
          <a:p>
            <a:pPr rtl="0">
              <a:lnSpc>
                <a:spcPct val="150000"/>
              </a:lnSpc>
              <a:buNone/>
            </a:pPr>
            <a:r>
              <a:rPr lang="en-US" dirty="0">
                <a:highlight>
                  <a:srgbClr val="FFFF00"/>
                </a:highlight>
                <a:latin typeface="+mj-lt"/>
              </a:rPr>
              <a:t>configure terminal</a:t>
            </a:r>
          </a:p>
          <a:p>
            <a:pPr rtl="0">
              <a:lnSpc>
                <a:spcPct val="150000"/>
              </a:lnSpc>
              <a:buNone/>
            </a:pPr>
            <a:r>
              <a:rPr lang="en-US" dirty="0">
                <a:highlight>
                  <a:srgbClr val="FFFF00"/>
                </a:highlight>
                <a:latin typeface="+mj-lt"/>
              </a:rPr>
              <a:t>hostname REMOTE</a:t>
            </a:r>
          </a:p>
          <a:p>
            <a:pPr rtl="0">
              <a:lnSpc>
                <a:spcPct val="150000"/>
              </a:lnSpc>
              <a:buNone/>
            </a:pPr>
            <a:r>
              <a:rPr lang="en-US" dirty="0">
                <a:highlight>
                  <a:srgbClr val="FFFF00"/>
                </a:highlight>
                <a:latin typeface="+mj-lt"/>
              </a:rPr>
              <a:t>no </a:t>
            </a:r>
            <a:r>
              <a:rPr lang="en-US" dirty="0" err="1">
                <a:highlight>
                  <a:srgbClr val="FFFF00"/>
                </a:highlight>
                <a:latin typeface="+mj-lt"/>
              </a:rPr>
              <a:t>ip</a:t>
            </a:r>
            <a:r>
              <a:rPr lang="en-US" dirty="0">
                <a:highlight>
                  <a:srgbClr val="FFFF00"/>
                </a:highlight>
                <a:latin typeface="+mj-lt"/>
              </a:rPr>
              <a:t> domain-lookup</a:t>
            </a:r>
          </a:p>
        </p:txBody>
      </p:sp>
    </p:spTree>
    <p:extLst>
      <p:ext uri="{BB962C8B-B14F-4D97-AF65-F5344CB8AC3E}">
        <p14:creationId xmlns:p14="http://schemas.microsoft.com/office/powerpoint/2010/main" val="14883134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D137E-F46B-1E9D-9F2C-C80042362E7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D0A6D2D-CA93-FB57-A53C-A0EC5E2070A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CEFEA098-4B7E-E09D-FA2A-8B11305C176F}"/>
              </a:ext>
            </a:extLst>
          </p:cNvPr>
          <p:cNvSpPr txBox="1"/>
          <p:nvPr/>
        </p:nvSpPr>
        <p:spPr>
          <a:xfrm>
            <a:off x="0" y="533401"/>
            <a:ext cx="8976852" cy="3373359"/>
          </a:xfrm>
          <a:prstGeom prst="rect">
            <a:avLst/>
          </a:prstGeom>
          <a:noFill/>
        </p:spPr>
        <p:txBody>
          <a:bodyPr wrap="square">
            <a:spAutoFit/>
          </a:bodyPr>
          <a:lstStyle/>
          <a:p>
            <a:pPr rtl="0">
              <a:lnSpc>
                <a:spcPct val="150000"/>
              </a:lnSpc>
              <a:buNone/>
            </a:pPr>
            <a:r>
              <a:rPr lang="en-US" dirty="0">
                <a:latin typeface="+mj-lt"/>
              </a:rPr>
              <a:t>interface serial 0/1/1</a:t>
            </a:r>
          </a:p>
          <a:p>
            <a:pPr rtl="0">
              <a:lnSpc>
                <a:spcPct val="150000"/>
              </a:lnSpc>
              <a:buNone/>
            </a:pPr>
            <a:r>
              <a:rPr lang="en-US" dirty="0" err="1">
                <a:latin typeface="+mj-lt"/>
              </a:rPr>
              <a:t>ip</a:t>
            </a:r>
            <a:r>
              <a:rPr lang="en-US" dirty="0">
                <a:latin typeface="+mj-lt"/>
              </a:rPr>
              <a:t> address 10.2.2.1 255.255.255.252</a:t>
            </a:r>
          </a:p>
          <a:p>
            <a:pPr rtl="0">
              <a:lnSpc>
                <a:spcPct val="150000"/>
              </a:lnSpc>
              <a:buNone/>
            </a:pPr>
            <a:r>
              <a:rPr lang="en-US" dirty="0">
                <a:latin typeface="+mj-lt"/>
              </a:rPr>
              <a:t>no shutdown</a:t>
            </a:r>
          </a:p>
          <a:p>
            <a:pPr rtl="0">
              <a:lnSpc>
                <a:spcPct val="150000"/>
              </a:lnSpc>
              <a:buNone/>
            </a:pPr>
            <a:r>
              <a:rPr lang="en-US" dirty="0">
                <a:latin typeface="+mj-lt"/>
              </a:rPr>
              <a:t>exit</a:t>
            </a:r>
          </a:p>
          <a:p>
            <a:pPr rtl="0">
              <a:lnSpc>
                <a:spcPct val="150000"/>
              </a:lnSpc>
              <a:buNone/>
            </a:pPr>
            <a:r>
              <a:rPr lang="en-US" dirty="0">
                <a:highlight>
                  <a:srgbClr val="FFFF00"/>
                </a:highlight>
                <a:latin typeface="+mj-lt"/>
              </a:rPr>
              <a:t>interface </a:t>
            </a:r>
            <a:r>
              <a:rPr lang="en-US" dirty="0" err="1">
                <a:highlight>
                  <a:srgbClr val="FFFF00"/>
                </a:highlight>
                <a:latin typeface="+mj-lt"/>
              </a:rPr>
              <a:t>gigabitEthernet</a:t>
            </a:r>
            <a:r>
              <a:rPr lang="en-US" dirty="0">
                <a:highlight>
                  <a:srgbClr val="FFFF00"/>
                </a:highlight>
                <a:latin typeface="+mj-lt"/>
              </a:rPr>
              <a:t> 0/1</a:t>
            </a:r>
          </a:p>
          <a:p>
            <a:pPr rtl="0">
              <a:lnSpc>
                <a:spcPct val="150000"/>
              </a:lnSpc>
              <a:buNone/>
            </a:pPr>
            <a:r>
              <a:rPr lang="en-US" dirty="0" err="1">
                <a:highlight>
                  <a:srgbClr val="FFFF00"/>
                </a:highlight>
                <a:latin typeface="+mj-lt"/>
              </a:rPr>
              <a:t>ip</a:t>
            </a:r>
            <a:r>
              <a:rPr lang="en-US" dirty="0">
                <a:highlight>
                  <a:srgbClr val="FFFF00"/>
                </a:highlight>
                <a:latin typeface="+mj-lt"/>
              </a:rPr>
              <a:t> address 192.168.3.1 255.255.255.0</a:t>
            </a:r>
          </a:p>
          <a:p>
            <a:pPr rtl="0">
              <a:lnSpc>
                <a:spcPct val="150000"/>
              </a:lnSpc>
              <a:buNone/>
            </a:pPr>
            <a:r>
              <a:rPr lang="en-US" dirty="0">
                <a:highlight>
                  <a:srgbClr val="FFFF00"/>
                </a:highlight>
                <a:latin typeface="+mj-lt"/>
              </a:rPr>
              <a:t>no shutdown</a:t>
            </a:r>
          </a:p>
          <a:p>
            <a:pPr rtl="0">
              <a:lnSpc>
                <a:spcPct val="150000"/>
              </a:lnSpc>
              <a:buNone/>
            </a:pPr>
            <a:r>
              <a:rPr lang="en-US" dirty="0">
                <a:highlight>
                  <a:srgbClr val="FFFF00"/>
                </a:highlight>
                <a:latin typeface="+mj-lt"/>
              </a:rPr>
              <a:t>exit</a:t>
            </a:r>
          </a:p>
        </p:txBody>
      </p:sp>
      <p:pic>
        <p:nvPicPr>
          <p:cNvPr id="5" name="Picture 4" descr="A configuration interface for a router, with an error message regarding an IP address overlap.&#10;&#10;AI-generated content may be incorrect.">
            <a:extLst>
              <a:ext uri="{FF2B5EF4-FFF2-40B4-BE49-F238E27FC236}">
                <a16:creationId xmlns:a16="http://schemas.microsoft.com/office/drawing/2014/main" id="{3C8ADFF3-D01E-FDB5-C5F7-10AC9F53D5CC}"/>
              </a:ext>
            </a:extLst>
          </p:cNvPr>
          <p:cNvPicPr>
            <a:picLocks noChangeAspect="1"/>
          </p:cNvPicPr>
          <p:nvPr/>
        </p:nvPicPr>
        <p:blipFill>
          <a:blip r:embed="rId2"/>
          <a:stretch>
            <a:fillRect/>
          </a:stretch>
        </p:blipFill>
        <p:spPr>
          <a:xfrm>
            <a:off x="3733800" y="2349547"/>
            <a:ext cx="5410200" cy="2832052"/>
          </a:xfrm>
          <a:prstGeom prst="rect">
            <a:avLst/>
          </a:prstGeom>
          <a:ln>
            <a:solidFill>
              <a:srgbClr val="FF0000"/>
            </a:solidFill>
          </a:ln>
        </p:spPr>
      </p:pic>
    </p:spTree>
    <p:extLst>
      <p:ext uri="{BB962C8B-B14F-4D97-AF65-F5344CB8AC3E}">
        <p14:creationId xmlns:p14="http://schemas.microsoft.com/office/powerpoint/2010/main" val="33950082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7D71D-6A65-7796-D900-963419B2FD1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8DCD612-0707-10A5-579D-DC1A37ECE20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F9C765D4-4BCE-C0DA-6824-D06E368E1039}"/>
              </a:ext>
            </a:extLst>
          </p:cNvPr>
          <p:cNvSpPr txBox="1"/>
          <p:nvPr/>
        </p:nvSpPr>
        <p:spPr>
          <a:xfrm>
            <a:off x="0" y="533401"/>
            <a:ext cx="8976852" cy="3913059"/>
          </a:xfrm>
          <a:prstGeom prst="rect">
            <a:avLst/>
          </a:prstGeom>
          <a:noFill/>
        </p:spPr>
        <p:txBody>
          <a:bodyPr wrap="square">
            <a:spAutoFit/>
          </a:bodyPr>
          <a:lstStyle/>
          <a:p>
            <a:pPr rtl="0">
              <a:lnSpc>
                <a:spcPct val="150000"/>
              </a:lnSpc>
              <a:buNone/>
            </a:pPr>
            <a:r>
              <a:rPr lang="en-US" sz="2400" dirty="0">
                <a:latin typeface="+mj-lt"/>
              </a:rPr>
              <a:t>router </a:t>
            </a:r>
            <a:r>
              <a:rPr lang="en-US" sz="2400" dirty="0" err="1">
                <a:latin typeface="+mj-lt"/>
              </a:rPr>
              <a:t>eigrp</a:t>
            </a:r>
            <a:r>
              <a:rPr lang="en-US" sz="2400" dirty="0">
                <a:latin typeface="+mj-lt"/>
              </a:rPr>
              <a:t> 1</a:t>
            </a:r>
          </a:p>
          <a:p>
            <a:pPr rtl="0">
              <a:lnSpc>
                <a:spcPct val="150000"/>
              </a:lnSpc>
              <a:buNone/>
            </a:pPr>
            <a:r>
              <a:rPr lang="en-US" sz="2400" dirty="0">
                <a:latin typeface="+mj-lt"/>
              </a:rPr>
              <a:t>network 10.2.2.0 0.0.0.3</a:t>
            </a:r>
          </a:p>
          <a:p>
            <a:pPr rtl="0">
              <a:lnSpc>
                <a:spcPct val="150000"/>
              </a:lnSpc>
              <a:buNone/>
            </a:pPr>
            <a:r>
              <a:rPr lang="en-US" sz="2400" dirty="0">
                <a:latin typeface="+mj-lt"/>
              </a:rPr>
              <a:t>network 192.168.3.0 0.0.0.255</a:t>
            </a:r>
          </a:p>
          <a:p>
            <a:pPr rtl="0">
              <a:lnSpc>
                <a:spcPct val="150000"/>
              </a:lnSpc>
              <a:buNone/>
            </a:pPr>
            <a:r>
              <a:rPr lang="en-US" sz="2400" dirty="0">
                <a:latin typeface="+mj-lt"/>
              </a:rPr>
              <a:t>no auto-summary</a:t>
            </a:r>
          </a:p>
          <a:p>
            <a:pPr rtl="0">
              <a:lnSpc>
                <a:spcPct val="150000"/>
              </a:lnSpc>
              <a:buNone/>
            </a:pPr>
            <a:r>
              <a:rPr lang="en-US" sz="2400" dirty="0">
                <a:latin typeface="+mj-lt"/>
              </a:rPr>
              <a:t>end</a:t>
            </a:r>
          </a:p>
          <a:p>
            <a:pPr rtl="0">
              <a:lnSpc>
                <a:spcPct val="150000"/>
              </a:lnSpc>
              <a:buNone/>
            </a:pPr>
            <a:r>
              <a:rPr lang="en-US" sz="2400" dirty="0">
                <a:latin typeface="+mj-lt"/>
              </a:rPr>
              <a:t>copy running-config startup-config</a:t>
            </a:r>
          </a:p>
          <a:p>
            <a:pPr rtl="0">
              <a:lnSpc>
                <a:spcPct val="150000"/>
              </a:lnSpc>
              <a:buNone/>
            </a:pPr>
            <a:r>
              <a:rPr lang="en-US" sz="2400" dirty="0">
                <a:latin typeface="+mj-lt"/>
              </a:rPr>
              <a:t>Enter</a:t>
            </a:r>
          </a:p>
        </p:txBody>
      </p:sp>
      <p:pic>
        <p:nvPicPr>
          <p:cNvPr id="6" name="Picture 5" descr="The image displays a console log for a Cisco router, showing various commands and statuses related to the GigabitEthernet0/1 interface, including protocol changes, IP address configurations, and EIGRP routing setup.&#10;&#10;AI-generated content may be incorrect.">
            <a:extLst>
              <a:ext uri="{FF2B5EF4-FFF2-40B4-BE49-F238E27FC236}">
                <a16:creationId xmlns:a16="http://schemas.microsoft.com/office/drawing/2014/main" id="{41AF4352-0E81-A806-4FC7-B67C24C18761}"/>
              </a:ext>
            </a:extLst>
          </p:cNvPr>
          <p:cNvPicPr>
            <a:picLocks noChangeAspect="1"/>
          </p:cNvPicPr>
          <p:nvPr/>
        </p:nvPicPr>
        <p:blipFill>
          <a:blip r:embed="rId2"/>
          <a:stretch>
            <a:fillRect/>
          </a:stretch>
        </p:blipFill>
        <p:spPr>
          <a:xfrm>
            <a:off x="4485238" y="3581400"/>
            <a:ext cx="4658762" cy="3245069"/>
          </a:xfrm>
          <a:prstGeom prst="rect">
            <a:avLst/>
          </a:prstGeom>
          <a:ln>
            <a:solidFill>
              <a:srgbClr val="FF0000"/>
            </a:solidFill>
          </a:ln>
        </p:spPr>
      </p:pic>
    </p:spTree>
    <p:extLst>
      <p:ext uri="{BB962C8B-B14F-4D97-AF65-F5344CB8AC3E}">
        <p14:creationId xmlns:p14="http://schemas.microsoft.com/office/powerpoint/2010/main" val="15337747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D2A94-AEBF-CA0C-8975-C09C6428389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6DF8526-CC95-D2C6-B026-5B939B5A7BD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9" name="TextBox 8">
            <a:extLst>
              <a:ext uri="{FF2B5EF4-FFF2-40B4-BE49-F238E27FC236}">
                <a16:creationId xmlns:a16="http://schemas.microsoft.com/office/drawing/2014/main" id="{88DC2D4F-A7B4-D520-BB74-49F79644B001}"/>
              </a:ext>
            </a:extLst>
          </p:cNvPr>
          <p:cNvSpPr txBox="1"/>
          <p:nvPr/>
        </p:nvSpPr>
        <p:spPr>
          <a:xfrm>
            <a:off x="-29497" y="378260"/>
            <a:ext cx="8981768" cy="671851"/>
          </a:xfrm>
          <a:prstGeom prst="rect">
            <a:avLst/>
          </a:prstGeom>
          <a:noFill/>
        </p:spPr>
        <p:txBody>
          <a:bodyPr wrap="square">
            <a:spAutoFit/>
          </a:bodyPr>
          <a:lstStyle/>
          <a:p>
            <a:pPr>
              <a:lnSpc>
                <a:spcPct val="150000"/>
              </a:lnSpc>
            </a:pPr>
            <a:r>
              <a:rPr lang="en-US" sz="2800" b="1" dirty="0">
                <a:latin typeface="+mj-lt"/>
              </a:rPr>
              <a:t>If you face any issue, Check the connections</a:t>
            </a:r>
          </a:p>
        </p:txBody>
      </p:sp>
      <p:sp>
        <p:nvSpPr>
          <p:cNvPr id="4" name="TextBox 3">
            <a:extLst>
              <a:ext uri="{FF2B5EF4-FFF2-40B4-BE49-F238E27FC236}">
                <a16:creationId xmlns:a16="http://schemas.microsoft.com/office/drawing/2014/main" id="{013E5D53-D7A1-50A1-5A37-92C5B79804B1}"/>
              </a:ext>
            </a:extLst>
          </p:cNvPr>
          <p:cNvSpPr txBox="1"/>
          <p:nvPr/>
        </p:nvSpPr>
        <p:spPr>
          <a:xfrm>
            <a:off x="0" y="1295400"/>
            <a:ext cx="9144000" cy="1964512"/>
          </a:xfrm>
          <a:prstGeom prst="rect">
            <a:avLst/>
          </a:prstGeom>
          <a:noFill/>
        </p:spPr>
        <p:txBody>
          <a:bodyPr wrap="square">
            <a:spAutoFit/>
          </a:bodyPr>
          <a:lstStyle/>
          <a:p>
            <a:pPr>
              <a:lnSpc>
                <a:spcPct val="150000"/>
              </a:lnSpc>
            </a:pPr>
            <a:r>
              <a:rPr lang="en-US" sz="2800" b="1" dirty="0">
                <a:latin typeface="+mj-lt"/>
              </a:rPr>
              <a:t>Make sure the cables match</a:t>
            </a:r>
          </a:p>
          <a:p>
            <a:pPr>
              <a:lnSpc>
                <a:spcPct val="150000"/>
              </a:lnSpc>
            </a:pPr>
            <a:r>
              <a:rPr lang="en-US" sz="2800" dirty="0">
                <a:latin typeface="+mj-lt"/>
              </a:rPr>
              <a:t>Assuming all three routers have their serial modules in the same slot, the connections should be:</a:t>
            </a:r>
          </a:p>
        </p:txBody>
      </p:sp>
      <p:graphicFrame>
        <p:nvGraphicFramePr>
          <p:cNvPr id="2" name="Table 1">
            <a:extLst>
              <a:ext uri="{FF2B5EF4-FFF2-40B4-BE49-F238E27FC236}">
                <a16:creationId xmlns:a16="http://schemas.microsoft.com/office/drawing/2014/main" id="{5A6D34A7-8C95-0AAB-D6C3-3F42E9B2872E}"/>
              </a:ext>
            </a:extLst>
          </p:cNvPr>
          <p:cNvGraphicFramePr>
            <a:graphicFrameLocks noGrp="1"/>
          </p:cNvGraphicFramePr>
          <p:nvPr>
            <p:extLst>
              <p:ext uri="{D42A27DB-BD31-4B8C-83A1-F6EECF244321}">
                <p14:modId xmlns:p14="http://schemas.microsoft.com/office/powerpoint/2010/main" val="3526362018"/>
              </p:ext>
            </p:extLst>
          </p:nvPr>
        </p:nvGraphicFramePr>
        <p:xfrm>
          <a:off x="570706" y="3505201"/>
          <a:ext cx="8002588" cy="3200400"/>
        </p:xfrm>
        <a:graphic>
          <a:graphicData uri="http://schemas.openxmlformats.org/drawingml/2006/table">
            <a:tbl>
              <a:tblPr/>
              <a:tblGrid>
                <a:gridCol w="2000647">
                  <a:extLst>
                    <a:ext uri="{9D8B030D-6E8A-4147-A177-3AD203B41FA5}">
                      <a16:colId xmlns:a16="http://schemas.microsoft.com/office/drawing/2014/main" val="2391928535"/>
                    </a:ext>
                  </a:extLst>
                </a:gridCol>
                <a:gridCol w="2000647">
                  <a:extLst>
                    <a:ext uri="{9D8B030D-6E8A-4147-A177-3AD203B41FA5}">
                      <a16:colId xmlns:a16="http://schemas.microsoft.com/office/drawing/2014/main" val="4894311"/>
                    </a:ext>
                  </a:extLst>
                </a:gridCol>
                <a:gridCol w="2000647">
                  <a:extLst>
                    <a:ext uri="{9D8B030D-6E8A-4147-A177-3AD203B41FA5}">
                      <a16:colId xmlns:a16="http://schemas.microsoft.com/office/drawing/2014/main" val="2738291156"/>
                    </a:ext>
                  </a:extLst>
                </a:gridCol>
                <a:gridCol w="2000647">
                  <a:extLst>
                    <a:ext uri="{9D8B030D-6E8A-4147-A177-3AD203B41FA5}">
                      <a16:colId xmlns:a16="http://schemas.microsoft.com/office/drawing/2014/main" val="1200734703"/>
                    </a:ext>
                  </a:extLst>
                </a:gridCol>
              </a:tblGrid>
              <a:tr h="0">
                <a:tc>
                  <a:txBody>
                    <a:bodyPr/>
                    <a:lstStyle/>
                    <a:p>
                      <a:pPr>
                        <a:buNone/>
                      </a:pPr>
                      <a:r>
                        <a:rPr lang="en-US"/>
                        <a:t>Source</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Interface</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Destination</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Interface</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699739219"/>
                  </a:ext>
                </a:extLst>
              </a:tr>
              <a:tr h="0">
                <a:tc>
                  <a:txBody>
                    <a:bodyPr/>
                    <a:lstStyle/>
                    <a:p>
                      <a:pPr>
                        <a:buNone/>
                      </a:pPr>
                      <a:r>
                        <a:rPr lang="en-US"/>
                        <a:t>LOCAL</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Serial0/1/0 (DCE)</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ISP</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Serial0/1/0</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125241410"/>
                  </a:ext>
                </a:extLst>
              </a:tr>
              <a:tr h="0">
                <a:tc>
                  <a:txBody>
                    <a:bodyPr/>
                    <a:lstStyle/>
                    <a:p>
                      <a:pPr>
                        <a:buNone/>
                      </a:pPr>
                      <a:r>
                        <a:rPr lang="en-US"/>
                        <a:t>ISP</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Serial0/1/1 (DCE)</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REMOTE</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Serial0/1/1</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3372384343"/>
                  </a:ext>
                </a:extLst>
              </a:tr>
              <a:tr h="0">
                <a:tc>
                  <a:txBody>
                    <a:bodyPr/>
                    <a:lstStyle/>
                    <a:p>
                      <a:pPr>
                        <a:buNone/>
                      </a:pPr>
                      <a:r>
                        <a:rPr lang="en-US"/>
                        <a:t>LOCAL</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GigabitEthernet0/1</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dirty="0"/>
                        <a:t>S1</a:t>
                      </a:r>
                    </a:p>
                    <a:p>
                      <a:pPr>
                        <a:buNone/>
                      </a:pPr>
                      <a:endParaRPr lang="en-US" dirty="0"/>
                    </a:p>
                  </a:txBody>
                  <a:tcPr anchor="ctr">
                    <a:lnL>
                      <a:noFill/>
                    </a:lnL>
                    <a:lnR>
                      <a:noFill/>
                    </a:lnR>
                    <a:lnT>
                      <a:noFill/>
                    </a:lnT>
                    <a:lnB>
                      <a:noFill/>
                    </a:lnB>
                    <a:solidFill>
                      <a:schemeClr val="accent4">
                        <a:lumMod val="20000"/>
                        <a:lumOff val="80000"/>
                      </a:schemeClr>
                    </a:solidFill>
                  </a:tcPr>
                </a:tc>
                <a:tc>
                  <a:txBody>
                    <a:bodyPr/>
                    <a:lstStyle/>
                    <a:p>
                      <a:pPr>
                        <a:buNone/>
                      </a:pPr>
                      <a:r>
                        <a:rPr lang="en-US"/>
                        <a:t>FastEthernet0/5</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3470966889"/>
                  </a:ext>
                </a:extLst>
              </a:tr>
              <a:tr h="0">
                <a:tc>
                  <a:txBody>
                    <a:bodyPr/>
                    <a:lstStyle/>
                    <a:p>
                      <a:pPr>
                        <a:buNone/>
                      </a:pPr>
                      <a:r>
                        <a:rPr lang="en-US"/>
                        <a:t>REMOTE</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GigabitEthernet0/1</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S3</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dirty="0"/>
                        <a:t>FastEthernet0/5</a:t>
                      </a:r>
                    </a:p>
                    <a:p>
                      <a:pPr>
                        <a:buNone/>
                      </a:pPr>
                      <a:endParaRPr lang="en-US"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3694010301"/>
                  </a:ext>
                </a:extLst>
              </a:tr>
            </a:tbl>
          </a:graphicData>
        </a:graphic>
      </p:graphicFrame>
    </p:spTree>
    <p:extLst>
      <p:ext uri="{BB962C8B-B14F-4D97-AF65-F5344CB8AC3E}">
        <p14:creationId xmlns:p14="http://schemas.microsoft.com/office/powerpoint/2010/main" val="29191628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74C8C-155A-0A1F-CD4B-48FB3E8FC2E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3D09612-34CA-E3DD-1482-A706E6A0D3E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406D6BAE-A8CA-999E-9507-80F53B00A7EC}"/>
              </a:ext>
            </a:extLst>
          </p:cNvPr>
          <p:cNvSpPr txBox="1"/>
          <p:nvPr/>
        </p:nvSpPr>
        <p:spPr>
          <a:xfrm>
            <a:off x="24581" y="762000"/>
            <a:ext cx="9144000" cy="2610843"/>
          </a:xfrm>
          <a:prstGeom prst="rect">
            <a:avLst/>
          </a:prstGeom>
          <a:noFill/>
        </p:spPr>
        <p:txBody>
          <a:bodyPr wrap="square">
            <a:spAutoFit/>
          </a:bodyPr>
          <a:lstStyle/>
          <a:p>
            <a:pPr>
              <a:lnSpc>
                <a:spcPct val="150000"/>
              </a:lnSpc>
            </a:pPr>
            <a:r>
              <a:rPr lang="en-US" sz="2800" b="1" dirty="0">
                <a:latin typeface="+mj-lt"/>
              </a:rPr>
              <a:t>Verify your work</a:t>
            </a:r>
          </a:p>
          <a:p>
            <a:pPr>
              <a:lnSpc>
                <a:spcPct val="150000"/>
              </a:lnSpc>
            </a:pPr>
            <a:r>
              <a:rPr lang="en-US" sz="2800" dirty="0">
                <a:latin typeface="+mj-lt"/>
              </a:rPr>
              <a:t>On LOCAL, ISP and REMOTE, run:</a:t>
            </a:r>
          </a:p>
          <a:p>
            <a:pPr rtl="0">
              <a:lnSpc>
                <a:spcPct val="150000"/>
              </a:lnSpc>
            </a:pPr>
            <a:r>
              <a:rPr lang="en-US" sz="2800" dirty="0">
                <a:latin typeface="+mj-lt"/>
              </a:rPr>
              <a:t>show </a:t>
            </a:r>
            <a:r>
              <a:rPr lang="en-US" sz="2800" dirty="0" err="1">
                <a:latin typeface="+mj-lt"/>
              </a:rPr>
              <a:t>ip</a:t>
            </a:r>
            <a:r>
              <a:rPr lang="en-US" sz="2800" dirty="0">
                <a:latin typeface="+mj-lt"/>
              </a:rPr>
              <a:t> interface brief</a:t>
            </a:r>
          </a:p>
          <a:p>
            <a:pPr>
              <a:lnSpc>
                <a:spcPct val="150000"/>
              </a:lnSpc>
            </a:pPr>
            <a:r>
              <a:rPr lang="en-US" sz="2800" dirty="0">
                <a:latin typeface="+mj-lt"/>
              </a:rPr>
              <a:t>For the connected serial interfaces, the desired result is:</a:t>
            </a:r>
          </a:p>
        </p:txBody>
      </p:sp>
      <p:graphicFrame>
        <p:nvGraphicFramePr>
          <p:cNvPr id="2" name="Table 1">
            <a:extLst>
              <a:ext uri="{FF2B5EF4-FFF2-40B4-BE49-F238E27FC236}">
                <a16:creationId xmlns:a16="http://schemas.microsoft.com/office/drawing/2014/main" id="{8B67C3FA-0254-E21E-6293-D05DFC0959D6}"/>
              </a:ext>
            </a:extLst>
          </p:cNvPr>
          <p:cNvGraphicFramePr>
            <a:graphicFrameLocks noGrp="1"/>
          </p:cNvGraphicFramePr>
          <p:nvPr>
            <p:extLst>
              <p:ext uri="{D42A27DB-BD31-4B8C-83A1-F6EECF244321}">
                <p14:modId xmlns:p14="http://schemas.microsoft.com/office/powerpoint/2010/main" val="3780721670"/>
              </p:ext>
            </p:extLst>
          </p:nvPr>
        </p:nvGraphicFramePr>
        <p:xfrm>
          <a:off x="457200" y="3460955"/>
          <a:ext cx="8002588" cy="3474720"/>
        </p:xfrm>
        <a:graphic>
          <a:graphicData uri="http://schemas.openxmlformats.org/drawingml/2006/table">
            <a:tbl>
              <a:tblPr/>
              <a:tblGrid>
                <a:gridCol w="2000647">
                  <a:extLst>
                    <a:ext uri="{9D8B030D-6E8A-4147-A177-3AD203B41FA5}">
                      <a16:colId xmlns:a16="http://schemas.microsoft.com/office/drawing/2014/main" val="3053594671"/>
                    </a:ext>
                  </a:extLst>
                </a:gridCol>
                <a:gridCol w="2000647">
                  <a:extLst>
                    <a:ext uri="{9D8B030D-6E8A-4147-A177-3AD203B41FA5}">
                      <a16:colId xmlns:a16="http://schemas.microsoft.com/office/drawing/2014/main" val="1282493125"/>
                    </a:ext>
                  </a:extLst>
                </a:gridCol>
                <a:gridCol w="2000647">
                  <a:extLst>
                    <a:ext uri="{9D8B030D-6E8A-4147-A177-3AD203B41FA5}">
                      <a16:colId xmlns:a16="http://schemas.microsoft.com/office/drawing/2014/main" val="2844644615"/>
                    </a:ext>
                  </a:extLst>
                </a:gridCol>
                <a:gridCol w="2000647">
                  <a:extLst>
                    <a:ext uri="{9D8B030D-6E8A-4147-A177-3AD203B41FA5}">
                      <a16:colId xmlns:a16="http://schemas.microsoft.com/office/drawing/2014/main" val="4039522217"/>
                    </a:ext>
                  </a:extLst>
                </a:gridCol>
              </a:tblGrid>
              <a:tr h="0">
                <a:tc>
                  <a:txBody>
                    <a:bodyPr/>
                    <a:lstStyle/>
                    <a:p>
                      <a:pPr>
                        <a:buNone/>
                      </a:pPr>
                      <a:r>
                        <a:rPr lang="en-US"/>
                        <a:t>Interface</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IP address</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Status</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Protocol</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414694949"/>
                  </a:ext>
                </a:extLst>
              </a:tr>
              <a:tr h="0">
                <a:tc>
                  <a:txBody>
                    <a:bodyPr/>
                    <a:lstStyle/>
                    <a:p>
                      <a:pPr>
                        <a:buNone/>
                      </a:pPr>
                      <a:r>
                        <a:rPr lang="en-US"/>
                        <a:t>LOCAL Serial0/1/0</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10.1.1.1</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up</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up</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765731755"/>
                  </a:ext>
                </a:extLst>
              </a:tr>
              <a:tr h="0">
                <a:tc>
                  <a:txBody>
                    <a:bodyPr/>
                    <a:lstStyle/>
                    <a:p>
                      <a:pPr>
                        <a:buNone/>
                      </a:pPr>
                      <a:r>
                        <a:rPr lang="en-US"/>
                        <a:t>ISP Serial0/1/0</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10.1.1.2</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up</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up</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000974753"/>
                  </a:ext>
                </a:extLst>
              </a:tr>
              <a:tr h="0">
                <a:tc>
                  <a:txBody>
                    <a:bodyPr/>
                    <a:lstStyle/>
                    <a:p>
                      <a:pPr>
                        <a:buNone/>
                      </a:pPr>
                      <a:r>
                        <a:rPr lang="en-US"/>
                        <a:t>ISP Serial0/1/1</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10.2.2.2</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up</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up</a:t>
                      </a:r>
                    </a:p>
                    <a:p>
                      <a:pPr>
                        <a:buNone/>
                      </a:pPr>
                      <a:endParaRPr lang="en-US"/>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2572961634"/>
                  </a:ext>
                </a:extLst>
              </a:tr>
              <a:tr h="0">
                <a:tc>
                  <a:txBody>
                    <a:bodyPr/>
                    <a:lstStyle/>
                    <a:p>
                      <a:pPr>
                        <a:buNone/>
                      </a:pPr>
                      <a:r>
                        <a:rPr lang="en-US"/>
                        <a:t>REMOTE Serial0/1/1</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10.2.2.1</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a:t>up</a:t>
                      </a:r>
                    </a:p>
                    <a:p>
                      <a:pPr>
                        <a:buNone/>
                      </a:pPr>
                      <a:endParaRPr lang="en-US"/>
                    </a:p>
                  </a:txBody>
                  <a:tcPr anchor="ctr">
                    <a:lnL>
                      <a:noFill/>
                    </a:lnL>
                    <a:lnR>
                      <a:noFill/>
                    </a:lnR>
                    <a:lnT>
                      <a:noFill/>
                    </a:lnT>
                    <a:lnB>
                      <a:noFill/>
                    </a:lnB>
                    <a:solidFill>
                      <a:schemeClr val="accent4">
                        <a:lumMod val="20000"/>
                        <a:lumOff val="80000"/>
                      </a:schemeClr>
                    </a:solidFill>
                  </a:tcPr>
                </a:tc>
                <a:tc>
                  <a:txBody>
                    <a:bodyPr/>
                    <a:lstStyle/>
                    <a:p>
                      <a:pPr>
                        <a:buNone/>
                      </a:pPr>
                      <a:r>
                        <a:rPr lang="en-US" dirty="0"/>
                        <a:t>up</a:t>
                      </a:r>
                    </a:p>
                    <a:p>
                      <a:pPr>
                        <a:buNone/>
                      </a:pPr>
                      <a:endParaRPr lang="en-US" dirty="0"/>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015830470"/>
                  </a:ext>
                </a:extLst>
              </a:tr>
            </a:tbl>
          </a:graphicData>
        </a:graphic>
      </p:graphicFrame>
    </p:spTree>
    <p:extLst>
      <p:ext uri="{BB962C8B-B14F-4D97-AF65-F5344CB8AC3E}">
        <p14:creationId xmlns:p14="http://schemas.microsoft.com/office/powerpoint/2010/main" val="6156035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8057E-9E0E-0E5E-BB59-ED30716D8D3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91DAC60-4496-D65E-B078-C40FECBE1A0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75FF0F49-9EBA-ABED-A549-387E0A5A8D99}"/>
              </a:ext>
            </a:extLst>
          </p:cNvPr>
          <p:cNvSpPr txBox="1"/>
          <p:nvPr/>
        </p:nvSpPr>
        <p:spPr>
          <a:xfrm>
            <a:off x="24581" y="762000"/>
            <a:ext cx="9144000" cy="2610843"/>
          </a:xfrm>
          <a:prstGeom prst="rect">
            <a:avLst/>
          </a:prstGeom>
          <a:noFill/>
        </p:spPr>
        <p:txBody>
          <a:bodyPr wrap="square">
            <a:spAutoFit/>
          </a:bodyPr>
          <a:lstStyle/>
          <a:p>
            <a:pPr>
              <a:lnSpc>
                <a:spcPct val="150000"/>
              </a:lnSpc>
            </a:pPr>
            <a:r>
              <a:rPr lang="en-AU" sz="2800" b="1" dirty="0">
                <a:latin typeface="+mj-lt"/>
              </a:rPr>
              <a:t>Understanding Serial Clocking</a:t>
            </a:r>
          </a:p>
          <a:p>
            <a:pPr>
              <a:lnSpc>
                <a:spcPct val="150000"/>
              </a:lnSpc>
            </a:pPr>
            <a:r>
              <a:rPr lang="en-AU" sz="2800" dirty="0">
                <a:latin typeface="+mj-lt"/>
              </a:rPr>
              <a:t>A serial WAN link needs timing information so that devices can exchange bits correctly.</a:t>
            </a:r>
          </a:p>
          <a:p>
            <a:pPr>
              <a:lnSpc>
                <a:spcPct val="150000"/>
              </a:lnSpc>
            </a:pPr>
            <a:r>
              <a:rPr lang="en-AU" sz="2800" dirty="0">
                <a:latin typeface="+mj-lt"/>
              </a:rPr>
              <a:t>On the LOCAL router:</a:t>
            </a:r>
          </a:p>
        </p:txBody>
      </p:sp>
      <p:sp>
        <p:nvSpPr>
          <p:cNvPr id="10" name="TextBox 9">
            <a:extLst>
              <a:ext uri="{FF2B5EF4-FFF2-40B4-BE49-F238E27FC236}">
                <a16:creationId xmlns:a16="http://schemas.microsoft.com/office/drawing/2014/main" id="{C863F207-232C-4C47-18EE-B7FA504B9217}"/>
              </a:ext>
            </a:extLst>
          </p:cNvPr>
          <p:cNvSpPr txBox="1"/>
          <p:nvPr/>
        </p:nvSpPr>
        <p:spPr>
          <a:xfrm>
            <a:off x="4387107" y="2308165"/>
            <a:ext cx="4661296" cy="4549835"/>
          </a:xfrm>
          <a:prstGeom prst="rect">
            <a:avLst/>
          </a:prstGeom>
          <a:noFill/>
        </p:spPr>
        <p:txBody>
          <a:bodyPr wrap="square">
            <a:spAutoFit/>
          </a:bodyPr>
          <a:lstStyle/>
          <a:p>
            <a:pPr>
              <a:lnSpc>
                <a:spcPct val="150000"/>
              </a:lnSpc>
              <a:buNone/>
            </a:pPr>
            <a:r>
              <a:rPr lang="en-AU" sz="2800" dirty="0">
                <a:latin typeface="+mj-lt"/>
              </a:rPr>
              <a:t>My topology shows:</a:t>
            </a:r>
          </a:p>
          <a:p>
            <a:pPr marL="342900" lvl="0" indent="-342900">
              <a:lnSpc>
                <a:spcPct val="150000"/>
              </a:lnSpc>
              <a:buFont typeface="Arial" panose="020B0604020202020204" pitchFamily="34" charset="0"/>
              <a:buChar char="•"/>
            </a:pPr>
            <a:r>
              <a:rPr lang="en-AU" sz="2800" dirty="0">
                <a:latin typeface="+mj-lt"/>
              </a:rPr>
              <a:t>LOCAL → ISP: Serial 0/1/0 on LOCAL and Serial 0/1/0 on ISP.</a:t>
            </a:r>
          </a:p>
          <a:p>
            <a:pPr marL="342900" lvl="0" indent="-342900">
              <a:lnSpc>
                <a:spcPct val="150000"/>
              </a:lnSpc>
              <a:buFont typeface="Arial" panose="020B0604020202020204" pitchFamily="34" charset="0"/>
              <a:buChar char="•"/>
            </a:pPr>
            <a:r>
              <a:rPr lang="en-AU" sz="2800" dirty="0">
                <a:latin typeface="+mj-lt"/>
              </a:rPr>
              <a:t>ISP → REMOTE: Serial 0/1/1 on ISP and Serial 0/1/1 on REMOTE.</a:t>
            </a:r>
          </a:p>
        </p:txBody>
      </p:sp>
      <p:pic>
        <p:nvPicPr>
          <p:cNvPr id="12" name="Picture 11" descr="The diagram depicts a network topology with multiple devices, including switches (Se0v1/0, Se0/1/0) and various types of connections (ISP, REMOTE, LOdAL, PC-PT, PC-A, PC-C) labeled with their respective numerical identifiers.&#10;&#10;AI-generated content may be incorrect.">
            <a:extLst>
              <a:ext uri="{FF2B5EF4-FFF2-40B4-BE49-F238E27FC236}">
                <a16:creationId xmlns:a16="http://schemas.microsoft.com/office/drawing/2014/main" id="{59982223-1D14-86B8-3E8D-698EDB07C4F2}"/>
              </a:ext>
            </a:extLst>
          </p:cNvPr>
          <p:cNvPicPr>
            <a:picLocks noChangeAspect="1"/>
          </p:cNvPicPr>
          <p:nvPr/>
        </p:nvPicPr>
        <p:blipFill>
          <a:blip r:embed="rId2"/>
          <a:srcRect l="17193" t="13453" r="7098"/>
          <a:stretch>
            <a:fillRect/>
          </a:stretch>
        </p:blipFill>
        <p:spPr>
          <a:xfrm>
            <a:off x="152399" y="3506589"/>
            <a:ext cx="4234707" cy="3008418"/>
          </a:xfrm>
          <a:prstGeom prst="rect">
            <a:avLst/>
          </a:prstGeom>
          <a:ln>
            <a:solidFill>
              <a:srgbClr val="FF0000"/>
            </a:solidFill>
          </a:ln>
        </p:spPr>
      </p:pic>
    </p:spTree>
    <p:extLst>
      <p:ext uri="{BB962C8B-B14F-4D97-AF65-F5344CB8AC3E}">
        <p14:creationId xmlns:p14="http://schemas.microsoft.com/office/powerpoint/2010/main" val="20138664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D309E-FF97-6E2D-B216-DD05B8D7310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E0B2DD5-976D-E0CA-5930-EB889247528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A56C0EBC-81AF-50DD-BC8B-4C798DD05234}"/>
              </a:ext>
            </a:extLst>
          </p:cNvPr>
          <p:cNvSpPr txBox="1"/>
          <p:nvPr/>
        </p:nvSpPr>
        <p:spPr>
          <a:xfrm>
            <a:off x="0" y="457201"/>
            <a:ext cx="8986836" cy="4549835"/>
          </a:xfrm>
          <a:prstGeom prst="rect">
            <a:avLst/>
          </a:prstGeom>
          <a:noFill/>
        </p:spPr>
        <p:txBody>
          <a:bodyPr wrap="square">
            <a:spAutoFit/>
          </a:bodyPr>
          <a:lstStyle/>
          <a:p>
            <a:pPr>
              <a:lnSpc>
                <a:spcPct val="150000"/>
              </a:lnSpc>
              <a:buNone/>
            </a:pPr>
            <a:r>
              <a:rPr lang="en-AU" sz="2800" b="1" dirty="0">
                <a:latin typeface="+mj-lt"/>
              </a:rPr>
              <a:t>Task 1: Understanding Serial Clocking (Updated)</a:t>
            </a:r>
          </a:p>
          <a:p>
            <a:pPr>
              <a:lnSpc>
                <a:spcPct val="150000"/>
              </a:lnSpc>
              <a:buNone/>
            </a:pPr>
            <a:r>
              <a:rPr lang="en-AU" sz="2800" dirty="0">
                <a:latin typeface="+mj-lt"/>
              </a:rPr>
              <a:t>A serial WAN link requires clocking information to synchronise data transmission between routers.</a:t>
            </a:r>
          </a:p>
          <a:p>
            <a:pPr>
              <a:lnSpc>
                <a:spcPct val="150000"/>
              </a:lnSpc>
              <a:buNone/>
            </a:pPr>
            <a:r>
              <a:rPr lang="en-AU" sz="2800" dirty="0">
                <a:latin typeface="+mj-lt"/>
              </a:rPr>
              <a:t>In this topology, three Cisco 1941 routers are connected:</a:t>
            </a:r>
          </a:p>
          <a:p>
            <a:pPr>
              <a:lnSpc>
                <a:spcPct val="150000"/>
              </a:lnSpc>
              <a:buNone/>
            </a:pPr>
            <a:r>
              <a:rPr lang="en-AU" sz="2800" dirty="0">
                <a:latin typeface="+mj-lt"/>
              </a:rPr>
              <a:t>LOCAL ←→ ISP ←→ REMOTE</a:t>
            </a:r>
          </a:p>
          <a:p>
            <a:pPr>
              <a:lnSpc>
                <a:spcPct val="150000"/>
              </a:lnSpc>
              <a:buNone/>
            </a:pPr>
            <a:r>
              <a:rPr lang="en-AU" sz="2800" b="1" dirty="0">
                <a:latin typeface="+mj-lt"/>
              </a:rPr>
              <a:t>Step 1: Configure the LOCAL router</a:t>
            </a:r>
          </a:p>
          <a:p>
            <a:pPr>
              <a:lnSpc>
                <a:spcPct val="150000"/>
              </a:lnSpc>
              <a:buNone/>
            </a:pPr>
            <a:r>
              <a:rPr lang="en-AU" sz="2800" dirty="0">
                <a:latin typeface="+mj-lt"/>
              </a:rPr>
              <a:t>Open LOCAL → CLI and enter:</a:t>
            </a:r>
          </a:p>
        </p:txBody>
      </p:sp>
      <p:sp>
        <p:nvSpPr>
          <p:cNvPr id="7" name="TextBox 6">
            <a:extLst>
              <a:ext uri="{FF2B5EF4-FFF2-40B4-BE49-F238E27FC236}">
                <a16:creationId xmlns:a16="http://schemas.microsoft.com/office/drawing/2014/main" id="{A5BE7C92-DB96-0EA1-BD50-A396B5742453}"/>
              </a:ext>
            </a:extLst>
          </p:cNvPr>
          <p:cNvSpPr txBox="1"/>
          <p:nvPr/>
        </p:nvSpPr>
        <p:spPr>
          <a:xfrm>
            <a:off x="0" y="5054543"/>
            <a:ext cx="4650580" cy="1785104"/>
          </a:xfrm>
          <a:prstGeom prst="rect">
            <a:avLst/>
          </a:prstGeom>
          <a:noFill/>
        </p:spPr>
        <p:txBody>
          <a:bodyPr wrap="square">
            <a:spAutoFit/>
          </a:bodyPr>
          <a:lstStyle/>
          <a:p>
            <a:r>
              <a:rPr lang="en-AU" sz="2200" dirty="0">
                <a:highlight>
                  <a:srgbClr val="FFFF00"/>
                </a:highlight>
                <a:latin typeface="+mj-lt"/>
              </a:rPr>
              <a:t>enable</a:t>
            </a:r>
          </a:p>
          <a:p>
            <a:r>
              <a:rPr lang="en-AU" sz="2200" dirty="0">
                <a:highlight>
                  <a:srgbClr val="FFFF00"/>
                </a:highlight>
                <a:latin typeface="+mj-lt"/>
              </a:rPr>
              <a:t>configure terminal</a:t>
            </a:r>
          </a:p>
          <a:p>
            <a:r>
              <a:rPr lang="en-AU" sz="2200" dirty="0">
                <a:highlight>
                  <a:srgbClr val="FFFF00"/>
                </a:highlight>
                <a:latin typeface="+mj-lt"/>
              </a:rPr>
              <a:t>interface serial 0/1/0</a:t>
            </a:r>
          </a:p>
          <a:p>
            <a:r>
              <a:rPr lang="en-AU" sz="2200" dirty="0">
                <a:highlight>
                  <a:srgbClr val="FFFF00"/>
                </a:highlight>
                <a:latin typeface="+mj-lt"/>
              </a:rPr>
              <a:t>no shutdown</a:t>
            </a:r>
          </a:p>
          <a:p>
            <a:r>
              <a:rPr lang="en-AU" sz="2200" dirty="0">
                <a:highlight>
                  <a:srgbClr val="FFFF00"/>
                </a:highlight>
                <a:latin typeface="+mj-lt"/>
              </a:rPr>
              <a:t>exit</a:t>
            </a:r>
          </a:p>
        </p:txBody>
      </p:sp>
      <p:pic>
        <p:nvPicPr>
          <p:cNvPr id="9" name="Picture 8" descr="The image shows a text interface display for a computer terminal, presenting various status messages and configuration commands for network interfaces.&#10;&#10;AI-generated content may be incorrect.">
            <a:extLst>
              <a:ext uri="{FF2B5EF4-FFF2-40B4-BE49-F238E27FC236}">
                <a16:creationId xmlns:a16="http://schemas.microsoft.com/office/drawing/2014/main" id="{24933F49-2348-392A-31FA-1868331B69EE}"/>
              </a:ext>
            </a:extLst>
          </p:cNvPr>
          <p:cNvPicPr>
            <a:picLocks noChangeAspect="1"/>
          </p:cNvPicPr>
          <p:nvPr/>
        </p:nvPicPr>
        <p:blipFill>
          <a:blip r:embed="rId2"/>
          <a:srcRect r="62500"/>
          <a:stretch>
            <a:fillRect/>
          </a:stretch>
        </p:blipFill>
        <p:spPr>
          <a:xfrm>
            <a:off x="6428750" y="2971800"/>
            <a:ext cx="2715249" cy="3886200"/>
          </a:xfrm>
          <a:prstGeom prst="rect">
            <a:avLst/>
          </a:prstGeom>
          <a:ln>
            <a:solidFill>
              <a:srgbClr val="FF0000"/>
            </a:solidFill>
          </a:ln>
        </p:spPr>
      </p:pic>
    </p:spTree>
    <p:extLst>
      <p:ext uri="{BB962C8B-B14F-4D97-AF65-F5344CB8AC3E}">
        <p14:creationId xmlns:p14="http://schemas.microsoft.com/office/powerpoint/2010/main" val="2565392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A155-6A39-078B-6268-2EB7ED92103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5A6C234-8ADA-345D-C25F-DCAF48E0B3C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089D4D0F-4B66-43FE-1BF3-C80F078CFEEE}"/>
              </a:ext>
            </a:extLst>
          </p:cNvPr>
          <p:cNvSpPr txBox="1"/>
          <p:nvPr/>
        </p:nvSpPr>
        <p:spPr>
          <a:xfrm>
            <a:off x="24581" y="762000"/>
            <a:ext cx="9144000" cy="3903504"/>
          </a:xfrm>
          <a:prstGeom prst="rect">
            <a:avLst/>
          </a:prstGeom>
          <a:noFill/>
        </p:spPr>
        <p:txBody>
          <a:bodyPr wrap="square">
            <a:spAutoFit/>
          </a:bodyPr>
          <a:lstStyle/>
          <a:p>
            <a:pPr>
              <a:lnSpc>
                <a:spcPct val="150000"/>
              </a:lnSpc>
            </a:pPr>
            <a:r>
              <a:rPr lang="en-AU" sz="2800" dirty="0">
                <a:latin typeface="+mj-lt"/>
              </a:rPr>
              <a:t>On the ISP router, configure the DCE interface connecting to REMOTE:</a:t>
            </a:r>
          </a:p>
          <a:p>
            <a:pPr marL="457200" lvl="0" indent="-457200">
              <a:lnSpc>
                <a:spcPct val="150000"/>
              </a:lnSpc>
              <a:buFont typeface="Arial" panose="020B0604020202020204" pitchFamily="34" charset="0"/>
              <a:buChar char="•"/>
            </a:pPr>
            <a:r>
              <a:rPr lang="en-AU" sz="2800" dirty="0">
                <a:latin typeface="+mj-lt"/>
              </a:rPr>
              <a:t>clock rate 56000 configures serial clocking on the DCE end.</a:t>
            </a:r>
          </a:p>
          <a:p>
            <a:pPr marL="457200" lvl="0" indent="-457200">
              <a:lnSpc>
                <a:spcPct val="150000"/>
              </a:lnSpc>
              <a:buFont typeface="Arial" panose="020B0604020202020204" pitchFamily="34" charset="0"/>
              <a:buChar char="•"/>
            </a:pPr>
            <a:r>
              <a:rPr lang="en-AU" sz="2800" dirty="0">
                <a:latin typeface="+mj-lt"/>
              </a:rPr>
              <a:t>no shutdown administratively enables the interface.</a:t>
            </a:r>
          </a:p>
          <a:p>
            <a:pPr marL="457200" indent="-457200">
              <a:lnSpc>
                <a:spcPct val="150000"/>
              </a:lnSpc>
              <a:buFont typeface="Arial" panose="020B0604020202020204" pitchFamily="34" charset="0"/>
              <a:buChar char="•"/>
            </a:pPr>
            <a:r>
              <a:rPr lang="en-AU" sz="2800" dirty="0">
                <a:latin typeface="+mj-lt"/>
              </a:rPr>
              <a:t>If LOCAL is the DCE end, also enter clock rate 56000 under that interface.</a:t>
            </a:r>
          </a:p>
        </p:txBody>
      </p:sp>
    </p:spTree>
    <p:extLst>
      <p:ext uri="{BB962C8B-B14F-4D97-AF65-F5344CB8AC3E}">
        <p14:creationId xmlns:p14="http://schemas.microsoft.com/office/powerpoint/2010/main" val="40265642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F214-D58E-C055-FBA3-A70C25DEAD9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5177046-3CFD-65B6-63CB-C811E4262C0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2133FC66-EA7F-E66F-AE67-E876E4C48BD8}"/>
              </a:ext>
            </a:extLst>
          </p:cNvPr>
          <p:cNvSpPr txBox="1"/>
          <p:nvPr/>
        </p:nvSpPr>
        <p:spPr>
          <a:xfrm>
            <a:off x="24581" y="762000"/>
            <a:ext cx="9144000" cy="5196166"/>
          </a:xfrm>
          <a:prstGeom prst="rect">
            <a:avLst/>
          </a:prstGeom>
          <a:noFill/>
        </p:spPr>
        <p:txBody>
          <a:bodyPr wrap="square">
            <a:spAutoFit/>
          </a:bodyPr>
          <a:lstStyle/>
          <a:p>
            <a:pPr>
              <a:lnSpc>
                <a:spcPct val="150000"/>
              </a:lnSpc>
            </a:pPr>
            <a:r>
              <a:rPr lang="en-AU" sz="2800" b="1" dirty="0">
                <a:latin typeface="+mj-lt"/>
              </a:rPr>
              <a:t>Step 2: Configure the ISP router</a:t>
            </a:r>
          </a:p>
          <a:p>
            <a:pPr>
              <a:lnSpc>
                <a:spcPct val="150000"/>
              </a:lnSpc>
            </a:pPr>
            <a:r>
              <a:rPr lang="en-AU" sz="2800" dirty="0">
                <a:latin typeface="+mj-lt"/>
              </a:rPr>
              <a:t>Open ISP → CLI.</a:t>
            </a:r>
          </a:p>
          <a:p>
            <a:pPr>
              <a:lnSpc>
                <a:spcPct val="150000"/>
              </a:lnSpc>
            </a:pPr>
            <a:r>
              <a:rPr lang="en-AU" sz="2800" dirty="0">
                <a:latin typeface="+mj-lt"/>
              </a:rPr>
              <a:t>For the connection between ISP and LOCAL:</a:t>
            </a:r>
          </a:p>
          <a:p>
            <a:pPr rtl="0">
              <a:lnSpc>
                <a:spcPct val="150000"/>
              </a:lnSpc>
            </a:pPr>
            <a:r>
              <a:rPr lang="en-AU" sz="2800" dirty="0">
                <a:latin typeface="+mj-lt"/>
              </a:rPr>
              <a:t>enable</a:t>
            </a:r>
          </a:p>
          <a:p>
            <a:pPr rtl="0">
              <a:lnSpc>
                <a:spcPct val="150000"/>
              </a:lnSpc>
            </a:pPr>
            <a:r>
              <a:rPr lang="en-AU" sz="2800" dirty="0">
                <a:latin typeface="+mj-lt"/>
              </a:rPr>
              <a:t>configure terminal</a:t>
            </a:r>
          </a:p>
          <a:p>
            <a:pPr rtl="0">
              <a:lnSpc>
                <a:spcPct val="150000"/>
              </a:lnSpc>
            </a:pPr>
            <a:r>
              <a:rPr lang="en-AU" sz="2800" dirty="0">
                <a:latin typeface="+mj-lt"/>
              </a:rPr>
              <a:t>interface serial 0/1/0</a:t>
            </a:r>
          </a:p>
          <a:p>
            <a:pPr rtl="0">
              <a:lnSpc>
                <a:spcPct val="150000"/>
              </a:lnSpc>
            </a:pPr>
            <a:r>
              <a:rPr lang="en-AU" sz="2800" dirty="0">
                <a:latin typeface="+mj-lt"/>
              </a:rPr>
              <a:t>no shutdown</a:t>
            </a:r>
          </a:p>
          <a:p>
            <a:pPr rtl="0">
              <a:lnSpc>
                <a:spcPct val="150000"/>
              </a:lnSpc>
            </a:pPr>
            <a:r>
              <a:rPr lang="en-AU" sz="2800" dirty="0">
                <a:latin typeface="+mj-lt"/>
              </a:rPr>
              <a:t>exit</a:t>
            </a:r>
          </a:p>
        </p:txBody>
      </p:sp>
      <p:pic>
        <p:nvPicPr>
          <p:cNvPr id="5" name="Picture 4" descr="The image depicts a terminal screen showing a sequence of text commands for configuring a network interface, specifically the serial interface on a router, with the commands to enable it and disable shutdown mode.&#10;&#10;AI-generated content may be incorrect.">
            <a:extLst>
              <a:ext uri="{FF2B5EF4-FFF2-40B4-BE49-F238E27FC236}">
                <a16:creationId xmlns:a16="http://schemas.microsoft.com/office/drawing/2014/main" id="{117EDA4B-EAAF-FA88-FB9D-95EBA1D7A5BC}"/>
              </a:ext>
            </a:extLst>
          </p:cNvPr>
          <p:cNvPicPr>
            <a:picLocks noChangeAspect="1"/>
          </p:cNvPicPr>
          <p:nvPr/>
        </p:nvPicPr>
        <p:blipFill>
          <a:blip r:embed="rId2"/>
          <a:stretch>
            <a:fillRect/>
          </a:stretch>
        </p:blipFill>
        <p:spPr>
          <a:xfrm>
            <a:off x="1944991" y="5181600"/>
            <a:ext cx="7174428" cy="1644869"/>
          </a:xfrm>
          <a:prstGeom prst="rect">
            <a:avLst/>
          </a:prstGeom>
          <a:ln>
            <a:solidFill>
              <a:srgbClr val="FF0000"/>
            </a:solidFill>
          </a:ln>
        </p:spPr>
      </p:pic>
    </p:spTree>
    <p:extLst>
      <p:ext uri="{BB962C8B-B14F-4D97-AF65-F5344CB8AC3E}">
        <p14:creationId xmlns:p14="http://schemas.microsoft.com/office/powerpoint/2010/main" val="8917188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53B71-6A48-7C8B-9C8A-BA02C948869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FA5F63B-2004-7A91-81B3-DA3710CC782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4CF507CA-758D-F02C-8E20-DC4570C704B2}"/>
              </a:ext>
            </a:extLst>
          </p:cNvPr>
          <p:cNvSpPr txBox="1"/>
          <p:nvPr/>
        </p:nvSpPr>
        <p:spPr>
          <a:xfrm>
            <a:off x="24581" y="762000"/>
            <a:ext cx="9144000" cy="5842497"/>
          </a:xfrm>
          <a:prstGeom prst="rect">
            <a:avLst/>
          </a:prstGeom>
          <a:noFill/>
        </p:spPr>
        <p:txBody>
          <a:bodyPr wrap="square">
            <a:spAutoFit/>
          </a:bodyPr>
          <a:lstStyle/>
          <a:p>
            <a:pPr>
              <a:lnSpc>
                <a:spcPct val="150000"/>
              </a:lnSpc>
            </a:pPr>
            <a:r>
              <a:rPr lang="en-AU" sz="2800" dirty="0">
                <a:latin typeface="+mj-lt"/>
              </a:rPr>
              <a:t>For the connection between ISP and REMOTE:</a:t>
            </a:r>
          </a:p>
          <a:p>
            <a:pPr rtl="0">
              <a:lnSpc>
                <a:spcPct val="150000"/>
              </a:lnSpc>
            </a:pPr>
            <a:r>
              <a:rPr lang="en-AU" sz="2800" dirty="0">
                <a:latin typeface="+mj-lt"/>
              </a:rPr>
              <a:t>interface serial 0/1/1</a:t>
            </a:r>
          </a:p>
          <a:p>
            <a:pPr rtl="0">
              <a:lnSpc>
                <a:spcPct val="150000"/>
              </a:lnSpc>
            </a:pPr>
            <a:r>
              <a:rPr lang="en-AU" sz="2800" dirty="0">
                <a:latin typeface="+mj-lt"/>
              </a:rPr>
              <a:t>no shutdown</a:t>
            </a:r>
          </a:p>
          <a:p>
            <a:pPr rtl="0">
              <a:lnSpc>
                <a:spcPct val="150000"/>
              </a:lnSpc>
            </a:pPr>
            <a:r>
              <a:rPr lang="en-AU" sz="2800" dirty="0">
                <a:latin typeface="+mj-lt"/>
              </a:rPr>
              <a:t>exit</a:t>
            </a:r>
          </a:p>
          <a:p>
            <a:pPr rtl="0">
              <a:lnSpc>
                <a:spcPct val="150000"/>
              </a:lnSpc>
            </a:pPr>
            <a:r>
              <a:rPr lang="en-AU" sz="2800" dirty="0">
                <a:latin typeface="+mj-lt"/>
              </a:rPr>
              <a:t>end</a:t>
            </a:r>
          </a:p>
          <a:p>
            <a:pPr>
              <a:lnSpc>
                <a:spcPct val="150000"/>
              </a:lnSpc>
            </a:pPr>
            <a:r>
              <a:rPr lang="en-AU" sz="2800" dirty="0">
                <a:latin typeface="+mj-lt"/>
              </a:rPr>
              <a:t>If ISP is the DCE end of either connection, </a:t>
            </a:r>
            <a:br>
              <a:rPr lang="en-AU" sz="2800" dirty="0">
                <a:latin typeface="+mj-lt"/>
              </a:rPr>
            </a:br>
            <a:r>
              <a:rPr lang="en-AU" sz="2800" dirty="0">
                <a:latin typeface="+mj-lt"/>
              </a:rPr>
              <a:t>configure clock rate </a:t>
            </a:r>
            <a:br>
              <a:rPr lang="en-AU" sz="2800" dirty="0">
                <a:latin typeface="+mj-lt"/>
              </a:rPr>
            </a:br>
            <a:r>
              <a:rPr lang="en-AU" sz="2800" dirty="0">
                <a:latin typeface="+mj-lt"/>
              </a:rPr>
              <a:t>56000 on that DCE </a:t>
            </a:r>
            <a:br>
              <a:rPr lang="en-AU" sz="2800" dirty="0">
                <a:latin typeface="+mj-lt"/>
              </a:rPr>
            </a:br>
            <a:r>
              <a:rPr lang="en-AU" sz="2800" dirty="0">
                <a:latin typeface="+mj-lt"/>
              </a:rPr>
              <a:t>interface.</a:t>
            </a:r>
          </a:p>
        </p:txBody>
      </p:sp>
      <p:pic>
        <p:nvPicPr>
          <p:cNvPr id="6" name="Picture 5" descr="The image displays a sequence of text commands for configuring a terminal interface on an ISP (Infinity Service Provider) router, specifically for setting up two serial interfaces, and ending the configuration.&#10;&#10;AI-generated content may be incorrect.">
            <a:extLst>
              <a:ext uri="{FF2B5EF4-FFF2-40B4-BE49-F238E27FC236}">
                <a16:creationId xmlns:a16="http://schemas.microsoft.com/office/drawing/2014/main" id="{A2092AB7-2E69-96E3-7498-FDAFC299246E}"/>
              </a:ext>
            </a:extLst>
          </p:cNvPr>
          <p:cNvPicPr>
            <a:picLocks noChangeAspect="1"/>
          </p:cNvPicPr>
          <p:nvPr/>
        </p:nvPicPr>
        <p:blipFill>
          <a:blip r:embed="rId2"/>
          <a:stretch>
            <a:fillRect/>
          </a:stretch>
        </p:blipFill>
        <p:spPr>
          <a:xfrm>
            <a:off x="3756764" y="4552574"/>
            <a:ext cx="5360274" cy="2286002"/>
          </a:xfrm>
          <a:prstGeom prst="rect">
            <a:avLst/>
          </a:prstGeom>
          <a:ln>
            <a:solidFill>
              <a:srgbClr val="FF0000"/>
            </a:solidFill>
          </a:ln>
        </p:spPr>
      </p:pic>
    </p:spTree>
    <p:extLst>
      <p:ext uri="{BB962C8B-B14F-4D97-AF65-F5344CB8AC3E}">
        <p14:creationId xmlns:p14="http://schemas.microsoft.com/office/powerpoint/2010/main" val="12681533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BC26C-E1D0-A8BB-6B5D-16B1009890B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DA60F49-A503-C1FE-C29D-E77EC9C7EF3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A80BBF89-6665-A1CA-3DF0-3F60292224A1}"/>
              </a:ext>
            </a:extLst>
          </p:cNvPr>
          <p:cNvSpPr txBox="1"/>
          <p:nvPr/>
        </p:nvSpPr>
        <p:spPr>
          <a:xfrm>
            <a:off x="24581" y="762000"/>
            <a:ext cx="9144000" cy="5842497"/>
          </a:xfrm>
          <a:prstGeom prst="rect">
            <a:avLst/>
          </a:prstGeom>
          <a:noFill/>
        </p:spPr>
        <p:txBody>
          <a:bodyPr wrap="square">
            <a:spAutoFit/>
          </a:bodyPr>
          <a:lstStyle/>
          <a:p>
            <a:pPr>
              <a:lnSpc>
                <a:spcPct val="150000"/>
              </a:lnSpc>
            </a:pPr>
            <a:r>
              <a:rPr lang="en-AU" sz="2800" b="1" dirty="0">
                <a:latin typeface="+mj-lt"/>
              </a:rPr>
              <a:t>Step 3: Configure the REMOTE router</a:t>
            </a:r>
          </a:p>
          <a:p>
            <a:pPr>
              <a:lnSpc>
                <a:spcPct val="150000"/>
              </a:lnSpc>
            </a:pPr>
            <a:r>
              <a:rPr lang="en-AU" sz="2800" dirty="0">
                <a:latin typeface="+mj-lt"/>
              </a:rPr>
              <a:t>Open REMOTE → CLI and enter:</a:t>
            </a:r>
          </a:p>
          <a:p>
            <a:pPr rtl="0">
              <a:lnSpc>
                <a:spcPct val="150000"/>
              </a:lnSpc>
            </a:pPr>
            <a:r>
              <a:rPr lang="en-AU" sz="2800" dirty="0">
                <a:latin typeface="+mj-lt"/>
              </a:rPr>
              <a:t>enable</a:t>
            </a:r>
          </a:p>
          <a:p>
            <a:pPr rtl="0">
              <a:lnSpc>
                <a:spcPct val="150000"/>
              </a:lnSpc>
            </a:pPr>
            <a:r>
              <a:rPr lang="en-AU" sz="2800" dirty="0">
                <a:latin typeface="+mj-lt"/>
              </a:rPr>
              <a:t>configure terminal</a:t>
            </a:r>
          </a:p>
          <a:p>
            <a:pPr rtl="0">
              <a:lnSpc>
                <a:spcPct val="150000"/>
              </a:lnSpc>
            </a:pPr>
            <a:r>
              <a:rPr lang="en-AU" sz="2800" dirty="0">
                <a:latin typeface="+mj-lt"/>
              </a:rPr>
              <a:t>interface serial 0/1/1</a:t>
            </a:r>
          </a:p>
          <a:p>
            <a:pPr rtl="0">
              <a:lnSpc>
                <a:spcPct val="150000"/>
              </a:lnSpc>
            </a:pPr>
            <a:r>
              <a:rPr lang="en-AU" sz="2800" dirty="0">
                <a:latin typeface="+mj-lt"/>
              </a:rPr>
              <a:t>no shutdown</a:t>
            </a:r>
          </a:p>
          <a:p>
            <a:pPr rtl="0">
              <a:lnSpc>
                <a:spcPct val="150000"/>
              </a:lnSpc>
            </a:pPr>
            <a:r>
              <a:rPr lang="en-AU" sz="2800" dirty="0">
                <a:latin typeface="+mj-lt"/>
              </a:rPr>
              <a:t>end</a:t>
            </a:r>
          </a:p>
          <a:p>
            <a:pPr>
              <a:lnSpc>
                <a:spcPct val="150000"/>
              </a:lnSpc>
            </a:pPr>
            <a:r>
              <a:rPr lang="en-AU" sz="2800" dirty="0">
                <a:latin typeface="+mj-lt"/>
              </a:rPr>
              <a:t>If REMOTE is the DCE end, configure clock rate 56000 on its serial interface.</a:t>
            </a:r>
          </a:p>
        </p:txBody>
      </p:sp>
      <p:pic>
        <p:nvPicPr>
          <p:cNvPr id="5" name="Picture 4" descr="The image shows a terminal screen displaying various network configuration commands for an interface on a router.&#10;&#10;AI-generated content may be incorrect.">
            <a:extLst>
              <a:ext uri="{FF2B5EF4-FFF2-40B4-BE49-F238E27FC236}">
                <a16:creationId xmlns:a16="http://schemas.microsoft.com/office/drawing/2014/main" id="{C35959E4-EFAF-AF88-04DA-FB04AE9330CC}"/>
              </a:ext>
            </a:extLst>
          </p:cNvPr>
          <p:cNvPicPr>
            <a:picLocks noChangeAspect="1"/>
          </p:cNvPicPr>
          <p:nvPr/>
        </p:nvPicPr>
        <p:blipFill>
          <a:blip r:embed="rId2"/>
          <a:stretch>
            <a:fillRect/>
          </a:stretch>
        </p:blipFill>
        <p:spPr>
          <a:xfrm>
            <a:off x="4724399" y="1371599"/>
            <a:ext cx="4395019" cy="4050311"/>
          </a:xfrm>
          <a:prstGeom prst="rect">
            <a:avLst/>
          </a:prstGeom>
          <a:ln>
            <a:solidFill>
              <a:srgbClr val="FF0000"/>
            </a:solidFill>
          </a:ln>
        </p:spPr>
      </p:pic>
    </p:spTree>
    <p:extLst>
      <p:ext uri="{BB962C8B-B14F-4D97-AF65-F5344CB8AC3E}">
        <p14:creationId xmlns:p14="http://schemas.microsoft.com/office/powerpoint/2010/main" val="35586446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967D7-56A4-D270-83A3-B7D0EFD7AF3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281D2B1-58D6-CB36-3AB5-FC02D433286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F2FC0FE1-2EE9-30AF-1487-31DA0B806FAB}"/>
              </a:ext>
            </a:extLst>
          </p:cNvPr>
          <p:cNvSpPr txBox="1"/>
          <p:nvPr/>
        </p:nvSpPr>
        <p:spPr>
          <a:xfrm>
            <a:off x="0" y="533401"/>
            <a:ext cx="8986836" cy="5842497"/>
          </a:xfrm>
          <a:prstGeom prst="rect">
            <a:avLst/>
          </a:prstGeom>
          <a:noFill/>
        </p:spPr>
        <p:txBody>
          <a:bodyPr wrap="square">
            <a:spAutoFit/>
          </a:bodyPr>
          <a:lstStyle/>
          <a:p>
            <a:pPr>
              <a:lnSpc>
                <a:spcPct val="150000"/>
              </a:lnSpc>
              <a:buNone/>
            </a:pPr>
            <a:r>
              <a:rPr lang="en-AU" sz="2800" b="1" dirty="0">
                <a:latin typeface="+mj-lt"/>
              </a:rPr>
              <a:t>Step 4: Identify the DCE interfaces</a:t>
            </a:r>
          </a:p>
          <a:p>
            <a:pPr>
              <a:lnSpc>
                <a:spcPct val="150000"/>
              </a:lnSpc>
              <a:buNone/>
            </a:pPr>
            <a:r>
              <a:rPr lang="en-AU" sz="2800" dirty="0">
                <a:latin typeface="+mj-lt"/>
              </a:rPr>
              <a:t>The clock rate command must be applied only to the DCE end of each serial connection.</a:t>
            </a:r>
          </a:p>
          <a:p>
            <a:pPr>
              <a:lnSpc>
                <a:spcPct val="150000"/>
              </a:lnSpc>
              <a:buNone/>
            </a:pPr>
            <a:r>
              <a:rPr lang="en-AU" sz="2800" dirty="0">
                <a:latin typeface="+mj-lt"/>
              </a:rPr>
              <a:t>On each router, enter:</a:t>
            </a:r>
          </a:p>
          <a:p>
            <a:pPr rtl="0">
              <a:lnSpc>
                <a:spcPct val="150000"/>
              </a:lnSpc>
              <a:buNone/>
            </a:pPr>
            <a:r>
              <a:rPr lang="en-AU" sz="2800" dirty="0">
                <a:latin typeface="+mj-lt"/>
              </a:rPr>
              <a:t>show controllers serial 0/1/0</a:t>
            </a:r>
          </a:p>
          <a:p>
            <a:pPr>
              <a:lnSpc>
                <a:spcPct val="150000"/>
              </a:lnSpc>
              <a:buNone/>
            </a:pPr>
            <a:r>
              <a:rPr lang="en-AU" sz="2800" dirty="0">
                <a:latin typeface="+mj-lt"/>
              </a:rPr>
              <a:t>For the ISP and REMOTE connection, use:</a:t>
            </a:r>
          </a:p>
          <a:p>
            <a:pPr rtl="0">
              <a:lnSpc>
                <a:spcPct val="150000"/>
              </a:lnSpc>
              <a:buNone/>
            </a:pPr>
            <a:r>
              <a:rPr lang="en-AU" sz="2800" dirty="0">
                <a:latin typeface="+mj-lt"/>
              </a:rPr>
              <a:t>show controllers serial 0/1/1</a:t>
            </a:r>
          </a:p>
          <a:p>
            <a:pPr>
              <a:lnSpc>
                <a:spcPct val="150000"/>
              </a:lnSpc>
              <a:buNone/>
            </a:pPr>
            <a:r>
              <a:rPr lang="en-AU" sz="2800" dirty="0">
                <a:latin typeface="+mj-lt"/>
              </a:rPr>
              <a:t>Look for DCE or DTE in the output. Apply the clock rate on whichever interface reports DCE.</a:t>
            </a:r>
          </a:p>
        </p:txBody>
      </p:sp>
    </p:spTree>
    <p:extLst>
      <p:ext uri="{BB962C8B-B14F-4D97-AF65-F5344CB8AC3E}">
        <p14:creationId xmlns:p14="http://schemas.microsoft.com/office/powerpoint/2010/main" val="10031578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230A6-B411-99CB-76E7-B4D759C12F3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88AE50A-D55C-6EE6-1919-8A84AF996CB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95F52A8B-2E2B-E3E0-9997-D4924BB0EFED}"/>
              </a:ext>
            </a:extLst>
          </p:cNvPr>
          <p:cNvSpPr txBox="1"/>
          <p:nvPr/>
        </p:nvSpPr>
        <p:spPr>
          <a:xfrm>
            <a:off x="0" y="533401"/>
            <a:ext cx="8986836" cy="6272358"/>
          </a:xfrm>
          <a:prstGeom prst="rect">
            <a:avLst/>
          </a:prstGeom>
          <a:noFill/>
        </p:spPr>
        <p:txBody>
          <a:bodyPr wrap="square">
            <a:spAutoFit/>
          </a:bodyPr>
          <a:lstStyle/>
          <a:p>
            <a:pPr>
              <a:lnSpc>
                <a:spcPct val="150000"/>
              </a:lnSpc>
            </a:pPr>
            <a:r>
              <a:rPr lang="en-AU" sz="2800" b="1" dirty="0">
                <a:latin typeface="+mj-lt"/>
              </a:rPr>
              <a:t>Verify the connections</a:t>
            </a:r>
          </a:p>
          <a:p>
            <a:pPr>
              <a:lnSpc>
                <a:spcPct val="150000"/>
              </a:lnSpc>
            </a:pPr>
            <a:r>
              <a:rPr lang="en-AU" sz="2200" dirty="0">
                <a:latin typeface="+mj-lt"/>
              </a:rPr>
              <a:t>You need to check all three routers separately in Cisco Packet Tracer.</a:t>
            </a:r>
          </a:p>
          <a:p>
            <a:pPr>
              <a:lnSpc>
                <a:spcPct val="150000"/>
              </a:lnSpc>
            </a:pPr>
            <a:r>
              <a:rPr lang="en-AU" sz="2200" dirty="0">
                <a:latin typeface="+mj-lt"/>
              </a:rPr>
              <a:t>Follow these steps:</a:t>
            </a:r>
          </a:p>
          <a:p>
            <a:pPr lvl="0">
              <a:lnSpc>
                <a:spcPct val="150000"/>
              </a:lnSpc>
            </a:pPr>
            <a:r>
              <a:rPr lang="en-AU" sz="2200" dirty="0">
                <a:latin typeface="+mj-lt"/>
              </a:rPr>
              <a:t>LOCAL router: Click LOCAL → CLI, then enter:</a:t>
            </a:r>
          </a:p>
          <a:p>
            <a:pPr lvl="0" rtl="0">
              <a:lnSpc>
                <a:spcPct val="150000"/>
              </a:lnSpc>
            </a:pPr>
            <a:r>
              <a:rPr lang="en-AU" sz="2200" dirty="0">
                <a:latin typeface="+mj-lt"/>
              </a:rPr>
              <a:t>enable</a:t>
            </a:r>
          </a:p>
          <a:p>
            <a:pPr lvl="0" rtl="0">
              <a:lnSpc>
                <a:spcPct val="150000"/>
              </a:lnSpc>
            </a:pPr>
            <a:r>
              <a:rPr lang="en-AU" sz="2200" dirty="0">
                <a:latin typeface="+mj-lt"/>
              </a:rPr>
              <a:t>show </a:t>
            </a:r>
            <a:r>
              <a:rPr lang="en-AU" sz="2200" dirty="0" err="1">
                <a:latin typeface="+mj-lt"/>
              </a:rPr>
              <a:t>ip</a:t>
            </a:r>
            <a:r>
              <a:rPr lang="en-AU" sz="2200" dirty="0">
                <a:latin typeface="+mj-lt"/>
              </a:rPr>
              <a:t> interface brief</a:t>
            </a:r>
          </a:p>
          <a:p>
            <a:pPr lvl="0">
              <a:lnSpc>
                <a:spcPct val="150000"/>
              </a:lnSpc>
            </a:pPr>
            <a:r>
              <a:rPr lang="en-AU" sz="2200" dirty="0">
                <a:latin typeface="+mj-lt"/>
              </a:rPr>
              <a:t>ISP router: Click ISP → CLI, then enter:</a:t>
            </a:r>
          </a:p>
          <a:p>
            <a:pPr lvl="0" rtl="0">
              <a:lnSpc>
                <a:spcPct val="150000"/>
              </a:lnSpc>
            </a:pPr>
            <a:r>
              <a:rPr lang="en-AU" sz="2200" dirty="0">
                <a:latin typeface="+mj-lt"/>
              </a:rPr>
              <a:t>enable</a:t>
            </a:r>
          </a:p>
          <a:p>
            <a:pPr lvl="0" rtl="0">
              <a:lnSpc>
                <a:spcPct val="150000"/>
              </a:lnSpc>
            </a:pPr>
            <a:r>
              <a:rPr lang="en-AU" sz="2200" dirty="0">
                <a:latin typeface="+mj-lt"/>
              </a:rPr>
              <a:t>show </a:t>
            </a:r>
            <a:r>
              <a:rPr lang="en-AU" sz="2200" dirty="0" err="1">
                <a:latin typeface="+mj-lt"/>
              </a:rPr>
              <a:t>ip</a:t>
            </a:r>
            <a:r>
              <a:rPr lang="en-AU" sz="2200" dirty="0">
                <a:latin typeface="+mj-lt"/>
              </a:rPr>
              <a:t> interface brief</a:t>
            </a:r>
          </a:p>
          <a:p>
            <a:pPr lvl="0">
              <a:lnSpc>
                <a:spcPct val="150000"/>
              </a:lnSpc>
            </a:pPr>
            <a:r>
              <a:rPr lang="en-AU" sz="2200" dirty="0">
                <a:latin typeface="+mj-lt"/>
              </a:rPr>
              <a:t>REMOTE router: Click REMOTE → CLI, then enter:</a:t>
            </a:r>
          </a:p>
          <a:p>
            <a:pPr lvl="0" rtl="0">
              <a:lnSpc>
                <a:spcPct val="150000"/>
              </a:lnSpc>
            </a:pPr>
            <a:r>
              <a:rPr lang="en-AU" sz="2200" dirty="0">
                <a:latin typeface="+mj-lt"/>
              </a:rPr>
              <a:t>enable</a:t>
            </a:r>
          </a:p>
          <a:p>
            <a:pPr lvl="0" rtl="0">
              <a:lnSpc>
                <a:spcPct val="150000"/>
              </a:lnSpc>
            </a:pPr>
            <a:r>
              <a:rPr lang="en-AU" sz="2200" dirty="0">
                <a:latin typeface="+mj-lt"/>
              </a:rPr>
              <a:t>show </a:t>
            </a:r>
            <a:r>
              <a:rPr lang="en-AU" sz="2200" dirty="0" err="1">
                <a:latin typeface="+mj-lt"/>
              </a:rPr>
              <a:t>ip</a:t>
            </a:r>
            <a:r>
              <a:rPr lang="en-AU" sz="2200" dirty="0">
                <a:latin typeface="+mj-lt"/>
              </a:rPr>
              <a:t> interface brief</a:t>
            </a:r>
          </a:p>
        </p:txBody>
      </p:sp>
    </p:spTree>
    <p:extLst>
      <p:ext uri="{BB962C8B-B14F-4D97-AF65-F5344CB8AC3E}">
        <p14:creationId xmlns:p14="http://schemas.microsoft.com/office/powerpoint/2010/main" val="12781910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A837A-3326-6F75-631B-1ACA90E5030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EE21437-A3BC-3CD1-6098-E6893AF378F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9F97DFDA-2FC8-19B5-12A9-B8AD4856A24A}"/>
              </a:ext>
            </a:extLst>
          </p:cNvPr>
          <p:cNvSpPr txBox="1"/>
          <p:nvPr/>
        </p:nvSpPr>
        <p:spPr>
          <a:xfrm>
            <a:off x="0" y="533401"/>
            <a:ext cx="8986836" cy="671851"/>
          </a:xfrm>
          <a:prstGeom prst="rect">
            <a:avLst/>
          </a:prstGeom>
          <a:noFill/>
        </p:spPr>
        <p:txBody>
          <a:bodyPr wrap="square">
            <a:spAutoFit/>
          </a:bodyPr>
          <a:lstStyle/>
          <a:p>
            <a:pPr>
              <a:lnSpc>
                <a:spcPct val="150000"/>
              </a:lnSpc>
            </a:pPr>
            <a:r>
              <a:rPr lang="en-AU" sz="2800" b="1" dirty="0">
                <a:latin typeface="+mj-lt"/>
              </a:rPr>
              <a:t>If you see an error, type: end</a:t>
            </a:r>
            <a:endParaRPr lang="en-AU" sz="2200" dirty="0">
              <a:latin typeface="+mj-lt"/>
            </a:endParaRPr>
          </a:p>
        </p:txBody>
      </p:sp>
      <p:pic>
        <p:nvPicPr>
          <p:cNvPr id="4" name="Picture 3" descr="The image displays a sequence of commands and error messages from a terminal or console interface, typically related to a configuration or command-line session, possibly for a network device.&#10;&#10;AI-generated content may be incorrect.">
            <a:extLst>
              <a:ext uri="{FF2B5EF4-FFF2-40B4-BE49-F238E27FC236}">
                <a16:creationId xmlns:a16="http://schemas.microsoft.com/office/drawing/2014/main" id="{98E7B27A-DB61-7E90-0612-A7D92CD2FDB2}"/>
              </a:ext>
            </a:extLst>
          </p:cNvPr>
          <p:cNvPicPr>
            <a:picLocks noChangeAspect="1"/>
          </p:cNvPicPr>
          <p:nvPr/>
        </p:nvPicPr>
        <p:blipFill>
          <a:blip r:embed="rId2"/>
          <a:stretch>
            <a:fillRect/>
          </a:stretch>
        </p:blipFill>
        <p:spPr>
          <a:xfrm>
            <a:off x="1" y="1281298"/>
            <a:ext cx="9143998" cy="4295404"/>
          </a:xfrm>
          <a:prstGeom prst="rect">
            <a:avLst/>
          </a:prstGeom>
          <a:ln>
            <a:solidFill>
              <a:srgbClr val="FF0000"/>
            </a:solidFill>
          </a:ln>
        </p:spPr>
      </p:pic>
      <p:sp>
        <p:nvSpPr>
          <p:cNvPr id="7" name="TextBox 6">
            <a:extLst>
              <a:ext uri="{FF2B5EF4-FFF2-40B4-BE49-F238E27FC236}">
                <a16:creationId xmlns:a16="http://schemas.microsoft.com/office/drawing/2014/main" id="{90F4EFFC-8803-5C14-3109-0FE90D811451}"/>
              </a:ext>
            </a:extLst>
          </p:cNvPr>
          <p:cNvSpPr txBox="1"/>
          <p:nvPr/>
        </p:nvSpPr>
        <p:spPr>
          <a:xfrm>
            <a:off x="5791200" y="1274154"/>
            <a:ext cx="3352799" cy="4204356"/>
          </a:xfrm>
          <a:prstGeom prst="rect">
            <a:avLst/>
          </a:prstGeom>
          <a:solidFill>
            <a:schemeClr val="bg1"/>
          </a:solidFill>
          <a:ln>
            <a:solidFill>
              <a:srgbClr val="FF0000"/>
            </a:solidFill>
          </a:ln>
        </p:spPr>
        <p:txBody>
          <a:bodyPr wrap="square">
            <a:spAutoFit/>
          </a:bodyPr>
          <a:lstStyle/>
          <a:p>
            <a:pPr>
              <a:lnSpc>
                <a:spcPct val="150000"/>
              </a:lnSpc>
              <a:buNone/>
            </a:pPr>
            <a:r>
              <a:rPr lang="en-AU" dirty="0">
                <a:latin typeface="+mj-lt"/>
              </a:rPr>
              <a:t>It is currently in configuration mode, shown by:</a:t>
            </a:r>
          </a:p>
          <a:p>
            <a:pPr>
              <a:lnSpc>
                <a:spcPct val="150000"/>
              </a:lnSpc>
              <a:buNone/>
            </a:pPr>
            <a:r>
              <a:rPr lang="en-AU" dirty="0">
                <a:latin typeface="+mj-lt"/>
              </a:rPr>
              <a:t>LOCAL(config)#</a:t>
            </a:r>
          </a:p>
          <a:p>
            <a:pPr>
              <a:lnSpc>
                <a:spcPct val="150000"/>
              </a:lnSpc>
              <a:buNone/>
            </a:pPr>
            <a:r>
              <a:rPr lang="en-AU" dirty="0">
                <a:latin typeface="+mj-lt"/>
              </a:rPr>
              <a:t>The command show </a:t>
            </a:r>
            <a:r>
              <a:rPr lang="en-AU" dirty="0" err="1">
                <a:latin typeface="+mj-lt"/>
              </a:rPr>
              <a:t>ip</a:t>
            </a:r>
            <a:r>
              <a:rPr lang="en-AU" dirty="0">
                <a:latin typeface="+mj-lt"/>
              </a:rPr>
              <a:t> interface brief normally runs in privileged EXEC mode, shown by:</a:t>
            </a:r>
          </a:p>
          <a:p>
            <a:pPr>
              <a:lnSpc>
                <a:spcPct val="150000"/>
              </a:lnSpc>
              <a:buNone/>
            </a:pPr>
            <a:r>
              <a:rPr lang="en-AU" dirty="0">
                <a:latin typeface="+mj-lt"/>
              </a:rPr>
              <a:t>LOCAL#</a:t>
            </a:r>
          </a:p>
          <a:p>
            <a:pPr>
              <a:lnSpc>
                <a:spcPct val="150000"/>
              </a:lnSpc>
              <a:buNone/>
            </a:pPr>
            <a:r>
              <a:rPr lang="en-AU" b="1" dirty="0">
                <a:latin typeface="+mj-lt"/>
              </a:rPr>
              <a:t>Step 1: Exit configuration mode</a:t>
            </a:r>
          </a:p>
          <a:p>
            <a:pPr>
              <a:lnSpc>
                <a:spcPct val="150000"/>
              </a:lnSpc>
              <a:buNone/>
            </a:pPr>
            <a:r>
              <a:rPr lang="en-AU" dirty="0">
                <a:latin typeface="+mj-lt"/>
              </a:rPr>
              <a:t>At LOCAL(config)#, type:</a:t>
            </a:r>
          </a:p>
          <a:p>
            <a:pPr rtl="0">
              <a:lnSpc>
                <a:spcPct val="150000"/>
              </a:lnSpc>
              <a:buNone/>
            </a:pPr>
            <a:r>
              <a:rPr lang="en-AU" dirty="0">
                <a:latin typeface="+mj-lt"/>
              </a:rPr>
              <a:t>end</a:t>
            </a:r>
          </a:p>
        </p:txBody>
      </p:sp>
    </p:spTree>
    <p:extLst>
      <p:ext uri="{BB962C8B-B14F-4D97-AF65-F5344CB8AC3E}">
        <p14:creationId xmlns:p14="http://schemas.microsoft.com/office/powerpoint/2010/main" val="28628174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5F31D-D421-D583-A220-06845ACA768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14226D0-E429-FB9C-FA6A-70A95FE55CC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7" name="TextBox 6">
            <a:extLst>
              <a:ext uri="{FF2B5EF4-FFF2-40B4-BE49-F238E27FC236}">
                <a16:creationId xmlns:a16="http://schemas.microsoft.com/office/drawing/2014/main" id="{79AF6304-BA33-4B16-32B5-64994111D63E}"/>
              </a:ext>
            </a:extLst>
          </p:cNvPr>
          <p:cNvSpPr txBox="1"/>
          <p:nvPr/>
        </p:nvSpPr>
        <p:spPr>
          <a:xfrm>
            <a:off x="4876800" y="1205252"/>
            <a:ext cx="4267199" cy="4549835"/>
          </a:xfrm>
          <a:prstGeom prst="rect">
            <a:avLst/>
          </a:prstGeom>
          <a:solidFill>
            <a:schemeClr val="bg1"/>
          </a:solidFill>
          <a:ln>
            <a:solidFill>
              <a:srgbClr val="FF0000"/>
            </a:solidFill>
          </a:ln>
        </p:spPr>
        <p:txBody>
          <a:bodyPr wrap="square">
            <a:spAutoFit/>
          </a:bodyPr>
          <a:lstStyle/>
          <a:p>
            <a:pPr>
              <a:lnSpc>
                <a:spcPct val="150000"/>
              </a:lnSpc>
            </a:pPr>
            <a:r>
              <a:rPr lang="en-AU" sz="2800" dirty="0">
                <a:latin typeface="+mj-lt"/>
              </a:rPr>
              <a:t>You should now see:</a:t>
            </a:r>
          </a:p>
          <a:p>
            <a:pPr rtl="0">
              <a:lnSpc>
                <a:spcPct val="150000"/>
              </a:lnSpc>
            </a:pPr>
            <a:r>
              <a:rPr lang="en-AU" sz="2800" dirty="0">
                <a:latin typeface="+mj-lt"/>
              </a:rPr>
              <a:t>LOCAL#</a:t>
            </a:r>
          </a:p>
          <a:p>
            <a:pPr>
              <a:lnSpc>
                <a:spcPct val="150000"/>
              </a:lnSpc>
            </a:pPr>
            <a:r>
              <a:rPr lang="en-AU" sz="2800" b="1" dirty="0">
                <a:latin typeface="+mj-lt"/>
              </a:rPr>
              <a:t>Step 2: Check the interfaces</a:t>
            </a:r>
          </a:p>
          <a:p>
            <a:pPr>
              <a:lnSpc>
                <a:spcPct val="150000"/>
              </a:lnSpc>
            </a:pPr>
            <a:r>
              <a:rPr lang="en-AU" sz="2800" dirty="0">
                <a:latin typeface="+mj-lt"/>
              </a:rPr>
              <a:t>Now type:</a:t>
            </a:r>
          </a:p>
          <a:p>
            <a:pPr rtl="0">
              <a:lnSpc>
                <a:spcPct val="150000"/>
              </a:lnSpc>
            </a:pPr>
            <a:r>
              <a:rPr lang="en-AU" sz="2800" dirty="0">
                <a:latin typeface="+mj-lt"/>
              </a:rPr>
              <a:t>show </a:t>
            </a:r>
            <a:r>
              <a:rPr lang="en-AU" sz="2800" dirty="0" err="1">
                <a:latin typeface="+mj-lt"/>
              </a:rPr>
              <a:t>ip</a:t>
            </a:r>
            <a:r>
              <a:rPr lang="en-AU" sz="2800" dirty="0">
                <a:latin typeface="+mj-lt"/>
              </a:rPr>
              <a:t> interface brief</a:t>
            </a:r>
          </a:p>
          <a:p>
            <a:pPr>
              <a:lnSpc>
                <a:spcPct val="150000"/>
              </a:lnSpc>
            </a:pPr>
            <a:r>
              <a:rPr lang="en-AU" sz="2800" dirty="0">
                <a:latin typeface="+mj-lt"/>
              </a:rPr>
              <a:t>This should work correctly.</a:t>
            </a:r>
          </a:p>
        </p:txBody>
      </p:sp>
      <p:pic>
        <p:nvPicPr>
          <p:cNvPr id="5" name="Picture 4" descr="A text-based representation of a console session displaying configuration commands for network interfaces on a router.&#10;&#10;AI-generated content may be incorrect.">
            <a:extLst>
              <a:ext uri="{FF2B5EF4-FFF2-40B4-BE49-F238E27FC236}">
                <a16:creationId xmlns:a16="http://schemas.microsoft.com/office/drawing/2014/main" id="{B0A1A5F5-8F83-5E34-A0BD-288C51D9BF79}"/>
              </a:ext>
            </a:extLst>
          </p:cNvPr>
          <p:cNvPicPr>
            <a:picLocks noChangeAspect="1"/>
          </p:cNvPicPr>
          <p:nvPr/>
        </p:nvPicPr>
        <p:blipFill>
          <a:blip r:embed="rId2"/>
          <a:stretch>
            <a:fillRect/>
          </a:stretch>
        </p:blipFill>
        <p:spPr>
          <a:xfrm>
            <a:off x="21431" y="831265"/>
            <a:ext cx="4800600" cy="5297807"/>
          </a:xfrm>
          <a:prstGeom prst="rect">
            <a:avLst/>
          </a:prstGeom>
          <a:ln>
            <a:solidFill>
              <a:srgbClr val="FF0000"/>
            </a:solidFill>
          </a:ln>
        </p:spPr>
      </p:pic>
    </p:spTree>
    <p:extLst>
      <p:ext uri="{BB962C8B-B14F-4D97-AF65-F5344CB8AC3E}">
        <p14:creationId xmlns:p14="http://schemas.microsoft.com/office/powerpoint/2010/main" val="32164297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F78EF-3D2A-B792-A842-585936F2048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0EE9F3C-094F-028D-3255-BF07D87E425E}"/>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7" name="TextBox 6">
            <a:extLst>
              <a:ext uri="{FF2B5EF4-FFF2-40B4-BE49-F238E27FC236}">
                <a16:creationId xmlns:a16="http://schemas.microsoft.com/office/drawing/2014/main" id="{15527319-D1A3-06D6-D09A-5D0F7E09ACA7}"/>
              </a:ext>
            </a:extLst>
          </p:cNvPr>
          <p:cNvSpPr txBox="1"/>
          <p:nvPr/>
        </p:nvSpPr>
        <p:spPr>
          <a:xfrm>
            <a:off x="4876800" y="1205252"/>
            <a:ext cx="4267199" cy="4549835"/>
          </a:xfrm>
          <a:prstGeom prst="rect">
            <a:avLst/>
          </a:prstGeom>
          <a:solidFill>
            <a:schemeClr val="bg1"/>
          </a:solidFill>
          <a:ln>
            <a:solidFill>
              <a:srgbClr val="FF0000"/>
            </a:solidFill>
          </a:ln>
        </p:spPr>
        <p:txBody>
          <a:bodyPr wrap="square">
            <a:spAutoFit/>
          </a:bodyPr>
          <a:lstStyle/>
          <a:p>
            <a:pPr>
              <a:lnSpc>
                <a:spcPct val="150000"/>
              </a:lnSpc>
            </a:pPr>
            <a:r>
              <a:rPr lang="en-AU" sz="2800" b="1" dirty="0">
                <a:latin typeface="+mj-lt"/>
              </a:rPr>
              <a:t>Alternative (without exiting configuration mode)</a:t>
            </a:r>
          </a:p>
          <a:p>
            <a:pPr>
              <a:lnSpc>
                <a:spcPct val="150000"/>
              </a:lnSpc>
            </a:pPr>
            <a:r>
              <a:rPr lang="en-AU" sz="2800" dirty="0">
                <a:latin typeface="+mj-lt"/>
              </a:rPr>
              <a:t>You can also enter:</a:t>
            </a:r>
          </a:p>
          <a:p>
            <a:pPr rtl="0">
              <a:lnSpc>
                <a:spcPct val="150000"/>
              </a:lnSpc>
            </a:pPr>
            <a:r>
              <a:rPr lang="en-AU" sz="2800" dirty="0">
                <a:latin typeface="+mj-lt"/>
              </a:rPr>
              <a:t>do show </a:t>
            </a:r>
            <a:r>
              <a:rPr lang="en-AU" sz="2800" dirty="0" err="1">
                <a:latin typeface="+mj-lt"/>
              </a:rPr>
              <a:t>ip</a:t>
            </a:r>
            <a:r>
              <a:rPr lang="en-AU" sz="2800" dirty="0">
                <a:latin typeface="+mj-lt"/>
              </a:rPr>
              <a:t> interface brief</a:t>
            </a:r>
          </a:p>
          <a:p>
            <a:pPr>
              <a:lnSpc>
                <a:spcPct val="150000"/>
              </a:lnSpc>
            </a:pPr>
            <a:r>
              <a:rPr lang="en-AU" sz="2800" dirty="0">
                <a:latin typeface="+mj-lt"/>
              </a:rPr>
              <a:t>This works directly from LOCAL(config)#.</a:t>
            </a:r>
          </a:p>
        </p:txBody>
      </p:sp>
      <p:pic>
        <p:nvPicPr>
          <p:cNvPr id="5" name="Picture 4" descr="A text-based representation of a console session displaying configuration commands for network interfaces on a router.&#10;&#10;AI-generated content may be incorrect.">
            <a:extLst>
              <a:ext uri="{FF2B5EF4-FFF2-40B4-BE49-F238E27FC236}">
                <a16:creationId xmlns:a16="http://schemas.microsoft.com/office/drawing/2014/main" id="{06A89B0B-CA96-A64B-5B70-CEC49282ECF6}"/>
              </a:ext>
            </a:extLst>
          </p:cNvPr>
          <p:cNvPicPr>
            <a:picLocks noChangeAspect="1"/>
          </p:cNvPicPr>
          <p:nvPr/>
        </p:nvPicPr>
        <p:blipFill>
          <a:blip r:embed="rId2"/>
          <a:stretch>
            <a:fillRect/>
          </a:stretch>
        </p:blipFill>
        <p:spPr>
          <a:xfrm>
            <a:off x="21431" y="831265"/>
            <a:ext cx="4800600" cy="5297807"/>
          </a:xfrm>
          <a:prstGeom prst="rect">
            <a:avLst/>
          </a:prstGeom>
          <a:ln>
            <a:solidFill>
              <a:srgbClr val="FF0000"/>
            </a:solidFill>
          </a:ln>
        </p:spPr>
      </p:pic>
    </p:spTree>
    <p:extLst>
      <p:ext uri="{BB962C8B-B14F-4D97-AF65-F5344CB8AC3E}">
        <p14:creationId xmlns:p14="http://schemas.microsoft.com/office/powerpoint/2010/main" val="3661560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3B319-40DA-2D9B-8D06-4F7C495C5F8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9002FAB-5710-C7D1-6B7A-4BD1DC5B5EC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7" name="TextBox 6">
            <a:extLst>
              <a:ext uri="{FF2B5EF4-FFF2-40B4-BE49-F238E27FC236}">
                <a16:creationId xmlns:a16="http://schemas.microsoft.com/office/drawing/2014/main" id="{9FBB5A9D-0F97-A84D-192C-9114145117B3}"/>
              </a:ext>
            </a:extLst>
          </p:cNvPr>
          <p:cNvSpPr txBox="1"/>
          <p:nvPr/>
        </p:nvSpPr>
        <p:spPr>
          <a:xfrm>
            <a:off x="0" y="914400"/>
            <a:ext cx="9143999" cy="2610843"/>
          </a:xfrm>
          <a:prstGeom prst="rect">
            <a:avLst/>
          </a:prstGeom>
          <a:solidFill>
            <a:schemeClr val="bg1"/>
          </a:solidFill>
          <a:ln>
            <a:solidFill>
              <a:srgbClr val="FF0000"/>
            </a:solidFill>
          </a:ln>
        </p:spPr>
        <p:txBody>
          <a:bodyPr wrap="square">
            <a:spAutoFit/>
          </a:bodyPr>
          <a:lstStyle/>
          <a:p>
            <a:pPr>
              <a:lnSpc>
                <a:spcPct val="150000"/>
              </a:lnSpc>
            </a:pPr>
            <a:r>
              <a:rPr lang="en-AU" sz="2800" b="1" dirty="0">
                <a:latin typeface="+mj-lt"/>
              </a:rPr>
              <a:t>Repeat for ISP and REMOTE</a:t>
            </a:r>
          </a:p>
          <a:p>
            <a:pPr>
              <a:lnSpc>
                <a:spcPct val="150000"/>
              </a:lnSpc>
            </a:pPr>
            <a:r>
              <a:rPr lang="en-AU" sz="2800" dirty="0">
                <a:latin typeface="+mj-lt"/>
              </a:rPr>
              <a:t>On each router, enter:</a:t>
            </a:r>
          </a:p>
          <a:p>
            <a:pPr rtl="0">
              <a:lnSpc>
                <a:spcPct val="150000"/>
              </a:lnSpc>
            </a:pPr>
            <a:r>
              <a:rPr lang="en-AU" sz="2800" dirty="0">
                <a:latin typeface="+mj-lt"/>
              </a:rPr>
              <a:t>end</a:t>
            </a:r>
          </a:p>
          <a:p>
            <a:pPr rtl="0">
              <a:lnSpc>
                <a:spcPct val="150000"/>
              </a:lnSpc>
            </a:pPr>
            <a:r>
              <a:rPr lang="en-AU" sz="2800" dirty="0">
                <a:latin typeface="+mj-lt"/>
              </a:rPr>
              <a:t>show </a:t>
            </a:r>
            <a:r>
              <a:rPr lang="en-AU" sz="2800" dirty="0" err="1">
                <a:latin typeface="+mj-lt"/>
              </a:rPr>
              <a:t>ip</a:t>
            </a:r>
            <a:r>
              <a:rPr lang="en-AU" sz="2800" dirty="0">
                <a:latin typeface="+mj-lt"/>
              </a:rPr>
              <a:t> interface brief</a:t>
            </a:r>
          </a:p>
        </p:txBody>
      </p:sp>
      <p:sp>
        <p:nvSpPr>
          <p:cNvPr id="4" name="TextBox 3">
            <a:extLst>
              <a:ext uri="{FF2B5EF4-FFF2-40B4-BE49-F238E27FC236}">
                <a16:creationId xmlns:a16="http://schemas.microsoft.com/office/drawing/2014/main" id="{BF7A3AA1-C01F-D29C-0A18-2F21ED0D82EE}"/>
              </a:ext>
            </a:extLst>
          </p:cNvPr>
          <p:cNvSpPr txBox="1"/>
          <p:nvPr/>
        </p:nvSpPr>
        <p:spPr>
          <a:xfrm>
            <a:off x="4648200" y="5655290"/>
            <a:ext cx="4495799" cy="1200329"/>
          </a:xfrm>
          <a:prstGeom prst="rect">
            <a:avLst/>
          </a:prstGeom>
          <a:noFill/>
          <a:ln>
            <a:solidFill>
              <a:srgbClr val="FF0000"/>
            </a:solidFill>
          </a:ln>
        </p:spPr>
        <p:txBody>
          <a:bodyPr wrap="square">
            <a:spAutoFit/>
          </a:bodyPr>
          <a:lstStyle/>
          <a:p>
            <a:pPr>
              <a:buNone/>
            </a:pPr>
            <a:r>
              <a:rPr lang="en-AU" dirty="0">
                <a:latin typeface="+mj-lt"/>
              </a:rPr>
              <a:t>This means:</a:t>
            </a:r>
          </a:p>
          <a:p>
            <a:pPr marL="342900" lvl="0" indent="-342900">
              <a:buFont typeface="Arial" panose="020B0604020202020204" pitchFamily="34" charset="0"/>
              <a:buChar char="•"/>
            </a:pPr>
            <a:r>
              <a:rPr lang="en-AU" dirty="0">
                <a:latin typeface="+mj-lt"/>
              </a:rPr>
              <a:t>LOCAL ↔ ISP: Working at the interface level.</a:t>
            </a:r>
          </a:p>
          <a:p>
            <a:pPr marL="342900" lvl="0" indent="-342900">
              <a:buFont typeface="Arial" panose="020B0604020202020204" pitchFamily="34" charset="0"/>
              <a:buChar char="•"/>
            </a:pPr>
            <a:r>
              <a:rPr lang="en-AU" dirty="0">
                <a:latin typeface="+mj-lt"/>
              </a:rPr>
              <a:t>ISP ↔ REMOTE: Not working yet.</a:t>
            </a:r>
          </a:p>
        </p:txBody>
      </p:sp>
      <p:pic>
        <p:nvPicPr>
          <p:cNvPr id="8" name="Picture 7" descr="The image displays a command prompt with various network interface statuses and configurations, including IP addresses and statuses.&#10;&#10;AI-generated content may be incorrect.">
            <a:extLst>
              <a:ext uri="{FF2B5EF4-FFF2-40B4-BE49-F238E27FC236}">
                <a16:creationId xmlns:a16="http://schemas.microsoft.com/office/drawing/2014/main" id="{F252DBBE-F4CF-4E8B-A4E7-4FA10967B7FC}"/>
              </a:ext>
            </a:extLst>
          </p:cNvPr>
          <p:cNvPicPr>
            <a:picLocks noChangeAspect="1"/>
          </p:cNvPicPr>
          <p:nvPr/>
        </p:nvPicPr>
        <p:blipFill>
          <a:blip r:embed="rId2"/>
          <a:stretch>
            <a:fillRect/>
          </a:stretch>
        </p:blipFill>
        <p:spPr>
          <a:xfrm>
            <a:off x="33336" y="3525243"/>
            <a:ext cx="6682522" cy="2002255"/>
          </a:xfrm>
          <a:prstGeom prst="rect">
            <a:avLst/>
          </a:prstGeom>
          <a:ln>
            <a:solidFill>
              <a:srgbClr val="FF0000"/>
            </a:solidFill>
          </a:ln>
        </p:spPr>
      </p:pic>
    </p:spTree>
    <p:extLst>
      <p:ext uri="{BB962C8B-B14F-4D97-AF65-F5344CB8AC3E}">
        <p14:creationId xmlns:p14="http://schemas.microsoft.com/office/powerpoint/2010/main" val="22591229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1517B-05EA-D197-0112-D4A0CC69F5E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BD22D2F-8431-6ACD-4EB3-5721A69DEAE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7F087753-0264-7E85-3CE3-B3B25FB3A6C7}"/>
              </a:ext>
            </a:extLst>
          </p:cNvPr>
          <p:cNvSpPr txBox="1"/>
          <p:nvPr/>
        </p:nvSpPr>
        <p:spPr>
          <a:xfrm>
            <a:off x="0" y="609600"/>
            <a:ext cx="8993980" cy="5196166"/>
          </a:xfrm>
          <a:prstGeom prst="rect">
            <a:avLst/>
          </a:prstGeom>
          <a:noFill/>
        </p:spPr>
        <p:txBody>
          <a:bodyPr wrap="square">
            <a:spAutoFit/>
          </a:bodyPr>
          <a:lstStyle/>
          <a:p>
            <a:pPr>
              <a:lnSpc>
                <a:spcPct val="150000"/>
              </a:lnSpc>
              <a:buNone/>
            </a:pPr>
            <a:r>
              <a:rPr lang="en-AU" sz="2800" b="1" dirty="0">
                <a:latin typeface="+mj-lt"/>
              </a:rPr>
              <a:t>What to do now on ISP</a:t>
            </a:r>
          </a:p>
          <a:p>
            <a:pPr>
              <a:lnSpc>
                <a:spcPct val="150000"/>
              </a:lnSpc>
              <a:buNone/>
            </a:pPr>
            <a:r>
              <a:rPr lang="en-AU" sz="2800" dirty="0">
                <a:latin typeface="+mj-lt"/>
              </a:rPr>
              <a:t>We are already at ISP&gt;. Enter these commands:</a:t>
            </a:r>
          </a:p>
          <a:p>
            <a:pPr rtl="0">
              <a:lnSpc>
                <a:spcPct val="150000"/>
              </a:lnSpc>
              <a:buNone/>
            </a:pPr>
            <a:r>
              <a:rPr lang="en-AU" sz="2800" dirty="0">
                <a:latin typeface="+mj-lt"/>
              </a:rPr>
              <a:t>enable</a:t>
            </a:r>
          </a:p>
          <a:p>
            <a:pPr rtl="0">
              <a:lnSpc>
                <a:spcPct val="150000"/>
              </a:lnSpc>
              <a:buNone/>
            </a:pPr>
            <a:r>
              <a:rPr lang="en-AU" sz="2800" dirty="0">
                <a:latin typeface="+mj-lt"/>
              </a:rPr>
              <a:t>configure terminal</a:t>
            </a:r>
          </a:p>
          <a:p>
            <a:pPr rtl="0">
              <a:lnSpc>
                <a:spcPct val="150000"/>
              </a:lnSpc>
              <a:buNone/>
            </a:pPr>
            <a:r>
              <a:rPr lang="en-AU" sz="2800" dirty="0">
                <a:latin typeface="+mj-lt"/>
              </a:rPr>
              <a:t>interface serial 0/1/1</a:t>
            </a:r>
          </a:p>
          <a:p>
            <a:pPr rtl="0">
              <a:lnSpc>
                <a:spcPct val="150000"/>
              </a:lnSpc>
              <a:buNone/>
            </a:pPr>
            <a:r>
              <a:rPr lang="en-AU" sz="2800" dirty="0">
                <a:latin typeface="+mj-lt"/>
              </a:rPr>
              <a:t>no shutdown</a:t>
            </a:r>
          </a:p>
          <a:p>
            <a:pPr rtl="0">
              <a:lnSpc>
                <a:spcPct val="150000"/>
              </a:lnSpc>
              <a:buNone/>
            </a:pPr>
            <a:r>
              <a:rPr lang="en-AU" sz="2800" dirty="0">
                <a:latin typeface="+mj-lt"/>
              </a:rPr>
              <a:t>end</a:t>
            </a:r>
          </a:p>
          <a:p>
            <a:pPr rtl="0">
              <a:lnSpc>
                <a:spcPct val="150000"/>
              </a:lnSpc>
              <a:buNone/>
            </a:pPr>
            <a:r>
              <a:rPr lang="en-AU" sz="2800" dirty="0">
                <a:latin typeface="+mj-lt"/>
              </a:rPr>
              <a:t>show </a:t>
            </a:r>
            <a:r>
              <a:rPr lang="en-AU" sz="2800" dirty="0" err="1">
                <a:latin typeface="+mj-lt"/>
              </a:rPr>
              <a:t>ip</a:t>
            </a:r>
            <a:r>
              <a:rPr lang="en-AU" sz="2800" dirty="0">
                <a:latin typeface="+mj-lt"/>
              </a:rPr>
              <a:t> interface brief</a:t>
            </a:r>
          </a:p>
        </p:txBody>
      </p:sp>
      <p:pic>
        <p:nvPicPr>
          <p:cNvPr id="11" name="Picture 10" descr="A terminal display showing a series of IOS Command Line Interface commands, configurations, and interface statuses for various network interfaces.&#10;&#10;AI-generated content may be incorrect.">
            <a:extLst>
              <a:ext uri="{FF2B5EF4-FFF2-40B4-BE49-F238E27FC236}">
                <a16:creationId xmlns:a16="http://schemas.microsoft.com/office/drawing/2014/main" id="{22DFBEAF-B6F5-1CCE-CD7A-F9C7FEDA2A54}"/>
              </a:ext>
            </a:extLst>
          </p:cNvPr>
          <p:cNvPicPr>
            <a:picLocks noChangeAspect="1"/>
          </p:cNvPicPr>
          <p:nvPr/>
        </p:nvPicPr>
        <p:blipFill>
          <a:blip r:embed="rId2"/>
          <a:stretch>
            <a:fillRect/>
          </a:stretch>
        </p:blipFill>
        <p:spPr>
          <a:xfrm>
            <a:off x="3581400" y="1981199"/>
            <a:ext cx="5562600" cy="4401840"/>
          </a:xfrm>
          <a:prstGeom prst="rect">
            <a:avLst/>
          </a:prstGeom>
          <a:ln>
            <a:solidFill>
              <a:srgbClr val="FF0000"/>
            </a:solidFill>
          </a:ln>
        </p:spPr>
      </p:pic>
    </p:spTree>
    <p:extLst>
      <p:ext uri="{BB962C8B-B14F-4D97-AF65-F5344CB8AC3E}">
        <p14:creationId xmlns:p14="http://schemas.microsoft.com/office/powerpoint/2010/main" val="33877204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E60E7-0C6D-6699-86C2-85B9D476C42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1620C15-4C1B-C078-5727-A70DE187C12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2A74F001-6A96-88C2-22E9-997BF31D0F65}"/>
              </a:ext>
            </a:extLst>
          </p:cNvPr>
          <p:cNvSpPr txBox="1"/>
          <p:nvPr/>
        </p:nvSpPr>
        <p:spPr>
          <a:xfrm>
            <a:off x="0" y="609600"/>
            <a:ext cx="8993980" cy="6031908"/>
          </a:xfrm>
          <a:prstGeom prst="rect">
            <a:avLst/>
          </a:prstGeom>
          <a:noFill/>
        </p:spPr>
        <p:txBody>
          <a:bodyPr wrap="square">
            <a:spAutoFit/>
          </a:bodyPr>
          <a:lstStyle/>
          <a:p>
            <a:pPr>
              <a:lnSpc>
                <a:spcPct val="150000"/>
              </a:lnSpc>
            </a:pPr>
            <a:r>
              <a:rPr lang="en-AU" sz="2600" dirty="0">
                <a:latin typeface="+mj-lt"/>
              </a:rPr>
              <a:t>Serial0/1/0: up/up — working correctly.</a:t>
            </a:r>
          </a:p>
          <a:p>
            <a:pPr>
              <a:lnSpc>
                <a:spcPct val="150000"/>
              </a:lnSpc>
            </a:pPr>
            <a:r>
              <a:rPr lang="en-AU" sz="2600" dirty="0">
                <a:latin typeface="+mj-lt"/>
              </a:rPr>
              <a:t>Serial0/1/1: down/down — not working yet.</a:t>
            </a:r>
          </a:p>
          <a:p>
            <a:pPr>
              <a:lnSpc>
                <a:spcPct val="150000"/>
              </a:lnSpc>
            </a:pPr>
            <a:r>
              <a:rPr lang="en-AU" sz="2600" dirty="0">
                <a:latin typeface="+mj-lt"/>
              </a:rPr>
              <a:t>DCE detected: DCE V.35, clock rate 56000</a:t>
            </a:r>
          </a:p>
          <a:p>
            <a:pPr>
              <a:lnSpc>
                <a:spcPct val="150000"/>
              </a:lnSpc>
            </a:pPr>
            <a:r>
              <a:rPr lang="en-AU" sz="2600" dirty="0">
                <a:latin typeface="+mj-lt"/>
              </a:rPr>
              <a:t>Important: Your ISP </a:t>
            </a:r>
            <a:br>
              <a:rPr lang="en-AU" sz="2600" dirty="0">
                <a:latin typeface="+mj-lt"/>
              </a:rPr>
            </a:br>
            <a:r>
              <a:rPr lang="en-AU" sz="2600" dirty="0">
                <a:latin typeface="+mj-lt"/>
              </a:rPr>
              <a:t>Serial0/1/1 is already</a:t>
            </a:r>
            <a:br>
              <a:rPr lang="en-AU" sz="2600" dirty="0">
                <a:latin typeface="+mj-lt"/>
              </a:rPr>
            </a:br>
            <a:r>
              <a:rPr lang="en-AU" sz="2600" dirty="0">
                <a:latin typeface="+mj-lt"/>
              </a:rPr>
              <a:t> configured as DCE with</a:t>
            </a:r>
            <a:br>
              <a:rPr lang="en-AU" sz="2600" dirty="0">
                <a:latin typeface="+mj-lt"/>
              </a:rPr>
            </a:br>
            <a:r>
              <a:rPr lang="en-AU" sz="2600" dirty="0">
                <a:latin typeface="+mj-lt"/>
              </a:rPr>
              <a:t> a clock rate of 56000. </a:t>
            </a:r>
            <a:br>
              <a:rPr lang="en-AU" sz="2600" dirty="0">
                <a:latin typeface="+mj-lt"/>
              </a:rPr>
            </a:br>
            <a:r>
              <a:rPr lang="en-AU" sz="2600" dirty="0">
                <a:latin typeface="+mj-lt"/>
              </a:rPr>
              <a:t>You do not need to </a:t>
            </a:r>
            <a:br>
              <a:rPr lang="en-AU" sz="2600" dirty="0">
                <a:latin typeface="+mj-lt"/>
              </a:rPr>
            </a:br>
            <a:r>
              <a:rPr lang="en-AU" sz="2600" dirty="0">
                <a:latin typeface="+mj-lt"/>
              </a:rPr>
              <a:t>configure the clock rate</a:t>
            </a:r>
            <a:br>
              <a:rPr lang="en-AU" sz="2600" dirty="0">
                <a:latin typeface="+mj-lt"/>
              </a:rPr>
            </a:br>
            <a:r>
              <a:rPr lang="en-AU" sz="2600" dirty="0">
                <a:latin typeface="+mj-lt"/>
              </a:rPr>
              <a:t> again.</a:t>
            </a:r>
          </a:p>
        </p:txBody>
      </p:sp>
      <p:pic>
        <p:nvPicPr>
          <p:cNvPr id="11" name="Picture 10">
            <a:extLst>
              <a:ext uri="{FF2B5EF4-FFF2-40B4-BE49-F238E27FC236}">
                <a16:creationId xmlns:a16="http://schemas.microsoft.com/office/drawing/2014/main" id="{5BE07EBC-328E-424D-EDFE-412C14B03299}"/>
              </a:ext>
            </a:extLst>
          </p:cNvPr>
          <p:cNvPicPr>
            <a:picLocks noChangeAspect="1"/>
          </p:cNvPicPr>
          <p:nvPr/>
        </p:nvPicPr>
        <p:blipFill>
          <a:blip r:embed="rId2"/>
          <a:stretch>
            <a:fillRect/>
          </a:stretch>
        </p:blipFill>
        <p:spPr>
          <a:xfrm>
            <a:off x="3590925" y="2424629"/>
            <a:ext cx="5562600" cy="4401840"/>
          </a:xfrm>
          <a:prstGeom prst="rect">
            <a:avLst/>
          </a:prstGeom>
          <a:ln>
            <a:solidFill>
              <a:srgbClr val="FF0000"/>
            </a:solidFill>
          </a:ln>
        </p:spPr>
      </p:pic>
    </p:spTree>
    <p:extLst>
      <p:ext uri="{BB962C8B-B14F-4D97-AF65-F5344CB8AC3E}">
        <p14:creationId xmlns:p14="http://schemas.microsoft.com/office/powerpoint/2010/main" val="13301816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8477B-A57C-F6D0-15F2-8A508B5621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E0D5D8C-615E-CDA9-04C5-473CFFF9784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341926E5-68DE-D492-2044-10C7FA0214C2}"/>
              </a:ext>
            </a:extLst>
          </p:cNvPr>
          <p:cNvSpPr txBox="1"/>
          <p:nvPr/>
        </p:nvSpPr>
        <p:spPr>
          <a:xfrm>
            <a:off x="0" y="533401"/>
            <a:ext cx="9008268" cy="6380593"/>
          </a:xfrm>
          <a:prstGeom prst="rect">
            <a:avLst/>
          </a:prstGeom>
          <a:noFill/>
        </p:spPr>
        <p:txBody>
          <a:bodyPr wrap="square">
            <a:spAutoFit/>
          </a:bodyPr>
          <a:lstStyle/>
          <a:p>
            <a:pPr>
              <a:lnSpc>
                <a:spcPct val="150000"/>
              </a:lnSpc>
              <a:buNone/>
            </a:pPr>
            <a:r>
              <a:rPr lang="en-AU" sz="2500" b="1" dirty="0">
                <a:latin typeface="+mj-lt"/>
              </a:rPr>
              <a:t>Go to the REMOTE router</a:t>
            </a:r>
          </a:p>
          <a:p>
            <a:pPr marL="342900" lvl="0" indent="-342900">
              <a:lnSpc>
                <a:spcPct val="150000"/>
              </a:lnSpc>
              <a:buFont typeface="+mj-lt"/>
              <a:buAutoNum type="arabicPeriod"/>
            </a:pPr>
            <a:r>
              <a:rPr lang="en-AU" sz="2500" dirty="0">
                <a:latin typeface="+mj-lt"/>
              </a:rPr>
              <a:t>Click REMOTE in Packet Tracer.</a:t>
            </a:r>
          </a:p>
          <a:p>
            <a:pPr marL="342900" lvl="0" indent="-342900">
              <a:lnSpc>
                <a:spcPct val="150000"/>
              </a:lnSpc>
              <a:buFont typeface="+mj-lt"/>
              <a:buAutoNum type="arabicPeriod"/>
            </a:pPr>
            <a:r>
              <a:rPr lang="en-AU" sz="2500" dirty="0">
                <a:latin typeface="+mj-lt"/>
              </a:rPr>
              <a:t>Select CLI.</a:t>
            </a:r>
          </a:p>
          <a:p>
            <a:pPr marL="342900" lvl="0" indent="-342900">
              <a:lnSpc>
                <a:spcPct val="150000"/>
              </a:lnSpc>
              <a:buFont typeface="+mj-lt"/>
              <a:buAutoNum type="arabicPeriod"/>
            </a:pPr>
            <a:r>
              <a:rPr lang="en-AU" sz="2500" dirty="0">
                <a:latin typeface="+mj-lt"/>
              </a:rPr>
              <a:t>Enter:</a:t>
            </a:r>
          </a:p>
          <a:p>
            <a:pPr rtl="0">
              <a:lnSpc>
                <a:spcPct val="150000"/>
              </a:lnSpc>
              <a:buNone/>
            </a:pPr>
            <a:r>
              <a:rPr lang="en-AU" sz="2500" dirty="0">
                <a:highlight>
                  <a:srgbClr val="FFFF00"/>
                </a:highlight>
                <a:latin typeface="+mj-lt"/>
              </a:rPr>
              <a:t>enable</a:t>
            </a:r>
          </a:p>
          <a:p>
            <a:pPr rtl="0">
              <a:lnSpc>
                <a:spcPct val="150000"/>
              </a:lnSpc>
              <a:buNone/>
            </a:pPr>
            <a:r>
              <a:rPr lang="en-US" sz="2500" dirty="0">
                <a:highlight>
                  <a:srgbClr val="FFFF00"/>
                </a:highlight>
                <a:latin typeface="+mj-lt"/>
              </a:rPr>
              <a:t>configure terminal</a:t>
            </a:r>
          </a:p>
          <a:p>
            <a:pPr rtl="0">
              <a:lnSpc>
                <a:spcPct val="150000"/>
              </a:lnSpc>
              <a:buNone/>
            </a:pPr>
            <a:r>
              <a:rPr lang="en-US" sz="2500" dirty="0">
                <a:highlight>
                  <a:srgbClr val="FFFF00"/>
                </a:highlight>
                <a:latin typeface="+mj-lt"/>
              </a:rPr>
              <a:t>interface serial 0/1/1</a:t>
            </a:r>
          </a:p>
          <a:p>
            <a:pPr rtl="0">
              <a:lnSpc>
                <a:spcPct val="150000"/>
              </a:lnSpc>
              <a:buNone/>
            </a:pPr>
            <a:r>
              <a:rPr lang="en-US" sz="2500" dirty="0">
                <a:highlight>
                  <a:srgbClr val="FFFF00"/>
                </a:highlight>
                <a:latin typeface="+mj-lt"/>
              </a:rPr>
              <a:t>no </a:t>
            </a:r>
            <a:r>
              <a:rPr lang="en-US" sz="2500" dirty="0" err="1">
                <a:highlight>
                  <a:srgbClr val="FFFF00"/>
                </a:highlight>
                <a:latin typeface="+mj-lt"/>
              </a:rPr>
              <a:t>ip</a:t>
            </a:r>
            <a:r>
              <a:rPr lang="en-US" sz="2500" dirty="0">
                <a:highlight>
                  <a:srgbClr val="FFFF00"/>
                </a:highlight>
                <a:latin typeface="+mj-lt"/>
              </a:rPr>
              <a:t> address</a:t>
            </a:r>
          </a:p>
          <a:p>
            <a:pPr rtl="0">
              <a:lnSpc>
                <a:spcPct val="150000"/>
              </a:lnSpc>
              <a:buNone/>
            </a:pPr>
            <a:r>
              <a:rPr lang="en-US" sz="2500" dirty="0" err="1">
                <a:highlight>
                  <a:srgbClr val="FFFF00"/>
                </a:highlight>
                <a:latin typeface="+mj-lt"/>
              </a:rPr>
              <a:t>ip</a:t>
            </a:r>
            <a:r>
              <a:rPr lang="en-US" sz="2500" dirty="0">
                <a:highlight>
                  <a:srgbClr val="FFFF00"/>
                </a:highlight>
                <a:latin typeface="+mj-lt"/>
              </a:rPr>
              <a:t> address 10.2.2.1 255.255.255.252</a:t>
            </a:r>
          </a:p>
          <a:p>
            <a:pPr rtl="0">
              <a:lnSpc>
                <a:spcPct val="150000"/>
              </a:lnSpc>
              <a:buNone/>
            </a:pPr>
            <a:r>
              <a:rPr lang="en-US" sz="2500" dirty="0">
                <a:highlight>
                  <a:srgbClr val="FFFF00"/>
                </a:highlight>
                <a:latin typeface="+mj-lt"/>
              </a:rPr>
              <a:t>no shutdown</a:t>
            </a:r>
          </a:p>
          <a:p>
            <a:pPr rtl="0">
              <a:lnSpc>
                <a:spcPct val="150000"/>
              </a:lnSpc>
              <a:buNone/>
            </a:pPr>
            <a:r>
              <a:rPr lang="en-US" sz="2500" dirty="0">
                <a:highlight>
                  <a:srgbClr val="FFFF00"/>
                </a:highlight>
                <a:latin typeface="+mj-lt"/>
              </a:rPr>
              <a:t>end</a:t>
            </a:r>
            <a:endParaRPr lang="en-AU" sz="2500" dirty="0">
              <a:highlight>
                <a:srgbClr val="FFFF00"/>
              </a:highlight>
              <a:latin typeface="+mj-lt"/>
            </a:endParaRPr>
          </a:p>
        </p:txBody>
      </p:sp>
    </p:spTree>
    <p:extLst>
      <p:ext uri="{BB962C8B-B14F-4D97-AF65-F5344CB8AC3E}">
        <p14:creationId xmlns:p14="http://schemas.microsoft.com/office/powerpoint/2010/main" val="26908331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84BEF-6E27-629A-D263-5D9625FCE51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F2ADDCD-A135-6C6E-A393-16A65F88B0A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A85FD6EC-E63B-7FE8-105A-50347DA6B9E5}"/>
              </a:ext>
            </a:extLst>
          </p:cNvPr>
          <p:cNvSpPr txBox="1"/>
          <p:nvPr/>
        </p:nvSpPr>
        <p:spPr>
          <a:xfrm>
            <a:off x="0" y="533401"/>
            <a:ext cx="9008268" cy="1964512"/>
          </a:xfrm>
          <a:prstGeom prst="rect">
            <a:avLst/>
          </a:prstGeom>
          <a:noFill/>
        </p:spPr>
        <p:txBody>
          <a:bodyPr wrap="square">
            <a:spAutoFit/>
          </a:bodyPr>
          <a:lstStyle/>
          <a:p>
            <a:pPr>
              <a:lnSpc>
                <a:spcPct val="150000"/>
              </a:lnSpc>
            </a:pPr>
            <a:r>
              <a:rPr lang="en-AU" sz="2800" b="1" dirty="0">
                <a:latin typeface="+mj-lt"/>
              </a:rPr>
              <a:t>Verify REMOTE</a:t>
            </a:r>
          </a:p>
          <a:p>
            <a:pPr>
              <a:lnSpc>
                <a:spcPct val="150000"/>
              </a:lnSpc>
            </a:pPr>
            <a:r>
              <a:rPr lang="en-AU" sz="2800" dirty="0">
                <a:latin typeface="+mj-lt"/>
              </a:rPr>
              <a:t>Enter:</a:t>
            </a:r>
          </a:p>
          <a:p>
            <a:pPr rtl="0">
              <a:lnSpc>
                <a:spcPct val="150000"/>
              </a:lnSpc>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interface brief</a:t>
            </a:r>
          </a:p>
        </p:txBody>
      </p:sp>
      <p:pic>
        <p:nvPicPr>
          <p:cNvPr id="5" name="Picture 4" descr="A configuration screen displaying network interface settings, with changes made to the IP address and status of Serial0/1/1.&#10;&#10;AI-generated content may be incorrect.">
            <a:extLst>
              <a:ext uri="{FF2B5EF4-FFF2-40B4-BE49-F238E27FC236}">
                <a16:creationId xmlns:a16="http://schemas.microsoft.com/office/drawing/2014/main" id="{2A7F79D9-4253-BED3-E1CE-CCC7EFC504FB}"/>
              </a:ext>
            </a:extLst>
          </p:cNvPr>
          <p:cNvPicPr>
            <a:picLocks noChangeAspect="1"/>
          </p:cNvPicPr>
          <p:nvPr/>
        </p:nvPicPr>
        <p:blipFill>
          <a:blip r:embed="rId2"/>
          <a:stretch>
            <a:fillRect/>
          </a:stretch>
        </p:blipFill>
        <p:spPr>
          <a:xfrm>
            <a:off x="3657599" y="1922637"/>
            <a:ext cx="5484019" cy="4889543"/>
          </a:xfrm>
          <a:prstGeom prst="rect">
            <a:avLst/>
          </a:prstGeom>
          <a:ln>
            <a:solidFill>
              <a:srgbClr val="FF0000"/>
            </a:solidFill>
          </a:ln>
        </p:spPr>
      </p:pic>
      <p:sp>
        <p:nvSpPr>
          <p:cNvPr id="7" name="TextBox 6">
            <a:extLst>
              <a:ext uri="{FF2B5EF4-FFF2-40B4-BE49-F238E27FC236}">
                <a16:creationId xmlns:a16="http://schemas.microsoft.com/office/drawing/2014/main" id="{E4EBF7F3-C505-24E3-69A8-A14536A4900D}"/>
              </a:ext>
            </a:extLst>
          </p:cNvPr>
          <p:cNvSpPr txBox="1"/>
          <p:nvPr/>
        </p:nvSpPr>
        <p:spPr>
          <a:xfrm>
            <a:off x="2381" y="2819400"/>
            <a:ext cx="3581399" cy="3359061"/>
          </a:xfrm>
          <a:prstGeom prst="rect">
            <a:avLst/>
          </a:prstGeom>
          <a:noFill/>
        </p:spPr>
        <p:txBody>
          <a:bodyPr wrap="square">
            <a:spAutoFit/>
          </a:bodyPr>
          <a:lstStyle/>
          <a:p>
            <a:pPr>
              <a:lnSpc>
                <a:spcPct val="150000"/>
              </a:lnSpc>
              <a:buNone/>
            </a:pPr>
            <a:r>
              <a:rPr lang="en-AU" sz="2400" dirty="0">
                <a:latin typeface="+mj-lt"/>
              </a:rPr>
              <a:t>The message Line protocol on Interface Serial0/1/1, changed state to up confirms that the serial connection has become operational.</a:t>
            </a:r>
          </a:p>
        </p:txBody>
      </p:sp>
    </p:spTree>
    <p:extLst>
      <p:ext uri="{BB962C8B-B14F-4D97-AF65-F5344CB8AC3E}">
        <p14:creationId xmlns:p14="http://schemas.microsoft.com/office/powerpoint/2010/main" val="9125391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90C3-6CD8-24A2-4605-1E2878BF62A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1F14178-2791-0B18-DFA5-79DBDFA49F1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4A631858-CFC5-D8DE-6806-5E90B7266953}"/>
              </a:ext>
            </a:extLst>
          </p:cNvPr>
          <p:cNvSpPr txBox="1"/>
          <p:nvPr/>
        </p:nvSpPr>
        <p:spPr>
          <a:xfrm>
            <a:off x="0" y="533401"/>
            <a:ext cx="9008268" cy="2610843"/>
          </a:xfrm>
          <a:prstGeom prst="rect">
            <a:avLst/>
          </a:prstGeom>
          <a:noFill/>
        </p:spPr>
        <p:txBody>
          <a:bodyPr wrap="square">
            <a:spAutoFit/>
          </a:bodyPr>
          <a:lstStyle/>
          <a:p>
            <a:pPr>
              <a:lnSpc>
                <a:spcPct val="150000"/>
              </a:lnSpc>
            </a:pPr>
            <a:r>
              <a:rPr lang="en-AU" sz="2800" b="1" dirty="0">
                <a:latin typeface="+mj-lt"/>
              </a:rPr>
              <a:t>Verify ISP</a:t>
            </a:r>
          </a:p>
          <a:p>
            <a:pPr lvl="0">
              <a:lnSpc>
                <a:spcPct val="150000"/>
              </a:lnSpc>
            </a:pPr>
            <a:r>
              <a:rPr lang="en-AU" sz="2800" dirty="0">
                <a:latin typeface="+mj-lt"/>
              </a:rPr>
              <a:t>Click ISP → CLI.</a:t>
            </a:r>
          </a:p>
          <a:p>
            <a:pPr lvl="0">
              <a:lnSpc>
                <a:spcPct val="150000"/>
              </a:lnSpc>
            </a:pPr>
            <a:r>
              <a:rPr lang="en-AU" sz="2800" dirty="0">
                <a:latin typeface="+mj-lt"/>
              </a:rPr>
              <a:t>Enter:</a:t>
            </a:r>
          </a:p>
          <a:p>
            <a:pPr rtl="0">
              <a:lnSpc>
                <a:spcPct val="150000"/>
              </a:lnSpc>
            </a:pPr>
            <a:r>
              <a:rPr lang="en-AU" sz="2800" dirty="0">
                <a:latin typeface="+mj-lt"/>
              </a:rPr>
              <a:t>show </a:t>
            </a:r>
            <a:r>
              <a:rPr lang="en-AU" sz="2800" dirty="0" err="1">
                <a:latin typeface="+mj-lt"/>
              </a:rPr>
              <a:t>ip</a:t>
            </a:r>
            <a:r>
              <a:rPr lang="en-AU" sz="2800" dirty="0">
                <a:latin typeface="+mj-lt"/>
              </a:rPr>
              <a:t> interface brief</a:t>
            </a:r>
          </a:p>
        </p:txBody>
      </p:sp>
      <p:pic>
        <p:nvPicPr>
          <p:cNvPr id="6" name="Picture 5" descr="The image shows an interface configuration screen for a Cisco router, displaying the status of various network interfaces, including the successful configuration of ISP Serial0/1/1.&#10;&#10;AI-generated content may be incorrect.">
            <a:extLst>
              <a:ext uri="{FF2B5EF4-FFF2-40B4-BE49-F238E27FC236}">
                <a16:creationId xmlns:a16="http://schemas.microsoft.com/office/drawing/2014/main" id="{C02B5C9B-EE3B-6E4B-D882-F379C3EFA6CB}"/>
              </a:ext>
            </a:extLst>
          </p:cNvPr>
          <p:cNvPicPr>
            <a:picLocks noChangeAspect="1"/>
          </p:cNvPicPr>
          <p:nvPr/>
        </p:nvPicPr>
        <p:blipFill>
          <a:blip r:embed="rId2"/>
          <a:stretch>
            <a:fillRect/>
          </a:stretch>
        </p:blipFill>
        <p:spPr>
          <a:xfrm>
            <a:off x="3810001" y="1143000"/>
            <a:ext cx="5307806" cy="5706760"/>
          </a:xfrm>
          <a:prstGeom prst="rect">
            <a:avLst/>
          </a:prstGeom>
          <a:ln>
            <a:solidFill>
              <a:srgbClr val="FF0000"/>
            </a:solidFill>
          </a:ln>
        </p:spPr>
      </p:pic>
    </p:spTree>
    <p:extLst>
      <p:ext uri="{BB962C8B-B14F-4D97-AF65-F5344CB8AC3E}">
        <p14:creationId xmlns:p14="http://schemas.microsoft.com/office/powerpoint/2010/main" val="26118704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DE448-665B-968D-49C9-65D21728A30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59A6CAB-B03E-6235-1804-0159B521109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graphicFrame>
        <p:nvGraphicFramePr>
          <p:cNvPr id="2" name="Table 1">
            <a:extLst>
              <a:ext uri="{FF2B5EF4-FFF2-40B4-BE49-F238E27FC236}">
                <a16:creationId xmlns:a16="http://schemas.microsoft.com/office/drawing/2014/main" id="{C611943A-8A3F-40C4-6A48-C39C6A175BA3}"/>
              </a:ext>
            </a:extLst>
          </p:cNvPr>
          <p:cNvGraphicFramePr>
            <a:graphicFrameLocks noGrp="1"/>
          </p:cNvGraphicFramePr>
          <p:nvPr>
            <p:extLst>
              <p:ext uri="{D42A27DB-BD31-4B8C-83A1-F6EECF244321}">
                <p14:modId xmlns:p14="http://schemas.microsoft.com/office/powerpoint/2010/main" val="3450684701"/>
              </p:ext>
            </p:extLst>
          </p:nvPr>
        </p:nvGraphicFramePr>
        <p:xfrm>
          <a:off x="13097" y="457200"/>
          <a:ext cx="8002588" cy="3749040"/>
        </p:xfrm>
        <a:graphic>
          <a:graphicData uri="http://schemas.openxmlformats.org/drawingml/2006/table">
            <a:tbl>
              <a:tblPr>
                <a:tableStyleId>{775DCB02-9BB8-47FD-8907-85C794F793BA}</a:tableStyleId>
              </a:tblPr>
              <a:tblGrid>
                <a:gridCol w="2000647">
                  <a:extLst>
                    <a:ext uri="{9D8B030D-6E8A-4147-A177-3AD203B41FA5}">
                      <a16:colId xmlns:a16="http://schemas.microsoft.com/office/drawing/2014/main" val="3043447460"/>
                    </a:ext>
                  </a:extLst>
                </a:gridCol>
                <a:gridCol w="2000647">
                  <a:extLst>
                    <a:ext uri="{9D8B030D-6E8A-4147-A177-3AD203B41FA5}">
                      <a16:colId xmlns:a16="http://schemas.microsoft.com/office/drawing/2014/main" val="358505873"/>
                    </a:ext>
                  </a:extLst>
                </a:gridCol>
                <a:gridCol w="2000647">
                  <a:extLst>
                    <a:ext uri="{9D8B030D-6E8A-4147-A177-3AD203B41FA5}">
                      <a16:colId xmlns:a16="http://schemas.microsoft.com/office/drawing/2014/main" val="2953463067"/>
                    </a:ext>
                  </a:extLst>
                </a:gridCol>
                <a:gridCol w="2000647">
                  <a:extLst>
                    <a:ext uri="{9D8B030D-6E8A-4147-A177-3AD203B41FA5}">
                      <a16:colId xmlns:a16="http://schemas.microsoft.com/office/drawing/2014/main" val="1913707534"/>
                    </a:ext>
                  </a:extLst>
                </a:gridCol>
              </a:tblGrid>
              <a:tr h="0">
                <a:tc>
                  <a:txBody>
                    <a:bodyPr/>
                    <a:lstStyle/>
                    <a:p>
                      <a:pPr>
                        <a:buNone/>
                      </a:pPr>
                      <a:r>
                        <a:rPr lang="en-AU" dirty="0"/>
                        <a:t>Interface</a:t>
                      </a:r>
                    </a:p>
                    <a:p>
                      <a:pPr>
                        <a:buNone/>
                      </a:pPr>
                      <a:endParaRPr lang="en-AU" dirty="0"/>
                    </a:p>
                  </a:txBody>
                  <a:tcPr anchor="ctr"/>
                </a:tc>
                <a:tc>
                  <a:txBody>
                    <a:bodyPr/>
                    <a:lstStyle/>
                    <a:p>
                      <a:pPr>
                        <a:buNone/>
                      </a:pPr>
                      <a:r>
                        <a:rPr lang="en-AU"/>
                        <a:t>IP address</a:t>
                      </a:r>
                    </a:p>
                    <a:p>
                      <a:pPr>
                        <a:buNone/>
                      </a:pPr>
                      <a:endParaRPr lang="en-AU"/>
                    </a:p>
                  </a:txBody>
                  <a:tcPr anchor="ctr"/>
                </a:tc>
                <a:tc>
                  <a:txBody>
                    <a:bodyPr/>
                    <a:lstStyle/>
                    <a:p>
                      <a:pPr>
                        <a:buNone/>
                      </a:pPr>
                      <a:r>
                        <a:rPr lang="en-AU"/>
                        <a:t>Status</a:t>
                      </a:r>
                    </a:p>
                    <a:p>
                      <a:pPr>
                        <a:buNone/>
                      </a:pPr>
                      <a:endParaRPr lang="en-AU"/>
                    </a:p>
                  </a:txBody>
                  <a:tcPr anchor="ctr"/>
                </a:tc>
                <a:tc>
                  <a:txBody>
                    <a:bodyPr/>
                    <a:lstStyle/>
                    <a:p>
                      <a:pPr>
                        <a:buNone/>
                      </a:pPr>
                      <a:r>
                        <a:rPr lang="en-AU"/>
                        <a:t>Result</a:t>
                      </a:r>
                    </a:p>
                    <a:p>
                      <a:pPr>
                        <a:buNone/>
                      </a:pPr>
                      <a:endParaRPr lang="en-AU"/>
                    </a:p>
                  </a:txBody>
                  <a:tcPr anchor="ctr"/>
                </a:tc>
                <a:extLst>
                  <a:ext uri="{0D108BD9-81ED-4DB2-BD59-A6C34878D82A}">
                    <a16:rowId xmlns:a16="http://schemas.microsoft.com/office/drawing/2014/main" val="3731158671"/>
                  </a:ext>
                </a:extLst>
              </a:tr>
              <a:tr h="0">
                <a:tc>
                  <a:txBody>
                    <a:bodyPr/>
                    <a:lstStyle/>
                    <a:p>
                      <a:pPr>
                        <a:buNone/>
                      </a:pPr>
                      <a:r>
                        <a:rPr lang="en-AU" dirty="0"/>
                        <a:t>Serial0/1/0</a:t>
                      </a:r>
                    </a:p>
                    <a:p>
                      <a:pPr>
                        <a:buNone/>
                      </a:pPr>
                      <a:endParaRPr lang="en-AU" dirty="0"/>
                    </a:p>
                  </a:txBody>
                  <a:tcPr anchor="ctr"/>
                </a:tc>
                <a:tc>
                  <a:txBody>
                    <a:bodyPr/>
                    <a:lstStyle/>
                    <a:p>
                      <a:pPr>
                        <a:buNone/>
                      </a:pPr>
                      <a:r>
                        <a:rPr lang="en-AU" dirty="0"/>
                        <a:t>10.1.1.2</a:t>
                      </a:r>
                    </a:p>
                    <a:p>
                      <a:pPr>
                        <a:buNone/>
                      </a:pPr>
                      <a:endParaRPr lang="en-AU" dirty="0"/>
                    </a:p>
                  </a:txBody>
                  <a:tcPr anchor="ctr"/>
                </a:tc>
                <a:tc>
                  <a:txBody>
                    <a:bodyPr/>
                    <a:lstStyle/>
                    <a:p>
                      <a:pPr>
                        <a:buNone/>
                      </a:pPr>
                      <a:r>
                        <a:rPr lang="en-AU"/>
                        <a:t>up/up</a:t>
                      </a:r>
                    </a:p>
                    <a:p>
                      <a:pPr>
                        <a:buNone/>
                      </a:pPr>
                      <a:endParaRPr lang="en-AU"/>
                    </a:p>
                  </a:txBody>
                  <a:tcPr anchor="ctr"/>
                </a:tc>
                <a:tc>
                  <a:txBody>
                    <a:bodyPr/>
                    <a:lstStyle/>
                    <a:p>
                      <a:pPr>
                        <a:buNone/>
                      </a:pPr>
                      <a:r>
                        <a:rPr lang="en-AU"/>
                        <a:t>Working</a:t>
                      </a:r>
                    </a:p>
                    <a:p>
                      <a:pPr>
                        <a:buNone/>
                      </a:pPr>
                      <a:endParaRPr lang="en-AU"/>
                    </a:p>
                  </a:txBody>
                  <a:tcPr anchor="ctr"/>
                </a:tc>
                <a:extLst>
                  <a:ext uri="{0D108BD9-81ED-4DB2-BD59-A6C34878D82A}">
                    <a16:rowId xmlns:a16="http://schemas.microsoft.com/office/drawing/2014/main" val="3365925444"/>
                  </a:ext>
                </a:extLst>
              </a:tr>
              <a:tr h="0">
                <a:tc>
                  <a:txBody>
                    <a:bodyPr/>
                    <a:lstStyle/>
                    <a:p>
                      <a:pPr>
                        <a:buNone/>
                      </a:pPr>
                      <a:r>
                        <a:rPr lang="en-AU"/>
                        <a:t>Serial0/1/1</a:t>
                      </a:r>
                    </a:p>
                    <a:p>
                      <a:pPr>
                        <a:buNone/>
                      </a:pPr>
                      <a:endParaRPr lang="en-AU"/>
                    </a:p>
                  </a:txBody>
                  <a:tcPr anchor="ctr"/>
                </a:tc>
                <a:tc>
                  <a:txBody>
                    <a:bodyPr/>
                    <a:lstStyle/>
                    <a:p>
                      <a:pPr>
                        <a:buNone/>
                      </a:pPr>
                      <a:r>
                        <a:rPr lang="en-AU"/>
                        <a:t>10.2.2.2</a:t>
                      </a:r>
                    </a:p>
                    <a:p>
                      <a:pPr>
                        <a:buNone/>
                      </a:pPr>
                      <a:endParaRPr lang="en-AU"/>
                    </a:p>
                  </a:txBody>
                  <a:tcPr anchor="ctr"/>
                </a:tc>
                <a:tc>
                  <a:txBody>
                    <a:bodyPr/>
                    <a:lstStyle/>
                    <a:p>
                      <a:pPr>
                        <a:buNone/>
                      </a:pPr>
                      <a:r>
                        <a:rPr lang="en-AU"/>
                        <a:t>up/up</a:t>
                      </a:r>
                    </a:p>
                    <a:p>
                      <a:pPr>
                        <a:buNone/>
                      </a:pPr>
                      <a:endParaRPr lang="en-AU"/>
                    </a:p>
                  </a:txBody>
                  <a:tcPr anchor="ctr"/>
                </a:tc>
                <a:tc>
                  <a:txBody>
                    <a:bodyPr/>
                    <a:lstStyle/>
                    <a:p>
                      <a:pPr>
                        <a:buNone/>
                      </a:pPr>
                      <a:r>
                        <a:rPr lang="en-AU"/>
                        <a:t>Working</a:t>
                      </a:r>
                    </a:p>
                    <a:p>
                      <a:pPr>
                        <a:buNone/>
                      </a:pPr>
                      <a:endParaRPr lang="en-AU"/>
                    </a:p>
                  </a:txBody>
                  <a:tcPr anchor="ctr"/>
                </a:tc>
                <a:extLst>
                  <a:ext uri="{0D108BD9-81ED-4DB2-BD59-A6C34878D82A}">
                    <a16:rowId xmlns:a16="http://schemas.microsoft.com/office/drawing/2014/main" val="432420005"/>
                  </a:ext>
                </a:extLst>
              </a:tr>
              <a:tr h="0">
                <a:tc>
                  <a:txBody>
                    <a:bodyPr/>
                    <a:lstStyle/>
                    <a:p>
                      <a:pPr>
                        <a:buNone/>
                      </a:pPr>
                      <a:r>
                        <a:rPr lang="en-AU"/>
                        <a:t>GigabitEthernet0/0</a:t>
                      </a:r>
                    </a:p>
                    <a:p>
                      <a:pPr>
                        <a:buNone/>
                      </a:pPr>
                      <a:endParaRPr lang="en-AU"/>
                    </a:p>
                  </a:txBody>
                  <a:tcPr anchor="ctr"/>
                </a:tc>
                <a:tc>
                  <a:txBody>
                    <a:bodyPr/>
                    <a:lstStyle/>
                    <a:p>
                      <a:pPr>
                        <a:buNone/>
                      </a:pPr>
                      <a:r>
                        <a:rPr lang="en-AU"/>
                        <a:t>Unassigned</a:t>
                      </a:r>
                    </a:p>
                    <a:p>
                      <a:pPr>
                        <a:buNone/>
                      </a:pPr>
                      <a:endParaRPr lang="en-AU"/>
                    </a:p>
                  </a:txBody>
                  <a:tcPr anchor="ctr"/>
                </a:tc>
                <a:tc>
                  <a:txBody>
                    <a:bodyPr/>
                    <a:lstStyle/>
                    <a:p>
                      <a:pPr>
                        <a:buNone/>
                      </a:pPr>
                      <a:r>
                        <a:rPr lang="en-AU" dirty="0"/>
                        <a:t>administratively down</a:t>
                      </a:r>
                    </a:p>
                    <a:p>
                      <a:pPr>
                        <a:buNone/>
                      </a:pPr>
                      <a:endParaRPr lang="en-AU" dirty="0"/>
                    </a:p>
                  </a:txBody>
                  <a:tcPr anchor="ctr"/>
                </a:tc>
                <a:tc>
                  <a:txBody>
                    <a:bodyPr/>
                    <a:lstStyle/>
                    <a:p>
                      <a:pPr>
                        <a:buNone/>
                      </a:pPr>
                      <a:r>
                        <a:rPr lang="en-AU"/>
                        <a:t>Not used</a:t>
                      </a:r>
                    </a:p>
                    <a:p>
                      <a:pPr>
                        <a:buNone/>
                      </a:pPr>
                      <a:endParaRPr lang="en-AU"/>
                    </a:p>
                  </a:txBody>
                  <a:tcPr anchor="ctr"/>
                </a:tc>
                <a:extLst>
                  <a:ext uri="{0D108BD9-81ED-4DB2-BD59-A6C34878D82A}">
                    <a16:rowId xmlns:a16="http://schemas.microsoft.com/office/drawing/2014/main" val="2876802697"/>
                  </a:ext>
                </a:extLst>
              </a:tr>
              <a:tr h="0">
                <a:tc>
                  <a:txBody>
                    <a:bodyPr/>
                    <a:lstStyle/>
                    <a:p>
                      <a:pPr>
                        <a:buNone/>
                      </a:pPr>
                      <a:r>
                        <a:rPr lang="en-AU"/>
                        <a:t>GigabitEthernet0/1</a:t>
                      </a:r>
                    </a:p>
                    <a:p>
                      <a:pPr>
                        <a:buNone/>
                      </a:pPr>
                      <a:endParaRPr lang="en-AU"/>
                    </a:p>
                  </a:txBody>
                  <a:tcPr anchor="ctr"/>
                </a:tc>
                <a:tc>
                  <a:txBody>
                    <a:bodyPr/>
                    <a:lstStyle/>
                    <a:p>
                      <a:pPr>
                        <a:buNone/>
                      </a:pPr>
                      <a:r>
                        <a:rPr lang="en-AU"/>
                        <a:t>Unassigned</a:t>
                      </a:r>
                    </a:p>
                    <a:p>
                      <a:pPr>
                        <a:buNone/>
                      </a:pPr>
                      <a:endParaRPr lang="en-AU"/>
                    </a:p>
                  </a:txBody>
                  <a:tcPr anchor="ctr"/>
                </a:tc>
                <a:tc>
                  <a:txBody>
                    <a:bodyPr/>
                    <a:lstStyle/>
                    <a:p>
                      <a:pPr>
                        <a:buNone/>
                      </a:pPr>
                      <a:r>
                        <a:rPr lang="en-AU"/>
                        <a:t>administratively down</a:t>
                      </a:r>
                    </a:p>
                    <a:p>
                      <a:pPr>
                        <a:buNone/>
                      </a:pPr>
                      <a:endParaRPr lang="en-AU"/>
                    </a:p>
                  </a:txBody>
                  <a:tcPr anchor="ctr"/>
                </a:tc>
                <a:tc>
                  <a:txBody>
                    <a:bodyPr/>
                    <a:lstStyle/>
                    <a:p>
                      <a:pPr>
                        <a:buNone/>
                      </a:pPr>
                      <a:r>
                        <a:rPr lang="en-AU" dirty="0"/>
                        <a:t>Not used</a:t>
                      </a:r>
                    </a:p>
                    <a:p>
                      <a:pPr>
                        <a:buNone/>
                      </a:pPr>
                      <a:endParaRPr lang="en-AU" dirty="0"/>
                    </a:p>
                  </a:txBody>
                  <a:tcPr anchor="ctr"/>
                </a:tc>
                <a:extLst>
                  <a:ext uri="{0D108BD9-81ED-4DB2-BD59-A6C34878D82A}">
                    <a16:rowId xmlns:a16="http://schemas.microsoft.com/office/drawing/2014/main" val="3469254732"/>
                  </a:ext>
                </a:extLst>
              </a:tr>
            </a:tbl>
          </a:graphicData>
        </a:graphic>
      </p:graphicFrame>
      <p:sp>
        <p:nvSpPr>
          <p:cNvPr id="9" name="TextBox 8">
            <a:extLst>
              <a:ext uri="{FF2B5EF4-FFF2-40B4-BE49-F238E27FC236}">
                <a16:creationId xmlns:a16="http://schemas.microsoft.com/office/drawing/2014/main" id="{F85519A2-AB04-2D17-C9FB-0F03F04FE97C}"/>
              </a:ext>
            </a:extLst>
          </p:cNvPr>
          <p:cNvSpPr txBox="1"/>
          <p:nvPr/>
        </p:nvSpPr>
        <p:spPr>
          <a:xfrm>
            <a:off x="17859" y="4237196"/>
            <a:ext cx="4650580" cy="1964512"/>
          </a:xfrm>
          <a:prstGeom prst="rect">
            <a:avLst/>
          </a:prstGeom>
          <a:noFill/>
        </p:spPr>
        <p:txBody>
          <a:bodyPr wrap="square">
            <a:spAutoFit/>
          </a:bodyPr>
          <a:lstStyle/>
          <a:p>
            <a:pPr>
              <a:lnSpc>
                <a:spcPct val="150000"/>
              </a:lnSpc>
            </a:pPr>
            <a:r>
              <a:rPr lang="en-AU" sz="2800" dirty="0">
                <a:latin typeface="+mj-lt"/>
              </a:rPr>
              <a:t>My ISP router is now correctly configured at the interface level.</a:t>
            </a:r>
          </a:p>
        </p:txBody>
      </p:sp>
      <p:pic>
        <p:nvPicPr>
          <p:cNvPr id="6" name="Picture 5" descr="The image shows an interface configuration screen for a Cisco router, displaying the status of various network interfaces, including the successful configuration of ISP Serial0/1/1.&#10;&#10;AI-generated content may be incorrect.">
            <a:extLst>
              <a:ext uri="{FF2B5EF4-FFF2-40B4-BE49-F238E27FC236}">
                <a16:creationId xmlns:a16="http://schemas.microsoft.com/office/drawing/2014/main" id="{B0CC6E82-ED4C-1CDC-6FB9-2A4EC425C638}"/>
              </a:ext>
            </a:extLst>
          </p:cNvPr>
          <p:cNvPicPr>
            <a:picLocks noChangeAspect="1"/>
          </p:cNvPicPr>
          <p:nvPr/>
        </p:nvPicPr>
        <p:blipFill>
          <a:blip r:embed="rId2"/>
          <a:stretch>
            <a:fillRect/>
          </a:stretch>
        </p:blipFill>
        <p:spPr>
          <a:xfrm>
            <a:off x="6324599" y="3840764"/>
            <a:ext cx="2806303" cy="3017235"/>
          </a:xfrm>
          <a:prstGeom prst="rect">
            <a:avLst/>
          </a:prstGeom>
          <a:ln>
            <a:solidFill>
              <a:srgbClr val="FF0000"/>
            </a:solidFill>
          </a:ln>
        </p:spPr>
      </p:pic>
      <p:pic>
        <p:nvPicPr>
          <p:cNvPr id="11" name="Picture 10" descr="The image illustrates a network topology with two local connections (WAN 1 and WAN 2) to an ISP, and two remote connections, all showing an 'up' status.&#10;&#10;AI-generated content may be incorrect.">
            <a:extLst>
              <a:ext uri="{FF2B5EF4-FFF2-40B4-BE49-F238E27FC236}">
                <a16:creationId xmlns:a16="http://schemas.microsoft.com/office/drawing/2014/main" id="{A79AD0DC-D57E-C0CB-8D17-953B781AB004}"/>
              </a:ext>
            </a:extLst>
          </p:cNvPr>
          <p:cNvPicPr>
            <a:picLocks noChangeAspect="1"/>
          </p:cNvPicPr>
          <p:nvPr/>
        </p:nvPicPr>
        <p:blipFill>
          <a:blip r:embed="rId3"/>
          <a:stretch>
            <a:fillRect/>
          </a:stretch>
        </p:blipFill>
        <p:spPr>
          <a:xfrm>
            <a:off x="1293114" y="5759728"/>
            <a:ext cx="4881370" cy="945872"/>
          </a:xfrm>
          <a:prstGeom prst="rect">
            <a:avLst/>
          </a:prstGeom>
          <a:ln>
            <a:solidFill>
              <a:srgbClr val="FF0000"/>
            </a:solidFill>
          </a:ln>
        </p:spPr>
      </p:pic>
    </p:spTree>
    <p:extLst>
      <p:ext uri="{BB962C8B-B14F-4D97-AF65-F5344CB8AC3E}">
        <p14:creationId xmlns:p14="http://schemas.microsoft.com/office/powerpoint/2010/main" val="15879443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9DFF-C8B2-658B-27AD-13F93686741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D2B1E23-1487-3C84-737F-0339BC9F6F2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1431198A-572E-F1F7-06AC-B9D8219E7790}"/>
              </a:ext>
            </a:extLst>
          </p:cNvPr>
          <p:cNvSpPr txBox="1"/>
          <p:nvPr/>
        </p:nvSpPr>
        <p:spPr>
          <a:xfrm>
            <a:off x="0" y="533400"/>
            <a:ext cx="8986836" cy="5196166"/>
          </a:xfrm>
          <a:prstGeom prst="rect">
            <a:avLst/>
          </a:prstGeom>
          <a:noFill/>
        </p:spPr>
        <p:txBody>
          <a:bodyPr wrap="square">
            <a:spAutoFit/>
          </a:bodyPr>
          <a:lstStyle/>
          <a:p>
            <a:pPr>
              <a:lnSpc>
                <a:spcPct val="150000"/>
              </a:lnSpc>
              <a:buNone/>
            </a:pPr>
            <a:r>
              <a:rPr lang="en-AU" sz="2800" b="1" dirty="0">
                <a:latin typeface="+mj-lt"/>
              </a:rPr>
              <a:t>Test both connections from ISP</a:t>
            </a:r>
          </a:p>
          <a:p>
            <a:pPr>
              <a:lnSpc>
                <a:spcPct val="150000"/>
              </a:lnSpc>
              <a:buNone/>
            </a:pPr>
            <a:r>
              <a:rPr lang="en-AU" sz="2800" dirty="0">
                <a:latin typeface="+mj-lt"/>
              </a:rPr>
              <a:t>Click ISP → CLI.</a:t>
            </a:r>
          </a:p>
          <a:p>
            <a:pPr>
              <a:lnSpc>
                <a:spcPct val="150000"/>
              </a:lnSpc>
              <a:buNone/>
            </a:pPr>
            <a:r>
              <a:rPr lang="en-AU" sz="2800" dirty="0">
                <a:latin typeface="+mj-lt"/>
              </a:rPr>
              <a:t>At ISP&gt; or ISP#, enter:</a:t>
            </a:r>
          </a:p>
          <a:p>
            <a:pPr rtl="0">
              <a:lnSpc>
                <a:spcPct val="150000"/>
              </a:lnSpc>
              <a:buNone/>
            </a:pPr>
            <a:r>
              <a:rPr lang="en-AU" sz="2800" dirty="0">
                <a:latin typeface="+mj-lt"/>
              </a:rPr>
              <a:t>ping 10.1.1.1</a:t>
            </a:r>
          </a:p>
          <a:p>
            <a:pPr rtl="0">
              <a:lnSpc>
                <a:spcPct val="150000"/>
              </a:lnSpc>
              <a:buNone/>
            </a:pPr>
            <a:r>
              <a:rPr lang="en-AU" sz="2800" dirty="0">
                <a:latin typeface="+mj-lt"/>
              </a:rPr>
              <a:t>ping 10.2.2.1</a:t>
            </a:r>
          </a:p>
          <a:p>
            <a:pPr>
              <a:lnSpc>
                <a:spcPct val="150000"/>
              </a:lnSpc>
              <a:buNone/>
            </a:pPr>
            <a:r>
              <a:rPr lang="en-AU" sz="2800" dirty="0">
                <a:latin typeface="+mj-lt"/>
              </a:rPr>
              <a:t>Expected result for each:</a:t>
            </a:r>
          </a:p>
          <a:p>
            <a:pPr rtl="0">
              <a:lnSpc>
                <a:spcPct val="150000"/>
              </a:lnSpc>
              <a:buNone/>
            </a:pPr>
            <a:r>
              <a:rPr lang="en-AU" sz="2800" dirty="0">
                <a:latin typeface="+mj-lt"/>
              </a:rPr>
              <a:t>Success rate is 100 percent (5/5)</a:t>
            </a:r>
          </a:p>
          <a:p>
            <a:pPr>
              <a:lnSpc>
                <a:spcPct val="150000"/>
              </a:lnSpc>
              <a:buNone/>
            </a:pPr>
            <a:r>
              <a:rPr lang="en-AU" sz="2800" dirty="0">
                <a:latin typeface="+mj-lt"/>
              </a:rPr>
              <a:t>A first attempt of 80% (4/5) can also occur.</a:t>
            </a:r>
          </a:p>
        </p:txBody>
      </p:sp>
      <p:pic>
        <p:nvPicPr>
          <p:cNvPr id="8" name="Picture 7" descr="The image shows a terminal screen with an iOS configuration for a network interface, displaying status and output for ping tests to two IP addresses.&#10;&#10;AI-generated content may be incorrect.">
            <a:extLst>
              <a:ext uri="{FF2B5EF4-FFF2-40B4-BE49-F238E27FC236}">
                <a16:creationId xmlns:a16="http://schemas.microsoft.com/office/drawing/2014/main" id="{043C7905-5A60-4C85-8839-EF69C517B7B3}"/>
              </a:ext>
            </a:extLst>
          </p:cNvPr>
          <p:cNvPicPr>
            <a:picLocks noChangeAspect="1"/>
          </p:cNvPicPr>
          <p:nvPr/>
        </p:nvPicPr>
        <p:blipFill>
          <a:blip r:embed="rId2"/>
          <a:stretch>
            <a:fillRect/>
          </a:stretch>
        </p:blipFill>
        <p:spPr>
          <a:xfrm>
            <a:off x="5029201" y="990599"/>
            <a:ext cx="4102894" cy="4205147"/>
          </a:xfrm>
          <a:prstGeom prst="rect">
            <a:avLst/>
          </a:prstGeom>
          <a:ln>
            <a:solidFill>
              <a:srgbClr val="FF0000"/>
            </a:solidFill>
          </a:ln>
        </p:spPr>
      </p:pic>
    </p:spTree>
    <p:extLst>
      <p:ext uri="{BB962C8B-B14F-4D97-AF65-F5344CB8AC3E}">
        <p14:creationId xmlns:p14="http://schemas.microsoft.com/office/powerpoint/2010/main" val="39349570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18EF3-9B93-B6A0-870D-C076FE7A4F6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2575CBF-7E0D-E5C7-46F0-89643757ABE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71C1A71B-2FC9-8B0E-D317-3B4D7B615E0D}"/>
              </a:ext>
            </a:extLst>
          </p:cNvPr>
          <p:cNvSpPr txBox="1"/>
          <p:nvPr/>
        </p:nvSpPr>
        <p:spPr>
          <a:xfrm>
            <a:off x="0" y="533400"/>
            <a:ext cx="4800600" cy="2610843"/>
          </a:xfrm>
          <a:prstGeom prst="rect">
            <a:avLst/>
          </a:prstGeom>
          <a:noFill/>
        </p:spPr>
        <p:txBody>
          <a:bodyPr wrap="square">
            <a:spAutoFit/>
          </a:bodyPr>
          <a:lstStyle/>
          <a:p>
            <a:pPr>
              <a:lnSpc>
                <a:spcPct val="150000"/>
              </a:lnSpc>
            </a:pPr>
            <a:r>
              <a:rPr lang="en-AU" sz="2800" dirty="0">
                <a:latin typeface="+mj-lt"/>
              </a:rPr>
              <a:t>Both ISP connections are working perfectly.</a:t>
            </a:r>
          </a:p>
          <a:p>
            <a:pPr>
              <a:lnSpc>
                <a:spcPct val="150000"/>
              </a:lnSpc>
            </a:pPr>
            <a:r>
              <a:rPr lang="en-AU" sz="2800" dirty="0">
                <a:latin typeface="+mj-lt"/>
              </a:rPr>
              <a:t>Our screenshot confirms that both ping tests were successful.</a:t>
            </a:r>
          </a:p>
        </p:txBody>
      </p:sp>
      <p:pic>
        <p:nvPicPr>
          <p:cNvPr id="8" name="Picture 7" descr="The image shows a terminal screen with an iOS configuration for a network interface, displaying status and output for ping tests to two IP addresses.&#10;&#10;AI-generated content may be incorrect.">
            <a:extLst>
              <a:ext uri="{FF2B5EF4-FFF2-40B4-BE49-F238E27FC236}">
                <a16:creationId xmlns:a16="http://schemas.microsoft.com/office/drawing/2014/main" id="{D5165AB7-524C-2365-6F9C-EDC0820D335F}"/>
              </a:ext>
            </a:extLst>
          </p:cNvPr>
          <p:cNvPicPr>
            <a:picLocks noChangeAspect="1"/>
          </p:cNvPicPr>
          <p:nvPr/>
        </p:nvPicPr>
        <p:blipFill>
          <a:blip r:embed="rId2"/>
          <a:stretch>
            <a:fillRect/>
          </a:stretch>
        </p:blipFill>
        <p:spPr>
          <a:xfrm>
            <a:off x="5029201" y="990599"/>
            <a:ext cx="4102894" cy="4205147"/>
          </a:xfrm>
          <a:prstGeom prst="rect">
            <a:avLst/>
          </a:prstGeom>
          <a:ln>
            <a:solidFill>
              <a:srgbClr val="FF0000"/>
            </a:solidFill>
          </a:ln>
        </p:spPr>
      </p:pic>
      <p:graphicFrame>
        <p:nvGraphicFramePr>
          <p:cNvPr id="4" name="Table 3">
            <a:extLst>
              <a:ext uri="{FF2B5EF4-FFF2-40B4-BE49-F238E27FC236}">
                <a16:creationId xmlns:a16="http://schemas.microsoft.com/office/drawing/2014/main" id="{B7432A58-781C-3F90-F335-D5DD4D9ED186}"/>
              </a:ext>
            </a:extLst>
          </p:cNvPr>
          <p:cNvGraphicFramePr>
            <a:graphicFrameLocks noGrp="1"/>
          </p:cNvGraphicFramePr>
          <p:nvPr>
            <p:extLst>
              <p:ext uri="{D42A27DB-BD31-4B8C-83A1-F6EECF244321}">
                <p14:modId xmlns:p14="http://schemas.microsoft.com/office/powerpoint/2010/main" val="611258022"/>
              </p:ext>
            </p:extLst>
          </p:nvPr>
        </p:nvGraphicFramePr>
        <p:xfrm>
          <a:off x="11904" y="3144243"/>
          <a:ext cx="4941096" cy="3414570"/>
        </p:xfrm>
        <a:graphic>
          <a:graphicData uri="http://schemas.openxmlformats.org/drawingml/2006/table">
            <a:tbl>
              <a:tblPr>
                <a:tableStyleId>{5C22544A-7EE6-4342-B048-85BDC9FD1C3A}</a:tableStyleId>
              </a:tblPr>
              <a:tblGrid>
                <a:gridCol w="1647032">
                  <a:extLst>
                    <a:ext uri="{9D8B030D-6E8A-4147-A177-3AD203B41FA5}">
                      <a16:colId xmlns:a16="http://schemas.microsoft.com/office/drawing/2014/main" val="2197398617"/>
                    </a:ext>
                  </a:extLst>
                </a:gridCol>
                <a:gridCol w="1647032">
                  <a:extLst>
                    <a:ext uri="{9D8B030D-6E8A-4147-A177-3AD203B41FA5}">
                      <a16:colId xmlns:a16="http://schemas.microsoft.com/office/drawing/2014/main" val="552138259"/>
                    </a:ext>
                  </a:extLst>
                </a:gridCol>
                <a:gridCol w="1647032">
                  <a:extLst>
                    <a:ext uri="{9D8B030D-6E8A-4147-A177-3AD203B41FA5}">
                      <a16:colId xmlns:a16="http://schemas.microsoft.com/office/drawing/2014/main" val="3831238487"/>
                    </a:ext>
                  </a:extLst>
                </a:gridCol>
              </a:tblGrid>
              <a:tr h="56157">
                <a:tc>
                  <a:txBody>
                    <a:bodyPr/>
                    <a:lstStyle/>
                    <a:p>
                      <a:pPr>
                        <a:buNone/>
                      </a:pPr>
                      <a:r>
                        <a:rPr lang="en-AU" sz="2200" b="1" dirty="0"/>
                        <a:t>Test</a:t>
                      </a:r>
                    </a:p>
                  </a:txBody>
                  <a:tcPr marL="12355" marR="12355" marT="6177" marB="6177" anchor="ctr">
                    <a:solidFill>
                      <a:schemeClr val="accent4">
                        <a:lumMod val="20000"/>
                        <a:lumOff val="80000"/>
                      </a:schemeClr>
                    </a:solidFill>
                  </a:tcPr>
                </a:tc>
                <a:tc>
                  <a:txBody>
                    <a:bodyPr/>
                    <a:lstStyle/>
                    <a:p>
                      <a:pPr>
                        <a:buNone/>
                      </a:pPr>
                      <a:r>
                        <a:rPr lang="en-AU" sz="2200" b="1" dirty="0"/>
                        <a:t>Result</a:t>
                      </a:r>
                    </a:p>
                  </a:txBody>
                  <a:tcPr marL="12355" marR="12355" marT="6177" marB="6177" anchor="ctr">
                    <a:solidFill>
                      <a:schemeClr val="accent4">
                        <a:lumMod val="20000"/>
                        <a:lumOff val="80000"/>
                      </a:schemeClr>
                    </a:solidFill>
                  </a:tcPr>
                </a:tc>
                <a:tc>
                  <a:txBody>
                    <a:bodyPr/>
                    <a:lstStyle/>
                    <a:p>
                      <a:pPr>
                        <a:buNone/>
                      </a:pPr>
                      <a:r>
                        <a:rPr lang="en-AU" sz="2200" b="1" dirty="0"/>
                        <a:t>Status</a:t>
                      </a:r>
                    </a:p>
                  </a:txBody>
                  <a:tcPr marL="12355" marR="12355" marT="6177" marB="6177" anchor="ctr">
                    <a:solidFill>
                      <a:schemeClr val="accent4">
                        <a:lumMod val="20000"/>
                        <a:lumOff val="80000"/>
                      </a:schemeClr>
                    </a:solidFill>
                  </a:tcPr>
                </a:tc>
                <a:extLst>
                  <a:ext uri="{0D108BD9-81ED-4DB2-BD59-A6C34878D82A}">
                    <a16:rowId xmlns:a16="http://schemas.microsoft.com/office/drawing/2014/main" val="1258415537"/>
                  </a:ext>
                </a:extLst>
              </a:tr>
              <a:tr h="241923">
                <a:tc>
                  <a:txBody>
                    <a:bodyPr/>
                    <a:lstStyle/>
                    <a:p>
                      <a:pPr>
                        <a:buNone/>
                      </a:pPr>
                      <a:r>
                        <a:rPr lang="en-AU" sz="2200"/>
                        <a:t>ISP → LOCAL (10.1.1.1)</a:t>
                      </a:r>
                    </a:p>
                  </a:txBody>
                  <a:tcPr marL="12355" marR="12355" marT="6177" marB="6177" anchor="ctr">
                    <a:solidFill>
                      <a:schemeClr val="accent4">
                        <a:lumMod val="20000"/>
                        <a:lumOff val="80000"/>
                      </a:schemeClr>
                    </a:solidFill>
                  </a:tcPr>
                </a:tc>
                <a:tc>
                  <a:txBody>
                    <a:bodyPr/>
                    <a:lstStyle/>
                    <a:p>
                      <a:pPr>
                        <a:buNone/>
                      </a:pPr>
                      <a:r>
                        <a:rPr lang="en-AU" sz="2200" dirty="0"/>
                        <a:t>100% (5/5)</a:t>
                      </a:r>
                    </a:p>
                  </a:txBody>
                  <a:tcPr marL="12355" marR="12355" marT="6177" marB="6177" anchor="ctr">
                    <a:solidFill>
                      <a:schemeClr val="accent4">
                        <a:lumMod val="20000"/>
                        <a:lumOff val="80000"/>
                      </a:schemeClr>
                    </a:solidFill>
                  </a:tcPr>
                </a:tc>
                <a:tc>
                  <a:txBody>
                    <a:bodyPr/>
                    <a:lstStyle/>
                    <a:p>
                      <a:pPr>
                        <a:buNone/>
                      </a:pPr>
                      <a:r>
                        <a:rPr lang="en-AU" sz="2200"/>
                        <a:t>Passed</a:t>
                      </a:r>
                    </a:p>
                  </a:txBody>
                  <a:tcPr marL="12355" marR="12355" marT="6177" marB="6177" anchor="ctr">
                    <a:solidFill>
                      <a:schemeClr val="accent4">
                        <a:lumMod val="20000"/>
                        <a:lumOff val="80000"/>
                      </a:schemeClr>
                    </a:solidFill>
                  </a:tcPr>
                </a:tc>
                <a:extLst>
                  <a:ext uri="{0D108BD9-81ED-4DB2-BD59-A6C34878D82A}">
                    <a16:rowId xmlns:a16="http://schemas.microsoft.com/office/drawing/2014/main" val="2453025339"/>
                  </a:ext>
                </a:extLst>
              </a:tr>
              <a:tr h="50577">
                <a:tc>
                  <a:txBody>
                    <a:bodyPr/>
                    <a:lstStyle/>
                    <a:p>
                      <a:pPr>
                        <a:buNone/>
                      </a:pPr>
                      <a:r>
                        <a:rPr lang="en-AU" sz="2200"/>
                        <a:t>ISP → REMOTE (10.2.2.1)</a:t>
                      </a:r>
                    </a:p>
                  </a:txBody>
                  <a:tcPr marL="12355" marR="12355" marT="6177" marB="6177" anchor="ctr">
                    <a:solidFill>
                      <a:schemeClr val="accent4">
                        <a:lumMod val="20000"/>
                        <a:lumOff val="80000"/>
                      </a:schemeClr>
                    </a:solidFill>
                  </a:tcPr>
                </a:tc>
                <a:tc>
                  <a:txBody>
                    <a:bodyPr/>
                    <a:lstStyle/>
                    <a:p>
                      <a:pPr>
                        <a:buNone/>
                      </a:pPr>
                      <a:r>
                        <a:rPr lang="en-AU" sz="2200"/>
                        <a:t>100% (5/5)</a:t>
                      </a:r>
                    </a:p>
                  </a:txBody>
                  <a:tcPr marL="12355" marR="12355" marT="6177" marB="6177" anchor="ctr">
                    <a:solidFill>
                      <a:schemeClr val="accent4">
                        <a:lumMod val="20000"/>
                        <a:lumOff val="80000"/>
                      </a:schemeClr>
                    </a:solidFill>
                  </a:tcPr>
                </a:tc>
                <a:tc>
                  <a:txBody>
                    <a:bodyPr/>
                    <a:lstStyle/>
                    <a:p>
                      <a:pPr>
                        <a:buNone/>
                      </a:pPr>
                      <a:r>
                        <a:rPr lang="en-AU" sz="2200"/>
                        <a:t>Passed</a:t>
                      </a:r>
                    </a:p>
                  </a:txBody>
                  <a:tcPr marL="12355" marR="12355" marT="6177" marB="6177" anchor="ctr">
                    <a:solidFill>
                      <a:schemeClr val="accent4">
                        <a:lumMod val="20000"/>
                        <a:lumOff val="80000"/>
                      </a:schemeClr>
                    </a:solidFill>
                  </a:tcPr>
                </a:tc>
                <a:extLst>
                  <a:ext uri="{0D108BD9-81ED-4DB2-BD59-A6C34878D82A}">
                    <a16:rowId xmlns:a16="http://schemas.microsoft.com/office/drawing/2014/main" val="977357950"/>
                  </a:ext>
                </a:extLst>
              </a:tr>
              <a:tr h="0">
                <a:tc>
                  <a:txBody>
                    <a:bodyPr/>
                    <a:lstStyle/>
                    <a:p>
                      <a:pPr>
                        <a:buNone/>
                      </a:pPr>
                      <a:r>
                        <a:rPr lang="en-AU" sz="2200"/>
                        <a:t>ISP Serial0/1/0</a:t>
                      </a:r>
                    </a:p>
                  </a:txBody>
                  <a:tcPr marL="12355" marR="12355" marT="6177" marB="6177" anchor="ctr">
                    <a:solidFill>
                      <a:schemeClr val="accent4">
                        <a:lumMod val="20000"/>
                        <a:lumOff val="80000"/>
                      </a:schemeClr>
                    </a:solidFill>
                  </a:tcPr>
                </a:tc>
                <a:tc>
                  <a:txBody>
                    <a:bodyPr/>
                    <a:lstStyle/>
                    <a:p>
                      <a:pPr>
                        <a:buNone/>
                      </a:pPr>
                      <a:r>
                        <a:rPr lang="en-AU" sz="2200"/>
                        <a:t>up/up</a:t>
                      </a:r>
                    </a:p>
                  </a:txBody>
                  <a:tcPr marL="12355" marR="12355" marT="6177" marB="6177" anchor="ctr">
                    <a:solidFill>
                      <a:schemeClr val="accent4">
                        <a:lumMod val="20000"/>
                        <a:lumOff val="80000"/>
                      </a:schemeClr>
                    </a:solidFill>
                  </a:tcPr>
                </a:tc>
                <a:tc>
                  <a:txBody>
                    <a:bodyPr/>
                    <a:lstStyle/>
                    <a:p>
                      <a:pPr>
                        <a:buNone/>
                      </a:pPr>
                      <a:r>
                        <a:rPr lang="en-AU" sz="2200"/>
                        <a:t>Working</a:t>
                      </a:r>
                    </a:p>
                  </a:txBody>
                  <a:tcPr marL="12355" marR="12355" marT="6177" marB="6177" anchor="ctr">
                    <a:solidFill>
                      <a:schemeClr val="accent4">
                        <a:lumMod val="20000"/>
                        <a:lumOff val="80000"/>
                      </a:schemeClr>
                    </a:solidFill>
                  </a:tcPr>
                </a:tc>
                <a:extLst>
                  <a:ext uri="{0D108BD9-81ED-4DB2-BD59-A6C34878D82A}">
                    <a16:rowId xmlns:a16="http://schemas.microsoft.com/office/drawing/2014/main" val="1067572356"/>
                  </a:ext>
                </a:extLst>
              </a:tr>
              <a:tr h="67701">
                <a:tc>
                  <a:txBody>
                    <a:bodyPr/>
                    <a:lstStyle/>
                    <a:p>
                      <a:pPr>
                        <a:buNone/>
                      </a:pPr>
                      <a:r>
                        <a:rPr lang="en-AU" sz="2200"/>
                        <a:t>ISP Serial0/1/1</a:t>
                      </a:r>
                    </a:p>
                  </a:txBody>
                  <a:tcPr marL="12355" marR="12355" marT="6177" marB="6177" anchor="ctr">
                    <a:solidFill>
                      <a:schemeClr val="accent4">
                        <a:lumMod val="20000"/>
                        <a:lumOff val="80000"/>
                      </a:schemeClr>
                    </a:solidFill>
                  </a:tcPr>
                </a:tc>
                <a:tc>
                  <a:txBody>
                    <a:bodyPr/>
                    <a:lstStyle/>
                    <a:p>
                      <a:pPr>
                        <a:buNone/>
                      </a:pPr>
                      <a:r>
                        <a:rPr lang="en-AU" sz="2200"/>
                        <a:t>up/up</a:t>
                      </a:r>
                    </a:p>
                  </a:txBody>
                  <a:tcPr marL="12355" marR="12355" marT="6177" marB="6177" anchor="ctr">
                    <a:solidFill>
                      <a:schemeClr val="accent4">
                        <a:lumMod val="20000"/>
                        <a:lumOff val="80000"/>
                      </a:schemeClr>
                    </a:solidFill>
                  </a:tcPr>
                </a:tc>
                <a:tc>
                  <a:txBody>
                    <a:bodyPr/>
                    <a:lstStyle/>
                    <a:p>
                      <a:pPr>
                        <a:buNone/>
                      </a:pPr>
                      <a:r>
                        <a:rPr lang="en-AU" sz="2200" dirty="0"/>
                        <a:t>Working</a:t>
                      </a:r>
                    </a:p>
                  </a:txBody>
                  <a:tcPr marL="12355" marR="12355" marT="6177" marB="6177" anchor="ctr">
                    <a:solidFill>
                      <a:schemeClr val="accent4">
                        <a:lumMod val="20000"/>
                        <a:lumOff val="80000"/>
                      </a:schemeClr>
                    </a:solidFill>
                  </a:tcPr>
                </a:tc>
                <a:extLst>
                  <a:ext uri="{0D108BD9-81ED-4DB2-BD59-A6C34878D82A}">
                    <a16:rowId xmlns:a16="http://schemas.microsoft.com/office/drawing/2014/main" val="208778297"/>
                  </a:ext>
                </a:extLst>
              </a:tr>
            </a:tbl>
          </a:graphicData>
        </a:graphic>
      </p:graphicFrame>
    </p:spTree>
    <p:extLst>
      <p:ext uri="{BB962C8B-B14F-4D97-AF65-F5344CB8AC3E}">
        <p14:creationId xmlns:p14="http://schemas.microsoft.com/office/powerpoint/2010/main" val="21977782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F35D4-6F48-D7C4-B21A-703B2F9E8E8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584966C-B537-618D-6FB6-DDCED1D0ACC2}"/>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8" name="Picture 7" descr="The image shows a terminal screen with an iOS configuration for a network interface, displaying status and output for ping tests to two IP addresses.&#10;&#10;AI-generated content may be incorrect.">
            <a:extLst>
              <a:ext uri="{FF2B5EF4-FFF2-40B4-BE49-F238E27FC236}">
                <a16:creationId xmlns:a16="http://schemas.microsoft.com/office/drawing/2014/main" id="{23A6EE20-C068-8EAD-48A5-6E8E9BF408E2}"/>
              </a:ext>
            </a:extLst>
          </p:cNvPr>
          <p:cNvPicPr>
            <a:picLocks noChangeAspect="1"/>
          </p:cNvPicPr>
          <p:nvPr/>
        </p:nvPicPr>
        <p:blipFill>
          <a:blip r:embed="rId2"/>
          <a:stretch>
            <a:fillRect/>
          </a:stretch>
        </p:blipFill>
        <p:spPr>
          <a:xfrm>
            <a:off x="4572000" y="990599"/>
            <a:ext cx="4560095" cy="4673743"/>
          </a:xfrm>
          <a:prstGeom prst="rect">
            <a:avLst/>
          </a:prstGeom>
          <a:ln>
            <a:solidFill>
              <a:srgbClr val="FF0000"/>
            </a:solidFill>
          </a:ln>
        </p:spPr>
      </p:pic>
      <p:sp>
        <p:nvSpPr>
          <p:cNvPr id="6" name="TextBox 5">
            <a:extLst>
              <a:ext uri="{FF2B5EF4-FFF2-40B4-BE49-F238E27FC236}">
                <a16:creationId xmlns:a16="http://schemas.microsoft.com/office/drawing/2014/main" id="{E0881661-3ABA-4ED3-0C8D-4DF9DCE39453}"/>
              </a:ext>
            </a:extLst>
          </p:cNvPr>
          <p:cNvSpPr txBox="1"/>
          <p:nvPr/>
        </p:nvSpPr>
        <p:spPr>
          <a:xfrm>
            <a:off x="48191" y="762000"/>
            <a:ext cx="4651828" cy="5118196"/>
          </a:xfrm>
          <a:prstGeom prst="rect">
            <a:avLst/>
          </a:prstGeom>
          <a:noFill/>
        </p:spPr>
        <p:txBody>
          <a:bodyPr wrap="square">
            <a:spAutoFit/>
          </a:bodyPr>
          <a:lstStyle/>
          <a:p>
            <a:pPr>
              <a:lnSpc>
                <a:spcPct val="150000"/>
              </a:lnSpc>
              <a:buNone/>
            </a:pPr>
            <a:r>
              <a:rPr lang="en-AU" sz="2200" b="1" dirty="0">
                <a:latin typeface="+mj-lt"/>
              </a:rPr>
              <a:t>What does 100% (5/5) mean?</a:t>
            </a:r>
          </a:p>
          <a:p>
            <a:pPr marL="342900" lvl="0" indent="-342900">
              <a:lnSpc>
                <a:spcPct val="150000"/>
              </a:lnSpc>
              <a:buFont typeface="Arial" panose="020B0604020202020204" pitchFamily="34" charset="0"/>
              <a:buChar char="•"/>
            </a:pPr>
            <a:r>
              <a:rPr lang="en-AU" sz="2200" dirty="0">
                <a:latin typeface="+mj-lt"/>
              </a:rPr>
              <a:t>5 packets sent: The ISP router sent five test packets.</a:t>
            </a:r>
          </a:p>
          <a:p>
            <a:pPr marL="342900" lvl="0" indent="-342900">
              <a:lnSpc>
                <a:spcPct val="150000"/>
              </a:lnSpc>
              <a:buFont typeface="Arial" panose="020B0604020202020204" pitchFamily="34" charset="0"/>
              <a:buChar char="•"/>
            </a:pPr>
            <a:r>
              <a:rPr lang="en-AU" sz="2200" dirty="0">
                <a:latin typeface="+mj-lt"/>
              </a:rPr>
              <a:t>5 packets received: All five packets received successful replies.</a:t>
            </a:r>
          </a:p>
          <a:p>
            <a:pPr marL="342900" lvl="0" indent="-342900">
              <a:lnSpc>
                <a:spcPct val="150000"/>
              </a:lnSpc>
              <a:buFont typeface="Arial" panose="020B0604020202020204" pitchFamily="34" charset="0"/>
              <a:buChar char="•"/>
            </a:pPr>
            <a:r>
              <a:rPr lang="en-AU" sz="2200" dirty="0">
                <a:latin typeface="+mj-lt"/>
              </a:rPr>
              <a:t>0% packet loss: No packets were lost during these tests.</a:t>
            </a:r>
          </a:p>
          <a:p>
            <a:pPr>
              <a:lnSpc>
                <a:spcPct val="150000"/>
              </a:lnSpc>
              <a:buNone/>
            </a:pPr>
            <a:r>
              <a:rPr lang="en-AU" sz="2200" dirty="0">
                <a:latin typeface="+mj-lt"/>
              </a:rPr>
              <a:t>This confirms that ISP can communicate with both LOCAL and REMOTE over their serial connections.</a:t>
            </a:r>
          </a:p>
        </p:txBody>
      </p:sp>
    </p:spTree>
    <p:extLst>
      <p:ext uri="{BB962C8B-B14F-4D97-AF65-F5344CB8AC3E}">
        <p14:creationId xmlns:p14="http://schemas.microsoft.com/office/powerpoint/2010/main" val="35050177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E3703-2E00-8FB7-3974-008FEFBD24E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03F5464-511F-EEAC-DBFA-F245D498C2B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5D21B11B-AB04-8DE1-E2FD-DE71CF24CE72}"/>
              </a:ext>
            </a:extLst>
          </p:cNvPr>
          <p:cNvSpPr txBox="1"/>
          <p:nvPr/>
        </p:nvSpPr>
        <p:spPr>
          <a:xfrm>
            <a:off x="48191" y="762000"/>
            <a:ext cx="4651828" cy="1964512"/>
          </a:xfrm>
          <a:prstGeom prst="rect">
            <a:avLst/>
          </a:prstGeom>
          <a:noFill/>
        </p:spPr>
        <p:txBody>
          <a:bodyPr wrap="square">
            <a:spAutoFit/>
          </a:bodyPr>
          <a:lstStyle/>
          <a:p>
            <a:pPr>
              <a:lnSpc>
                <a:spcPct val="150000"/>
              </a:lnSpc>
            </a:pPr>
            <a:r>
              <a:rPr lang="en-AU" sz="2800" b="1" dirty="0">
                <a:latin typeface="+mj-lt"/>
              </a:rPr>
              <a:t>Next step: Final REMOTE test</a:t>
            </a:r>
          </a:p>
          <a:p>
            <a:pPr>
              <a:lnSpc>
                <a:spcPct val="150000"/>
              </a:lnSpc>
            </a:pPr>
            <a:r>
              <a:rPr lang="en-AU" sz="2800" dirty="0">
                <a:latin typeface="+mj-lt"/>
              </a:rPr>
              <a:t>Click REMOTE → CLI and enter: ping 10.2.2.2</a:t>
            </a:r>
          </a:p>
        </p:txBody>
      </p:sp>
      <p:pic>
        <p:nvPicPr>
          <p:cNvPr id="4" name="Picture 3" descr="The image displays a terminal screen with various network configurations and statuses, including unassigned interfaces and a successful ping test to an IP address.&#10;&#10;AI-generated content may be incorrect.">
            <a:extLst>
              <a:ext uri="{FF2B5EF4-FFF2-40B4-BE49-F238E27FC236}">
                <a16:creationId xmlns:a16="http://schemas.microsoft.com/office/drawing/2014/main" id="{E3405E64-FB85-9D7E-083B-B02FD84CD385}"/>
              </a:ext>
            </a:extLst>
          </p:cNvPr>
          <p:cNvPicPr>
            <a:picLocks noChangeAspect="1"/>
          </p:cNvPicPr>
          <p:nvPr/>
        </p:nvPicPr>
        <p:blipFill>
          <a:blip r:embed="rId2"/>
          <a:stretch>
            <a:fillRect/>
          </a:stretch>
        </p:blipFill>
        <p:spPr>
          <a:xfrm>
            <a:off x="3733800" y="1537444"/>
            <a:ext cx="5410200" cy="5281768"/>
          </a:xfrm>
          <a:prstGeom prst="rect">
            <a:avLst/>
          </a:prstGeom>
          <a:ln>
            <a:solidFill>
              <a:srgbClr val="FF0000"/>
            </a:solidFill>
          </a:ln>
        </p:spPr>
      </p:pic>
    </p:spTree>
    <p:extLst>
      <p:ext uri="{BB962C8B-B14F-4D97-AF65-F5344CB8AC3E}">
        <p14:creationId xmlns:p14="http://schemas.microsoft.com/office/powerpoint/2010/main" val="7604830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2DC14-EBCC-D729-C876-10B8D13443D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FEE30B3-B7B5-545F-7A10-942C4D6EA53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5" name="Picture 4" descr="The image displays a terminal screen with various network configurations and statuses, including unassigned interfaces and a successful ping test to an IP address.&#10;&#10;AI-generated content may be incorrect.">
            <a:extLst>
              <a:ext uri="{FF2B5EF4-FFF2-40B4-BE49-F238E27FC236}">
                <a16:creationId xmlns:a16="http://schemas.microsoft.com/office/drawing/2014/main" id="{4A53999D-414D-6B41-6D3C-885258FDA1D2}"/>
              </a:ext>
            </a:extLst>
          </p:cNvPr>
          <p:cNvPicPr>
            <a:picLocks noChangeAspect="1"/>
          </p:cNvPicPr>
          <p:nvPr/>
        </p:nvPicPr>
        <p:blipFill>
          <a:blip r:embed="rId2"/>
          <a:stretch>
            <a:fillRect/>
          </a:stretch>
        </p:blipFill>
        <p:spPr>
          <a:xfrm>
            <a:off x="3733800" y="1537444"/>
            <a:ext cx="5410200" cy="5281768"/>
          </a:xfrm>
          <a:prstGeom prst="rect">
            <a:avLst/>
          </a:prstGeom>
          <a:ln>
            <a:solidFill>
              <a:srgbClr val="FF0000"/>
            </a:solidFill>
          </a:ln>
        </p:spPr>
      </p:pic>
      <p:sp>
        <p:nvSpPr>
          <p:cNvPr id="8" name="TextBox 7">
            <a:extLst>
              <a:ext uri="{FF2B5EF4-FFF2-40B4-BE49-F238E27FC236}">
                <a16:creationId xmlns:a16="http://schemas.microsoft.com/office/drawing/2014/main" id="{4413DA7C-04CD-224F-36F7-AEC1AEF42C17}"/>
              </a:ext>
            </a:extLst>
          </p:cNvPr>
          <p:cNvSpPr txBox="1"/>
          <p:nvPr/>
        </p:nvSpPr>
        <p:spPr>
          <a:xfrm>
            <a:off x="0" y="1371600"/>
            <a:ext cx="3733800" cy="5118196"/>
          </a:xfrm>
          <a:prstGeom prst="rect">
            <a:avLst/>
          </a:prstGeom>
          <a:noFill/>
          <a:ln>
            <a:solidFill>
              <a:srgbClr val="FF0000"/>
            </a:solidFill>
          </a:ln>
        </p:spPr>
        <p:txBody>
          <a:bodyPr wrap="square">
            <a:spAutoFit/>
          </a:bodyPr>
          <a:lstStyle/>
          <a:p>
            <a:pPr>
              <a:lnSpc>
                <a:spcPct val="150000"/>
              </a:lnSpc>
              <a:buNone/>
            </a:pPr>
            <a:r>
              <a:rPr lang="en-AU" sz="2200" dirty="0">
                <a:latin typeface="+mj-lt"/>
              </a:rPr>
              <a:t>Our REMOTE screenshot confirms:</a:t>
            </a:r>
          </a:p>
          <a:p>
            <a:pPr rtl="0">
              <a:lnSpc>
                <a:spcPct val="150000"/>
              </a:lnSpc>
              <a:buNone/>
            </a:pPr>
            <a:r>
              <a:rPr lang="en-AU" sz="2200" dirty="0">
                <a:latin typeface="+mj-lt"/>
              </a:rPr>
              <a:t>Success rate is 100 percent (5/5)</a:t>
            </a:r>
          </a:p>
          <a:p>
            <a:pPr>
              <a:lnSpc>
                <a:spcPct val="150000"/>
              </a:lnSpc>
              <a:buNone/>
            </a:pPr>
            <a:r>
              <a:rPr lang="en-AU" sz="2200" dirty="0">
                <a:latin typeface="+mj-lt"/>
              </a:rPr>
              <a:t>This means REMOTE successfully communicated with ISP at 10.2.2.2. Combined with your earlier ISP tests, Task 1: Understanding Serial Clocking is complete.</a:t>
            </a:r>
          </a:p>
        </p:txBody>
      </p:sp>
    </p:spTree>
    <p:extLst>
      <p:ext uri="{BB962C8B-B14F-4D97-AF65-F5344CB8AC3E}">
        <p14:creationId xmlns:p14="http://schemas.microsoft.com/office/powerpoint/2010/main" val="28508082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85DA2-6242-CDC3-077C-3982A2094B8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3603BB5-13FF-9E77-4935-37A77DE6056B}"/>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graphicFrame>
        <p:nvGraphicFramePr>
          <p:cNvPr id="2" name="Table 1">
            <a:extLst>
              <a:ext uri="{FF2B5EF4-FFF2-40B4-BE49-F238E27FC236}">
                <a16:creationId xmlns:a16="http://schemas.microsoft.com/office/drawing/2014/main" id="{2E54FCC2-E988-91E2-CD17-E4ED4D65CB27}"/>
              </a:ext>
            </a:extLst>
          </p:cNvPr>
          <p:cNvGraphicFramePr>
            <a:graphicFrameLocks noGrp="1"/>
          </p:cNvGraphicFramePr>
          <p:nvPr>
            <p:extLst>
              <p:ext uri="{D42A27DB-BD31-4B8C-83A1-F6EECF244321}">
                <p14:modId xmlns:p14="http://schemas.microsoft.com/office/powerpoint/2010/main" val="739439448"/>
              </p:ext>
            </p:extLst>
          </p:nvPr>
        </p:nvGraphicFramePr>
        <p:xfrm>
          <a:off x="50007" y="2057400"/>
          <a:ext cx="9043986" cy="2401610"/>
        </p:xfrm>
        <a:graphic>
          <a:graphicData uri="http://schemas.openxmlformats.org/drawingml/2006/table">
            <a:tbl>
              <a:tblPr>
                <a:tableStyleId>{5C22544A-7EE6-4342-B048-85BDC9FD1C3A}</a:tableStyleId>
              </a:tblPr>
              <a:tblGrid>
                <a:gridCol w="3014662">
                  <a:extLst>
                    <a:ext uri="{9D8B030D-6E8A-4147-A177-3AD203B41FA5}">
                      <a16:colId xmlns:a16="http://schemas.microsoft.com/office/drawing/2014/main" val="1256990346"/>
                    </a:ext>
                  </a:extLst>
                </a:gridCol>
                <a:gridCol w="3014662">
                  <a:extLst>
                    <a:ext uri="{9D8B030D-6E8A-4147-A177-3AD203B41FA5}">
                      <a16:colId xmlns:a16="http://schemas.microsoft.com/office/drawing/2014/main" val="1262180664"/>
                    </a:ext>
                  </a:extLst>
                </a:gridCol>
                <a:gridCol w="3014662">
                  <a:extLst>
                    <a:ext uri="{9D8B030D-6E8A-4147-A177-3AD203B41FA5}">
                      <a16:colId xmlns:a16="http://schemas.microsoft.com/office/drawing/2014/main" val="1672105380"/>
                    </a:ext>
                  </a:extLst>
                </a:gridCol>
              </a:tblGrid>
              <a:tr h="0">
                <a:tc>
                  <a:txBody>
                    <a:bodyPr/>
                    <a:lstStyle/>
                    <a:p>
                      <a:pPr>
                        <a:buNone/>
                      </a:pPr>
                      <a:r>
                        <a:rPr lang="en-AU" sz="2200" b="1" dirty="0"/>
                        <a:t>Connection</a:t>
                      </a:r>
                    </a:p>
                  </a:txBody>
                  <a:tcPr marL="10929" marR="10929" marT="5465" marB="5465" anchor="ctr">
                    <a:solidFill>
                      <a:schemeClr val="accent4">
                        <a:lumMod val="20000"/>
                        <a:lumOff val="80000"/>
                      </a:schemeClr>
                    </a:solidFill>
                  </a:tcPr>
                </a:tc>
                <a:tc>
                  <a:txBody>
                    <a:bodyPr/>
                    <a:lstStyle/>
                    <a:p>
                      <a:pPr>
                        <a:buNone/>
                      </a:pPr>
                      <a:r>
                        <a:rPr lang="en-AU" sz="2200" b="1" dirty="0"/>
                        <a:t>Test result</a:t>
                      </a:r>
                    </a:p>
                  </a:txBody>
                  <a:tcPr marL="10929" marR="10929" marT="5465" marB="5465" anchor="ctr">
                    <a:solidFill>
                      <a:schemeClr val="accent4">
                        <a:lumMod val="20000"/>
                        <a:lumOff val="80000"/>
                      </a:schemeClr>
                    </a:solidFill>
                  </a:tcPr>
                </a:tc>
                <a:tc>
                  <a:txBody>
                    <a:bodyPr/>
                    <a:lstStyle/>
                    <a:p>
                      <a:pPr>
                        <a:buNone/>
                      </a:pPr>
                      <a:r>
                        <a:rPr lang="en-AU" sz="2200" b="1" dirty="0"/>
                        <a:t>Status</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1480946711"/>
                  </a:ext>
                </a:extLst>
              </a:tr>
              <a:tr h="0">
                <a:tc>
                  <a:txBody>
                    <a:bodyPr/>
                    <a:lstStyle/>
                    <a:p>
                      <a:pPr>
                        <a:buNone/>
                      </a:pPr>
                      <a:r>
                        <a:rPr lang="en-AU" sz="2200"/>
                        <a:t>LOCAL ↔ ISP</a:t>
                      </a:r>
                    </a:p>
                  </a:txBody>
                  <a:tcPr marL="10929" marR="10929" marT="5465" marB="5465" anchor="ctr">
                    <a:solidFill>
                      <a:schemeClr val="accent4">
                        <a:lumMod val="20000"/>
                        <a:lumOff val="80000"/>
                      </a:schemeClr>
                    </a:solidFill>
                  </a:tcPr>
                </a:tc>
                <a:tc>
                  <a:txBody>
                    <a:bodyPr/>
                    <a:lstStyle/>
                    <a:p>
                      <a:pPr>
                        <a:buNone/>
                      </a:pPr>
                      <a:r>
                        <a:rPr lang="en-AU" sz="2200"/>
                        <a:t>100% ping success</a:t>
                      </a:r>
                    </a:p>
                  </a:txBody>
                  <a:tcPr marL="10929" marR="10929" marT="5465" marB="5465" anchor="ctr">
                    <a:solidFill>
                      <a:schemeClr val="accent4">
                        <a:lumMod val="20000"/>
                        <a:lumOff val="80000"/>
                      </a:schemeClr>
                    </a:solidFill>
                  </a:tcPr>
                </a:tc>
                <a:tc>
                  <a:txBody>
                    <a:bodyPr/>
                    <a:lstStyle/>
                    <a:p>
                      <a:pPr>
                        <a:buNone/>
                      </a:pPr>
                      <a:r>
                        <a:rPr lang="en-AU" sz="2200" dirty="0"/>
                        <a:t>Passed</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3578549787"/>
                  </a:ext>
                </a:extLst>
              </a:tr>
              <a:tr h="69580">
                <a:tc>
                  <a:txBody>
                    <a:bodyPr/>
                    <a:lstStyle/>
                    <a:p>
                      <a:pPr>
                        <a:buNone/>
                      </a:pPr>
                      <a:r>
                        <a:rPr lang="en-AU" sz="2200"/>
                        <a:t>ISP ↔ REMOTE</a:t>
                      </a:r>
                    </a:p>
                  </a:txBody>
                  <a:tcPr marL="10929" marR="10929" marT="5465" marB="5465" anchor="ctr">
                    <a:solidFill>
                      <a:schemeClr val="accent4">
                        <a:lumMod val="20000"/>
                        <a:lumOff val="80000"/>
                      </a:schemeClr>
                    </a:solidFill>
                  </a:tcPr>
                </a:tc>
                <a:tc>
                  <a:txBody>
                    <a:bodyPr/>
                    <a:lstStyle/>
                    <a:p>
                      <a:pPr>
                        <a:buNone/>
                      </a:pPr>
                      <a:r>
                        <a:rPr lang="en-AU" sz="2200"/>
                        <a:t>100% ping success</a:t>
                      </a:r>
                    </a:p>
                  </a:txBody>
                  <a:tcPr marL="10929" marR="10929" marT="5465" marB="5465" anchor="ctr">
                    <a:solidFill>
                      <a:schemeClr val="accent4">
                        <a:lumMod val="20000"/>
                        <a:lumOff val="80000"/>
                      </a:schemeClr>
                    </a:solidFill>
                  </a:tcPr>
                </a:tc>
                <a:tc>
                  <a:txBody>
                    <a:bodyPr/>
                    <a:lstStyle/>
                    <a:p>
                      <a:pPr>
                        <a:buNone/>
                      </a:pPr>
                      <a:r>
                        <a:rPr lang="en-AU" sz="2200"/>
                        <a:t>Passed</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1648575049"/>
                  </a:ext>
                </a:extLst>
              </a:tr>
              <a:tr h="0">
                <a:tc>
                  <a:txBody>
                    <a:bodyPr/>
                    <a:lstStyle/>
                    <a:p>
                      <a:pPr>
                        <a:buNone/>
                      </a:pPr>
                      <a:r>
                        <a:rPr lang="en-AU" sz="2200"/>
                        <a:t>REMOTE → ISP</a:t>
                      </a:r>
                    </a:p>
                  </a:txBody>
                  <a:tcPr marL="10929" marR="10929" marT="5465" marB="5465" anchor="ctr">
                    <a:solidFill>
                      <a:schemeClr val="accent4">
                        <a:lumMod val="20000"/>
                        <a:lumOff val="80000"/>
                      </a:schemeClr>
                    </a:solidFill>
                  </a:tcPr>
                </a:tc>
                <a:tc>
                  <a:txBody>
                    <a:bodyPr/>
                    <a:lstStyle/>
                    <a:p>
                      <a:pPr>
                        <a:buNone/>
                      </a:pPr>
                      <a:r>
                        <a:rPr lang="en-AU" sz="2200"/>
                        <a:t>100% ping success</a:t>
                      </a:r>
                    </a:p>
                  </a:txBody>
                  <a:tcPr marL="10929" marR="10929" marT="5465" marB="5465" anchor="ctr">
                    <a:solidFill>
                      <a:schemeClr val="accent4">
                        <a:lumMod val="20000"/>
                        <a:lumOff val="80000"/>
                      </a:schemeClr>
                    </a:solidFill>
                  </a:tcPr>
                </a:tc>
                <a:tc>
                  <a:txBody>
                    <a:bodyPr/>
                    <a:lstStyle/>
                    <a:p>
                      <a:pPr>
                        <a:buNone/>
                      </a:pPr>
                      <a:r>
                        <a:rPr lang="en-AU" sz="2200"/>
                        <a:t>Passed</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971753978"/>
                  </a:ext>
                </a:extLst>
              </a:tr>
              <a:tr h="62960">
                <a:tc>
                  <a:txBody>
                    <a:bodyPr/>
                    <a:lstStyle/>
                    <a:p>
                      <a:pPr>
                        <a:buNone/>
                      </a:pPr>
                      <a:r>
                        <a:rPr lang="en-AU" sz="2200"/>
                        <a:t>Serial clocking</a:t>
                      </a:r>
                    </a:p>
                  </a:txBody>
                  <a:tcPr marL="10929" marR="10929" marT="5465" marB="5465" anchor="ctr">
                    <a:solidFill>
                      <a:schemeClr val="accent4">
                        <a:lumMod val="20000"/>
                        <a:lumOff val="80000"/>
                      </a:schemeClr>
                    </a:solidFill>
                  </a:tcPr>
                </a:tc>
                <a:tc>
                  <a:txBody>
                    <a:bodyPr/>
                    <a:lstStyle/>
                    <a:p>
                      <a:pPr>
                        <a:buNone/>
                      </a:pPr>
                      <a:r>
                        <a:rPr lang="en-AU" sz="2200"/>
                        <a:t>DCE clock rate 56000 verified on ISP–REMOTE link</a:t>
                      </a:r>
                    </a:p>
                  </a:txBody>
                  <a:tcPr marL="10929" marR="10929" marT="5465" marB="5465" anchor="ctr">
                    <a:solidFill>
                      <a:schemeClr val="accent4">
                        <a:lumMod val="20000"/>
                        <a:lumOff val="80000"/>
                      </a:schemeClr>
                    </a:solidFill>
                  </a:tcPr>
                </a:tc>
                <a:tc>
                  <a:txBody>
                    <a:bodyPr/>
                    <a:lstStyle/>
                    <a:p>
                      <a:pPr>
                        <a:buNone/>
                      </a:pPr>
                      <a:r>
                        <a:rPr lang="en-AU" sz="2200" dirty="0"/>
                        <a:t>Passed</a:t>
                      </a:r>
                    </a:p>
                  </a:txBody>
                  <a:tcPr marL="10929" marR="10929" marT="5465" marB="5465" anchor="ctr">
                    <a:solidFill>
                      <a:schemeClr val="accent4">
                        <a:lumMod val="20000"/>
                        <a:lumOff val="80000"/>
                      </a:schemeClr>
                    </a:solidFill>
                  </a:tcPr>
                </a:tc>
                <a:extLst>
                  <a:ext uri="{0D108BD9-81ED-4DB2-BD59-A6C34878D82A}">
                    <a16:rowId xmlns:a16="http://schemas.microsoft.com/office/drawing/2014/main" val="723665707"/>
                  </a:ext>
                </a:extLst>
              </a:tr>
            </a:tbl>
          </a:graphicData>
        </a:graphic>
      </p:graphicFrame>
    </p:spTree>
    <p:extLst>
      <p:ext uri="{BB962C8B-B14F-4D97-AF65-F5344CB8AC3E}">
        <p14:creationId xmlns:p14="http://schemas.microsoft.com/office/powerpoint/2010/main" val="23487247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CE46C-1DEE-3923-9652-C3078872151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ECF0C7A-B93E-ED6E-E3F5-E7BD0813848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graphicFrame>
        <p:nvGraphicFramePr>
          <p:cNvPr id="4" name="Table 3">
            <a:extLst>
              <a:ext uri="{FF2B5EF4-FFF2-40B4-BE49-F238E27FC236}">
                <a16:creationId xmlns:a16="http://schemas.microsoft.com/office/drawing/2014/main" id="{F654B0CD-88CB-BF8E-8B36-371DA0783658}"/>
              </a:ext>
            </a:extLst>
          </p:cNvPr>
          <p:cNvGraphicFramePr>
            <a:graphicFrameLocks noGrp="1"/>
          </p:cNvGraphicFramePr>
          <p:nvPr>
            <p:extLst>
              <p:ext uri="{D42A27DB-BD31-4B8C-83A1-F6EECF244321}">
                <p14:modId xmlns:p14="http://schemas.microsoft.com/office/powerpoint/2010/main" val="3033524748"/>
              </p:ext>
            </p:extLst>
          </p:nvPr>
        </p:nvGraphicFramePr>
        <p:xfrm>
          <a:off x="32086" y="2417676"/>
          <a:ext cx="9079828" cy="4401536"/>
        </p:xfrm>
        <a:graphic>
          <a:graphicData uri="http://schemas.openxmlformats.org/drawingml/2006/table">
            <a:tbl>
              <a:tblPr>
                <a:tableStyleId>{5C22544A-7EE6-4342-B048-85BDC9FD1C3A}</a:tableStyleId>
              </a:tblPr>
              <a:tblGrid>
                <a:gridCol w="2590800">
                  <a:extLst>
                    <a:ext uri="{9D8B030D-6E8A-4147-A177-3AD203B41FA5}">
                      <a16:colId xmlns:a16="http://schemas.microsoft.com/office/drawing/2014/main" val="2458553286"/>
                    </a:ext>
                  </a:extLst>
                </a:gridCol>
                <a:gridCol w="6489028">
                  <a:extLst>
                    <a:ext uri="{9D8B030D-6E8A-4147-A177-3AD203B41FA5}">
                      <a16:colId xmlns:a16="http://schemas.microsoft.com/office/drawing/2014/main" val="2053505068"/>
                    </a:ext>
                  </a:extLst>
                </a:gridCol>
              </a:tblGrid>
              <a:tr h="56157">
                <a:tc>
                  <a:txBody>
                    <a:bodyPr/>
                    <a:lstStyle/>
                    <a:p>
                      <a:pPr>
                        <a:buNone/>
                      </a:pPr>
                      <a:r>
                        <a:rPr lang="en-AU" sz="2200" b="1" dirty="0"/>
                        <a:t>Concept</a:t>
                      </a:r>
                    </a:p>
                  </a:txBody>
                  <a:tcPr marL="5362" marR="5362" marT="2681" marB="2681" anchor="ctr">
                    <a:solidFill>
                      <a:schemeClr val="accent4">
                        <a:lumMod val="20000"/>
                        <a:lumOff val="80000"/>
                      </a:schemeClr>
                    </a:solidFill>
                  </a:tcPr>
                </a:tc>
                <a:tc>
                  <a:txBody>
                    <a:bodyPr/>
                    <a:lstStyle/>
                    <a:p>
                      <a:pPr>
                        <a:buNone/>
                      </a:pPr>
                      <a:r>
                        <a:rPr lang="en-AU" sz="2200" b="1" dirty="0"/>
                        <a:t>What students learned</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2623485425"/>
                  </a:ext>
                </a:extLst>
              </a:tr>
              <a:tr h="60503">
                <a:tc>
                  <a:txBody>
                    <a:bodyPr/>
                    <a:lstStyle/>
                    <a:p>
                      <a:pPr>
                        <a:buNone/>
                      </a:pPr>
                      <a:r>
                        <a:rPr lang="en-AU" sz="2200"/>
                        <a:t>Serial WAN</a:t>
                      </a:r>
                    </a:p>
                  </a:txBody>
                  <a:tcPr marL="5362" marR="5362" marT="2681" marB="2681" anchor="ctr">
                    <a:solidFill>
                      <a:schemeClr val="accent4">
                        <a:lumMod val="20000"/>
                        <a:lumOff val="80000"/>
                      </a:schemeClr>
                    </a:solidFill>
                  </a:tcPr>
                </a:tc>
                <a:tc>
                  <a:txBody>
                    <a:bodyPr/>
                    <a:lstStyle/>
                    <a:p>
                      <a:pPr>
                        <a:buNone/>
                      </a:pPr>
                      <a:r>
                        <a:rPr lang="en-AU" sz="2200"/>
                        <a:t>How routers communicate across point-to-point WAN connections</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2854129399"/>
                  </a:ext>
                </a:extLst>
              </a:tr>
              <a:tr h="0">
                <a:tc>
                  <a:txBody>
                    <a:bodyPr/>
                    <a:lstStyle/>
                    <a:p>
                      <a:pPr>
                        <a:buNone/>
                      </a:pPr>
                      <a:r>
                        <a:rPr lang="en-AU" sz="2200"/>
                        <a:t>DCE and DTE</a:t>
                      </a:r>
                    </a:p>
                  </a:txBody>
                  <a:tcPr marL="5362" marR="5362" marT="2681" marB="2681" anchor="ctr">
                    <a:solidFill>
                      <a:schemeClr val="accent4">
                        <a:lumMod val="20000"/>
                        <a:lumOff val="80000"/>
                      </a:schemeClr>
                    </a:solidFill>
                  </a:tcPr>
                </a:tc>
                <a:tc>
                  <a:txBody>
                    <a:bodyPr/>
                    <a:lstStyle/>
                    <a:p>
                      <a:pPr>
                        <a:buNone/>
                      </a:pPr>
                      <a:r>
                        <a:rPr lang="en-AU" sz="2200"/>
                        <a:t>DCE provides clocking; DTE receives timing information</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3830338714"/>
                  </a:ext>
                </a:extLst>
              </a:tr>
              <a:tr h="0">
                <a:tc>
                  <a:txBody>
                    <a:bodyPr/>
                    <a:lstStyle/>
                    <a:p>
                      <a:pPr>
                        <a:buNone/>
                      </a:pPr>
                      <a:r>
                        <a:rPr lang="en-AU" sz="2200"/>
                        <a:t>Clock rate</a:t>
                      </a:r>
                    </a:p>
                  </a:txBody>
                  <a:tcPr marL="5362" marR="5362" marT="2681" marB="2681" anchor="ctr">
                    <a:solidFill>
                      <a:schemeClr val="accent4">
                        <a:lumMod val="20000"/>
                        <a:lumOff val="80000"/>
                      </a:schemeClr>
                    </a:solidFill>
                  </a:tcPr>
                </a:tc>
                <a:tc>
                  <a:txBody>
                    <a:bodyPr/>
                    <a:lstStyle/>
                    <a:p>
                      <a:pPr>
                        <a:buNone/>
                      </a:pPr>
                      <a:r>
                        <a:rPr lang="en-AU" sz="2200"/>
                        <a:t>How clock rate 56000 configures timing on the DCE interface</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3492170543"/>
                  </a:ext>
                </a:extLst>
              </a:tr>
              <a:tr h="0">
                <a:tc>
                  <a:txBody>
                    <a:bodyPr/>
                    <a:lstStyle/>
                    <a:p>
                      <a:pPr>
                        <a:buNone/>
                      </a:pPr>
                      <a:r>
                        <a:rPr lang="en-AU" sz="2200"/>
                        <a:t>IP addressing</a:t>
                      </a:r>
                    </a:p>
                  </a:txBody>
                  <a:tcPr marL="5362" marR="5362" marT="2681" marB="2681" anchor="ctr">
                    <a:solidFill>
                      <a:schemeClr val="accent4">
                        <a:lumMod val="20000"/>
                        <a:lumOff val="80000"/>
                      </a:schemeClr>
                    </a:solidFill>
                  </a:tcPr>
                </a:tc>
                <a:tc>
                  <a:txBody>
                    <a:bodyPr/>
                    <a:lstStyle/>
                    <a:p>
                      <a:pPr>
                        <a:buNone/>
                      </a:pPr>
                      <a:r>
                        <a:rPr lang="en-AU" sz="2200"/>
                        <a:t>Each end of a serial connection requires a compatible, unique IP address</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3028788863"/>
                  </a:ext>
                </a:extLst>
              </a:tr>
              <a:tr h="34576">
                <a:tc>
                  <a:txBody>
                    <a:bodyPr/>
                    <a:lstStyle/>
                    <a:p>
                      <a:pPr>
                        <a:buNone/>
                      </a:pPr>
                      <a:r>
                        <a:rPr lang="en-AU" sz="2200" dirty="0"/>
                        <a:t>Interface activation</a:t>
                      </a:r>
                    </a:p>
                  </a:txBody>
                  <a:tcPr marL="5362" marR="5362" marT="2681" marB="2681" anchor="ctr">
                    <a:solidFill>
                      <a:schemeClr val="accent4">
                        <a:lumMod val="20000"/>
                        <a:lumOff val="80000"/>
                      </a:schemeClr>
                    </a:solidFill>
                  </a:tcPr>
                </a:tc>
                <a:tc>
                  <a:txBody>
                    <a:bodyPr/>
                    <a:lstStyle/>
                    <a:p>
                      <a:pPr>
                        <a:buNone/>
                      </a:pPr>
                      <a:r>
                        <a:rPr lang="en-AU" sz="2200"/>
                        <a:t>no shutdown enables an interface</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1685169789"/>
                  </a:ext>
                </a:extLst>
              </a:tr>
              <a:tr h="40358">
                <a:tc>
                  <a:txBody>
                    <a:bodyPr/>
                    <a:lstStyle/>
                    <a:p>
                      <a:pPr>
                        <a:buNone/>
                      </a:pPr>
                      <a:r>
                        <a:rPr lang="en-AU" sz="2200"/>
                        <a:t>Troubleshooting</a:t>
                      </a:r>
                    </a:p>
                  </a:txBody>
                  <a:tcPr marL="5362" marR="5362" marT="2681" marB="2681" anchor="ctr">
                    <a:solidFill>
                      <a:schemeClr val="accent4">
                        <a:lumMod val="20000"/>
                        <a:lumOff val="80000"/>
                      </a:schemeClr>
                    </a:solidFill>
                  </a:tcPr>
                </a:tc>
                <a:tc>
                  <a:txBody>
                    <a:bodyPr/>
                    <a:lstStyle/>
                    <a:p>
                      <a:pPr>
                        <a:buNone/>
                      </a:pPr>
                      <a:r>
                        <a:rPr lang="en-AU" sz="2200"/>
                        <a:t>How to identify up/up, down/down, and administratively down</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3096434886"/>
                  </a:ext>
                </a:extLst>
              </a:tr>
              <a:tr h="60114">
                <a:tc>
                  <a:txBody>
                    <a:bodyPr/>
                    <a:lstStyle/>
                    <a:p>
                      <a:pPr>
                        <a:buNone/>
                      </a:pPr>
                      <a:r>
                        <a:rPr lang="en-AU" sz="2200"/>
                        <a:t>Verification</a:t>
                      </a:r>
                    </a:p>
                  </a:txBody>
                  <a:tcPr marL="5362" marR="5362" marT="2681" marB="2681" anchor="ctr">
                    <a:solidFill>
                      <a:schemeClr val="accent4">
                        <a:lumMod val="20000"/>
                        <a:lumOff val="80000"/>
                      </a:schemeClr>
                    </a:solidFill>
                  </a:tcPr>
                </a:tc>
                <a:tc>
                  <a:txBody>
                    <a:bodyPr/>
                    <a:lstStyle/>
                    <a:p>
                      <a:pPr>
                        <a:buNone/>
                      </a:pPr>
                      <a:r>
                        <a:rPr lang="en-AU" sz="2200" dirty="0"/>
                        <a:t>How to use show </a:t>
                      </a:r>
                      <a:r>
                        <a:rPr lang="en-AU" sz="2200" dirty="0" err="1"/>
                        <a:t>ip</a:t>
                      </a:r>
                      <a:r>
                        <a:rPr lang="en-AU" sz="2200" dirty="0"/>
                        <a:t> interface brief, show controllers serial, and ping</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139826524"/>
                  </a:ext>
                </a:extLst>
              </a:tr>
            </a:tbl>
          </a:graphicData>
        </a:graphic>
      </p:graphicFrame>
      <p:sp>
        <p:nvSpPr>
          <p:cNvPr id="8" name="TextBox 7">
            <a:extLst>
              <a:ext uri="{FF2B5EF4-FFF2-40B4-BE49-F238E27FC236}">
                <a16:creationId xmlns:a16="http://schemas.microsoft.com/office/drawing/2014/main" id="{FAF2102C-01DD-6CDA-A73B-F5451DE0DCEA}"/>
              </a:ext>
            </a:extLst>
          </p:cNvPr>
          <p:cNvSpPr txBox="1"/>
          <p:nvPr/>
        </p:nvSpPr>
        <p:spPr>
          <a:xfrm>
            <a:off x="0" y="367192"/>
            <a:ext cx="8984342" cy="2071208"/>
          </a:xfrm>
          <a:prstGeom prst="rect">
            <a:avLst/>
          </a:prstGeom>
          <a:noFill/>
        </p:spPr>
        <p:txBody>
          <a:bodyPr wrap="square">
            <a:spAutoFit/>
          </a:bodyPr>
          <a:lstStyle/>
          <a:p>
            <a:pPr>
              <a:lnSpc>
                <a:spcPct val="150000"/>
              </a:lnSpc>
              <a:buNone/>
            </a:pPr>
            <a:r>
              <a:rPr lang="en-AU" sz="2200" b="1" dirty="0">
                <a:latin typeface="+mj-lt"/>
              </a:rPr>
              <a:t>What did students learn from Task 1?</a:t>
            </a:r>
          </a:p>
          <a:p>
            <a:pPr>
              <a:lnSpc>
                <a:spcPct val="150000"/>
              </a:lnSpc>
              <a:buNone/>
            </a:pPr>
            <a:r>
              <a:rPr lang="en-AU" sz="2200" dirty="0">
                <a:latin typeface="+mj-lt"/>
              </a:rPr>
              <a:t>Learning outcome: Students understand how serial WAN connections operate and how to configure, troubleshoot, and verify connectivity between routers.</a:t>
            </a:r>
          </a:p>
        </p:txBody>
      </p:sp>
    </p:spTree>
    <p:extLst>
      <p:ext uri="{BB962C8B-B14F-4D97-AF65-F5344CB8AC3E}">
        <p14:creationId xmlns:p14="http://schemas.microsoft.com/office/powerpoint/2010/main" val="14754950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4AD12-E76A-21FE-1199-60CAE0DE688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E16F7E9-0C2D-6EE2-7D4B-1806F97F699E}"/>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32009E8F-DA2B-F9E6-8540-3FC09A4390D9}"/>
              </a:ext>
            </a:extLst>
          </p:cNvPr>
          <p:cNvSpPr txBox="1"/>
          <p:nvPr/>
        </p:nvSpPr>
        <p:spPr>
          <a:xfrm>
            <a:off x="0" y="533400"/>
            <a:ext cx="8984342" cy="6488828"/>
          </a:xfrm>
          <a:prstGeom prst="rect">
            <a:avLst/>
          </a:prstGeom>
          <a:noFill/>
        </p:spPr>
        <p:txBody>
          <a:bodyPr wrap="square">
            <a:spAutoFit/>
          </a:bodyPr>
          <a:lstStyle/>
          <a:p>
            <a:pPr>
              <a:lnSpc>
                <a:spcPct val="150000"/>
              </a:lnSpc>
              <a:buNone/>
            </a:pPr>
            <a:r>
              <a:rPr lang="en-AU" sz="2800" b="1" dirty="0">
                <a:latin typeface="+mj-lt"/>
              </a:rPr>
              <a:t>What is the main lesson?</a:t>
            </a:r>
          </a:p>
          <a:p>
            <a:pPr>
              <a:lnSpc>
                <a:spcPct val="150000"/>
              </a:lnSpc>
              <a:buNone/>
            </a:pPr>
            <a:r>
              <a:rPr lang="en-AU" sz="2800" dirty="0">
                <a:latin typeface="+mj-lt"/>
              </a:rPr>
              <a:t>Students should understand that a physically connected cable does not automatically mean the network connection is operational.</a:t>
            </a:r>
          </a:p>
          <a:p>
            <a:pPr>
              <a:lnSpc>
                <a:spcPct val="150000"/>
              </a:lnSpc>
              <a:buNone/>
            </a:pPr>
            <a:r>
              <a:rPr lang="en-AU" sz="2800" dirty="0">
                <a:latin typeface="+mj-lt"/>
              </a:rPr>
              <a:t>For successful serial communication, the routers need correct interface configuration, compatible IP addressing, active interfaces, and appropriate clocking on the DCE side.</a:t>
            </a:r>
          </a:p>
          <a:p>
            <a:pPr>
              <a:lnSpc>
                <a:spcPct val="150000"/>
              </a:lnSpc>
              <a:buNone/>
            </a:pPr>
            <a:r>
              <a:rPr lang="en-AU" sz="2800" dirty="0">
                <a:latin typeface="+mj-lt"/>
              </a:rPr>
              <a:t>Your practical exercise demonstrated these concepts, including identifying and correcting an incorrect IP address on REMOTE.</a:t>
            </a:r>
          </a:p>
        </p:txBody>
      </p:sp>
    </p:spTree>
    <p:extLst>
      <p:ext uri="{BB962C8B-B14F-4D97-AF65-F5344CB8AC3E}">
        <p14:creationId xmlns:p14="http://schemas.microsoft.com/office/powerpoint/2010/main" val="32726417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DD2E8-4743-3B79-35C1-2D3645F1E0F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289EF20-F417-6D0C-D40E-0BC08675A4D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44AFC3A1-48DF-9100-2926-2DD5E90547F5}"/>
              </a:ext>
            </a:extLst>
          </p:cNvPr>
          <p:cNvSpPr txBox="1"/>
          <p:nvPr/>
        </p:nvSpPr>
        <p:spPr>
          <a:xfrm>
            <a:off x="0" y="533400"/>
            <a:ext cx="8984342" cy="6488828"/>
          </a:xfrm>
          <a:prstGeom prst="rect">
            <a:avLst/>
          </a:prstGeom>
          <a:noFill/>
        </p:spPr>
        <p:txBody>
          <a:bodyPr wrap="square">
            <a:spAutoFit/>
          </a:bodyPr>
          <a:lstStyle/>
          <a:p>
            <a:pPr>
              <a:lnSpc>
                <a:spcPct val="150000"/>
              </a:lnSpc>
            </a:pPr>
            <a:r>
              <a:rPr lang="en-AU" sz="2800" b="1" dirty="0">
                <a:latin typeface="+mj-lt"/>
              </a:rPr>
              <a:t>What is not completed yet?</a:t>
            </a:r>
          </a:p>
          <a:p>
            <a:pPr>
              <a:lnSpc>
                <a:spcPct val="150000"/>
              </a:lnSpc>
            </a:pPr>
            <a:r>
              <a:rPr lang="en-AU" sz="2800" dirty="0">
                <a:latin typeface="+mj-lt"/>
              </a:rPr>
              <a:t>Although the serial WAN connections are working, this does not automatically mean PC-A can communicate with PC-C.</a:t>
            </a:r>
          </a:p>
          <a:p>
            <a:pPr>
              <a:lnSpc>
                <a:spcPct val="150000"/>
              </a:lnSpc>
            </a:pPr>
            <a:r>
              <a:rPr lang="en-AU" sz="2800" dirty="0">
                <a:latin typeface="+mj-lt"/>
              </a:rPr>
              <a:t>That requires appropriate routing between the two LAN networks, along with correct PC addressing and default gateways.</a:t>
            </a:r>
          </a:p>
          <a:p>
            <a:pPr>
              <a:lnSpc>
                <a:spcPct val="150000"/>
              </a:lnSpc>
            </a:pPr>
            <a:r>
              <a:rPr lang="en-AU" sz="2800" dirty="0">
                <a:latin typeface="+mj-lt"/>
              </a:rPr>
              <a:t>Conclusion: Task 1 is complete. You can now move to the next lab task, which may involve static routing or another WAN configuration exercise, depending on your lab instructions.</a:t>
            </a:r>
          </a:p>
        </p:txBody>
      </p:sp>
    </p:spTree>
    <p:extLst>
      <p:ext uri="{BB962C8B-B14F-4D97-AF65-F5344CB8AC3E}">
        <p14:creationId xmlns:p14="http://schemas.microsoft.com/office/powerpoint/2010/main" val="41385356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4543D-44A6-7FAD-13A6-93501F049D7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A43333D-DAA3-296F-96E7-FAD36E78F08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C5FCD6D2-E59A-6194-BE49-1659396AD974}"/>
              </a:ext>
            </a:extLst>
          </p:cNvPr>
          <p:cNvSpPr txBox="1"/>
          <p:nvPr/>
        </p:nvSpPr>
        <p:spPr>
          <a:xfrm>
            <a:off x="0" y="914401"/>
            <a:ext cx="8982074" cy="4549835"/>
          </a:xfrm>
          <a:prstGeom prst="rect">
            <a:avLst/>
          </a:prstGeom>
          <a:noFill/>
        </p:spPr>
        <p:txBody>
          <a:bodyPr wrap="square">
            <a:spAutoFit/>
          </a:bodyPr>
          <a:lstStyle/>
          <a:p>
            <a:pPr>
              <a:lnSpc>
                <a:spcPct val="150000"/>
              </a:lnSpc>
              <a:buNone/>
            </a:pPr>
            <a:r>
              <a:rPr lang="en-AU" sz="2800" b="1" dirty="0">
                <a:latin typeface="+mj-lt"/>
              </a:rPr>
              <a:t>Task 2: Configure PC IP Addresses</a:t>
            </a:r>
          </a:p>
          <a:p>
            <a:pPr>
              <a:lnSpc>
                <a:spcPct val="150000"/>
              </a:lnSpc>
              <a:buNone/>
            </a:pPr>
            <a:r>
              <a:rPr lang="en-AU" sz="2800" dirty="0">
                <a:latin typeface="+mj-lt"/>
              </a:rPr>
              <a:t>Live demonstration</a:t>
            </a:r>
          </a:p>
          <a:p>
            <a:pPr>
              <a:lnSpc>
                <a:spcPct val="150000"/>
              </a:lnSpc>
              <a:buNone/>
            </a:pPr>
            <a:r>
              <a:rPr lang="en-AU" sz="2800" dirty="0">
                <a:latin typeface="+mj-lt"/>
              </a:rPr>
              <a:t>On PC-A:</a:t>
            </a:r>
          </a:p>
          <a:p>
            <a:pPr marL="342900" lvl="0" indent="-342900">
              <a:lnSpc>
                <a:spcPct val="150000"/>
              </a:lnSpc>
              <a:buFont typeface="+mj-lt"/>
              <a:buAutoNum type="arabicPeriod"/>
            </a:pPr>
            <a:r>
              <a:rPr lang="en-AU" sz="2800" dirty="0">
                <a:latin typeface="+mj-lt"/>
              </a:rPr>
              <a:t>Double-click PC-A.</a:t>
            </a:r>
          </a:p>
          <a:p>
            <a:pPr marL="342900" lvl="0" indent="-342900">
              <a:lnSpc>
                <a:spcPct val="150000"/>
              </a:lnSpc>
              <a:buFont typeface="+mj-lt"/>
              <a:buAutoNum type="arabicPeriod"/>
            </a:pPr>
            <a:r>
              <a:rPr lang="en-AU" sz="2800" dirty="0">
                <a:latin typeface="+mj-lt"/>
              </a:rPr>
              <a:t>Select Desktop → IP Configuration.</a:t>
            </a:r>
          </a:p>
          <a:p>
            <a:pPr marL="342900" lvl="0" indent="-342900">
              <a:lnSpc>
                <a:spcPct val="150000"/>
              </a:lnSpc>
              <a:buFont typeface="+mj-lt"/>
              <a:buAutoNum type="arabicPeriod"/>
            </a:pPr>
            <a:r>
              <a:rPr lang="en-AU" sz="2800" dirty="0">
                <a:latin typeface="+mj-lt"/>
              </a:rPr>
              <a:t>Choose Static.</a:t>
            </a:r>
          </a:p>
          <a:p>
            <a:pPr marL="342900" lvl="0" indent="-342900">
              <a:lnSpc>
                <a:spcPct val="150000"/>
              </a:lnSpc>
              <a:buFont typeface="+mj-lt"/>
              <a:buAutoNum type="arabicPeriod"/>
            </a:pPr>
            <a:r>
              <a:rPr lang="en-AU" sz="2800" dirty="0">
                <a:latin typeface="+mj-lt"/>
              </a:rPr>
              <a:t>Enter the values below.</a:t>
            </a:r>
          </a:p>
        </p:txBody>
      </p:sp>
      <p:pic>
        <p:nvPicPr>
          <p:cNvPr id="7" name="Picture 6" descr="The image displays a system configuration panel for a PC, listing attributes such as IP, Dial-up, Wireless, and VPN.&#10;&#10;AI-generated content may be incorrect.">
            <a:extLst>
              <a:ext uri="{FF2B5EF4-FFF2-40B4-BE49-F238E27FC236}">
                <a16:creationId xmlns:a16="http://schemas.microsoft.com/office/drawing/2014/main" id="{FEE91163-86B5-C03D-C438-5FF78246B9B9}"/>
              </a:ext>
            </a:extLst>
          </p:cNvPr>
          <p:cNvPicPr>
            <a:picLocks noChangeAspect="1"/>
          </p:cNvPicPr>
          <p:nvPr/>
        </p:nvPicPr>
        <p:blipFill>
          <a:blip r:embed="rId2"/>
          <a:stretch>
            <a:fillRect/>
          </a:stretch>
        </p:blipFill>
        <p:spPr>
          <a:xfrm>
            <a:off x="5512080" y="2514599"/>
            <a:ext cx="3631920" cy="4311869"/>
          </a:xfrm>
          <a:prstGeom prst="rect">
            <a:avLst/>
          </a:prstGeom>
          <a:ln>
            <a:solidFill>
              <a:srgbClr val="FF0000"/>
            </a:solidFill>
          </a:ln>
        </p:spPr>
      </p:pic>
    </p:spTree>
    <p:extLst>
      <p:ext uri="{BB962C8B-B14F-4D97-AF65-F5344CB8AC3E}">
        <p14:creationId xmlns:p14="http://schemas.microsoft.com/office/powerpoint/2010/main" val="34628529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E938-2C1C-A729-13BB-2613609AE9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3FADEDA-D334-60AA-4112-42D60D41AC1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903A3B82-854D-143B-D304-2E9ECDE92CBD}"/>
              </a:ext>
            </a:extLst>
          </p:cNvPr>
          <p:cNvSpPr txBox="1"/>
          <p:nvPr/>
        </p:nvSpPr>
        <p:spPr>
          <a:xfrm>
            <a:off x="19050" y="838200"/>
            <a:ext cx="9048750" cy="5842497"/>
          </a:xfrm>
          <a:prstGeom prst="rect">
            <a:avLst/>
          </a:prstGeom>
          <a:noFill/>
        </p:spPr>
        <p:txBody>
          <a:bodyPr wrap="square">
            <a:spAutoFit/>
          </a:bodyPr>
          <a:lstStyle/>
          <a:p>
            <a:pPr>
              <a:lnSpc>
                <a:spcPct val="150000"/>
              </a:lnSpc>
              <a:buNone/>
            </a:pPr>
            <a:r>
              <a:rPr lang="en-AU" sz="2800" dirty="0">
                <a:latin typeface="+mj-lt"/>
              </a:rPr>
              <a:t>PC-A – Static IPv4 configuration</a:t>
            </a:r>
          </a:p>
          <a:p>
            <a:pPr>
              <a:lnSpc>
                <a:spcPct val="150000"/>
              </a:lnSpc>
              <a:buNone/>
            </a:pPr>
            <a:r>
              <a:rPr lang="en-AU" sz="2800" dirty="0">
                <a:latin typeface="+mj-lt"/>
              </a:rPr>
              <a:t>IP address</a:t>
            </a:r>
          </a:p>
          <a:p>
            <a:pPr>
              <a:lnSpc>
                <a:spcPct val="150000"/>
              </a:lnSpc>
              <a:buNone/>
            </a:pPr>
            <a:r>
              <a:rPr lang="en-AU" sz="2800" dirty="0">
                <a:latin typeface="+mj-lt"/>
              </a:rPr>
              <a:t>192.168.1.3</a:t>
            </a:r>
          </a:p>
          <a:p>
            <a:pPr>
              <a:lnSpc>
                <a:spcPct val="150000"/>
              </a:lnSpc>
              <a:buNone/>
            </a:pPr>
            <a:r>
              <a:rPr lang="en-AU" sz="2800" dirty="0">
                <a:latin typeface="+mj-lt"/>
              </a:rPr>
              <a:t>Subnet mask</a:t>
            </a:r>
          </a:p>
          <a:p>
            <a:pPr>
              <a:lnSpc>
                <a:spcPct val="150000"/>
              </a:lnSpc>
              <a:buNone/>
            </a:pPr>
            <a:r>
              <a:rPr lang="en-AU" sz="2800" dirty="0">
                <a:latin typeface="+mj-lt"/>
              </a:rPr>
              <a:t>255.255.255.0</a:t>
            </a:r>
          </a:p>
          <a:p>
            <a:pPr>
              <a:lnSpc>
                <a:spcPct val="150000"/>
              </a:lnSpc>
              <a:buNone/>
            </a:pPr>
            <a:r>
              <a:rPr lang="en-AU" sz="2800" dirty="0">
                <a:latin typeface="+mj-lt"/>
              </a:rPr>
              <a:t>Default gateway</a:t>
            </a:r>
          </a:p>
          <a:p>
            <a:pPr>
              <a:lnSpc>
                <a:spcPct val="150000"/>
              </a:lnSpc>
              <a:buNone/>
            </a:pPr>
            <a:r>
              <a:rPr lang="en-AU" sz="2800" dirty="0">
                <a:latin typeface="+mj-lt"/>
              </a:rPr>
              <a:t>192.168.1.1</a:t>
            </a:r>
          </a:p>
          <a:p>
            <a:pPr>
              <a:lnSpc>
                <a:spcPct val="150000"/>
              </a:lnSpc>
              <a:buNone/>
            </a:pPr>
            <a:r>
              <a:rPr lang="en-AU" sz="2800" dirty="0">
                <a:latin typeface="+mj-lt"/>
              </a:rPr>
              <a:t>DNS server</a:t>
            </a:r>
          </a:p>
          <a:p>
            <a:pPr>
              <a:lnSpc>
                <a:spcPct val="150000"/>
              </a:lnSpc>
              <a:buNone/>
            </a:pPr>
            <a:r>
              <a:rPr lang="en-AU" sz="2800" dirty="0">
                <a:latin typeface="+mj-lt"/>
              </a:rPr>
              <a:t>Not required</a:t>
            </a:r>
          </a:p>
        </p:txBody>
      </p:sp>
      <p:pic>
        <p:nvPicPr>
          <p:cNvPr id="8" name="Picture 7" descr="The image shows a network configuration page with various IP settings, including IPv4 and IPv6 addresses, DHCP, and security protocols.&#10;&#10;AI-generated content may be incorrect.">
            <a:extLst>
              <a:ext uri="{FF2B5EF4-FFF2-40B4-BE49-F238E27FC236}">
                <a16:creationId xmlns:a16="http://schemas.microsoft.com/office/drawing/2014/main" id="{14376584-A632-BBEC-4D08-D649ACFA034A}"/>
              </a:ext>
            </a:extLst>
          </p:cNvPr>
          <p:cNvPicPr>
            <a:picLocks noChangeAspect="1"/>
          </p:cNvPicPr>
          <p:nvPr/>
        </p:nvPicPr>
        <p:blipFill>
          <a:blip r:embed="rId2"/>
          <a:stretch>
            <a:fillRect/>
          </a:stretch>
        </p:blipFill>
        <p:spPr>
          <a:xfrm>
            <a:off x="3705225" y="1414733"/>
            <a:ext cx="5429250" cy="5411736"/>
          </a:xfrm>
          <a:prstGeom prst="rect">
            <a:avLst/>
          </a:prstGeom>
          <a:ln>
            <a:solidFill>
              <a:srgbClr val="FF0000"/>
            </a:solidFill>
          </a:ln>
        </p:spPr>
      </p:pic>
    </p:spTree>
    <p:extLst>
      <p:ext uri="{BB962C8B-B14F-4D97-AF65-F5344CB8AC3E}">
        <p14:creationId xmlns:p14="http://schemas.microsoft.com/office/powerpoint/2010/main" val="23615072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A932B-91D0-F2FB-FDDC-6352AF4943D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A238107-7D2E-3406-5309-BF9811E28CD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8C80A1D6-24FF-784D-E1FE-7175C96A3226}"/>
              </a:ext>
            </a:extLst>
          </p:cNvPr>
          <p:cNvSpPr txBox="1"/>
          <p:nvPr/>
        </p:nvSpPr>
        <p:spPr>
          <a:xfrm>
            <a:off x="19050" y="838200"/>
            <a:ext cx="9048750" cy="1964512"/>
          </a:xfrm>
          <a:prstGeom prst="rect">
            <a:avLst/>
          </a:prstGeom>
          <a:noFill/>
        </p:spPr>
        <p:txBody>
          <a:bodyPr wrap="square">
            <a:spAutoFit/>
          </a:bodyPr>
          <a:lstStyle/>
          <a:p>
            <a:pPr>
              <a:lnSpc>
                <a:spcPct val="150000"/>
              </a:lnSpc>
            </a:pPr>
            <a:r>
              <a:rPr lang="en-AU" sz="2800" dirty="0">
                <a:latin typeface="+mj-lt"/>
              </a:rPr>
              <a:t>On PC-C: Repeat the process with IP address 192.168.3.3, subnet mask 255.255.255.0 and default gateway 192.168.3.1.</a:t>
            </a:r>
          </a:p>
        </p:txBody>
      </p:sp>
      <p:pic>
        <p:nvPicPr>
          <p:cNvPr id="4" name="Picture 3" descr="The image shows a network interface configuration page with IPv4 and IPv6 settings, including DHCP and static IP addresses, subnet mask, default gateway, DNS server, and 802.1X security.&#10;&#10;AI-generated content may be incorrect.">
            <a:extLst>
              <a:ext uri="{FF2B5EF4-FFF2-40B4-BE49-F238E27FC236}">
                <a16:creationId xmlns:a16="http://schemas.microsoft.com/office/drawing/2014/main" id="{3D9C88F8-72C3-9F74-DCCE-AB10B3AB59D5}"/>
              </a:ext>
            </a:extLst>
          </p:cNvPr>
          <p:cNvPicPr>
            <a:picLocks noChangeAspect="1"/>
          </p:cNvPicPr>
          <p:nvPr/>
        </p:nvPicPr>
        <p:blipFill>
          <a:blip r:embed="rId2"/>
          <a:stretch>
            <a:fillRect/>
          </a:stretch>
        </p:blipFill>
        <p:spPr>
          <a:xfrm>
            <a:off x="2971800" y="2523810"/>
            <a:ext cx="6153150" cy="4264559"/>
          </a:xfrm>
          <a:prstGeom prst="rect">
            <a:avLst/>
          </a:prstGeom>
        </p:spPr>
      </p:pic>
    </p:spTree>
    <p:extLst>
      <p:ext uri="{BB962C8B-B14F-4D97-AF65-F5344CB8AC3E}">
        <p14:creationId xmlns:p14="http://schemas.microsoft.com/office/powerpoint/2010/main" val="2517999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4F1FE-2A62-57B4-443D-FADA7F25C7C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92C3B4F-21D8-AC50-49A1-3AAFCEE9A40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32A5916A-2E08-CC82-79A7-AA87B54BA4FF}"/>
              </a:ext>
            </a:extLst>
          </p:cNvPr>
          <p:cNvSpPr txBox="1"/>
          <p:nvPr/>
        </p:nvSpPr>
        <p:spPr>
          <a:xfrm>
            <a:off x="0" y="609600"/>
            <a:ext cx="9048750" cy="3257174"/>
          </a:xfrm>
          <a:prstGeom prst="rect">
            <a:avLst/>
          </a:prstGeom>
          <a:noFill/>
        </p:spPr>
        <p:txBody>
          <a:bodyPr wrap="square">
            <a:spAutoFit/>
          </a:bodyPr>
          <a:lstStyle/>
          <a:p>
            <a:pPr>
              <a:lnSpc>
                <a:spcPct val="150000"/>
              </a:lnSpc>
            </a:pPr>
            <a:r>
              <a:rPr lang="en-AU" sz="2800" dirty="0">
                <a:latin typeface="+mj-lt"/>
              </a:rPr>
              <a:t>Why: Each PC needs a unique IP address. Its default gateway tells the PC where to send traffic destined for another network.</a:t>
            </a:r>
          </a:p>
          <a:p>
            <a:pPr>
              <a:lnSpc>
                <a:spcPct val="150000"/>
              </a:lnSpc>
            </a:pPr>
            <a:r>
              <a:rPr lang="en-AU" sz="2800" dirty="0">
                <a:latin typeface="+mj-lt"/>
              </a:rPr>
              <a:t>Question: What happens if PC-A has the correct IP address but the wrong default gateway?</a:t>
            </a:r>
          </a:p>
        </p:txBody>
      </p:sp>
      <p:pic>
        <p:nvPicPr>
          <p:cNvPr id="4" name="Picture 3">
            <a:extLst>
              <a:ext uri="{FF2B5EF4-FFF2-40B4-BE49-F238E27FC236}">
                <a16:creationId xmlns:a16="http://schemas.microsoft.com/office/drawing/2014/main" id="{8DE44AF7-CB57-8C65-8F27-F1BE9E3C03A6}"/>
              </a:ext>
            </a:extLst>
          </p:cNvPr>
          <p:cNvPicPr>
            <a:picLocks noChangeAspect="1"/>
          </p:cNvPicPr>
          <p:nvPr/>
        </p:nvPicPr>
        <p:blipFill>
          <a:blip r:embed="rId2"/>
          <a:stretch>
            <a:fillRect/>
          </a:stretch>
        </p:blipFill>
        <p:spPr>
          <a:xfrm>
            <a:off x="4800600" y="3791295"/>
            <a:ext cx="4324350" cy="2997074"/>
          </a:xfrm>
          <a:prstGeom prst="rect">
            <a:avLst/>
          </a:prstGeom>
        </p:spPr>
      </p:pic>
    </p:spTree>
    <p:extLst>
      <p:ext uri="{BB962C8B-B14F-4D97-AF65-F5344CB8AC3E}">
        <p14:creationId xmlns:p14="http://schemas.microsoft.com/office/powerpoint/2010/main" val="31286359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B4BB4-0947-DD46-0A4B-C41E4547EEA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F72DE00-77B9-6801-80F7-95FDD91BDE8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0466D5EF-5D26-3C95-754A-FC9D4B7895C7}"/>
              </a:ext>
            </a:extLst>
          </p:cNvPr>
          <p:cNvSpPr txBox="1"/>
          <p:nvPr/>
        </p:nvSpPr>
        <p:spPr>
          <a:xfrm>
            <a:off x="76200" y="533400"/>
            <a:ext cx="8829674" cy="6133859"/>
          </a:xfrm>
          <a:prstGeom prst="rect">
            <a:avLst/>
          </a:prstGeom>
          <a:noFill/>
        </p:spPr>
        <p:txBody>
          <a:bodyPr wrap="square">
            <a:spAutoFit/>
          </a:bodyPr>
          <a:lstStyle/>
          <a:p>
            <a:pPr>
              <a:lnSpc>
                <a:spcPct val="150000"/>
              </a:lnSpc>
              <a:buNone/>
            </a:pPr>
            <a:r>
              <a:rPr lang="en-AU" sz="2200" b="1" dirty="0">
                <a:latin typeface="+mj-lt"/>
              </a:rPr>
              <a:t>Task 3: Configure the LOCAL Router</a:t>
            </a:r>
          </a:p>
          <a:p>
            <a:pPr>
              <a:lnSpc>
                <a:spcPct val="150000"/>
              </a:lnSpc>
              <a:buNone/>
            </a:pPr>
            <a:r>
              <a:rPr lang="en-AU" sz="2200" dirty="0">
                <a:latin typeface="+mj-lt"/>
              </a:rPr>
              <a:t>Open LOCAL → CLI and enter:</a:t>
            </a:r>
          </a:p>
          <a:p>
            <a:pPr rtl="0">
              <a:lnSpc>
                <a:spcPct val="150000"/>
              </a:lnSpc>
              <a:buNone/>
            </a:pPr>
            <a:r>
              <a:rPr lang="en-AU" sz="2200" dirty="0">
                <a:latin typeface="+mj-lt"/>
              </a:rPr>
              <a:t>enable</a:t>
            </a:r>
          </a:p>
          <a:p>
            <a:pPr rtl="0">
              <a:lnSpc>
                <a:spcPct val="150000"/>
              </a:lnSpc>
              <a:buNone/>
            </a:pPr>
            <a:r>
              <a:rPr lang="en-AU" sz="2200" dirty="0">
                <a:latin typeface="+mj-lt"/>
              </a:rPr>
              <a:t>configure terminal</a:t>
            </a:r>
          </a:p>
          <a:p>
            <a:pPr rtl="0">
              <a:lnSpc>
                <a:spcPct val="150000"/>
              </a:lnSpc>
              <a:buNone/>
            </a:pPr>
            <a:r>
              <a:rPr lang="en-AU" sz="2200" dirty="0">
                <a:latin typeface="+mj-lt"/>
              </a:rPr>
              <a:t>hostname LOCAL</a:t>
            </a:r>
          </a:p>
          <a:p>
            <a:pPr rtl="0">
              <a:lnSpc>
                <a:spcPct val="150000"/>
              </a:lnSpc>
              <a:buNone/>
            </a:pPr>
            <a:r>
              <a:rPr lang="en-AU" sz="2200" dirty="0">
                <a:latin typeface="+mj-lt"/>
              </a:rPr>
              <a:t>no </a:t>
            </a:r>
            <a:r>
              <a:rPr lang="en-AU" sz="2200" dirty="0" err="1">
                <a:latin typeface="+mj-lt"/>
              </a:rPr>
              <a:t>ip</a:t>
            </a:r>
            <a:r>
              <a:rPr lang="en-AU" sz="2200" dirty="0">
                <a:latin typeface="+mj-lt"/>
              </a:rPr>
              <a:t> domain-lookup</a:t>
            </a:r>
          </a:p>
          <a:p>
            <a:pPr rtl="0">
              <a:lnSpc>
                <a:spcPct val="150000"/>
              </a:lnSpc>
              <a:buNone/>
            </a:pPr>
            <a:endParaRPr lang="en-AU" sz="2200" dirty="0">
              <a:latin typeface="+mj-lt"/>
            </a:endParaRPr>
          </a:p>
          <a:p>
            <a:pPr rtl="0">
              <a:lnSpc>
                <a:spcPct val="150000"/>
              </a:lnSpc>
              <a:buNone/>
            </a:pPr>
            <a:r>
              <a:rPr lang="en-AU" sz="2200" dirty="0">
                <a:latin typeface="+mj-lt"/>
              </a:rPr>
              <a:t>interface serial 0/1/0</a:t>
            </a:r>
          </a:p>
          <a:p>
            <a:pPr rtl="0">
              <a:lnSpc>
                <a:spcPct val="150000"/>
              </a:lnSpc>
              <a:buNone/>
            </a:pPr>
            <a:r>
              <a:rPr lang="en-AU" sz="2200" dirty="0" err="1">
                <a:latin typeface="+mj-lt"/>
              </a:rPr>
              <a:t>ip</a:t>
            </a:r>
            <a:r>
              <a:rPr lang="en-AU" sz="2200" dirty="0">
                <a:latin typeface="+mj-lt"/>
              </a:rPr>
              <a:t> address 10.1.1.1 255.255.255.252</a:t>
            </a:r>
          </a:p>
          <a:p>
            <a:pPr rtl="0">
              <a:lnSpc>
                <a:spcPct val="150000"/>
              </a:lnSpc>
              <a:buNone/>
            </a:pPr>
            <a:r>
              <a:rPr lang="en-AU" sz="2200" dirty="0">
                <a:latin typeface="+mj-lt"/>
              </a:rPr>
              <a:t>clock rate 56000</a:t>
            </a:r>
          </a:p>
          <a:p>
            <a:pPr rtl="0">
              <a:lnSpc>
                <a:spcPct val="150000"/>
              </a:lnSpc>
              <a:buNone/>
            </a:pPr>
            <a:r>
              <a:rPr lang="en-AU" sz="2200" dirty="0">
                <a:latin typeface="+mj-lt"/>
              </a:rPr>
              <a:t>no shutdown</a:t>
            </a:r>
          </a:p>
          <a:p>
            <a:pPr rtl="0">
              <a:lnSpc>
                <a:spcPct val="150000"/>
              </a:lnSpc>
              <a:buNone/>
            </a:pPr>
            <a:r>
              <a:rPr lang="en-AU" sz="2200" dirty="0">
                <a:latin typeface="+mj-lt"/>
              </a:rPr>
              <a:t>exit</a:t>
            </a:r>
          </a:p>
        </p:txBody>
      </p:sp>
    </p:spTree>
    <p:extLst>
      <p:ext uri="{BB962C8B-B14F-4D97-AF65-F5344CB8AC3E}">
        <p14:creationId xmlns:p14="http://schemas.microsoft.com/office/powerpoint/2010/main" val="20745837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44879-1D38-A365-92E7-9C0226EDB7D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A835634-FB82-779B-65C4-B26814E6181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6" name="TextBox 5">
            <a:extLst>
              <a:ext uri="{FF2B5EF4-FFF2-40B4-BE49-F238E27FC236}">
                <a16:creationId xmlns:a16="http://schemas.microsoft.com/office/drawing/2014/main" id="{EB62AE1D-A204-F621-D690-A085C2FCEEA3}"/>
              </a:ext>
            </a:extLst>
          </p:cNvPr>
          <p:cNvSpPr txBox="1"/>
          <p:nvPr/>
        </p:nvSpPr>
        <p:spPr>
          <a:xfrm>
            <a:off x="76200" y="533400"/>
            <a:ext cx="8829674" cy="6036974"/>
          </a:xfrm>
          <a:prstGeom prst="rect">
            <a:avLst/>
          </a:prstGeom>
          <a:noFill/>
        </p:spPr>
        <p:txBody>
          <a:bodyPr wrap="square">
            <a:spAutoFit/>
          </a:bodyPr>
          <a:lstStyle/>
          <a:p>
            <a:pPr rtl="0">
              <a:lnSpc>
                <a:spcPct val="150000"/>
              </a:lnSpc>
              <a:buNone/>
            </a:pPr>
            <a:r>
              <a:rPr lang="en-AU" sz="2000" dirty="0">
                <a:latin typeface="+mj-lt"/>
              </a:rPr>
              <a:t>interface </a:t>
            </a:r>
            <a:r>
              <a:rPr lang="en-AU" sz="2000" dirty="0" err="1">
                <a:latin typeface="+mj-lt"/>
              </a:rPr>
              <a:t>gigabitEthernet</a:t>
            </a:r>
            <a:r>
              <a:rPr lang="en-AU" sz="2000" dirty="0">
                <a:latin typeface="+mj-lt"/>
              </a:rPr>
              <a:t> 0/1</a:t>
            </a:r>
          </a:p>
          <a:p>
            <a:pPr rtl="0">
              <a:lnSpc>
                <a:spcPct val="150000"/>
              </a:lnSpc>
              <a:buNone/>
            </a:pPr>
            <a:r>
              <a:rPr lang="en-AU" sz="2000" dirty="0" err="1">
                <a:latin typeface="+mj-lt"/>
              </a:rPr>
              <a:t>ip</a:t>
            </a:r>
            <a:r>
              <a:rPr lang="en-AU" sz="2000" dirty="0">
                <a:latin typeface="+mj-lt"/>
              </a:rPr>
              <a:t> address 192.168.1.1 255.255.255.0</a:t>
            </a:r>
          </a:p>
          <a:p>
            <a:pPr rtl="0">
              <a:lnSpc>
                <a:spcPct val="150000"/>
              </a:lnSpc>
              <a:buNone/>
            </a:pPr>
            <a:r>
              <a:rPr lang="en-AU" sz="2000" dirty="0">
                <a:latin typeface="+mj-lt"/>
              </a:rPr>
              <a:t>no shutdown</a:t>
            </a:r>
          </a:p>
          <a:p>
            <a:pPr rtl="0">
              <a:lnSpc>
                <a:spcPct val="150000"/>
              </a:lnSpc>
              <a:buNone/>
            </a:pPr>
            <a:r>
              <a:rPr lang="en-AU" sz="2000" dirty="0">
                <a:latin typeface="+mj-lt"/>
              </a:rPr>
              <a:t>exit</a:t>
            </a:r>
          </a:p>
          <a:p>
            <a:pPr rtl="0">
              <a:lnSpc>
                <a:spcPct val="150000"/>
              </a:lnSpc>
              <a:buNone/>
            </a:pPr>
            <a:endParaRPr lang="en-AU" sz="2000" dirty="0">
              <a:latin typeface="+mj-lt"/>
            </a:endParaRPr>
          </a:p>
          <a:p>
            <a:pPr rtl="0">
              <a:lnSpc>
                <a:spcPct val="150000"/>
              </a:lnSpc>
              <a:buNone/>
            </a:pPr>
            <a:r>
              <a:rPr lang="en-AU" sz="2000" dirty="0">
                <a:latin typeface="+mj-lt"/>
              </a:rPr>
              <a:t>router </a:t>
            </a:r>
            <a:r>
              <a:rPr lang="en-AU" sz="2000" dirty="0" err="1">
                <a:latin typeface="+mj-lt"/>
              </a:rPr>
              <a:t>eigrp</a:t>
            </a:r>
            <a:r>
              <a:rPr lang="en-AU" sz="2000" dirty="0">
                <a:latin typeface="+mj-lt"/>
              </a:rPr>
              <a:t> 1</a:t>
            </a:r>
          </a:p>
          <a:p>
            <a:pPr rtl="0">
              <a:lnSpc>
                <a:spcPct val="150000"/>
              </a:lnSpc>
              <a:buNone/>
            </a:pPr>
            <a:r>
              <a:rPr lang="en-AU" sz="2000" dirty="0">
                <a:latin typeface="+mj-lt"/>
              </a:rPr>
              <a:t>network 10.1.1.0 0.0.0.3</a:t>
            </a:r>
          </a:p>
          <a:p>
            <a:pPr rtl="0">
              <a:lnSpc>
                <a:spcPct val="150000"/>
              </a:lnSpc>
              <a:buNone/>
            </a:pPr>
            <a:r>
              <a:rPr lang="en-AU" sz="2000" dirty="0">
                <a:latin typeface="+mj-lt"/>
              </a:rPr>
              <a:t>network 192.168.1.0 0.0.0.255</a:t>
            </a:r>
          </a:p>
          <a:p>
            <a:pPr rtl="0">
              <a:lnSpc>
                <a:spcPct val="150000"/>
              </a:lnSpc>
              <a:buNone/>
            </a:pPr>
            <a:r>
              <a:rPr lang="en-AU" sz="2000" dirty="0">
                <a:latin typeface="+mj-lt"/>
              </a:rPr>
              <a:t>no auto-summary</a:t>
            </a:r>
          </a:p>
          <a:p>
            <a:pPr rtl="0">
              <a:lnSpc>
                <a:spcPct val="150000"/>
              </a:lnSpc>
              <a:buNone/>
            </a:pPr>
            <a:r>
              <a:rPr lang="en-AU" sz="2000" dirty="0">
                <a:latin typeface="+mj-lt"/>
              </a:rPr>
              <a:t>end</a:t>
            </a:r>
          </a:p>
          <a:p>
            <a:pPr rtl="0">
              <a:lnSpc>
                <a:spcPct val="150000"/>
              </a:lnSpc>
              <a:buNone/>
            </a:pPr>
            <a:endParaRPr lang="en-AU" sz="2000" dirty="0">
              <a:latin typeface="+mj-lt"/>
            </a:endParaRPr>
          </a:p>
          <a:p>
            <a:pPr rtl="0">
              <a:lnSpc>
                <a:spcPct val="150000"/>
              </a:lnSpc>
              <a:buNone/>
            </a:pPr>
            <a:r>
              <a:rPr lang="en-AU" sz="2000" dirty="0">
                <a:latin typeface="+mj-lt"/>
              </a:rPr>
              <a:t>copy running-config startup-config</a:t>
            </a:r>
          </a:p>
          <a:p>
            <a:pPr rtl="0">
              <a:lnSpc>
                <a:spcPct val="150000"/>
              </a:lnSpc>
            </a:pPr>
            <a:r>
              <a:rPr lang="en-AU" sz="2000" dirty="0"/>
              <a:t>When prompted with Destination filename [startup-config]?, press Enter.</a:t>
            </a:r>
          </a:p>
        </p:txBody>
      </p:sp>
    </p:spTree>
    <p:extLst>
      <p:ext uri="{BB962C8B-B14F-4D97-AF65-F5344CB8AC3E}">
        <p14:creationId xmlns:p14="http://schemas.microsoft.com/office/powerpoint/2010/main" val="11830706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F84D0-4482-CB2D-6A26-F81841F8A82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21712E6-193D-3568-95E3-5BA489E0C7F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5DC39163-AF39-6448-DF89-9EE64677C100}"/>
              </a:ext>
            </a:extLst>
          </p:cNvPr>
          <p:cNvSpPr txBox="1"/>
          <p:nvPr/>
        </p:nvSpPr>
        <p:spPr>
          <a:xfrm>
            <a:off x="38100" y="685800"/>
            <a:ext cx="8982074" cy="6046271"/>
          </a:xfrm>
          <a:prstGeom prst="rect">
            <a:avLst/>
          </a:prstGeom>
          <a:noFill/>
        </p:spPr>
        <p:txBody>
          <a:bodyPr wrap="square">
            <a:spAutoFit/>
          </a:bodyPr>
          <a:lstStyle/>
          <a:p>
            <a:pPr>
              <a:lnSpc>
                <a:spcPct val="150000"/>
              </a:lnSpc>
            </a:pPr>
            <a:r>
              <a:rPr lang="en-AU" sz="2000" b="1" dirty="0">
                <a:latin typeface="+mj-lt"/>
              </a:rPr>
              <a:t>Explanation</a:t>
            </a:r>
          </a:p>
          <a:p>
            <a:pPr marL="342900" lvl="0" indent="-342900">
              <a:lnSpc>
                <a:spcPct val="150000"/>
              </a:lnSpc>
              <a:buFont typeface="Arial" panose="020B0604020202020204" pitchFamily="34" charset="0"/>
              <a:buChar char="•"/>
            </a:pPr>
            <a:r>
              <a:rPr lang="en-AU" sz="2000" dirty="0">
                <a:latin typeface="+mj-lt"/>
              </a:rPr>
              <a:t>hostname LOCAL – Names the router.</a:t>
            </a:r>
          </a:p>
          <a:p>
            <a:pPr marL="342900" lvl="0" indent="-342900">
              <a:lnSpc>
                <a:spcPct val="150000"/>
              </a:lnSpc>
              <a:buFont typeface="Arial" panose="020B0604020202020204" pitchFamily="34" charset="0"/>
              <a:buChar char="•"/>
            </a:pPr>
            <a:r>
              <a:rPr lang="en-AU" sz="2000" dirty="0">
                <a:latin typeface="+mj-lt"/>
              </a:rPr>
              <a:t>no </a:t>
            </a:r>
            <a:r>
              <a:rPr lang="en-AU" sz="2000" dirty="0" err="1">
                <a:latin typeface="+mj-lt"/>
              </a:rPr>
              <a:t>ip</a:t>
            </a:r>
            <a:r>
              <a:rPr lang="en-AU" sz="2000" dirty="0">
                <a:latin typeface="+mj-lt"/>
              </a:rPr>
              <a:t> domain-lookup – Prevents DNS lookup delays caused by mistyped commands.</a:t>
            </a:r>
          </a:p>
          <a:p>
            <a:pPr marL="342900" lvl="0" indent="-342900">
              <a:lnSpc>
                <a:spcPct val="150000"/>
              </a:lnSpc>
              <a:buFont typeface="Arial" panose="020B0604020202020204" pitchFamily="34" charset="0"/>
              <a:buChar char="•"/>
            </a:pPr>
            <a:r>
              <a:rPr lang="en-AU" sz="2000" dirty="0">
                <a:latin typeface="+mj-lt"/>
              </a:rPr>
              <a:t>interface serial 0/1/0 – Selects the WAN interface connected to ISP.</a:t>
            </a:r>
          </a:p>
          <a:p>
            <a:pPr marL="342900" lvl="0" indent="-342900">
              <a:lnSpc>
                <a:spcPct val="150000"/>
              </a:lnSpc>
              <a:buFont typeface="Arial" panose="020B0604020202020204" pitchFamily="34" charset="0"/>
              <a:buChar char="•"/>
            </a:pPr>
            <a:r>
              <a:rPr lang="en-AU" sz="2000" dirty="0">
                <a:latin typeface="+mj-lt"/>
              </a:rPr>
              <a:t>clock rate 56000 – Provides timing on the DCE end of the serial connection.</a:t>
            </a:r>
          </a:p>
          <a:p>
            <a:pPr marL="342900" lvl="0" indent="-342900">
              <a:lnSpc>
                <a:spcPct val="150000"/>
              </a:lnSpc>
              <a:buFont typeface="Arial" panose="020B0604020202020204" pitchFamily="34" charset="0"/>
              <a:buChar char="•"/>
            </a:pPr>
            <a:r>
              <a:rPr lang="en-AU" sz="2000" dirty="0">
                <a:latin typeface="+mj-lt"/>
              </a:rPr>
              <a:t>interface </a:t>
            </a:r>
            <a:r>
              <a:rPr lang="en-AU" sz="2000" dirty="0" err="1">
                <a:latin typeface="+mj-lt"/>
              </a:rPr>
              <a:t>gigabitEthernet</a:t>
            </a:r>
            <a:r>
              <a:rPr lang="en-AU" sz="2000" dirty="0">
                <a:latin typeface="+mj-lt"/>
              </a:rPr>
              <a:t> 0/1 – Selects the LAN interface connected to switch S1.</a:t>
            </a:r>
          </a:p>
          <a:p>
            <a:pPr marL="342900" lvl="0" indent="-342900">
              <a:lnSpc>
                <a:spcPct val="150000"/>
              </a:lnSpc>
              <a:buFont typeface="Arial" panose="020B0604020202020204" pitchFamily="34" charset="0"/>
              <a:buChar char="•"/>
            </a:pPr>
            <a:r>
              <a:rPr lang="en-AU" sz="2000" dirty="0" err="1">
                <a:latin typeface="+mj-lt"/>
              </a:rPr>
              <a:t>ip</a:t>
            </a:r>
            <a:r>
              <a:rPr lang="en-AU" sz="2000" dirty="0">
                <a:latin typeface="+mj-lt"/>
              </a:rPr>
              <a:t> address – Assigns an IP address and subnet mask.</a:t>
            </a:r>
          </a:p>
          <a:p>
            <a:pPr marL="342900" lvl="0" indent="-342900">
              <a:lnSpc>
                <a:spcPct val="150000"/>
              </a:lnSpc>
              <a:buFont typeface="Arial" panose="020B0604020202020204" pitchFamily="34" charset="0"/>
              <a:buChar char="•"/>
            </a:pPr>
            <a:r>
              <a:rPr lang="en-AU" sz="2000" dirty="0">
                <a:latin typeface="+mj-lt"/>
              </a:rPr>
              <a:t>no shutdown – Enables the interface.</a:t>
            </a:r>
          </a:p>
          <a:p>
            <a:pPr marL="342900" lvl="0" indent="-342900">
              <a:lnSpc>
                <a:spcPct val="150000"/>
              </a:lnSpc>
              <a:buFont typeface="Arial" panose="020B0604020202020204" pitchFamily="34" charset="0"/>
              <a:buChar char="•"/>
            </a:pPr>
            <a:r>
              <a:rPr lang="en-AU" sz="2000" dirty="0">
                <a:latin typeface="+mj-lt"/>
              </a:rPr>
              <a:t>router </a:t>
            </a:r>
            <a:r>
              <a:rPr lang="en-AU" sz="2000" dirty="0" err="1">
                <a:latin typeface="+mj-lt"/>
              </a:rPr>
              <a:t>eigrp</a:t>
            </a:r>
            <a:r>
              <a:rPr lang="en-AU" sz="2000" dirty="0">
                <a:latin typeface="+mj-lt"/>
              </a:rPr>
              <a:t> 1 – Enables EIGRP dynamic routing.</a:t>
            </a:r>
          </a:p>
          <a:p>
            <a:pPr marL="342900" lvl="0" indent="-342900">
              <a:lnSpc>
                <a:spcPct val="150000"/>
              </a:lnSpc>
              <a:buFont typeface="Arial" panose="020B0604020202020204" pitchFamily="34" charset="0"/>
              <a:buChar char="•"/>
            </a:pPr>
            <a:r>
              <a:rPr lang="en-AU" sz="2000" dirty="0">
                <a:latin typeface="+mj-lt"/>
              </a:rPr>
              <a:t>network – Identifies connected networks that participate in EIGRP.</a:t>
            </a:r>
          </a:p>
          <a:p>
            <a:pPr marL="342900" lvl="0" indent="-342900">
              <a:lnSpc>
                <a:spcPct val="150000"/>
              </a:lnSpc>
              <a:buFont typeface="Arial" panose="020B0604020202020204" pitchFamily="34" charset="0"/>
              <a:buChar char="•"/>
            </a:pPr>
            <a:r>
              <a:rPr lang="en-AU" sz="2000" dirty="0">
                <a:latin typeface="+mj-lt"/>
              </a:rPr>
              <a:t>no auto-summary – Disables automatic classful route summarisation.</a:t>
            </a:r>
          </a:p>
          <a:p>
            <a:pPr marL="342900" lvl="0" indent="-342900">
              <a:lnSpc>
                <a:spcPct val="150000"/>
              </a:lnSpc>
              <a:buFont typeface="Arial" panose="020B0604020202020204" pitchFamily="34" charset="0"/>
              <a:buChar char="•"/>
            </a:pPr>
            <a:r>
              <a:rPr lang="en-AU" sz="2000" dirty="0">
                <a:latin typeface="+mj-lt"/>
              </a:rPr>
              <a:t>copy running-config startup-config – Saves the configuration.</a:t>
            </a:r>
          </a:p>
        </p:txBody>
      </p:sp>
    </p:spTree>
    <p:extLst>
      <p:ext uri="{BB962C8B-B14F-4D97-AF65-F5344CB8AC3E}">
        <p14:creationId xmlns:p14="http://schemas.microsoft.com/office/powerpoint/2010/main" val="25885885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581EA-564B-44B6-16D3-363CEA6765B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D8F7370-7A31-108F-8443-C80E05BB426E}"/>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B4F1A3B5-012D-E239-6A77-A601C326DEBF}"/>
              </a:ext>
            </a:extLst>
          </p:cNvPr>
          <p:cNvSpPr txBox="1"/>
          <p:nvPr/>
        </p:nvSpPr>
        <p:spPr>
          <a:xfrm>
            <a:off x="38100" y="685800"/>
            <a:ext cx="8982074" cy="1964512"/>
          </a:xfrm>
          <a:prstGeom prst="rect">
            <a:avLst/>
          </a:prstGeom>
          <a:noFill/>
        </p:spPr>
        <p:txBody>
          <a:bodyPr wrap="square">
            <a:spAutoFit/>
          </a:bodyPr>
          <a:lstStyle/>
          <a:p>
            <a:pPr>
              <a:lnSpc>
                <a:spcPct val="150000"/>
              </a:lnSpc>
            </a:pPr>
            <a:r>
              <a:rPr lang="en-AU" sz="2800" dirty="0">
                <a:latin typeface="+mj-lt"/>
              </a:rPr>
              <a:t>Why EIGRP? EIGRP allows LOCAL to learn routes to remote networks automatically rather than requiring manually configured static routes.</a:t>
            </a:r>
          </a:p>
        </p:txBody>
      </p:sp>
    </p:spTree>
    <p:extLst>
      <p:ext uri="{BB962C8B-B14F-4D97-AF65-F5344CB8AC3E}">
        <p14:creationId xmlns:p14="http://schemas.microsoft.com/office/powerpoint/2010/main" val="266986483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FC70C-9567-1AF2-CF59-22C33F4260A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B7C412B-4DC9-2C79-7F90-6805D656EAB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1C860988-0C96-5884-5865-F82AD6DC9DB3}"/>
              </a:ext>
            </a:extLst>
          </p:cNvPr>
          <p:cNvSpPr txBox="1"/>
          <p:nvPr/>
        </p:nvSpPr>
        <p:spPr>
          <a:xfrm>
            <a:off x="0" y="457201"/>
            <a:ext cx="8982074" cy="6133859"/>
          </a:xfrm>
          <a:prstGeom prst="rect">
            <a:avLst/>
          </a:prstGeom>
          <a:noFill/>
        </p:spPr>
        <p:txBody>
          <a:bodyPr wrap="square">
            <a:spAutoFit/>
          </a:bodyPr>
          <a:lstStyle/>
          <a:p>
            <a:pPr>
              <a:lnSpc>
                <a:spcPct val="150000"/>
              </a:lnSpc>
              <a:buNone/>
            </a:pPr>
            <a:r>
              <a:rPr lang="en-AU" sz="2200" b="1" dirty="0">
                <a:latin typeface="+mj-lt"/>
              </a:rPr>
              <a:t>Task 3: Configure the ISP and REMOTE Routers</a:t>
            </a:r>
          </a:p>
          <a:p>
            <a:pPr>
              <a:lnSpc>
                <a:spcPct val="150000"/>
              </a:lnSpc>
              <a:buNone/>
            </a:pPr>
            <a:r>
              <a:rPr lang="en-AU" sz="2200" dirty="0">
                <a:latin typeface="+mj-lt"/>
              </a:rPr>
              <a:t>Live demonstration</a:t>
            </a:r>
          </a:p>
          <a:p>
            <a:pPr>
              <a:lnSpc>
                <a:spcPct val="150000"/>
              </a:lnSpc>
              <a:buNone/>
            </a:pPr>
            <a:r>
              <a:rPr lang="en-AU" sz="2200" dirty="0">
                <a:latin typeface="+mj-lt"/>
              </a:rPr>
              <a:t>ISP router – CLI</a:t>
            </a:r>
          </a:p>
          <a:p>
            <a:pPr rtl="0">
              <a:lnSpc>
                <a:spcPct val="150000"/>
              </a:lnSpc>
              <a:buNone/>
            </a:pPr>
            <a:r>
              <a:rPr lang="en-AU" sz="2200" dirty="0">
                <a:latin typeface="+mj-lt"/>
              </a:rPr>
              <a:t>enable</a:t>
            </a:r>
          </a:p>
          <a:p>
            <a:pPr rtl="0">
              <a:lnSpc>
                <a:spcPct val="150000"/>
              </a:lnSpc>
              <a:buNone/>
            </a:pPr>
            <a:r>
              <a:rPr lang="en-AU" sz="2200" dirty="0">
                <a:latin typeface="+mj-lt"/>
              </a:rPr>
              <a:t>configure terminal</a:t>
            </a:r>
          </a:p>
          <a:p>
            <a:pPr rtl="0">
              <a:lnSpc>
                <a:spcPct val="150000"/>
              </a:lnSpc>
              <a:buNone/>
            </a:pPr>
            <a:r>
              <a:rPr lang="en-AU" sz="2200" dirty="0">
                <a:latin typeface="+mj-lt"/>
              </a:rPr>
              <a:t>hostname ISP</a:t>
            </a:r>
          </a:p>
          <a:p>
            <a:pPr rtl="0">
              <a:lnSpc>
                <a:spcPct val="150000"/>
              </a:lnSpc>
              <a:buNone/>
            </a:pPr>
            <a:r>
              <a:rPr lang="en-AU" sz="2200" dirty="0">
                <a:latin typeface="+mj-lt"/>
              </a:rPr>
              <a:t>no </a:t>
            </a:r>
            <a:r>
              <a:rPr lang="en-AU" sz="2200" dirty="0" err="1">
                <a:latin typeface="+mj-lt"/>
              </a:rPr>
              <a:t>ip</a:t>
            </a:r>
            <a:r>
              <a:rPr lang="en-AU" sz="2200" dirty="0">
                <a:latin typeface="+mj-lt"/>
              </a:rPr>
              <a:t> domain-lookup</a:t>
            </a:r>
          </a:p>
          <a:p>
            <a:pPr rtl="0">
              <a:lnSpc>
                <a:spcPct val="150000"/>
              </a:lnSpc>
              <a:buNone/>
            </a:pPr>
            <a:endParaRPr lang="en-AU" sz="2200" dirty="0">
              <a:latin typeface="+mj-lt"/>
            </a:endParaRPr>
          </a:p>
          <a:p>
            <a:pPr rtl="0">
              <a:lnSpc>
                <a:spcPct val="150000"/>
              </a:lnSpc>
              <a:buNone/>
            </a:pPr>
            <a:r>
              <a:rPr lang="en-AU" sz="2200" dirty="0">
                <a:latin typeface="+mj-lt"/>
              </a:rPr>
              <a:t>interface serial 0/1/0</a:t>
            </a:r>
          </a:p>
          <a:p>
            <a:pPr rtl="0">
              <a:lnSpc>
                <a:spcPct val="150000"/>
              </a:lnSpc>
              <a:buNone/>
            </a:pPr>
            <a:r>
              <a:rPr lang="en-AU" sz="2200" dirty="0" err="1">
                <a:latin typeface="+mj-lt"/>
              </a:rPr>
              <a:t>ip</a:t>
            </a:r>
            <a:r>
              <a:rPr lang="en-AU" sz="2200" dirty="0">
                <a:latin typeface="+mj-lt"/>
              </a:rPr>
              <a:t> address 10.1.1.2 255.255.255.252</a:t>
            </a:r>
          </a:p>
          <a:p>
            <a:pPr rtl="0">
              <a:lnSpc>
                <a:spcPct val="150000"/>
              </a:lnSpc>
              <a:buNone/>
            </a:pPr>
            <a:r>
              <a:rPr lang="en-AU" sz="2200" dirty="0">
                <a:latin typeface="+mj-lt"/>
              </a:rPr>
              <a:t>no shutdown</a:t>
            </a:r>
          </a:p>
          <a:p>
            <a:pPr rtl="0">
              <a:lnSpc>
                <a:spcPct val="150000"/>
              </a:lnSpc>
              <a:buNone/>
            </a:pPr>
            <a:r>
              <a:rPr lang="en-AU" sz="2200" dirty="0">
                <a:latin typeface="+mj-lt"/>
              </a:rPr>
              <a:t>exit</a:t>
            </a:r>
          </a:p>
        </p:txBody>
      </p:sp>
    </p:spTree>
    <p:extLst>
      <p:ext uri="{BB962C8B-B14F-4D97-AF65-F5344CB8AC3E}">
        <p14:creationId xmlns:p14="http://schemas.microsoft.com/office/powerpoint/2010/main" val="19526423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D35F6-038A-207D-2D61-0FA3F5BB230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BB1CD48-1641-B495-BE1F-20ADDD2BFA0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A10F3501-EF10-4368-8F67-0C0BAD8EB3EB}"/>
              </a:ext>
            </a:extLst>
          </p:cNvPr>
          <p:cNvSpPr txBox="1"/>
          <p:nvPr/>
        </p:nvSpPr>
        <p:spPr>
          <a:xfrm>
            <a:off x="0" y="457201"/>
            <a:ext cx="8982074" cy="6123536"/>
          </a:xfrm>
          <a:prstGeom prst="rect">
            <a:avLst/>
          </a:prstGeom>
          <a:noFill/>
        </p:spPr>
        <p:txBody>
          <a:bodyPr wrap="square">
            <a:spAutoFit/>
          </a:bodyPr>
          <a:lstStyle/>
          <a:p>
            <a:pPr rtl="0">
              <a:lnSpc>
                <a:spcPct val="150000"/>
              </a:lnSpc>
              <a:buNone/>
            </a:pPr>
            <a:r>
              <a:rPr lang="en-AU" sz="2200" dirty="0">
                <a:latin typeface="+mj-lt"/>
              </a:rPr>
              <a:t>interface serial 0/1/1</a:t>
            </a:r>
          </a:p>
          <a:p>
            <a:pPr rtl="0">
              <a:lnSpc>
                <a:spcPct val="150000"/>
              </a:lnSpc>
              <a:buNone/>
            </a:pPr>
            <a:r>
              <a:rPr lang="en-AU" sz="2200" dirty="0" err="1">
                <a:latin typeface="+mj-lt"/>
              </a:rPr>
              <a:t>ip</a:t>
            </a:r>
            <a:r>
              <a:rPr lang="en-AU" sz="2200" dirty="0">
                <a:latin typeface="+mj-lt"/>
              </a:rPr>
              <a:t> address 10.2.2.2 255.255.255.252</a:t>
            </a:r>
          </a:p>
          <a:p>
            <a:pPr rtl="0">
              <a:lnSpc>
                <a:spcPct val="150000"/>
              </a:lnSpc>
              <a:buNone/>
            </a:pPr>
            <a:r>
              <a:rPr lang="en-AU" sz="2200" dirty="0">
                <a:latin typeface="+mj-lt"/>
              </a:rPr>
              <a:t>clock rate 56000</a:t>
            </a:r>
          </a:p>
          <a:p>
            <a:pPr rtl="0">
              <a:lnSpc>
                <a:spcPct val="150000"/>
              </a:lnSpc>
              <a:buNone/>
            </a:pPr>
            <a:r>
              <a:rPr lang="en-AU" sz="2200" dirty="0">
                <a:latin typeface="+mj-lt"/>
              </a:rPr>
              <a:t>no shutdown</a:t>
            </a:r>
          </a:p>
          <a:p>
            <a:pPr rtl="0">
              <a:lnSpc>
                <a:spcPct val="150000"/>
              </a:lnSpc>
              <a:buNone/>
            </a:pPr>
            <a:r>
              <a:rPr lang="en-AU" sz="2200" dirty="0">
                <a:latin typeface="+mj-lt"/>
              </a:rPr>
              <a:t>exit</a:t>
            </a:r>
          </a:p>
          <a:p>
            <a:pPr rtl="0">
              <a:lnSpc>
                <a:spcPct val="150000"/>
              </a:lnSpc>
              <a:buNone/>
            </a:pPr>
            <a:endParaRPr lang="en-AU" sz="2200" dirty="0">
              <a:latin typeface="+mj-lt"/>
            </a:endParaRPr>
          </a:p>
          <a:p>
            <a:pPr rtl="0">
              <a:lnSpc>
                <a:spcPct val="150000"/>
              </a:lnSpc>
              <a:buNone/>
            </a:pPr>
            <a:r>
              <a:rPr lang="en-AU" sz="2200" dirty="0">
                <a:latin typeface="+mj-lt"/>
              </a:rPr>
              <a:t>router </a:t>
            </a:r>
            <a:r>
              <a:rPr lang="en-AU" sz="2200" dirty="0" err="1">
                <a:latin typeface="+mj-lt"/>
              </a:rPr>
              <a:t>eigrp</a:t>
            </a:r>
            <a:r>
              <a:rPr lang="en-AU" sz="2200" dirty="0">
                <a:latin typeface="+mj-lt"/>
              </a:rPr>
              <a:t> 1</a:t>
            </a:r>
          </a:p>
          <a:p>
            <a:pPr rtl="0">
              <a:lnSpc>
                <a:spcPct val="150000"/>
              </a:lnSpc>
              <a:buNone/>
            </a:pPr>
            <a:r>
              <a:rPr lang="en-AU" sz="2200" dirty="0">
                <a:latin typeface="+mj-lt"/>
              </a:rPr>
              <a:t>network 10.1.1.0 0.0.0.3</a:t>
            </a:r>
          </a:p>
          <a:p>
            <a:pPr rtl="0">
              <a:lnSpc>
                <a:spcPct val="150000"/>
              </a:lnSpc>
              <a:buNone/>
            </a:pPr>
            <a:r>
              <a:rPr lang="en-AU" sz="2200" dirty="0">
                <a:latin typeface="+mj-lt"/>
              </a:rPr>
              <a:t>network 10.2.2.0 0.0.0.3</a:t>
            </a:r>
          </a:p>
          <a:p>
            <a:pPr rtl="0">
              <a:lnSpc>
                <a:spcPct val="150000"/>
              </a:lnSpc>
              <a:buNone/>
            </a:pPr>
            <a:r>
              <a:rPr lang="en-AU" sz="2200" dirty="0">
                <a:latin typeface="+mj-lt"/>
              </a:rPr>
              <a:t>no auto-summary</a:t>
            </a:r>
          </a:p>
          <a:p>
            <a:pPr rtl="0">
              <a:lnSpc>
                <a:spcPct val="150000"/>
              </a:lnSpc>
              <a:buNone/>
            </a:pPr>
            <a:r>
              <a:rPr lang="en-AU" sz="2200" dirty="0">
                <a:latin typeface="+mj-lt"/>
              </a:rPr>
              <a:t>end</a:t>
            </a:r>
          </a:p>
          <a:p>
            <a:pPr rtl="0">
              <a:lnSpc>
                <a:spcPct val="150000"/>
              </a:lnSpc>
              <a:buNone/>
            </a:pPr>
            <a:r>
              <a:rPr lang="en-AU" sz="2200" dirty="0">
                <a:latin typeface="+mj-lt"/>
              </a:rPr>
              <a:t>copy running-config startup-config</a:t>
            </a:r>
          </a:p>
        </p:txBody>
      </p:sp>
      <p:pic>
        <p:nvPicPr>
          <p:cNvPr id="4" name="Picture 3" descr="The image shows a series of commands being inputted into an IOS CLI, configuring an ISP's physical network settings.&#10;&#10;AI-generated content may be incorrect.">
            <a:extLst>
              <a:ext uri="{FF2B5EF4-FFF2-40B4-BE49-F238E27FC236}">
                <a16:creationId xmlns:a16="http://schemas.microsoft.com/office/drawing/2014/main" id="{AD561A16-F6CE-B861-2863-C1180A2E4983}"/>
              </a:ext>
            </a:extLst>
          </p:cNvPr>
          <p:cNvPicPr>
            <a:picLocks noChangeAspect="1"/>
          </p:cNvPicPr>
          <p:nvPr/>
        </p:nvPicPr>
        <p:blipFill>
          <a:blip r:embed="rId2"/>
          <a:stretch>
            <a:fillRect/>
          </a:stretch>
        </p:blipFill>
        <p:spPr>
          <a:xfrm>
            <a:off x="4648201" y="1371600"/>
            <a:ext cx="4476750" cy="4559910"/>
          </a:xfrm>
          <a:prstGeom prst="rect">
            <a:avLst/>
          </a:prstGeom>
          <a:ln>
            <a:solidFill>
              <a:srgbClr val="FF0000"/>
            </a:solidFill>
          </a:ln>
        </p:spPr>
      </p:pic>
    </p:spTree>
    <p:extLst>
      <p:ext uri="{BB962C8B-B14F-4D97-AF65-F5344CB8AC3E}">
        <p14:creationId xmlns:p14="http://schemas.microsoft.com/office/powerpoint/2010/main" val="38052090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D3FFB-5B1D-14AB-3950-FE7D69C7ED4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5365D14-8E09-1255-4D3B-C9628DDA5F3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04777E83-2D32-6BD1-6B29-A357D82CBDE0}"/>
              </a:ext>
            </a:extLst>
          </p:cNvPr>
          <p:cNvSpPr txBox="1"/>
          <p:nvPr/>
        </p:nvSpPr>
        <p:spPr>
          <a:xfrm>
            <a:off x="0" y="513257"/>
            <a:ext cx="8982074" cy="5632311"/>
          </a:xfrm>
          <a:prstGeom prst="rect">
            <a:avLst/>
          </a:prstGeom>
          <a:noFill/>
        </p:spPr>
        <p:txBody>
          <a:bodyPr wrap="square">
            <a:spAutoFit/>
          </a:bodyPr>
          <a:lstStyle/>
          <a:p>
            <a:pPr>
              <a:buNone/>
            </a:pPr>
            <a:r>
              <a:rPr lang="en-AU" sz="2400" dirty="0">
                <a:latin typeface="+mj-lt"/>
              </a:rPr>
              <a:t>REMOTE router – CLI</a:t>
            </a:r>
          </a:p>
          <a:p>
            <a:pPr rtl="0">
              <a:buNone/>
            </a:pPr>
            <a:r>
              <a:rPr lang="en-AU" sz="2400" dirty="0">
                <a:latin typeface="+mj-lt"/>
              </a:rPr>
              <a:t>enable</a:t>
            </a:r>
          </a:p>
          <a:p>
            <a:pPr rtl="0">
              <a:buNone/>
            </a:pPr>
            <a:r>
              <a:rPr lang="en-AU" sz="2400" dirty="0">
                <a:latin typeface="+mj-lt"/>
              </a:rPr>
              <a:t>configure terminal</a:t>
            </a:r>
          </a:p>
          <a:p>
            <a:pPr rtl="0">
              <a:buNone/>
            </a:pPr>
            <a:r>
              <a:rPr lang="en-AU" sz="2400" dirty="0">
                <a:latin typeface="+mj-lt"/>
              </a:rPr>
              <a:t>hostname REMOTE</a:t>
            </a:r>
          </a:p>
          <a:p>
            <a:pPr rtl="0">
              <a:buNone/>
            </a:pPr>
            <a:r>
              <a:rPr lang="en-AU" sz="2400" dirty="0">
                <a:latin typeface="+mj-lt"/>
              </a:rPr>
              <a:t>no </a:t>
            </a:r>
            <a:r>
              <a:rPr lang="en-AU" sz="2400" dirty="0" err="1">
                <a:latin typeface="+mj-lt"/>
              </a:rPr>
              <a:t>ip</a:t>
            </a:r>
            <a:r>
              <a:rPr lang="en-AU" sz="2400" dirty="0">
                <a:latin typeface="+mj-lt"/>
              </a:rPr>
              <a:t> domain-lookup</a:t>
            </a:r>
          </a:p>
          <a:p>
            <a:pPr rtl="0">
              <a:buNone/>
            </a:pPr>
            <a:endParaRPr lang="en-AU" sz="2400" dirty="0">
              <a:latin typeface="+mj-lt"/>
            </a:endParaRPr>
          </a:p>
          <a:p>
            <a:pPr rtl="0">
              <a:buNone/>
            </a:pPr>
            <a:r>
              <a:rPr lang="en-AU" sz="2400" dirty="0">
                <a:latin typeface="+mj-lt"/>
              </a:rPr>
              <a:t>interface serial 0/1/1</a:t>
            </a:r>
          </a:p>
          <a:p>
            <a:pPr rtl="0">
              <a:buNone/>
            </a:pPr>
            <a:r>
              <a:rPr lang="en-AU" sz="2400" dirty="0" err="1">
                <a:latin typeface="+mj-lt"/>
              </a:rPr>
              <a:t>ip</a:t>
            </a:r>
            <a:r>
              <a:rPr lang="en-AU" sz="2400" dirty="0">
                <a:latin typeface="+mj-lt"/>
              </a:rPr>
              <a:t> address 10.2.2.1 255.255.255.252</a:t>
            </a:r>
          </a:p>
          <a:p>
            <a:pPr rtl="0">
              <a:buNone/>
            </a:pPr>
            <a:r>
              <a:rPr lang="en-AU" sz="2400" dirty="0">
                <a:latin typeface="+mj-lt"/>
              </a:rPr>
              <a:t>no shutdown</a:t>
            </a:r>
          </a:p>
          <a:p>
            <a:pPr rtl="0">
              <a:buNone/>
            </a:pPr>
            <a:r>
              <a:rPr lang="en-AU" sz="2400" dirty="0">
                <a:latin typeface="+mj-lt"/>
              </a:rPr>
              <a:t>exit</a:t>
            </a:r>
          </a:p>
          <a:p>
            <a:pPr rtl="0">
              <a:buNone/>
            </a:pPr>
            <a:endParaRPr lang="en-AU" sz="2400" dirty="0">
              <a:latin typeface="+mj-lt"/>
            </a:endParaRPr>
          </a:p>
          <a:p>
            <a:pPr rtl="0">
              <a:buNone/>
            </a:pPr>
            <a:r>
              <a:rPr lang="en-AU" sz="2400" dirty="0">
                <a:latin typeface="+mj-lt"/>
              </a:rPr>
              <a:t>interface </a:t>
            </a:r>
            <a:r>
              <a:rPr lang="en-AU" sz="2400" dirty="0" err="1">
                <a:latin typeface="+mj-lt"/>
              </a:rPr>
              <a:t>gigabitEthernet</a:t>
            </a:r>
            <a:r>
              <a:rPr lang="en-AU" sz="2400" dirty="0">
                <a:latin typeface="+mj-lt"/>
              </a:rPr>
              <a:t> 0/1</a:t>
            </a:r>
          </a:p>
          <a:p>
            <a:pPr rtl="0">
              <a:buNone/>
            </a:pPr>
            <a:r>
              <a:rPr lang="en-AU" sz="2400" dirty="0" err="1">
                <a:latin typeface="+mj-lt"/>
              </a:rPr>
              <a:t>ip</a:t>
            </a:r>
            <a:r>
              <a:rPr lang="en-AU" sz="2400" dirty="0">
                <a:latin typeface="+mj-lt"/>
              </a:rPr>
              <a:t> address 192.168.3.1 255.255.255.0</a:t>
            </a:r>
          </a:p>
          <a:p>
            <a:pPr rtl="0">
              <a:buNone/>
            </a:pPr>
            <a:r>
              <a:rPr lang="en-AU" sz="2400" dirty="0">
                <a:latin typeface="+mj-lt"/>
              </a:rPr>
              <a:t>no shutdown</a:t>
            </a:r>
          </a:p>
          <a:p>
            <a:pPr rtl="0">
              <a:buNone/>
            </a:pPr>
            <a:r>
              <a:rPr lang="en-AU" sz="2400" dirty="0">
                <a:latin typeface="+mj-lt"/>
              </a:rPr>
              <a:t>exit</a:t>
            </a:r>
          </a:p>
        </p:txBody>
      </p:sp>
      <p:pic>
        <p:nvPicPr>
          <p:cNvPr id="9" name="Picture 8" descr="Configuration of a router for EIGRP routing protocol with specific IP addresses and network settings.&#10;&#10;AI-generated content may be incorrect.">
            <a:extLst>
              <a:ext uri="{FF2B5EF4-FFF2-40B4-BE49-F238E27FC236}">
                <a16:creationId xmlns:a16="http://schemas.microsoft.com/office/drawing/2014/main" id="{BE19700E-AA8B-4994-CEF1-D4AF2F5EA06A}"/>
              </a:ext>
            </a:extLst>
          </p:cNvPr>
          <p:cNvPicPr>
            <a:picLocks noChangeAspect="1"/>
          </p:cNvPicPr>
          <p:nvPr/>
        </p:nvPicPr>
        <p:blipFill>
          <a:blip r:embed="rId2"/>
          <a:stretch>
            <a:fillRect/>
          </a:stretch>
        </p:blipFill>
        <p:spPr>
          <a:xfrm>
            <a:off x="4869766" y="1143000"/>
            <a:ext cx="4264709" cy="3962400"/>
          </a:xfrm>
          <a:prstGeom prst="rect">
            <a:avLst/>
          </a:prstGeom>
          <a:ln>
            <a:solidFill>
              <a:srgbClr val="FF0000"/>
            </a:solidFill>
          </a:ln>
        </p:spPr>
      </p:pic>
    </p:spTree>
    <p:extLst>
      <p:ext uri="{BB962C8B-B14F-4D97-AF65-F5344CB8AC3E}">
        <p14:creationId xmlns:p14="http://schemas.microsoft.com/office/powerpoint/2010/main" val="10852870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B9358-97F6-AC7A-2743-AAD8A62AA29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61D2FEF-95AC-F7C8-7707-0B960551667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2EBF878D-69CA-C0E3-03A2-502332481B0D}"/>
              </a:ext>
            </a:extLst>
          </p:cNvPr>
          <p:cNvSpPr txBox="1"/>
          <p:nvPr/>
        </p:nvSpPr>
        <p:spPr>
          <a:xfrm>
            <a:off x="0" y="513257"/>
            <a:ext cx="8982074" cy="3359061"/>
          </a:xfrm>
          <a:prstGeom prst="rect">
            <a:avLst/>
          </a:prstGeom>
          <a:noFill/>
        </p:spPr>
        <p:txBody>
          <a:bodyPr wrap="square">
            <a:spAutoFit/>
          </a:bodyPr>
          <a:lstStyle/>
          <a:p>
            <a:pPr rtl="0">
              <a:lnSpc>
                <a:spcPct val="150000"/>
              </a:lnSpc>
              <a:buNone/>
            </a:pPr>
            <a:r>
              <a:rPr lang="en-AU" sz="2400" dirty="0">
                <a:latin typeface="+mj-lt"/>
              </a:rPr>
              <a:t>router </a:t>
            </a:r>
            <a:r>
              <a:rPr lang="en-AU" sz="2400" dirty="0" err="1">
                <a:latin typeface="+mj-lt"/>
              </a:rPr>
              <a:t>eigrp</a:t>
            </a:r>
            <a:r>
              <a:rPr lang="en-AU" sz="2400" dirty="0">
                <a:latin typeface="+mj-lt"/>
              </a:rPr>
              <a:t> 1</a:t>
            </a:r>
          </a:p>
          <a:p>
            <a:pPr rtl="0">
              <a:lnSpc>
                <a:spcPct val="150000"/>
              </a:lnSpc>
              <a:buNone/>
            </a:pPr>
            <a:r>
              <a:rPr lang="en-AU" sz="2400" dirty="0">
                <a:latin typeface="+mj-lt"/>
              </a:rPr>
              <a:t>network 10.2.2.0 0.0.0.3</a:t>
            </a:r>
          </a:p>
          <a:p>
            <a:pPr rtl="0">
              <a:lnSpc>
                <a:spcPct val="150000"/>
              </a:lnSpc>
              <a:buNone/>
            </a:pPr>
            <a:r>
              <a:rPr lang="en-AU" sz="2400" dirty="0">
                <a:latin typeface="+mj-lt"/>
              </a:rPr>
              <a:t>network 192.168.3.0 0.0.0.255</a:t>
            </a:r>
          </a:p>
          <a:p>
            <a:pPr rtl="0">
              <a:lnSpc>
                <a:spcPct val="150000"/>
              </a:lnSpc>
              <a:buNone/>
            </a:pPr>
            <a:r>
              <a:rPr lang="en-AU" sz="2400" dirty="0">
                <a:latin typeface="+mj-lt"/>
              </a:rPr>
              <a:t>no auto-summary</a:t>
            </a:r>
          </a:p>
          <a:p>
            <a:pPr rtl="0">
              <a:lnSpc>
                <a:spcPct val="150000"/>
              </a:lnSpc>
              <a:buNone/>
            </a:pPr>
            <a:r>
              <a:rPr lang="en-AU" sz="2400" dirty="0">
                <a:latin typeface="+mj-lt"/>
              </a:rPr>
              <a:t>end</a:t>
            </a:r>
          </a:p>
          <a:p>
            <a:pPr rtl="0">
              <a:lnSpc>
                <a:spcPct val="150000"/>
              </a:lnSpc>
              <a:buNone/>
            </a:pPr>
            <a:r>
              <a:rPr lang="en-AU" sz="2400" dirty="0">
                <a:latin typeface="+mj-lt"/>
              </a:rPr>
              <a:t>copy running-config startup-config</a:t>
            </a:r>
          </a:p>
        </p:txBody>
      </p:sp>
      <p:pic>
        <p:nvPicPr>
          <p:cNvPr id="5" name="Picture 4" descr="Configuration of a router for EIGRP routing protocol with specific IP addresses and network settings.&#10;&#10;AI-generated content may be incorrect.">
            <a:extLst>
              <a:ext uri="{FF2B5EF4-FFF2-40B4-BE49-F238E27FC236}">
                <a16:creationId xmlns:a16="http://schemas.microsoft.com/office/drawing/2014/main" id="{135A7500-95E4-CEA9-4836-9BBBB6D0F2DD}"/>
              </a:ext>
            </a:extLst>
          </p:cNvPr>
          <p:cNvPicPr>
            <a:picLocks noChangeAspect="1"/>
          </p:cNvPicPr>
          <p:nvPr/>
        </p:nvPicPr>
        <p:blipFill>
          <a:blip r:embed="rId2"/>
          <a:stretch>
            <a:fillRect/>
          </a:stretch>
        </p:blipFill>
        <p:spPr>
          <a:xfrm>
            <a:off x="4705740" y="1143000"/>
            <a:ext cx="4428736" cy="4114800"/>
          </a:xfrm>
          <a:prstGeom prst="rect">
            <a:avLst/>
          </a:prstGeom>
          <a:ln>
            <a:solidFill>
              <a:srgbClr val="FF0000"/>
            </a:solidFill>
          </a:ln>
        </p:spPr>
      </p:pic>
    </p:spTree>
    <p:extLst>
      <p:ext uri="{BB962C8B-B14F-4D97-AF65-F5344CB8AC3E}">
        <p14:creationId xmlns:p14="http://schemas.microsoft.com/office/powerpoint/2010/main" val="33405904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D1E71-692E-F658-6D04-DFD47CA1114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2F63539-228C-91E5-5811-9524DACA96A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F596BCEA-39A9-2140-A275-3A99CFBDFCA6}"/>
              </a:ext>
            </a:extLst>
          </p:cNvPr>
          <p:cNvSpPr txBox="1"/>
          <p:nvPr/>
        </p:nvSpPr>
        <p:spPr>
          <a:xfrm>
            <a:off x="0" y="513257"/>
            <a:ext cx="8982074" cy="5575052"/>
          </a:xfrm>
          <a:prstGeom prst="rect">
            <a:avLst/>
          </a:prstGeom>
          <a:noFill/>
        </p:spPr>
        <p:txBody>
          <a:bodyPr wrap="square">
            <a:spAutoFit/>
          </a:bodyPr>
          <a:lstStyle/>
          <a:p>
            <a:pPr>
              <a:lnSpc>
                <a:spcPct val="150000"/>
              </a:lnSpc>
            </a:pPr>
            <a:r>
              <a:rPr lang="en-AU" sz="2400" b="1" dirty="0">
                <a:latin typeface="+mj-lt"/>
              </a:rPr>
              <a:t>Explanation</a:t>
            </a:r>
          </a:p>
          <a:p>
            <a:pPr marL="342900" lvl="0" indent="-342900">
              <a:lnSpc>
                <a:spcPct val="150000"/>
              </a:lnSpc>
              <a:buFont typeface="Arial" panose="020B0604020202020204" pitchFamily="34" charset="0"/>
              <a:buChar char="•"/>
            </a:pPr>
            <a:r>
              <a:rPr lang="en-AU" sz="2400" dirty="0">
                <a:latin typeface="+mj-lt"/>
              </a:rPr>
              <a:t>Serial0/1/1 – Connects REMOTE to ISP.</a:t>
            </a:r>
          </a:p>
          <a:p>
            <a:pPr marL="342900" lvl="0" indent="-342900">
              <a:lnSpc>
                <a:spcPct val="150000"/>
              </a:lnSpc>
              <a:buFont typeface="Arial" panose="020B0604020202020204" pitchFamily="34" charset="0"/>
              <a:buChar char="•"/>
            </a:pPr>
            <a:r>
              <a:rPr lang="en-AU" sz="2400" dirty="0">
                <a:latin typeface="+mj-lt"/>
              </a:rPr>
              <a:t>10.2.2.1/30 – Assigns the REMOTE WAN address.</a:t>
            </a:r>
          </a:p>
          <a:p>
            <a:pPr marL="342900" lvl="0" indent="-342900">
              <a:lnSpc>
                <a:spcPct val="150000"/>
              </a:lnSpc>
              <a:buFont typeface="Arial" panose="020B0604020202020204" pitchFamily="34" charset="0"/>
              <a:buChar char="•"/>
            </a:pPr>
            <a:r>
              <a:rPr lang="en-AU" sz="2400" dirty="0">
                <a:latin typeface="+mj-lt"/>
              </a:rPr>
              <a:t>GigabitEthernet0/1 – Connects REMOTE to switch S3.</a:t>
            </a:r>
          </a:p>
          <a:p>
            <a:pPr marL="342900" lvl="0" indent="-342900">
              <a:lnSpc>
                <a:spcPct val="150000"/>
              </a:lnSpc>
              <a:buFont typeface="Arial" panose="020B0604020202020204" pitchFamily="34" charset="0"/>
              <a:buChar char="•"/>
            </a:pPr>
            <a:r>
              <a:rPr lang="en-AU" sz="2400" dirty="0">
                <a:latin typeface="+mj-lt"/>
              </a:rPr>
              <a:t>192.168.3.1/24 – Configures the default gateway for the REMOTE LAN.</a:t>
            </a:r>
          </a:p>
          <a:p>
            <a:pPr marL="342900" lvl="0" indent="-342900">
              <a:lnSpc>
                <a:spcPct val="150000"/>
              </a:lnSpc>
              <a:buFont typeface="Arial" panose="020B0604020202020204" pitchFamily="34" charset="0"/>
              <a:buChar char="•"/>
            </a:pPr>
            <a:r>
              <a:rPr lang="en-AU" sz="2400" dirty="0">
                <a:latin typeface="+mj-lt"/>
              </a:rPr>
              <a:t>router </a:t>
            </a:r>
            <a:r>
              <a:rPr lang="en-AU" sz="2400" dirty="0" err="1">
                <a:latin typeface="+mj-lt"/>
              </a:rPr>
              <a:t>eigrp</a:t>
            </a:r>
            <a:r>
              <a:rPr lang="en-AU" sz="2400" dirty="0">
                <a:latin typeface="+mj-lt"/>
              </a:rPr>
              <a:t> 1 – Allows REMOTE to exchange routing information with ISP.</a:t>
            </a:r>
          </a:p>
          <a:p>
            <a:pPr>
              <a:lnSpc>
                <a:spcPct val="150000"/>
              </a:lnSpc>
            </a:pPr>
            <a:r>
              <a:rPr lang="en-AU" sz="2400" dirty="0">
                <a:latin typeface="+mj-lt"/>
              </a:rPr>
              <a:t>Why? The REMOTE router connects the destination LAN to the WAN and provides a path back to the LOCAL network.</a:t>
            </a:r>
          </a:p>
        </p:txBody>
      </p:sp>
    </p:spTree>
    <p:extLst>
      <p:ext uri="{BB962C8B-B14F-4D97-AF65-F5344CB8AC3E}">
        <p14:creationId xmlns:p14="http://schemas.microsoft.com/office/powerpoint/2010/main" val="27649864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9B59-C34E-5F86-81E9-C91DA1E4EEE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896D67F-CA4F-441F-B360-C84EA893D1C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00F7377F-0447-A6CD-9BE9-9F1677FBB772}"/>
              </a:ext>
            </a:extLst>
          </p:cNvPr>
          <p:cNvSpPr txBox="1"/>
          <p:nvPr/>
        </p:nvSpPr>
        <p:spPr>
          <a:xfrm>
            <a:off x="0" y="685800"/>
            <a:ext cx="8982074" cy="5196166"/>
          </a:xfrm>
          <a:prstGeom prst="rect">
            <a:avLst/>
          </a:prstGeom>
          <a:noFill/>
        </p:spPr>
        <p:txBody>
          <a:bodyPr wrap="square">
            <a:spAutoFit/>
          </a:bodyPr>
          <a:lstStyle/>
          <a:p>
            <a:pPr>
              <a:lnSpc>
                <a:spcPct val="150000"/>
              </a:lnSpc>
              <a:buNone/>
            </a:pPr>
            <a:r>
              <a:rPr lang="en-AU" sz="2800" b="1" dirty="0">
                <a:latin typeface="+mj-lt"/>
              </a:rPr>
              <a:t>Verify Router Configuration and Connectivity</a:t>
            </a:r>
          </a:p>
          <a:p>
            <a:pPr>
              <a:lnSpc>
                <a:spcPct val="150000"/>
              </a:lnSpc>
              <a:buNone/>
            </a:pPr>
            <a:r>
              <a:rPr lang="en-AU" sz="2800" dirty="0">
                <a:latin typeface="+mj-lt"/>
              </a:rPr>
              <a:t>After configuring all three routers, verify their interfaces and routing information.</a:t>
            </a:r>
          </a:p>
          <a:p>
            <a:pPr>
              <a:lnSpc>
                <a:spcPct val="150000"/>
              </a:lnSpc>
              <a:buNone/>
            </a:pPr>
            <a:r>
              <a:rPr lang="en-AU" sz="2800" dirty="0">
                <a:latin typeface="+mj-lt"/>
              </a:rPr>
              <a:t>On each router, enter:</a:t>
            </a:r>
          </a:p>
          <a:p>
            <a:pPr rtl="0">
              <a:lnSpc>
                <a:spcPct val="150000"/>
              </a:lnSpc>
              <a:buNone/>
            </a:pPr>
            <a:r>
              <a:rPr lang="en-AU" sz="2800" dirty="0">
                <a:latin typeface="+mj-lt"/>
              </a:rPr>
              <a:t>enable</a:t>
            </a:r>
          </a:p>
          <a:p>
            <a:pPr rtl="0">
              <a:lnSpc>
                <a:spcPct val="150000"/>
              </a:lnSpc>
              <a:buNone/>
            </a:pPr>
            <a:r>
              <a:rPr lang="en-AU" sz="2800" dirty="0">
                <a:latin typeface="+mj-lt"/>
              </a:rPr>
              <a:t>show </a:t>
            </a:r>
            <a:r>
              <a:rPr lang="en-AU" sz="2800" dirty="0" err="1">
                <a:latin typeface="+mj-lt"/>
              </a:rPr>
              <a:t>ip</a:t>
            </a:r>
            <a:r>
              <a:rPr lang="en-AU" sz="2800" dirty="0">
                <a:latin typeface="+mj-lt"/>
              </a:rPr>
              <a:t> interface brief</a:t>
            </a:r>
          </a:p>
          <a:p>
            <a:pPr rtl="0">
              <a:lnSpc>
                <a:spcPct val="150000"/>
              </a:lnSpc>
              <a:buNone/>
            </a:pPr>
            <a:r>
              <a:rPr lang="en-AU" sz="2800" dirty="0">
                <a:latin typeface="+mj-lt"/>
              </a:rPr>
              <a:t>show </a:t>
            </a:r>
            <a:r>
              <a:rPr lang="en-AU" sz="2800" dirty="0" err="1">
                <a:latin typeface="+mj-lt"/>
              </a:rPr>
              <a:t>ip</a:t>
            </a:r>
            <a:r>
              <a:rPr lang="en-AU" sz="2800" dirty="0">
                <a:latin typeface="+mj-lt"/>
              </a:rPr>
              <a:t> route</a:t>
            </a:r>
          </a:p>
          <a:p>
            <a:pPr rtl="0">
              <a:lnSpc>
                <a:spcPct val="150000"/>
              </a:lnSpc>
              <a:buNone/>
            </a:pPr>
            <a:r>
              <a:rPr lang="en-AU" sz="2800" dirty="0">
                <a:latin typeface="+mj-lt"/>
              </a:rPr>
              <a:t>show </a:t>
            </a:r>
            <a:r>
              <a:rPr lang="en-AU" sz="2800" dirty="0" err="1">
                <a:latin typeface="+mj-lt"/>
              </a:rPr>
              <a:t>ip</a:t>
            </a:r>
            <a:r>
              <a:rPr lang="en-AU" sz="2800" dirty="0">
                <a:latin typeface="+mj-lt"/>
              </a:rPr>
              <a:t> </a:t>
            </a:r>
            <a:r>
              <a:rPr lang="en-AU" sz="2800" dirty="0" err="1">
                <a:latin typeface="+mj-lt"/>
              </a:rPr>
              <a:t>eigrp</a:t>
            </a:r>
            <a:r>
              <a:rPr lang="en-AU" sz="2800" dirty="0">
                <a:latin typeface="+mj-lt"/>
              </a:rPr>
              <a:t> </a:t>
            </a:r>
            <a:r>
              <a:rPr lang="en-AU" sz="2800" dirty="0" err="1">
                <a:latin typeface="+mj-lt"/>
              </a:rPr>
              <a:t>neighbors</a:t>
            </a:r>
            <a:endParaRPr lang="en-AU" sz="2800" dirty="0">
              <a:latin typeface="+mj-lt"/>
            </a:endParaRPr>
          </a:p>
        </p:txBody>
      </p:sp>
      <p:pic>
        <p:nvPicPr>
          <p:cNvPr id="7" name="Picture 6" descr="The image displays a console display of a network device's configuration, showing enabled interfaces, their status, and routing table details.&#10;&#10;AI-generated content may be incorrect.">
            <a:extLst>
              <a:ext uri="{FF2B5EF4-FFF2-40B4-BE49-F238E27FC236}">
                <a16:creationId xmlns:a16="http://schemas.microsoft.com/office/drawing/2014/main" id="{4D7A8C69-2573-B5CB-046C-DDC7C2BFD710}"/>
              </a:ext>
            </a:extLst>
          </p:cNvPr>
          <p:cNvPicPr>
            <a:picLocks noChangeAspect="1"/>
          </p:cNvPicPr>
          <p:nvPr/>
        </p:nvPicPr>
        <p:blipFill>
          <a:blip r:embed="rId2"/>
          <a:stretch>
            <a:fillRect/>
          </a:stretch>
        </p:blipFill>
        <p:spPr>
          <a:xfrm>
            <a:off x="4800601" y="2133599"/>
            <a:ext cx="4343400" cy="4773707"/>
          </a:xfrm>
          <a:prstGeom prst="rect">
            <a:avLst/>
          </a:prstGeom>
          <a:ln>
            <a:solidFill>
              <a:srgbClr val="FF0000"/>
            </a:solidFill>
          </a:ln>
        </p:spPr>
      </p:pic>
    </p:spTree>
    <p:extLst>
      <p:ext uri="{BB962C8B-B14F-4D97-AF65-F5344CB8AC3E}">
        <p14:creationId xmlns:p14="http://schemas.microsoft.com/office/powerpoint/2010/main" val="24197031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1AAA-4D76-E7F2-809F-C6B8E4EB366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2DD420E-DEBD-C158-554D-CBF0E524799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6B613E4E-E7E2-9F13-5F80-40AD36D8C83A}"/>
              </a:ext>
            </a:extLst>
          </p:cNvPr>
          <p:cNvSpPr txBox="1"/>
          <p:nvPr/>
        </p:nvSpPr>
        <p:spPr>
          <a:xfrm>
            <a:off x="0" y="685800"/>
            <a:ext cx="8982074" cy="6221383"/>
          </a:xfrm>
          <a:prstGeom prst="rect">
            <a:avLst/>
          </a:prstGeom>
          <a:noFill/>
        </p:spPr>
        <p:txBody>
          <a:bodyPr wrap="square">
            <a:spAutoFit/>
          </a:bodyPr>
          <a:lstStyle/>
          <a:p>
            <a:pPr>
              <a:lnSpc>
                <a:spcPct val="150000"/>
              </a:lnSpc>
              <a:buNone/>
            </a:pPr>
            <a:r>
              <a:rPr lang="en-AU" sz="2800" b="1" dirty="0">
                <a:latin typeface="+mj-lt"/>
              </a:rPr>
              <a:t>Connectivity testing</a:t>
            </a:r>
          </a:p>
          <a:p>
            <a:pPr>
              <a:lnSpc>
                <a:spcPct val="150000"/>
              </a:lnSpc>
              <a:buNone/>
            </a:pPr>
            <a:r>
              <a:rPr lang="en-AU" sz="2400" dirty="0">
                <a:latin typeface="+mj-lt"/>
              </a:rPr>
              <a:t>On LOCAL:</a:t>
            </a:r>
          </a:p>
          <a:p>
            <a:pPr rtl="0">
              <a:lnSpc>
                <a:spcPct val="150000"/>
              </a:lnSpc>
              <a:buNone/>
            </a:pPr>
            <a:r>
              <a:rPr lang="en-AU" sz="2400" dirty="0">
                <a:latin typeface="+mj-lt"/>
              </a:rPr>
              <a:t>ping 10.1.1.2</a:t>
            </a:r>
          </a:p>
          <a:p>
            <a:pPr rtl="0">
              <a:lnSpc>
                <a:spcPct val="150000"/>
              </a:lnSpc>
              <a:buNone/>
            </a:pPr>
            <a:r>
              <a:rPr lang="en-AU" sz="2400" dirty="0">
                <a:latin typeface="+mj-lt"/>
              </a:rPr>
              <a:t>ping 10.2.2.1</a:t>
            </a:r>
          </a:p>
          <a:p>
            <a:pPr rtl="0">
              <a:lnSpc>
                <a:spcPct val="150000"/>
              </a:lnSpc>
              <a:buNone/>
            </a:pPr>
            <a:r>
              <a:rPr lang="en-AU" sz="2400" dirty="0">
                <a:latin typeface="+mj-lt"/>
              </a:rPr>
              <a:t>ping 192.168.3.1</a:t>
            </a:r>
          </a:p>
          <a:p>
            <a:pPr>
              <a:lnSpc>
                <a:spcPct val="150000"/>
              </a:lnSpc>
              <a:buNone/>
            </a:pPr>
            <a:r>
              <a:rPr lang="en-AU" sz="2400" dirty="0">
                <a:latin typeface="+mj-lt"/>
              </a:rPr>
              <a:t>On REMOTE:</a:t>
            </a:r>
          </a:p>
          <a:p>
            <a:pPr rtl="0">
              <a:lnSpc>
                <a:spcPct val="150000"/>
              </a:lnSpc>
              <a:buNone/>
            </a:pPr>
            <a:r>
              <a:rPr lang="en-AU" sz="2400" dirty="0">
                <a:latin typeface="+mj-lt"/>
              </a:rPr>
              <a:t>ping 10.2.2.2</a:t>
            </a:r>
          </a:p>
          <a:p>
            <a:pPr rtl="0">
              <a:lnSpc>
                <a:spcPct val="150000"/>
              </a:lnSpc>
              <a:buNone/>
            </a:pPr>
            <a:r>
              <a:rPr lang="en-AU" sz="2400" dirty="0">
                <a:latin typeface="+mj-lt"/>
              </a:rPr>
              <a:t>ping 10.1.1.1</a:t>
            </a:r>
          </a:p>
          <a:p>
            <a:pPr rtl="0">
              <a:lnSpc>
                <a:spcPct val="150000"/>
              </a:lnSpc>
              <a:buNone/>
            </a:pPr>
            <a:r>
              <a:rPr lang="en-AU" sz="2400" dirty="0">
                <a:latin typeface="+mj-lt"/>
              </a:rPr>
              <a:t>ping 192.168.1.1</a:t>
            </a:r>
          </a:p>
          <a:p>
            <a:pPr>
              <a:lnSpc>
                <a:spcPct val="150000"/>
              </a:lnSpc>
              <a:buNone/>
            </a:pPr>
            <a:r>
              <a:rPr lang="en-AU" sz="2400" dirty="0">
                <a:latin typeface="+mj-lt"/>
              </a:rPr>
              <a:t>Successful responses indicate that the routers can communicate across the configured network paths.</a:t>
            </a:r>
          </a:p>
        </p:txBody>
      </p:sp>
      <p:pic>
        <p:nvPicPr>
          <p:cNvPr id="8" name="Picture 7" descr="The image displays a network configuration for a router, showing various routing protocols (IS-IS, L1, L2, IA), static routes, and neighbor statuses, along with ping test results for different IP addresses.&#10;&#10;AI-generated content may be incorrect.">
            <a:extLst>
              <a:ext uri="{FF2B5EF4-FFF2-40B4-BE49-F238E27FC236}">
                <a16:creationId xmlns:a16="http://schemas.microsoft.com/office/drawing/2014/main" id="{D2F80F45-969C-3150-E357-22A974AFF912}"/>
              </a:ext>
            </a:extLst>
          </p:cNvPr>
          <p:cNvPicPr>
            <a:picLocks noChangeAspect="1"/>
          </p:cNvPicPr>
          <p:nvPr/>
        </p:nvPicPr>
        <p:blipFill>
          <a:blip r:embed="rId2"/>
          <a:stretch>
            <a:fillRect/>
          </a:stretch>
        </p:blipFill>
        <p:spPr>
          <a:xfrm>
            <a:off x="5181601" y="1066800"/>
            <a:ext cx="3962400" cy="4770418"/>
          </a:xfrm>
          <a:prstGeom prst="rect">
            <a:avLst/>
          </a:prstGeom>
          <a:ln>
            <a:solidFill>
              <a:srgbClr val="FF0000"/>
            </a:solidFill>
          </a:ln>
        </p:spPr>
      </p:pic>
    </p:spTree>
    <p:extLst>
      <p:ext uri="{BB962C8B-B14F-4D97-AF65-F5344CB8AC3E}">
        <p14:creationId xmlns:p14="http://schemas.microsoft.com/office/powerpoint/2010/main" val="37436817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ED5D6-46C5-2850-DCE6-430364BB3F6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62517AB-6BE0-1C11-EDA7-3602730963F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94E9C87F-9298-4394-703C-5D8EF659BD3F}"/>
              </a:ext>
            </a:extLst>
          </p:cNvPr>
          <p:cNvSpPr txBox="1"/>
          <p:nvPr/>
        </p:nvSpPr>
        <p:spPr>
          <a:xfrm>
            <a:off x="0" y="685800"/>
            <a:ext cx="4648200" cy="5196166"/>
          </a:xfrm>
          <a:prstGeom prst="rect">
            <a:avLst/>
          </a:prstGeom>
          <a:noFill/>
        </p:spPr>
        <p:txBody>
          <a:bodyPr wrap="square">
            <a:spAutoFit/>
          </a:bodyPr>
          <a:lstStyle/>
          <a:p>
            <a:pPr>
              <a:lnSpc>
                <a:spcPct val="150000"/>
              </a:lnSpc>
            </a:pPr>
            <a:r>
              <a:rPr lang="en-AU" sz="2800" dirty="0">
                <a:latin typeface="+mj-lt"/>
              </a:rPr>
              <a:t>On REMOTE:</a:t>
            </a:r>
          </a:p>
          <a:p>
            <a:pPr rtl="0">
              <a:lnSpc>
                <a:spcPct val="150000"/>
              </a:lnSpc>
            </a:pPr>
            <a:r>
              <a:rPr lang="en-AU" sz="2800" dirty="0">
                <a:latin typeface="+mj-lt"/>
              </a:rPr>
              <a:t>ping 10.2.2.2</a:t>
            </a:r>
          </a:p>
          <a:p>
            <a:pPr rtl="0">
              <a:lnSpc>
                <a:spcPct val="150000"/>
              </a:lnSpc>
            </a:pPr>
            <a:r>
              <a:rPr lang="en-AU" sz="2800" dirty="0">
                <a:latin typeface="+mj-lt"/>
              </a:rPr>
              <a:t>ping 10.1.1.1</a:t>
            </a:r>
          </a:p>
          <a:p>
            <a:pPr rtl="0">
              <a:lnSpc>
                <a:spcPct val="150000"/>
              </a:lnSpc>
            </a:pPr>
            <a:r>
              <a:rPr lang="en-AU" sz="2800" dirty="0">
                <a:latin typeface="+mj-lt"/>
              </a:rPr>
              <a:t>ping 192.168.1.1</a:t>
            </a:r>
          </a:p>
          <a:p>
            <a:pPr>
              <a:lnSpc>
                <a:spcPct val="150000"/>
              </a:lnSpc>
            </a:pPr>
            <a:r>
              <a:rPr lang="en-AU" sz="2800" dirty="0">
                <a:latin typeface="+mj-lt"/>
              </a:rPr>
              <a:t>Successful responses indicate that the routers can communicate across the configured network paths.</a:t>
            </a:r>
          </a:p>
        </p:txBody>
      </p:sp>
      <p:pic>
        <p:nvPicPr>
          <p:cNvPr id="5" name="Picture 4" descr="This image displays a terminal interface displaying various commands and configurations for a network router.&#10;&#10;AI-generated content may be incorrect.">
            <a:extLst>
              <a:ext uri="{FF2B5EF4-FFF2-40B4-BE49-F238E27FC236}">
                <a16:creationId xmlns:a16="http://schemas.microsoft.com/office/drawing/2014/main" id="{CA6AC5C6-5C99-B1A9-4CA2-DE6EFA68E977}"/>
              </a:ext>
            </a:extLst>
          </p:cNvPr>
          <p:cNvPicPr>
            <a:picLocks noChangeAspect="1"/>
          </p:cNvPicPr>
          <p:nvPr/>
        </p:nvPicPr>
        <p:blipFill>
          <a:blip r:embed="rId2"/>
          <a:stretch>
            <a:fillRect/>
          </a:stretch>
        </p:blipFill>
        <p:spPr>
          <a:xfrm>
            <a:off x="4800600" y="1066800"/>
            <a:ext cx="4314825" cy="5764890"/>
          </a:xfrm>
          <a:prstGeom prst="rect">
            <a:avLst/>
          </a:prstGeom>
          <a:ln>
            <a:solidFill>
              <a:srgbClr val="FF0000"/>
            </a:solidFill>
          </a:ln>
        </p:spPr>
      </p:pic>
    </p:spTree>
    <p:extLst>
      <p:ext uri="{BB962C8B-B14F-4D97-AF65-F5344CB8AC3E}">
        <p14:creationId xmlns:p14="http://schemas.microsoft.com/office/powerpoint/2010/main" val="37510077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42BB0-1211-0C33-FFC0-E86706A9381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8EBC476-ACA0-387C-303A-84502284330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F3B7E5A1-C9CB-03D6-0654-9380F913731F}"/>
              </a:ext>
            </a:extLst>
          </p:cNvPr>
          <p:cNvSpPr txBox="1"/>
          <p:nvPr/>
        </p:nvSpPr>
        <p:spPr>
          <a:xfrm>
            <a:off x="0" y="533400"/>
            <a:ext cx="8982074" cy="5842497"/>
          </a:xfrm>
          <a:prstGeom prst="rect">
            <a:avLst/>
          </a:prstGeom>
          <a:noFill/>
        </p:spPr>
        <p:txBody>
          <a:bodyPr wrap="square">
            <a:spAutoFit/>
          </a:bodyPr>
          <a:lstStyle/>
          <a:p>
            <a:pPr>
              <a:lnSpc>
                <a:spcPct val="150000"/>
              </a:lnSpc>
              <a:buNone/>
            </a:pPr>
            <a:r>
              <a:rPr lang="en-AU" sz="2800" dirty="0">
                <a:latin typeface="+mj-lt"/>
              </a:rPr>
              <a:t>Why: The ISP forwards packets between the two serial networks. The REMOTE router connects the WAN to the destination LAN.</a:t>
            </a:r>
          </a:p>
          <a:p>
            <a:pPr>
              <a:lnSpc>
                <a:spcPct val="150000"/>
              </a:lnSpc>
              <a:buNone/>
            </a:pPr>
            <a:r>
              <a:rPr lang="en-AU" sz="2800" dirty="0">
                <a:latin typeface="+mj-lt"/>
              </a:rPr>
              <a:t>Verification: On each router, run:</a:t>
            </a:r>
          </a:p>
          <a:p>
            <a:pPr rtl="0">
              <a:lnSpc>
                <a:spcPct val="150000"/>
              </a:lnSpc>
              <a:buNone/>
            </a:pPr>
            <a:r>
              <a:rPr lang="en-AU" sz="2800" dirty="0">
                <a:latin typeface="+mj-lt"/>
              </a:rPr>
              <a:t>show </a:t>
            </a:r>
            <a:r>
              <a:rPr lang="en-AU" sz="2800" dirty="0" err="1">
                <a:latin typeface="+mj-lt"/>
              </a:rPr>
              <a:t>ip</a:t>
            </a:r>
            <a:r>
              <a:rPr lang="en-AU" sz="2800" dirty="0">
                <a:latin typeface="+mj-lt"/>
              </a:rPr>
              <a:t> interface brief</a:t>
            </a:r>
          </a:p>
          <a:p>
            <a:pPr rtl="0">
              <a:lnSpc>
                <a:spcPct val="150000"/>
              </a:lnSpc>
              <a:buNone/>
            </a:pPr>
            <a:r>
              <a:rPr lang="en-AU" sz="2800" dirty="0">
                <a:latin typeface="+mj-lt"/>
              </a:rPr>
              <a:t>show </a:t>
            </a:r>
            <a:r>
              <a:rPr lang="en-AU" sz="2800" dirty="0" err="1">
                <a:latin typeface="+mj-lt"/>
              </a:rPr>
              <a:t>ip</a:t>
            </a:r>
            <a:r>
              <a:rPr lang="en-AU" sz="2800" dirty="0">
                <a:latin typeface="+mj-lt"/>
              </a:rPr>
              <a:t> route</a:t>
            </a:r>
          </a:p>
          <a:p>
            <a:pPr rtl="0">
              <a:lnSpc>
                <a:spcPct val="150000"/>
              </a:lnSpc>
              <a:buNone/>
            </a:pPr>
            <a:r>
              <a:rPr lang="en-AU" sz="2800" dirty="0">
                <a:latin typeface="+mj-lt"/>
              </a:rPr>
              <a:t>show </a:t>
            </a:r>
            <a:r>
              <a:rPr lang="en-AU" sz="2800" dirty="0" err="1">
                <a:latin typeface="+mj-lt"/>
              </a:rPr>
              <a:t>ip</a:t>
            </a:r>
            <a:r>
              <a:rPr lang="en-AU" sz="2800" dirty="0">
                <a:latin typeface="+mj-lt"/>
              </a:rPr>
              <a:t> </a:t>
            </a:r>
            <a:r>
              <a:rPr lang="en-AU" sz="2800" dirty="0" err="1">
                <a:latin typeface="+mj-lt"/>
              </a:rPr>
              <a:t>eigrp</a:t>
            </a:r>
            <a:r>
              <a:rPr lang="en-AU" sz="2800" dirty="0">
                <a:latin typeface="+mj-lt"/>
              </a:rPr>
              <a:t> </a:t>
            </a:r>
            <a:r>
              <a:rPr lang="en-AU" sz="2800" dirty="0" err="1">
                <a:latin typeface="+mj-lt"/>
              </a:rPr>
              <a:t>neighbors</a:t>
            </a:r>
            <a:endParaRPr lang="en-AU" sz="2800" dirty="0">
              <a:latin typeface="+mj-lt"/>
            </a:endParaRPr>
          </a:p>
          <a:p>
            <a:pPr>
              <a:lnSpc>
                <a:spcPct val="150000"/>
              </a:lnSpc>
              <a:buNone/>
            </a:pPr>
            <a:r>
              <a:rPr lang="en-AU" sz="2800" dirty="0">
                <a:latin typeface="+mj-lt"/>
              </a:rPr>
              <a:t>Look for up/up interfaces, learned routes marked D, and established EIGRP neighbours.</a:t>
            </a:r>
          </a:p>
        </p:txBody>
      </p:sp>
    </p:spTree>
    <p:extLst>
      <p:ext uri="{BB962C8B-B14F-4D97-AF65-F5344CB8AC3E}">
        <p14:creationId xmlns:p14="http://schemas.microsoft.com/office/powerpoint/2010/main" val="391800473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20286-ACDB-6259-F5F8-6E885ABFD7F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8F9AB03-B405-4C99-D9CD-F4FD615D7DA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4" name="Picture 3" descr="The diagram illustrates a network topology with IP addresses assigned to various subnets, including local and remote networks, with interfaces for an ISP, and logical connections between multiple PCs.&#10;&#10;AI-generated content may be incorrect.">
            <a:extLst>
              <a:ext uri="{FF2B5EF4-FFF2-40B4-BE49-F238E27FC236}">
                <a16:creationId xmlns:a16="http://schemas.microsoft.com/office/drawing/2014/main" id="{A37481A6-196B-D5D8-17F3-8169B44F291C}"/>
              </a:ext>
            </a:extLst>
          </p:cNvPr>
          <p:cNvPicPr>
            <a:picLocks noChangeAspect="1"/>
          </p:cNvPicPr>
          <p:nvPr/>
        </p:nvPicPr>
        <p:blipFill>
          <a:blip r:embed="rId2"/>
          <a:stretch>
            <a:fillRect/>
          </a:stretch>
        </p:blipFill>
        <p:spPr>
          <a:xfrm>
            <a:off x="4710284" y="1295400"/>
            <a:ext cx="4395616" cy="2680254"/>
          </a:xfrm>
          <a:prstGeom prst="rect">
            <a:avLst/>
          </a:prstGeom>
        </p:spPr>
      </p:pic>
      <p:pic>
        <p:nvPicPr>
          <p:cNvPr id="7" name="Picture 6" descr="The image depicts a network topology with various devices including routers, switches, and PCs, connected through various interfaces and ports.&#10;&#10;AI-generated content may be incorrect.">
            <a:extLst>
              <a:ext uri="{FF2B5EF4-FFF2-40B4-BE49-F238E27FC236}">
                <a16:creationId xmlns:a16="http://schemas.microsoft.com/office/drawing/2014/main" id="{5ACA9101-62EF-86C4-E940-EA3EFAEAD3EB}"/>
              </a:ext>
            </a:extLst>
          </p:cNvPr>
          <p:cNvPicPr>
            <a:picLocks noChangeAspect="1"/>
          </p:cNvPicPr>
          <p:nvPr/>
        </p:nvPicPr>
        <p:blipFill>
          <a:blip r:embed="rId3"/>
          <a:stretch>
            <a:fillRect/>
          </a:stretch>
        </p:blipFill>
        <p:spPr>
          <a:xfrm>
            <a:off x="152401" y="1143000"/>
            <a:ext cx="4191000" cy="3056738"/>
          </a:xfrm>
          <a:prstGeom prst="rect">
            <a:avLst/>
          </a:prstGeom>
        </p:spPr>
      </p:pic>
      <p:sp>
        <p:nvSpPr>
          <p:cNvPr id="9" name="TextBox 8">
            <a:extLst>
              <a:ext uri="{FF2B5EF4-FFF2-40B4-BE49-F238E27FC236}">
                <a16:creationId xmlns:a16="http://schemas.microsoft.com/office/drawing/2014/main" id="{2C259087-8E99-65AC-7C97-991AACE0EDBB}"/>
              </a:ext>
            </a:extLst>
          </p:cNvPr>
          <p:cNvSpPr txBox="1"/>
          <p:nvPr/>
        </p:nvSpPr>
        <p:spPr>
          <a:xfrm>
            <a:off x="-9525" y="4199738"/>
            <a:ext cx="8982074" cy="2579039"/>
          </a:xfrm>
          <a:prstGeom prst="rect">
            <a:avLst/>
          </a:prstGeom>
          <a:noFill/>
        </p:spPr>
        <p:txBody>
          <a:bodyPr wrap="square">
            <a:spAutoFit/>
          </a:bodyPr>
          <a:lstStyle/>
          <a:p>
            <a:pPr>
              <a:lnSpc>
                <a:spcPct val="150000"/>
              </a:lnSpc>
              <a:buNone/>
            </a:pPr>
            <a:r>
              <a:rPr lang="en-AU" sz="2200" dirty="0">
                <a:latin typeface="+mj-lt"/>
              </a:rPr>
              <a:t>There are two important distinctions:</a:t>
            </a:r>
          </a:p>
          <a:p>
            <a:pPr marL="342900" lvl="0" indent="-342900">
              <a:lnSpc>
                <a:spcPct val="150000"/>
              </a:lnSpc>
              <a:buFont typeface="+mj-lt"/>
              <a:buAutoNum type="arabicPeriod"/>
            </a:pPr>
            <a:r>
              <a:rPr lang="en-AU" sz="2200" dirty="0">
                <a:latin typeface="+mj-lt"/>
              </a:rPr>
              <a:t>Red serial cables do not necessarily indicate a failed connection. In Packet Tracer, the cable itself is displayed red for a serial connection. Check the link-status triangles or show </a:t>
            </a:r>
            <a:r>
              <a:rPr lang="en-AU" sz="2200" dirty="0" err="1">
                <a:latin typeface="+mj-lt"/>
              </a:rPr>
              <a:t>ip</a:t>
            </a:r>
            <a:r>
              <a:rPr lang="en-AU" sz="2200" dirty="0">
                <a:latin typeface="+mj-lt"/>
              </a:rPr>
              <a:t> interface brief to determine whether the interface is operational.</a:t>
            </a:r>
          </a:p>
        </p:txBody>
      </p:sp>
    </p:spTree>
    <p:extLst>
      <p:ext uri="{BB962C8B-B14F-4D97-AF65-F5344CB8AC3E}">
        <p14:creationId xmlns:p14="http://schemas.microsoft.com/office/powerpoint/2010/main" val="116255141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0CB5A-21A7-AD92-0544-D21574C952D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687FB93-537D-0BEF-E767-99FA210252B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pic>
        <p:nvPicPr>
          <p:cNvPr id="4" name="Picture 3" descr="The diagram illustrates a network topology with IP addresses assigned to various subnets, including local and remote networks, with interfaces for an ISP, and logical connections between multiple PCs.&#10;&#10;AI-generated content may be incorrect.">
            <a:extLst>
              <a:ext uri="{FF2B5EF4-FFF2-40B4-BE49-F238E27FC236}">
                <a16:creationId xmlns:a16="http://schemas.microsoft.com/office/drawing/2014/main" id="{5C03A2A8-0B73-0258-580C-DC085C97437C}"/>
              </a:ext>
            </a:extLst>
          </p:cNvPr>
          <p:cNvPicPr>
            <a:picLocks noChangeAspect="1"/>
          </p:cNvPicPr>
          <p:nvPr/>
        </p:nvPicPr>
        <p:blipFill>
          <a:blip r:embed="rId2"/>
          <a:stretch>
            <a:fillRect/>
          </a:stretch>
        </p:blipFill>
        <p:spPr>
          <a:xfrm>
            <a:off x="4710284" y="1295400"/>
            <a:ext cx="4395616" cy="2680254"/>
          </a:xfrm>
          <a:prstGeom prst="rect">
            <a:avLst/>
          </a:prstGeom>
        </p:spPr>
      </p:pic>
      <p:pic>
        <p:nvPicPr>
          <p:cNvPr id="7" name="Picture 6" descr="The image depicts a network topology with various devices including routers, switches, and PCs, connected through various interfaces and ports.&#10;&#10;AI-generated content may be incorrect.">
            <a:extLst>
              <a:ext uri="{FF2B5EF4-FFF2-40B4-BE49-F238E27FC236}">
                <a16:creationId xmlns:a16="http://schemas.microsoft.com/office/drawing/2014/main" id="{702AF9EA-2428-8538-DCC0-A04D2B59BDCB}"/>
              </a:ext>
            </a:extLst>
          </p:cNvPr>
          <p:cNvPicPr>
            <a:picLocks noChangeAspect="1"/>
          </p:cNvPicPr>
          <p:nvPr/>
        </p:nvPicPr>
        <p:blipFill>
          <a:blip r:embed="rId3"/>
          <a:stretch>
            <a:fillRect/>
          </a:stretch>
        </p:blipFill>
        <p:spPr>
          <a:xfrm>
            <a:off x="152401" y="1143000"/>
            <a:ext cx="4191000" cy="3056738"/>
          </a:xfrm>
          <a:prstGeom prst="rect">
            <a:avLst/>
          </a:prstGeom>
        </p:spPr>
      </p:pic>
      <p:sp>
        <p:nvSpPr>
          <p:cNvPr id="9" name="TextBox 8">
            <a:extLst>
              <a:ext uri="{FF2B5EF4-FFF2-40B4-BE49-F238E27FC236}">
                <a16:creationId xmlns:a16="http://schemas.microsoft.com/office/drawing/2014/main" id="{AD8693B3-D226-FA27-DF38-408A0604414D}"/>
              </a:ext>
            </a:extLst>
          </p:cNvPr>
          <p:cNvSpPr txBox="1"/>
          <p:nvPr/>
        </p:nvSpPr>
        <p:spPr>
          <a:xfrm>
            <a:off x="-9525" y="4199738"/>
            <a:ext cx="8982074" cy="1553054"/>
          </a:xfrm>
          <a:prstGeom prst="rect">
            <a:avLst/>
          </a:prstGeom>
          <a:noFill/>
        </p:spPr>
        <p:txBody>
          <a:bodyPr wrap="square">
            <a:spAutoFit/>
          </a:bodyPr>
          <a:lstStyle/>
          <a:p>
            <a:pPr marL="457200" indent="-457200">
              <a:lnSpc>
                <a:spcPct val="150000"/>
              </a:lnSpc>
              <a:buFont typeface="+mj-lt"/>
              <a:buAutoNum type="arabicPeriod" startAt="2"/>
            </a:pPr>
            <a:r>
              <a:rPr lang="en-AU" sz="2200" dirty="0">
                <a:latin typeface="+mj-lt"/>
              </a:rPr>
              <a:t>The clock rate command must be applied only to the DCE end. Your screenshots show LOCAL Serial0/1/0 and ISP Serial0/1/1 as the DCE interfaces, consistent with the commands above.</a:t>
            </a:r>
          </a:p>
        </p:txBody>
      </p:sp>
    </p:spTree>
    <p:extLst>
      <p:ext uri="{BB962C8B-B14F-4D97-AF65-F5344CB8AC3E}">
        <p14:creationId xmlns:p14="http://schemas.microsoft.com/office/powerpoint/2010/main" val="390481251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B4DFA-08FB-7DF1-9D85-05A9A087353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B340EC2-D449-CD8C-C1A5-9E2C3FFD117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163059D8-3602-2B59-04F3-AFF27C3B6195}"/>
              </a:ext>
            </a:extLst>
          </p:cNvPr>
          <p:cNvSpPr txBox="1"/>
          <p:nvPr/>
        </p:nvSpPr>
        <p:spPr>
          <a:xfrm>
            <a:off x="0" y="457201"/>
            <a:ext cx="8981768" cy="6221383"/>
          </a:xfrm>
          <a:prstGeom prst="rect">
            <a:avLst/>
          </a:prstGeom>
          <a:noFill/>
        </p:spPr>
        <p:txBody>
          <a:bodyPr wrap="square">
            <a:spAutoFit/>
          </a:bodyPr>
          <a:lstStyle/>
          <a:p>
            <a:pPr>
              <a:lnSpc>
                <a:spcPct val="150000"/>
              </a:lnSpc>
              <a:buNone/>
            </a:pPr>
            <a:r>
              <a:rPr lang="en-US" sz="2800" b="1" dirty="0">
                <a:latin typeface="+mj-lt"/>
              </a:rPr>
              <a:t>What job-ready skills are we developing?</a:t>
            </a:r>
          </a:p>
          <a:p>
            <a:pPr marL="342900" lvl="0" indent="-342900">
              <a:lnSpc>
                <a:spcPct val="150000"/>
              </a:lnSpc>
              <a:buFont typeface="Arial" panose="020B0604020202020204" pitchFamily="34" charset="0"/>
              <a:buChar char="•"/>
            </a:pPr>
            <a:r>
              <a:rPr lang="en-US" sz="2400" dirty="0">
                <a:latin typeface="+mj-lt"/>
              </a:rPr>
              <a:t>Network Configuration: IPv4 addressing, default gateways, router and switch configuration.</a:t>
            </a:r>
          </a:p>
          <a:p>
            <a:pPr marL="342900" lvl="0" indent="-342900">
              <a:lnSpc>
                <a:spcPct val="150000"/>
              </a:lnSpc>
              <a:buFont typeface="Arial" panose="020B0604020202020204" pitchFamily="34" charset="0"/>
              <a:buChar char="•"/>
            </a:pPr>
            <a:r>
              <a:rPr lang="en-US" sz="2400" dirty="0">
                <a:latin typeface="+mj-lt"/>
              </a:rPr>
              <a:t>Routing and WAN Technologies: EIGRP, serial WAN connections and routing tables.</a:t>
            </a:r>
          </a:p>
          <a:p>
            <a:pPr marL="342900" lvl="0" indent="-342900">
              <a:lnSpc>
                <a:spcPct val="150000"/>
              </a:lnSpc>
              <a:buFont typeface="Arial" panose="020B0604020202020204" pitchFamily="34" charset="0"/>
              <a:buChar char="•"/>
            </a:pPr>
            <a:r>
              <a:rPr lang="en-US" sz="2400" dirty="0">
                <a:latin typeface="+mj-lt"/>
              </a:rPr>
              <a:t>Network Diagnostics: Ping, traceroute, packet loss, latency and TTL analysis.</a:t>
            </a:r>
          </a:p>
          <a:p>
            <a:pPr marL="342900" lvl="0" indent="-342900">
              <a:lnSpc>
                <a:spcPct val="150000"/>
              </a:lnSpc>
              <a:buFont typeface="Arial" panose="020B0604020202020204" pitchFamily="34" charset="0"/>
              <a:buChar char="•"/>
            </a:pPr>
            <a:r>
              <a:rPr lang="en-US" sz="2400" dirty="0">
                <a:latin typeface="+mj-lt"/>
              </a:rPr>
              <a:t>Troubleshooting: Fault isolation, Cisco IOS commands and connectivity restoration.</a:t>
            </a:r>
          </a:p>
          <a:p>
            <a:pPr marL="342900" lvl="0" indent="-342900">
              <a:lnSpc>
                <a:spcPct val="150000"/>
              </a:lnSpc>
              <a:buFont typeface="Arial" panose="020B0604020202020204" pitchFamily="34" charset="0"/>
              <a:buChar char="•"/>
            </a:pPr>
            <a:r>
              <a:rPr lang="en-US" sz="2400" dirty="0">
                <a:latin typeface="+mj-lt"/>
              </a:rPr>
              <a:t>Professional Skills: Analytical thinking, problem-solving, technical documentation and communication.</a:t>
            </a:r>
          </a:p>
        </p:txBody>
      </p:sp>
    </p:spTree>
    <p:extLst>
      <p:ext uri="{BB962C8B-B14F-4D97-AF65-F5344CB8AC3E}">
        <p14:creationId xmlns:p14="http://schemas.microsoft.com/office/powerpoint/2010/main" val="168703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anim calcmode="lin" valueType="num">
                                      <p:cBhvr>
                                        <p:cTn id="2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anim calcmode="lin" valueType="num">
                                      <p:cBhvr>
                                        <p:cTn id="2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95E9B-5BF4-EEA3-8F25-33F6BAF0D4E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A2C3536-B4FC-6A34-D89C-92DBB8C47DF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5" name="TextBox 4">
            <a:extLst>
              <a:ext uri="{FF2B5EF4-FFF2-40B4-BE49-F238E27FC236}">
                <a16:creationId xmlns:a16="http://schemas.microsoft.com/office/drawing/2014/main" id="{DCB15872-8F87-4922-993C-AE603D310CB0}"/>
              </a:ext>
            </a:extLst>
          </p:cNvPr>
          <p:cNvSpPr txBox="1"/>
          <p:nvPr/>
        </p:nvSpPr>
        <p:spPr>
          <a:xfrm>
            <a:off x="0" y="378261"/>
            <a:ext cx="8981768" cy="5667385"/>
          </a:xfrm>
          <a:prstGeom prst="rect">
            <a:avLst/>
          </a:prstGeom>
          <a:noFill/>
        </p:spPr>
        <p:txBody>
          <a:bodyPr wrap="square">
            <a:spAutoFit/>
          </a:bodyPr>
          <a:lstStyle/>
          <a:p>
            <a:pPr>
              <a:lnSpc>
                <a:spcPct val="150000"/>
              </a:lnSpc>
              <a:buNone/>
            </a:pPr>
            <a:r>
              <a:rPr lang="en-US" sz="2800" b="1" dirty="0">
                <a:latin typeface="+mj-lt"/>
              </a:rPr>
              <a:t>What jobs can you apply for?</a:t>
            </a:r>
          </a:p>
          <a:p>
            <a:pPr>
              <a:lnSpc>
                <a:spcPct val="150000"/>
              </a:lnSpc>
              <a:buNone/>
            </a:pPr>
            <a:r>
              <a:rPr lang="en-US" sz="2400" dirty="0">
                <a:latin typeface="+mj-lt"/>
              </a:rPr>
              <a:t>These foundational skills are relevant to entry-level positions such as:</a:t>
            </a:r>
          </a:p>
          <a:p>
            <a:pPr marL="342900" lvl="0" indent="-342900">
              <a:lnSpc>
                <a:spcPct val="150000"/>
              </a:lnSpc>
              <a:buFont typeface="Arial" panose="020B0604020202020204" pitchFamily="34" charset="0"/>
              <a:buChar char="•"/>
            </a:pPr>
            <a:r>
              <a:rPr lang="en-US" sz="2400" dirty="0">
                <a:latin typeface="+mj-lt"/>
              </a:rPr>
              <a:t>IT Support Technician / Help Desk Analyst</a:t>
            </a:r>
          </a:p>
          <a:p>
            <a:pPr marL="342900" lvl="0" indent="-342900">
              <a:lnSpc>
                <a:spcPct val="150000"/>
              </a:lnSpc>
              <a:buFont typeface="Arial" panose="020B0604020202020204" pitchFamily="34" charset="0"/>
              <a:buChar char="•"/>
            </a:pPr>
            <a:r>
              <a:rPr lang="en-US" sz="2400" dirty="0">
                <a:latin typeface="+mj-lt"/>
              </a:rPr>
              <a:t>Junior Network Engineer</a:t>
            </a:r>
          </a:p>
          <a:p>
            <a:pPr marL="342900" lvl="0" indent="-342900">
              <a:lnSpc>
                <a:spcPct val="150000"/>
              </a:lnSpc>
              <a:buFont typeface="Arial" panose="020B0604020202020204" pitchFamily="34" charset="0"/>
              <a:buChar char="•"/>
            </a:pPr>
            <a:r>
              <a:rPr lang="en-US" sz="2400" dirty="0">
                <a:latin typeface="+mj-lt"/>
              </a:rPr>
              <a:t>Network Operations Centre (NOC) Technician</a:t>
            </a:r>
          </a:p>
          <a:p>
            <a:pPr marL="342900" lvl="0" indent="-342900">
              <a:lnSpc>
                <a:spcPct val="150000"/>
              </a:lnSpc>
              <a:buFont typeface="Arial" panose="020B0604020202020204" pitchFamily="34" charset="0"/>
              <a:buChar char="•"/>
            </a:pPr>
            <a:r>
              <a:rPr lang="en-US" sz="2400" dirty="0">
                <a:latin typeface="+mj-lt"/>
              </a:rPr>
              <a:t>Network Support Technician</a:t>
            </a:r>
          </a:p>
          <a:p>
            <a:pPr marL="342900" lvl="0" indent="-342900">
              <a:lnSpc>
                <a:spcPct val="150000"/>
              </a:lnSpc>
              <a:buFont typeface="Arial" panose="020B0604020202020204" pitchFamily="34" charset="0"/>
              <a:buChar char="•"/>
            </a:pPr>
            <a:r>
              <a:rPr lang="en-US" sz="2400" dirty="0">
                <a:latin typeface="+mj-lt"/>
              </a:rPr>
              <a:t>Junior Network Administrator</a:t>
            </a:r>
          </a:p>
          <a:p>
            <a:pPr marL="342900" lvl="0" indent="-342900">
              <a:lnSpc>
                <a:spcPct val="150000"/>
              </a:lnSpc>
              <a:buFont typeface="Arial" panose="020B0604020202020204" pitchFamily="34" charset="0"/>
              <a:buChar char="•"/>
            </a:pPr>
            <a:r>
              <a:rPr lang="en-US" sz="2400" dirty="0">
                <a:latin typeface="+mj-lt"/>
              </a:rPr>
              <a:t>IT Infrastructure Support Officer</a:t>
            </a:r>
          </a:p>
          <a:p>
            <a:pPr>
              <a:lnSpc>
                <a:spcPct val="150000"/>
              </a:lnSpc>
              <a:buNone/>
            </a:pPr>
            <a:r>
              <a:rPr lang="en-US" sz="2400" dirty="0">
                <a:latin typeface="+mj-lt"/>
              </a:rPr>
              <a:t>Job search keywords: IT Support, Junior Network Engineer, NOC Technician, Network Support, Cisco, TCP/IP, Network Troubleshooting.</a:t>
            </a:r>
          </a:p>
        </p:txBody>
      </p:sp>
    </p:spTree>
    <p:extLst>
      <p:ext uri="{BB962C8B-B14F-4D97-AF65-F5344CB8AC3E}">
        <p14:creationId xmlns:p14="http://schemas.microsoft.com/office/powerpoint/2010/main" val="191244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1000"/>
                                        <p:tgtEl>
                                          <p:spTgt spid="5">
                                            <p:txEl>
                                              <p:pRg st="6" end="6"/>
                                            </p:txEl>
                                          </p:spTgt>
                                        </p:tgtEl>
                                      </p:cBhvr>
                                    </p:animEffect>
                                    <p:anim calcmode="lin" valueType="num">
                                      <p:cBhvr>
                                        <p:cTn id="3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1000"/>
                                        <p:tgtEl>
                                          <p:spTgt spid="5">
                                            <p:txEl>
                                              <p:pRg st="7" end="7"/>
                                            </p:txEl>
                                          </p:spTgt>
                                        </p:tgtEl>
                                      </p:cBhvr>
                                    </p:animEffect>
                                    <p:anim calcmode="lin" valueType="num">
                                      <p:cBhvr>
                                        <p:cTn id="3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1000"/>
                                        <p:tgtEl>
                                          <p:spTgt spid="5">
                                            <p:txEl>
                                              <p:pRg st="8" end="8"/>
                                            </p:txEl>
                                          </p:spTgt>
                                        </p:tgtEl>
                                      </p:cBhvr>
                                    </p:animEffect>
                                    <p:anim calcmode="lin" valueType="num">
                                      <p:cBhvr>
                                        <p:cTn id="4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6A52-62A6-CBB4-5FEE-B507A4FE0D4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FBAE696-A383-C5E3-2313-DE9874437D1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F558DD9C-20A6-D0A4-1003-47CA524AA1A2}"/>
              </a:ext>
            </a:extLst>
          </p:cNvPr>
          <p:cNvSpPr txBox="1"/>
          <p:nvPr/>
        </p:nvSpPr>
        <p:spPr>
          <a:xfrm>
            <a:off x="0" y="1015503"/>
            <a:ext cx="9144000" cy="4549835"/>
          </a:xfrm>
          <a:prstGeom prst="rect">
            <a:avLst/>
          </a:prstGeom>
          <a:noFill/>
        </p:spPr>
        <p:txBody>
          <a:bodyPr wrap="square">
            <a:spAutoFit/>
          </a:bodyPr>
          <a:lstStyle/>
          <a:p>
            <a:pPr>
              <a:lnSpc>
                <a:spcPct val="150000"/>
              </a:lnSpc>
            </a:pPr>
            <a:r>
              <a:rPr lang="en-US" sz="2800" dirty="0">
                <a:latin typeface="+mj-lt"/>
              </a:rPr>
              <a:t>We have completed selected tasks together. You now understand how to build a multi-router WAN topology, configure IPv4 addressing and EIGRP routing, and use Cisco Packet Tracer to verify network connectivity. You have developed the foundational knowledge required to complete the remaining extended ping, traceroute, fault diagnosis, network repair and reflection activities independently.</a:t>
            </a:r>
          </a:p>
        </p:txBody>
      </p:sp>
    </p:spTree>
    <p:extLst>
      <p:ext uri="{BB962C8B-B14F-4D97-AF65-F5344CB8AC3E}">
        <p14:creationId xmlns:p14="http://schemas.microsoft.com/office/powerpoint/2010/main" val="5065772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68495-8960-4C7D-61F6-AF1B7027BEE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F431064-6FC5-D7C5-1610-AC52652ABE6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5</a:t>
            </a:r>
            <a:endParaRPr sz="2175" dirty="0"/>
          </a:p>
        </p:txBody>
      </p:sp>
      <p:sp>
        <p:nvSpPr>
          <p:cNvPr id="4" name="TextBox 3">
            <a:extLst>
              <a:ext uri="{FF2B5EF4-FFF2-40B4-BE49-F238E27FC236}">
                <a16:creationId xmlns:a16="http://schemas.microsoft.com/office/drawing/2014/main" id="{78804F0A-0A99-879C-42FD-82695A21583E}"/>
              </a:ext>
            </a:extLst>
          </p:cNvPr>
          <p:cNvSpPr txBox="1"/>
          <p:nvPr/>
        </p:nvSpPr>
        <p:spPr>
          <a:xfrm>
            <a:off x="0" y="1800413"/>
            <a:ext cx="9144000" cy="3257174"/>
          </a:xfrm>
          <a:prstGeom prst="rect">
            <a:avLst/>
          </a:prstGeom>
          <a:noFill/>
        </p:spPr>
        <p:txBody>
          <a:bodyPr wrap="square">
            <a:spAutoFit/>
          </a:bodyPr>
          <a:lstStyle/>
          <a:p>
            <a:pPr>
              <a:lnSpc>
                <a:spcPct val="150000"/>
              </a:lnSpc>
            </a:pPr>
            <a:r>
              <a:rPr lang="en-US" sz="2800" dirty="0">
                <a:latin typeface="+mj-lt"/>
              </a:rPr>
              <a:t>Career support: I am happy to support your job applications, including providing guidance on your CV, cover letter, LinkedIn profile and interview preparation. These practical skills can help you demonstrate your technical capabilities when applying for entry-level IT and networking roles.</a:t>
            </a:r>
          </a:p>
        </p:txBody>
      </p:sp>
    </p:spTree>
    <p:extLst>
      <p:ext uri="{BB962C8B-B14F-4D97-AF65-F5344CB8AC3E}">
        <p14:creationId xmlns:p14="http://schemas.microsoft.com/office/powerpoint/2010/main" val="14495907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B5D31-B76C-FE12-64DA-3CF43631A0D3}"/>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463BD7DE-7686-B0D9-330F-0C1172541F6D}"/>
              </a:ext>
            </a:extLst>
          </p:cNvPr>
          <p:cNvSpPr txBox="1">
            <a:spLocks noGrp="1"/>
          </p:cNvSpPr>
          <p:nvPr>
            <p:ph type="sldNum" sz="quarter" idx="7"/>
          </p:nvPr>
        </p:nvSpPr>
        <p:spPr>
          <a:prstGeom prst="rect">
            <a:avLst/>
          </a:prstGeom>
        </p:spPr>
        <p:txBody>
          <a:bodyPr vert="horz" wrap="square" lIns="0" tIns="476" rIns="0" bIns="0" rtlCol="0">
            <a:spAutoFit/>
          </a:bodyPr>
          <a:lstStyle/>
          <a:p>
            <a:pPr marL="28575" algn="l" defTabSz="685800" rtl="0">
              <a:spcBef>
                <a:spcPts val="4"/>
              </a:spcBef>
            </a:pPr>
            <a:fld id="{81D60167-4931-47E6-BA6A-407CBD079E47}" type="slidenum">
              <a:rPr kern="1200" dirty="0">
                <a:ea typeface="+mn-ea"/>
              </a:rPr>
              <a:pPr marL="28575" algn="l" defTabSz="685800" rtl="0">
                <a:spcBef>
                  <a:spcPts val="4"/>
                </a:spcBef>
              </a:pPr>
              <a:t>111</a:t>
            </a:fld>
            <a:r>
              <a:rPr kern="1200" spc="176" dirty="0">
                <a:ea typeface="+mn-ea"/>
              </a:rPr>
              <a:t> </a:t>
            </a:r>
            <a:r>
              <a:rPr kern="1200" dirty="0">
                <a:ea typeface="+mn-ea"/>
              </a:rPr>
              <a:t>|</a:t>
            </a:r>
            <a:r>
              <a:rPr kern="1200" spc="300" dirty="0">
                <a:ea typeface="+mn-ea"/>
              </a:rPr>
              <a:t> </a:t>
            </a:r>
            <a:r>
              <a:rPr kern="1200" dirty="0">
                <a:ea typeface="+mn-ea"/>
              </a:rPr>
              <a:t>Faculty</a:t>
            </a:r>
            <a:r>
              <a:rPr kern="1200" spc="-11" dirty="0">
                <a:ea typeface="+mn-ea"/>
              </a:rPr>
              <a:t> </a:t>
            </a:r>
            <a:r>
              <a:rPr kern="1200" dirty="0">
                <a:ea typeface="+mn-ea"/>
              </a:rPr>
              <a:t>of</a:t>
            </a:r>
            <a:r>
              <a:rPr kern="1200" spc="-15" dirty="0">
                <a:ea typeface="+mn-ea"/>
              </a:rPr>
              <a:t> </a:t>
            </a:r>
            <a:r>
              <a:rPr kern="1200" dirty="0">
                <a:ea typeface="+mn-ea"/>
              </a:rPr>
              <a:t>Business</a:t>
            </a:r>
            <a:r>
              <a:rPr kern="1200" spc="-15" dirty="0">
                <a:ea typeface="+mn-ea"/>
              </a:rPr>
              <a:t> </a:t>
            </a:r>
            <a:r>
              <a:rPr kern="1200" dirty="0">
                <a:ea typeface="+mn-ea"/>
              </a:rPr>
              <a:t>and</a:t>
            </a:r>
            <a:r>
              <a:rPr kern="1200" spc="-15" dirty="0">
                <a:ea typeface="+mn-ea"/>
              </a:rPr>
              <a:t> </a:t>
            </a:r>
            <a:r>
              <a:rPr kern="1200" dirty="0">
                <a:ea typeface="+mn-ea"/>
              </a:rPr>
              <a:t>Law</a:t>
            </a:r>
            <a:r>
              <a:rPr kern="1200" spc="-11" dirty="0">
                <a:ea typeface="+mn-ea"/>
              </a:rPr>
              <a:t> </a:t>
            </a:r>
            <a:r>
              <a:rPr kern="1200" dirty="0">
                <a:ea typeface="+mn-ea"/>
              </a:rPr>
              <a:t>|</a:t>
            </a:r>
            <a:r>
              <a:rPr kern="1200" spc="-11" dirty="0">
                <a:ea typeface="+mn-ea"/>
              </a:rPr>
              <a:t> </a:t>
            </a:r>
            <a:r>
              <a:rPr kern="1200" dirty="0">
                <a:ea typeface="+mn-ea"/>
              </a:rPr>
              <a:t>Peter</a:t>
            </a:r>
            <a:r>
              <a:rPr kern="1200" spc="-8" dirty="0">
                <a:ea typeface="+mn-ea"/>
              </a:rPr>
              <a:t> </a:t>
            </a:r>
            <a:r>
              <a:rPr kern="1200" dirty="0">
                <a:ea typeface="+mn-ea"/>
              </a:rPr>
              <a:t>Faber</a:t>
            </a:r>
            <a:r>
              <a:rPr kern="1200" spc="-11" dirty="0">
                <a:ea typeface="+mn-ea"/>
              </a:rPr>
              <a:t> </a:t>
            </a:r>
            <a:r>
              <a:rPr kern="1200" dirty="0">
                <a:ea typeface="+mn-ea"/>
              </a:rPr>
              <a:t>Business</a:t>
            </a:r>
            <a:r>
              <a:rPr kern="1200" spc="-11" dirty="0">
                <a:ea typeface="+mn-ea"/>
              </a:rPr>
              <a:t> </a:t>
            </a:r>
            <a:r>
              <a:rPr kern="1200" spc="-8" dirty="0">
                <a:ea typeface="+mn-ea"/>
              </a:rPr>
              <a:t>School</a:t>
            </a:r>
          </a:p>
        </p:txBody>
      </p:sp>
      <p:sp>
        <p:nvSpPr>
          <p:cNvPr id="2" name="Rectangle 1">
            <a:extLst>
              <a:ext uri="{FF2B5EF4-FFF2-40B4-BE49-F238E27FC236}">
                <a16:creationId xmlns:a16="http://schemas.microsoft.com/office/drawing/2014/main" id="{6821BC0C-2076-08F3-DE51-682333DB3D61}"/>
              </a:ext>
            </a:extLst>
          </p:cNvPr>
          <p:cNvSpPr>
            <a:spLocks noChangeArrowheads="1"/>
          </p:cNvSpPr>
          <p:nvPr/>
        </p:nvSpPr>
        <p:spPr bwMode="auto">
          <a:xfrm>
            <a:off x="-26276" y="1811955"/>
            <a:ext cx="9144000" cy="323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marL="342900" indent="-342900" algn="l" defTabSz="685800" rtl="0" eaLnBrk="0" fontAlgn="base" hangingPunct="0">
              <a:lnSpc>
                <a:spcPct val="150000"/>
              </a:lnSpc>
              <a:spcBef>
                <a:spcPct val="0"/>
              </a:spcBef>
              <a:spcAft>
                <a:spcPct val="0"/>
              </a:spcAft>
              <a:buFont typeface="Arial" panose="020B0604020202020204" pitchFamily="34" charset="0"/>
              <a:buChar char="•"/>
            </a:pPr>
            <a:r>
              <a:rPr lang="en-US" sz="2800" kern="1200" dirty="0">
                <a:solidFill>
                  <a:prstClr val="black"/>
                </a:solidFill>
                <a:latin typeface="Calibri"/>
                <a:ea typeface="+mn-ea"/>
                <a:cs typeface="+mn-cs"/>
              </a:rPr>
              <a:t>These guidelines are designed to </a:t>
            </a:r>
            <a:r>
              <a:rPr lang="en-US" sz="2800" b="1" kern="1200" dirty="0">
                <a:solidFill>
                  <a:prstClr val="black"/>
                </a:solidFill>
                <a:latin typeface="Calibri"/>
                <a:ea typeface="+mn-ea"/>
                <a:cs typeface="+mn-cs"/>
              </a:rPr>
              <a:t>support your learning</a:t>
            </a:r>
            <a:r>
              <a:rPr lang="en-US" sz="2800" kern="1200" dirty="0">
                <a:solidFill>
                  <a:prstClr val="black"/>
                </a:solidFill>
                <a:latin typeface="Calibri"/>
                <a:ea typeface="+mn-ea"/>
                <a:cs typeface="+mn-cs"/>
              </a:rPr>
              <a:t> and help you apply necessary techniques effectively. Please do the </a:t>
            </a:r>
            <a:r>
              <a:rPr lang="en-US" sz="2800" b="1" kern="1200" dirty="0">
                <a:solidFill>
                  <a:prstClr val="black"/>
                </a:solidFill>
                <a:highlight>
                  <a:srgbClr val="FFFF00"/>
                </a:highlight>
                <a:latin typeface="Calibri"/>
                <a:ea typeface="+mn-ea"/>
                <a:cs typeface="+mn-cs"/>
              </a:rPr>
              <a:t>remaining task</a:t>
            </a:r>
            <a:r>
              <a:rPr lang="en-US" sz="2800" kern="1200" dirty="0">
                <a:solidFill>
                  <a:prstClr val="black"/>
                </a:solidFill>
                <a:latin typeface="Calibri"/>
                <a:ea typeface="+mn-ea"/>
                <a:cs typeface="+mn-cs"/>
              </a:rPr>
              <a:t> and follow the instructions based on </a:t>
            </a:r>
            <a:r>
              <a:rPr lang="en-US" sz="2800" b="1" kern="1200" dirty="0">
                <a:solidFill>
                  <a:prstClr val="black"/>
                </a:solidFill>
                <a:highlight>
                  <a:srgbClr val="FFFF00"/>
                </a:highlight>
                <a:latin typeface="Calibri"/>
                <a:ea typeface="+mn-ea"/>
                <a:cs typeface="+mn-cs"/>
              </a:rPr>
              <a:t>Canvas</a:t>
            </a:r>
            <a:r>
              <a:rPr lang="en-US" sz="2800" kern="1200" dirty="0">
                <a:solidFill>
                  <a:prstClr val="black"/>
                </a:solidFill>
                <a:latin typeface="Calibri"/>
                <a:ea typeface="+mn-ea"/>
                <a:cs typeface="+mn-cs"/>
              </a:rPr>
              <a:t>. If you have any questions, feel free to ask—I’m happy to help!</a:t>
            </a:r>
          </a:p>
        </p:txBody>
      </p:sp>
      <p:sp>
        <p:nvSpPr>
          <p:cNvPr id="4" name="object 2">
            <a:extLst>
              <a:ext uri="{FF2B5EF4-FFF2-40B4-BE49-F238E27FC236}">
                <a16:creationId xmlns:a16="http://schemas.microsoft.com/office/drawing/2014/main" id="{15D8BF61-E6FB-9A63-7350-A3B2944726E2}"/>
              </a:ext>
            </a:extLst>
          </p:cNvPr>
          <p:cNvSpPr txBox="1">
            <a:spLocks/>
          </p:cNvSpPr>
          <p:nvPr/>
        </p:nvSpPr>
        <p:spPr>
          <a:xfrm>
            <a:off x="76200" y="18393"/>
            <a:ext cx="7240979" cy="344325"/>
          </a:xfrm>
          <a:prstGeom prst="rect">
            <a:avLst/>
          </a:prstGeom>
          <a:noFill/>
        </p:spPr>
        <p:txBody>
          <a:bodyPr vert="horz" wrap="square" lIns="0" tIns="9525" rIns="0" bIns="0" rtlCol="0">
            <a:spAutoFit/>
          </a:bodyPr>
          <a:lstStyle>
            <a:lvl1pPr>
              <a:defRPr sz="2900" b="1" i="0">
                <a:solidFill>
                  <a:srgbClr val="3D3935"/>
                </a:solidFill>
                <a:latin typeface="Arial"/>
                <a:ea typeface="+mj-ea"/>
                <a:cs typeface="Arial"/>
              </a:defRPr>
            </a:lvl1pPr>
          </a:lstStyle>
          <a:p>
            <a:pPr marL="9525" algn="l" defTabSz="685800" rtl="0">
              <a:spcBef>
                <a:spcPts val="75"/>
              </a:spcBef>
            </a:pPr>
            <a:r>
              <a:rPr lang="en-US" sz="2175" spc="-8" dirty="0"/>
              <a:t>Submission of Labs &amp; Assessments</a:t>
            </a:r>
          </a:p>
        </p:txBody>
      </p:sp>
    </p:spTree>
    <p:extLst>
      <p:ext uri="{BB962C8B-B14F-4D97-AF65-F5344CB8AC3E}">
        <p14:creationId xmlns:p14="http://schemas.microsoft.com/office/powerpoint/2010/main" val="89708750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7A2A447-3671-58C5-D11B-071CC52EF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9BD91-91C0-4B99-71B4-C4344F49DCE2}"/>
              </a:ext>
            </a:extLst>
          </p:cNvPr>
          <p:cNvSpPr txBox="1">
            <a:spLocks/>
          </p:cNvSpPr>
          <p:nvPr/>
        </p:nvSpPr>
        <p:spPr>
          <a:xfrm>
            <a:off x="23648" y="10510"/>
            <a:ext cx="5915025" cy="456201"/>
          </a:xfrm>
          <a:prstGeom prst="rect">
            <a:avLst/>
          </a:prstGeom>
        </p:spPr>
        <p:txBody>
          <a:bodyPr vert="horz" lIns="68580" tIns="34290" rIns="68580" bIns="34290" rtlCol="0" anchor="ctr">
            <a:normAutofit/>
          </a:bodyPr>
          <a:lstStyle>
            <a:lvl1pPr algn="l" defTabSz="914400" rtl="0" eaLnBrk="1" latinLnBrk="0" hangingPunct="1">
              <a:lnSpc>
                <a:spcPct val="100000"/>
              </a:lnSpc>
              <a:spcBef>
                <a:spcPct val="0"/>
              </a:spcBef>
              <a:buNone/>
              <a:defRPr sz="3866" b="1" kern="1200">
                <a:solidFill>
                  <a:srgbClr val="3D3935"/>
                </a:solidFill>
                <a:latin typeface="Arial" panose="020B0604020202020204" pitchFamily="34" charset="0"/>
                <a:ea typeface="+mj-ea"/>
                <a:cs typeface="Arial" panose="020B0604020202020204" pitchFamily="34" charset="0"/>
              </a:defRPr>
            </a:lvl1pPr>
          </a:lstStyle>
          <a:p>
            <a:pPr defTabSz="685800"/>
            <a:r>
              <a:rPr lang="en-US" sz="2180" dirty="0"/>
              <a:t>Preparation and Guideline for Lab 5</a:t>
            </a:r>
          </a:p>
        </p:txBody>
      </p:sp>
      <p:sp>
        <p:nvSpPr>
          <p:cNvPr id="8" name="TextBox 7">
            <a:extLst>
              <a:ext uri="{FF2B5EF4-FFF2-40B4-BE49-F238E27FC236}">
                <a16:creationId xmlns:a16="http://schemas.microsoft.com/office/drawing/2014/main" id="{5F6B94CB-47B2-0296-87F3-3FC372E3F031}"/>
              </a:ext>
            </a:extLst>
          </p:cNvPr>
          <p:cNvSpPr txBox="1"/>
          <p:nvPr/>
        </p:nvSpPr>
        <p:spPr>
          <a:xfrm>
            <a:off x="126124" y="2123578"/>
            <a:ext cx="8891751" cy="2610843"/>
          </a:xfrm>
          <a:prstGeom prst="rect">
            <a:avLst/>
          </a:prstGeom>
          <a:noFill/>
        </p:spPr>
        <p:txBody>
          <a:bodyPr wrap="square">
            <a:spAutoFit/>
          </a:bodyPr>
          <a:lstStyle/>
          <a:p>
            <a:pPr algn="l" defTabSz="685800" rtl="0">
              <a:lnSpc>
                <a:spcPct val="150000"/>
              </a:lnSpc>
            </a:pPr>
            <a:r>
              <a:rPr lang="en-US" sz="2800" kern="1200" dirty="0">
                <a:solidFill>
                  <a:prstClr val="black"/>
                </a:solidFill>
                <a:latin typeface="Calibri" panose="020F0502020204030204" pitchFamily="34" charset="0"/>
                <a:ea typeface="+mn-ea"/>
                <a:cs typeface="Calibri" panose="020F0502020204030204" pitchFamily="34" charset="0"/>
              </a:rPr>
              <a:t>You are encouraged to discuss concepts and work alongside classmates, but your final work, screenshots, explanations, and submission must reflect your own understanding and work.</a:t>
            </a:r>
          </a:p>
        </p:txBody>
      </p:sp>
    </p:spTree>
    <p:extLst>
      <p:ext uri="{BB962C8B-B14F-4D97-AF65-F5344CB8AC3E}">
        <p14:creationId xmlns:p14="http://schemas.microsoft.com/office/powerpoint/2010/main" val="73226155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0714EB1-E678-2B4C-5763-2680E39AA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0A19C-7384-E2DE-7D72-B33B43420D16}"/>
              </a:ext>
            </a:extLst>
          </p:cNvPr>
          <p:cNvSpPr txBox="1">
            <a:spLocks/>
          </p:cNvSpPr>
          <p:nvPr/>
        </p:nvSpPr>
        <p:spPr>
          <a:xfrm>
            <a:off x="0" y="21021"/>
            <a:ext cx="5915025" cy="456201"/>
          </a:xfrm>
          <a:prstGeom prst="rect">
            <a:avLst/>
          </a:prstGeom>
        </p:spPr>
        <p:txBody>
          <a:bodyPr vert="horz" lIns="68580" tIns="34290" rIns="68580" bIns="34290" rtlCol="0" anchor="ctr">
            <a:noAutofit/>
          </a:bodyPr>
          <a:lstStyle>
            <a:lvl1pPr algn="l" defTabSz="914400" rtl="0" eaLnBrk="1" latinLnBrk="0" hangingPunct="1">
              <a:lnSpc>
                <a:spcPct val="100000"/>
              </a:lnSpc>
              <a:spcBef>
                <a:spcPct val="0"/>
              </a:spcBef>
              <a:buNone/>
              <a:defRPr sz="3866" b="1" kern="1200">
                <a:solidFill>
                  <a:srgbClr val="3D3935"/>
                </a:solidFill>
                <a:latin typeface="Arial" panose="020B0604020202020204" pitchFamily="34" charset="0"/>
                <a:ea typeface="+mj-ea"/>
                <a:cs typeface="Arial" panose="020B0604020202020204" pitchFamily="34" charset="0"/>
              </a:defRPr>
            </a:lvl1pPr>
          </a:lstStyle>
          <a:p>
            <a:pPr defTabSz="685800"/>
            <a:r>
              <a:rPr lang="en-US" sz="2180" dirty="0"/>
              <a:t>Preparation and Guideline for Lab 5</a:t>
            </a:r>
          </a:p>
        </p:txBody>
      </p:sp>
      <p:sp>
        <p:nvSpPr>
          <p:cNvPr id="8" name="TextBox 7">
            <a:extLst>
              <a:ext uri="{FF2B5EF4-FFF2-40B4-BE49-F238E27FC236}">
                <a16:creationId xmlns:a16="http://schemas.microsoft.com/office/drawing/2014/main" id="{2D22CAD8-7220-127F-575A-CFD7DE949CDC}"/>
              </a:ext>
            </a:extLst>
          </p:cNvPr>
          <p:cNvSpPr txBox="1"/>
          <p:nvPr/>
        </p:nvSpPr>
        <p:spPr>
          <a:xfrm>
            <a:off x="291662" y="1477248"/>
            <a:ext cx="8560676" cy="3903504"/>
          </a:xfrm>
          <a:prstGeom prst="rect">
            <a:avLst/>
          </a:prstGeom>
          <a:noFill/>
        </p:spPr>
        <p:txBody>
          <a:bodyPr wrap="square">
            <a:spAutoFit/>
          </a:bodyPr>
          <a:lstStyle/>
          <a:p>
            <a:pPr algn="l" defTabSz="685800" rtl="0">
              <a:lnSpc>
                <a:spcPct val="150000"/>
              </a:lnSpc>
            </a:pPr>
            <a:r>
              <a:rPr lang="en-US" sz="2800" kern="1200" dirty="0">
                <a:solidFill>
                  <a:prstClr val="black"/>
                </a:solidFill>
                <a:latin typeface="Calibri" panose="020F0502020204030204" pitchFamily="34" charset="0"/>
                <a:ea typeface="+mn-ea"/>
                <a:cs typeface="Calibri" panose="020F0502020204030204" pitchFamily="34" charset="0"/>
              </a:rPr>
              <a:t>Do not share completed submissions or copy another student’s work. Each student must submit individually through Canvas, and submissions may be reviewed using Turnitin and other academic integrity processes.</a:t>
            </a:r>
          </a:p>
          <a:p>
            <a:pPr algn="l" defTabSz="685800" rtl="0">
              <a:lnSpc>
                <a:spcPct val="150000"/>
              </a:lnSpc>
            </a:pPr>
            <a:r>
              <a:rPr lang="en-US" sz="2800" kern="1200" dirty="0">
                <a:solidFill>
                  <a:prstClr val="black"/>
                </a:solidFill>
                <a:latin typeface="Calibri" panose="020F0502020204030204" pitchFamily="34" charset="0"/>
                <a:ea typeface="+mn-ea"/>
                <a:cs typeface="Calibri" panose="020F0502020204030204" pitchFamily="34" charset="0"/>
              </a:rPr>
              <a:t>Make sure you can run your program, explain your work, and demonstrate your understanding.</a:t>
            </a:r>
          </a:p>
        </p:txBody>
      </p:sp>
    </p:spTree>
    <p:extLst>
      <p:ext uri="{BB962C8B-B14F-4D97-AF65-F5344CB8AC3E}">
        <p14:creationId xmlns:p14="http://schemas.microsoft.com/office/powerpoint/2010/main" val="136747146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12545" y="0"/>
            <a:ext cx="8001000" cy="433138"/>
          </a:xfrm>
        </p:spPr>
        <p:txBody>
          <a:bodyPr>
            <a:noAutofit/>
          </a:bodyPr>
          <a:lstStyle/>
          <a:p>
            <a:r>
              <a:rPr lang="en-US" sz="2180" dirty="0">
                <a:solidFill>
                  <a:schemeClr val="tx1"/>
                </a:solidFill>
                <a:latin typeface="Calibri" panose="020F0502020204030204" pitchFamily="34" charset="0"/>
                <a:cs typeface="Calibri" panose="020F0502020204030204" pitchFamily="34" charset="0"/>
              </a:rPr>
              <a:t>Let’s Answer Your Questions</a:t>
            </a:r>
            <a:endParaRPr lang="en-AU" sz="2180" dirty="0">
              <a:solidFill>
                <a:schemeClr val="tx1"/>
              </a:solidFill>
              <a:latin typeface="Calibri" panose="020F0502020204030204" pitchFamily="34" charset="0"/>
              <a:cs typeface="Calibri" panose="020F050202020403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03345" y="1219200"/>
            <a:ext cx="3962400" cy="24764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2545" y="3276600"/>
            <a:ext cx="9144000" cy="3257174"/>
          </a:xfrm>
          <a:prstGeom prst="rect">
            <a:avLst/>
          </a:prstGeom>
          <a:noFill/>
        </p:spPr>
        <p:txBody>
          <a:bodyPr wrap="square" rtlCol="0">
            <a:spAutoFit/>
          </a:bodyPr>
          <a:lstStyle/>
          <a:p>
            <a:pPr marL="289322" indent="-289322" algn="l" defTabSz="51435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Live during class</a:t>
            </a:r>
            <a:r>
              <a:rPr lang="en-US" altLang="en-US" sz="2800" kern="1200" dirty="0">
                <a:solidFill>
                  <a:prstClr val="black"/>
                </a:solidFill>
                <a:latin typeface="Calibri" panose="020F0502020204030204" pitchFamily="34" charset="0"/>
                <a:ea typeface="+mn-ea"/>
                <a:cs typeface="Calibri" panose="020F0502020204030204" pitchFamily="34" charset="0"/>
              </a:rPr>
              <a:t> – Ask directly during sessions.</a:t>
            </a:r>
          </a:p>
          <a:p>
            <a:pPr marL="289322" indent="-289322" algn="l" defTabSz="51435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Canvas Inbox</a:t>
            </a:r>
            <a:r>
              <a:rPr lang="en-US" altLang="en-US" sz="2800" kern="1200" dirty="0">
                <a:solidFill>
                  <a:prstClr val="black"/>
                </a:solidFill>
                <a:latin typeface="Calibri" panose="020F0502020204030204" pitchFamily="34" charset="0"/>
                <a:ea typeface="+mn-ea"/>
                <a:cs typeface="Calibri" panose="020F0502020204030204" pitchFamily="34" charset="0"/>
              </a:rPr>
              <a:t> – For structured academic queries.</a:t>
            </a:r>
          </a:p>
          <a:p>
            <a:pPr marL="289322" indent="-289322" algn="l" defTabSz="51435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Email</a:t>
            </a:r>
            <a:r>
              <a:rPr lang="en-US" altLang="en-US" sz="2800" kern="1200" dirty="0">
                <a:solidFill>
                  <a:prstClr val="black"/>
                </a:solidFill>
                <a:latin typeface="Calibri" panose="020F0502020204030204" pitchFamily="34" charset="0"/>
                <a:ea typeface="+mn-ea"/>
                <a:cs typeface="Calibri" panose="020F0502020204030204" pitchFamily="34" charset="0"/>
              </a:rPr>
              <a:t> – For formal communications or attachments.</a:t>
            </a:r>
          </a:p>
          <a:p>
            <a:pPr marL="289322" indent="-289322" algn="l" defTabSz="51435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Canvas Discussion Forum </a:t>
            </a:r>
            <a:r>
              <a:rPr lang="en-US" altLang="en-US" sz="2800" kern="1200" dirty="0">
                <a:solidFill>
                  <a:prstClr val="black"/>
                </a:solidFill>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40766161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457200" y="2017788"/>
            <a:ext cx="3229982" cy="322998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3810000" y="1219200"/>
            <a:ext cx="5334000" cy="5105400"/>
          </a:xfrm>
          <a:prstGeom prst="rect">
            <a:avLst/>
          </a:prstGeom>
        </p:spPr>
        <p:txBody>
          <a:bodyPr vert="horz" lIns="51435" tIns="25718" rIns="51435" bIns="25718" rtlCol="0" anchor="t">
            <a:noAutofit/>
          </a:bodyPr>
          <a:lstStyle/>
          <a:p>
            <a:pPr algn="l" defTabSz="514350" rtl="0">
              <a:lnSpc>
                <a:spcPct val="150000"/>
              </a:lnSpc>
              <a:spcAft>
                <a:spcPts val="338"/>
              </a:spcAft>
              <a:defRPr/>
            </a:pPr>
            <a:r>
              <a:rPr lang="en-US" sz="2800" kern="1200" spc="-15" dirty="0">
                <a:solidFill>
                  <a:prstClr val="black"/>
                </a:solidFill>
                <a:latin typeface="Calibri" panose="020F0502020204030204" pitchFamily="34" charset="0"/>
                <a:ea typeface="+mn-ea"/>
                <a:cs typeface="Calibri" panose="020F0502020204030204" pitchFamily="34" charset="0"/>
              </a:rPr>
              <a:t>Happy Learning and Bright Futures Ahead!</a:t>
            </a:r>
          </a:p>
          <a:p>
            <a:pPr algn="l" defTabSz="514350" rtl="0">
              <a:lnSpc>
                <a:spcPct val="150000"/>
              </a:lnSpc>
              <a:spcAft>
                <a:spcPts val="338"/>
              </a:spcAft>
              <a:defRPr/>
            </a:pPr>
            <a:r>
              <a:rPr lang="en-US" sz="2800" b="1" kern="1200" dirty="0">
                <a:solidFill>
                  <a:prstClr val="black">
                    <a:alpha val="80000"/>
                  </a:prstClr>
                </a:solidFill>
                <a:latin typeface="Calibri" panose="020F0502020204030204" pitchFamily="34" charset="0"/>
                <a:ea typeface="+mn-ea"/>
                <a:cs typeface="Calibri" panose="020F0502020204030204" pitchFamily="34" charset="0"/>
              </a:rPr>
              <a:t>Stay Connected:</a:t>
            </a:r>
            <a:br>
              <a:rPr lang="en-US" sz="2800" kern="1200" dirty="0">
                <a:solidFill>
                  <a:prstClr val="black">
                    <a:alpha val="80000"/>
                  </a:prstClr>
                </a:solidFill>
                <a:latin typeface="Calibri" panose="020F0502020204030204" pitchFamily="34" charset="0"/>
                <a:ea typeface="+mn-ea"/>
                <a:cs typeface="Calibri" panose="020F0502020204030204" pitchFamily="34" charset="0"/>
              </a:rPr>
            </a:br>
            <a:r>
              <a:rPr lang="en-US" sz="2800" kern="1200" dirty="0">
                <a:solidFill>
                  <a:prstClr val="black">
                    <a:alpha val="80000"/>
                  </a:prstClr>
                </a:solidFill>
                <a:latin typeface="Calibri" panose="020F0502020204030204" pitchFamily="34" charset="0"/>
                <a:ea typeface="+mn-ea"/>
                <a:cs typeface="Calibri" panose="020F0502020204030204" pitchFamily="34" charset="0"/>
                <a:hlinkClick r:id="rId3"/>
              </a:rPr>
              <a:t>linkedin.com/in/farshid-keivanian</a:t>
            </a:r>
            <a:r>
              <a:rPr lang="en-US" sz="2800" kern="1200" dirty="0">
                <a:solidFill>
                  <a:prstClr val="black">
                    <a:alpha val="80000"/>
                  </a:prstClr>
                </a:solidFill>
                <a:latin typeface="Calibri" panose="020F0502020204030204" pitchFamily="34" charset="0"/>
                <a:ea typeface="+mn-ea"/>
                <a:cs typeface="Calibri" panose="020F0502020204030204" pitchFamily="34" charset="0"/>
              </a:rPr>
              <a:t> </a:t>
            </a:r>
            <a:br>
              <a:rPr lang="en-US" sz="2800" kern="1200" dirty="0">
                <a:solidFill>
                  <a:prstClr val="black">
                    <a:alpha val="80000"/>
                  </a:prstClr>
                </a:solidFill>
                <a:latin typeface="Calibri" panose="020F0502020204030204" pitchFamily="34" charset="0"/>
                <a:ea typeface="+mn-ea"/>
                <a:cs typeface="Calibri" panose="020F0502020204030204" pitchFamily="34" charset="0"/>
              </a:rPr>
            </a:br>
            <a:r>
              <a:rPr lang="en-US" sz="2800" kern="1200" dirty="0">
                <a:solidFill>
                  <a:prstClr val="black">
                    <a:alpha val="80000"/>
                  </a:prstClr>
                </a:solidFill>
                <a:latin typeface="Calibri" panose="020F0502020204030204" pitchFamily="34" charset="0"/>
                <a:ea typeface="+mn-ea"/>
                <a:cs typeface="Calibri" panose="020F0502020204030204" pitchFamily="34" charset="0"/>
                <a:hlinkClick r:id="rId4"/>
              </a:rPr>
              <a:t>github.com/FarshidKeivanian</a:t>
            </a:r>
            <a:r>
              <a:rPr lang="en-US" sz="2800" kern="1200" dirty="0">
                <a:solidFill>
                  <a:prstClr val="black">
                    <a:alpha val="80000"/>
                  </a:prstClr>
                </a:solidFill>
                <a:latin typeface="Calibri" panose="020F0502020204030204" pitchFamily="34" charset="0"/>
                <a:ea typeface="+mn-ea"/>
                <a:cs typeface="Calibri" panose="020F0502020204030204" pitchFamily="34" charset="0"/>
              </a:rPr>
              <a:t> </a:t>
            </a:r>
          </a:p>
          <a:p>
            <a:pPr indent="-128588" algn="l" defTabSz="514350" rtl="0">
              <a:lnSpc>
                <a:spcPct val="150000"/>
              </a:lnSpc>
              <a:spcAft>
                <a:spcPts val="338"/>
              </a:spcAft>
              <a:buFont typeface="Arial" panose="020B0604020202020204" pitchFamily="34" charset="0"/>
              <a:buChar char="•"/>
              <a:defRPr/>
            </a:pPr>
            <a:r>
              <a:rPr lang="en-US" sz="2800" i="1" kern="1200" dirty="0">
                <a:solidFill>
                  <a:prstClr val="black">
                    <a:alpha val="80000"/>
                  </a:prstClr>
                </a:solidFill>
                <a:latin typeface="Calibri" panose="020F0502020204030204" pitchFamily="34" charset="0"/>
                <a:ea typeface="+mn-ea"/>
                <a:cs typeface="Calibri" panose="020F0502020204030204" pitchFamily="34" charset="0"/>
              </a:rPr>
              <a:t>Education is the most powerful weapon you can use to change the world. </a:t>
            </a:r>
            <a:r>
              <a:rPr lang="en-US" sz="2800" kern="1200" dirty="0">
                <a:solidFill>
                  <a:prstClr val="black">
                    <a:alpha val="80000"/>
                  </a:prstClr>
                </a:solidFill>
                <a:latin typeface="Calibri" panose="020F0502020204030204" pitchFamily="34" charset="0"/>
                <a:ea typeface="+mn-ea"/>
                <a:cs typeface="Calibri" panose="020F0502020204030204" pitchFamily="34" charset="0"/>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0" y="-152400"/>
            <a:ext cx="6333650" cy="532069"/>
          </a:xfrm>
          <a:prstGeom prst="rect">
            <a:avLst/>
          </a:prstGeom>
        </p:spPr>
        <p:txBody>
          <a:bodyPr vert="horz" wrap="square" lIns="0" tIns="194691" rIns="0" bIns="0" rtlCol="0">
            <a:spAutoFit/>
          </a:bodyPr>
          <a:lstStyle/>
          <a:p>
            <a:pPr marL="92869">
              <a:spcBef>
                <a:spcPts val="75"/>
              </a:spcBef>
            </a:pPr>
            <a:r>
              <a:rPr lang="en-US" sz="2180" spc="-15" dirty="0">
                <a:latin typeface="Calibri" panose="020F0502020204030204" pitchFamily="34" charset="0"/>
                <a:cs typeface="Calibri" panose="020F0502020204030204" pitchFamily="34" charset="0"/>
              </a:rPr>
              <a:t>Thank You</a:t>
            </a:r>
            <a:endParaRPr sz="2180" spc="-15"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91832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U Presentation">
  <a:themeElements>
    <a:clrScheme name="ACUColourScheme">
      <a:dk1>
        <a:srgbClr val="3C1053"/>
      </a:dk1>
      <a:lt1>
        <a:srgbClr val="FFFFFF"/>
      </a:lt1>
      <a:dk2>
        <a:srgbClr val="3C1053"/>
      </a:dk2>
      <a:lt2>
        <a:srgbClr val="E8E3DB"/>
      </a:lt2>
      <a:accent1>
        <a:srgbClr val="F2120C"/>
      </a:accent1>
      <a:accent2>
        <a:srgbClr val="3D3935"/>
      </a:accent2>
      <a:accent3>
        <a:srgbClr val="8C857B"/>
      </a:accent3>
      <a:accent4>
        <a:srgbClr val="3C1053"/>
      </a:accent4>
      <a:accent5>
        <a:srgbClr val="E8E3DB"/>
      </a:accent5>
      <a:accent6>
        <a:srgbClr val="70AD47"/>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rgbClr val="3D3935"/>
            </a:solidFill>
          </a:defRPr>
        </a:defPPr>
      </a:lstStyle>
    </a:txDef>
  </a:objectDefaults>
  <a:extraClrSchemeLst/>
  <a:extLst>
    <a:ext uri="{05A4C25C-085E-4340-85A3-A5531E510DB2}">
      <thm15:themeFamily xmlns:thm15="http://schemas.microsoft.com/office/thememl/2012/main" name="PPT_Template_4_3_V2.potx" id="{F3B38964-EE74-4E1D-A3FE-21D8EB788CBF}" vid="{2C9D612A-0DB5-43BD-9B9F-0A9FAAF24DC0}"/>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1493</TotalTime>
  <Words>5615</Words>
  <Application>Microsoft Office PowerPoint</Application>
  <PresentationFormat>On-screen Show (4:3)</PresentationFormat>
  <Paragraphs>954</Paragraphs>
  <Slides>115</Slides>
  <Notes>2</Notes>
  <HiddenSlides>0</HiddenSlides>
  <MMClips>0</MMClips>
  <ScaleCrop>false</ScaleCrop>
  <HeadingPairs>
    <vt:vector size="8" baseType="variant">
      <vt:variant>
        <vt:lpstr>Fonts Used</vt:lpstr>
      </vt:variant>
      <vt:variant>
        <vt:i4>3</vt:i4>
      </vt:variant>
      <vt:variant>
        <vt:lpstr>Theme</vt:lpstr>
      </vt:variant>
      <vt:variant>
        <vt:i4>3</vt:i4>
      </vt:variant>
      <vt:variant>
        <vt:lpstr>Embedded OLE Servers</vt:lpstr>
      </vt:variant>
      <vt:variant>
        <vt:i4>1</vt:i4>
      </vt:variant>
      <vt:variant>
        <vt:lpstr>Slide Titles</vt:lpstr>
      </vt:variant>
      <vt:variant>
        <vt:i4>115</vt:i4>
      </vt:variant>
    </vt:vector>
  </HeadingPairs>
  <TitlesOfParts>
    <vt:vector size="122" baseType="lpstr">
      <vt:lpstr>Aptos</vt:lpstr>
      <vt:lpstr>Arial</vt:lpstr>
      <vt:lpstr>Calibri</vt:lpstr>
      <vt:lpstr>ACU Presentation</vt:lpstr>
      <vt:lpstr>2_Office Theme</vt:lpstr>
      <vt:lpstr>3_Office Theme</vt:lpstr>
      <vt:lpstr>think-cell Slide</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Preparation and Guideline for Lab 5</vt:lpstr>
      <vt:lpstr>PowerPoint Presentation</vt:lpstr>
      <vt:lpstr>PowerPoint Presentation</vt:lpstr>
      <vt:lpstr>PowerPoint Presentation</vt:lpstr>
      <vt:lpstr>Let’s Answer Your 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 Presentation</dc:title>
  <dc:creator>Husnen Rupani;Simone.Byrnes@acu.edu.au</dc:creator>
  <cp:lastModifiedBy>Farshid Keivanian</cp:lastModifiedBy>
  <cp:revision>908</cp:revision>
  <dcterms:created xsi:type="dcterms:W3CDTF">2026-08-11T10:40:42Z</dcterms:created>
  <dcterms:modified xsi:type="dcterms:W3CDTF">2026-10-13T08:13:29Z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2023-08-12T00:00:00Z</vt:filetime>
  </property>
  <property fmtid="{D5CDD505-2E9C-101B-9397-08002B2CF9AE}" pid="3" name="Creator">
    <vt:lpwstr>Microsoft® PowerPoint® for Microsoft 365</vt:lpwstr>
  </property>
  <property fmtid="{D5CDD505-2E9C-101B-9397-08002B2CF9AE}" pid="4" name="LastSaved">
    <vt:filetime>2026-08-11T00:00:00Z</vt:filetime>
  </property>
  <property fmtid="{D5CDD505-2E9C-101B-9397-08002B2CF9AE}" pid="5" name="Producer">
    <vt:lpwstr>Microsoft® PowerPoint® for Microsoft 365</vt:lpwstr>
  </property>
</Properties>
</file>