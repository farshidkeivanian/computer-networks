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952" r:id="rId3"/>
    <p:sldId id="256" r:id="rId4"/>
    <p:sldId id="257" r:id="rId5"/>
    <p:sldId id="1893" r:id="rId6"/>
    <p:sldId id="1894" r:id="rId7"/>
    <p:sldId id="1895" r:id="rId8"/>
    <p:sldId id="1896" r:id="rId9"/>
    <p:sldId id="1897" r:id="rId10"/>
    <p:sldId id="1898" r:id="rId11"/>
    <p:sldId id="1899" r:id="rId12"/>
    <p:sldId id="1900" r:id="rId13"/>
    <p:sldId id="1901" r:id="rId14"/>
    <p:sldId id="1902" r:id="rId15"/>
    <p:sldId id="1903" r:id="rId16"/>
    <p:sldId id="1904" r:id="rId17"/>
    <p:sldId id="1905" r:id="rId18"/>
    <p:sldId id="1906" r:id="rId19"/>
    <p:sldId id="1907" r:id="rId20"/>
    <p:sldId id="1908" r:id="rId21"/>
    <p:sldId id="1909" r:id="rId22"/>
    <p:sldId id="1910" r:id="rId23"/>
    <p:sldId id="1911" r:id="rId24"/>
    <p:sldId id="1912" r:id="rId25"/>
    <p:sldId id="1913" r:id="rId26"/>
    <p:sldId id="1914" r:id="rId27"/>
    <p:sldId id="1915" r:id="rId28"/>
    <p:sldId id="1916" r:id="rId29"/>
    <p:sldId id="1917" r:id="rId30"/>
    <p:sldId id="1918" r:id="rId31"/>
    <p:sldId id="1919" r:id="rId32"/>
    <p:sldId id="1920" r:id="rId33"/>
    <p:sldId id="1921" r:id="rId34"/>
    <p:sldId id="1922" r:id="rId35"/>
    <p:sldId id="1923" r:id="rId36"/>
    <p:sldId id="1924" r:id="rId37"/>
    <p:sldId id="1925" r:id="rId38"/>
    <p:sldId id="1926" r:id="rId39"/>
    <p:sldId id="1927" r:id="rId40"/>
    <p:sldId id="1928" r:id="rId41"/>
    <p:sldId id="1929" r:id="rId42"/>
    <p:sldId id="1930" r:id="rId43"/>
    <p:sldId id="1931" r:id="rId44"/>
    <p:sldId id="1932" r:id="rId45"/>
    <p:sldId id="1933" r:id="rId46"/>
    <p:sldId id="1934" r:id="rId47"/>
    <p:sldId id="1935" r:id="rId48"/>
    <p:sldId id="1936" r:id="rId49"/>
    <p:sldId id="1937" r:id="rId50"/>
    <p:sldId id="1938" r:id="rId51"/>
    <p:sldId id="1939" r:id="rId52"/>
    <p:sldId id="1940" r:id="rId53"/>
    <p:sldId id="1941" r:id="rId54"/>
    <p:sldId id="1942" r:id="rId55"/>
    <p:sldId id="1943" r:id="rId56"/>
    <p:sldId id="1944" r:id="rId57"/>
    <p:sldId id="1945" r:id="rId58"/>
    <p:sldId id="1946" r:id="rId59"/>
    <p:sldId id="1947" r:id="rId60"/>
    <p:sldId id="1948" r:id="rId61"/>
    <p:sldId id="1949" r:id="rId62"/>
    <p:sldId id="1950" r:id="rId63"/>
    <p:sldId id="1951" r:id="rId64"/>
    <p:sldId id="1952" r:id="rId65"/>
    <p:sldId id="1953" r:id="rId66"/>
    <p:sldId id="1954" r:id="rId67"/>
    <p:sldId id="1955" r:id="rId68"/>
    <p:sldId id="1956" r:id="rId69"/>
    <p:sldId id="1957" r:id="rId70"/>
    <p:sldId id="1958" r:id="rId71"/>
    <p:sldId id="1959" r:id="rId72"/>
    <p:sldId id="1960" r:id="rId73"/>
    <p:sldId id="1961" r:id="rId74"/>
    <p:sldId id="1962" r:id="rId75"/>
    <p:sldId id="1963" r:id="rId76"/>
    <p:sldId id="1964" r:id="rId77"/>
    <p:sldId id="1965" r:id="rId78"/>
    <p:sldId id="1966" r:id="rId79"/>
    <p:sldId id="1968" r:id="rId80"/>
    <p:sldId id="1967" r:id="rId81"/>
    <p:sldId id="1969" r:id="rId82"/>
    <p:sldId id="1970" r:id="rId83"/>
    <p:sldId id="1971" r:id="rId84"/>
    <p:sldId id="1972" r:id="rId85"/>
    <p:sldId id="1973" r:id="rId86"/>
    <p:sldId id="1974" r:id="rId87"/>
    <p:sldId id="1975" r:id="rId88"/>
    <p:sldId id="1976" r:id="rId89"/>
    <p:sldId id="1977" r:id="rId90"/>
    <p:sldId id="1978" r:id="rId91"/>
    <p:sldId id="1979" r:id="rId92"/>
    <p:sldId id="1980" r:id="rId93"/>
    <p:sldId id="1981" r:id="rId94"/>
    <p:sldId id="1889" r:id="rId95"/>
    <p:sldId id="749" r:id="rId9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227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11350"/>
            <a:ext cx="9144000" cy="24320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3225" y="5940425"/>
            <a:ext cx="3354451" cy="47466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687" y="290575"/>
            <a:ext cx="1076325" cy="571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0796" y="2364181"/>
            <a:ext cx="3074035" cy="8362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F8B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2008</a:t>
            </a:r>
            <a:r>
              <a:rPr spc="-15" dirty="0"/>
              <a:t> </a:t>
            </a:r>
            <a:r>
              <a:rPr dirty="0"/>
              <a:t>Cisco</a:t>
            </a:r>
            <a:r>
              <a:rPr spc="-20" dirty="0"/>
              <a:t> </a:t>
            </a:r>
            <a:r>
              <a:rPr dirty="0"/>
              <a:t>Systems,</a:t>
            </a:r>
            <a:r>
              <a:rPr spc="5" dirty="0"/>
              <a:t> </a:t>
            </a:r>
            <a:r>
              <a:rPr dirty="0"/>
              <a:t>Inc. 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Cisco</a:t>
            </a:r>
            <a:r>
              <a:rPr spc="-25" dirty="0"/>
              <a:t> </a:t>
            </a:r>
            <a:r>
              <a:rPr spc="-10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8B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2008</a:t>
            </a:r>
            <a:r>
              <a:rPr spc="-15" dirty="0"/>
              <a:t> </a:t>
            </a:r>
            <a:r>
              <a:rPr dirty="0"/>
              <a:t>Cisco</a:t>
            </a:r>
            <a:r>
              <a:rPr spc="-20" dirty="0"/>
              <a:t> </a:t>
            </a:r>
            <a:r>
              <a:rPr dirty="0"/>
              <a:t>Systems,</a:t>
            </a:r>
            <a:r>
              <a:rPr spc="5" dirty="0"/>
              <a:t> </a:t>
            </a:r>
            <a:r>
              <a:rPr dirty="0"/>
              <a:t>Inc. 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Cisco</a:t>
            </a:r>
            <a:r>
              <a:rPr spc="-25" dirty="0"/>
              <a:t> </a:t>
            </a:r>
            <a:r>
              <a:rPr spc="-10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8B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2008</a:t>
            </a:r>
            <a:r>
              <a:rPr spc="-15" dirty="0"/>
              <a:t> </a:t>
            </a:r>
            <a:r>
              <a:rPr dirty="0"/>
              <a:t>Cisco</a:t>
            </a:r>
            <a:r>
              <a:rPr spc="-20" dirty="0"/>
              <a:t> </a:t>
            </a:r>
            <a:r>
              <a:rPr dirty="0"/>
              <a:t>Systems,</a:t>
            </a:r>
            <a:r>
              <a:rPr spc="5" dirty="0"/>
              <a:t> </a:t>
            </a:r>
            <a:r>
              <a:rPr dirty="0"/>
              <a:t>Inc. 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Cisco</a:t>
            </a:r>
            <a:r>
              <a:rPr spc="-25" dirty="0"/>
              <a:t> </a:t>
            </a:r>
            <a:r>
              <a:rPr spc="-10" dirty="0"/>
              <a:t>Confidential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8B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2008</a:t>
            </a:r>
            <a:r>
              <a:rPr spc="-15" dirty="0"/>
              <a:t> </a:t>
            </a:r>
            <a:r>
              <a:rPr dirty="0"/>
              <a:t>Cisco</a:t>
            </a:r>
            <a:r>
              <a:rPr spc="-20" dirty="0"/>
              <a:t> </a:t>
            </a:r>
            <a:r>
              <a:rPr dirty="0"/>
              <a:t>Systems,</a:t>
            </a:r>
            <a:r>
              <a:rPr spc="5" dirty="0"/>
              <a:t> </a:t>
            </a:r>
            <a:r>
              <a:rPr dirty="0"/>
              <a:t>Inc. 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Cisco</a:t>
            </a:r>
            <a:r>
              <a:rPr spc="-25" dirty="0"/>
              <a:t> </a:t>
            </a:r>
            <a:r>
              <a:rPr spc="-10" dirty="0"/>
              <a:t>Confidential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2008</a:t>
            </a:r>
            <a:r>
              <a:rPr spc="-15" dirty="0"/>
              <a:t> </a:t>
            </a:r>
            <a:r>
              <a:rPr dirty="0"/>
              <a:t>Cisco</a:t>
            </a:r>
            <a:r>
              <a:rPr spc="-20" dirty="0"/>
              <a:t> </a:t>
            </a:r>
            <a:r>
              <a:rPr dirty="0"/>
              <a:t>Systems,</a:t>
            </a:r>
            <a:r>
              <a:rPr spc="5" dirty="0"/>
              <a:t> </a:t>
            </a:r>
            <a:r>
              <a:rPr dirty="0"/>
              <a:t>Inc. 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Cisco</a:t>
            </a:r>
            <a:r>
              <a:rPr spc="-25" dirty="0"/>
              <a:t> </a:t>
            </a:r>
            <a:r>
              <a:rPr spc="-10" dirty="0"/>
              <a:t>Confidential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1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2895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40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397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198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2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198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5" y="2653278"/>
            <a:ext cx="1766125" cy="502731"/>
          </a:xfrm>
        </p:spPr>
        <p:txBody>
          <a:bodyPr/>
          <a:lstStyle>
            <a:lvl1pPr marL="0" indent="0">
              <a:buNone/>
              <a:defRPr sz="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9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259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3C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3C3935"/>
                </a:solidFill>
                <a:latin typeface="Arial"/>
                <a:cs typeface="Arial"/>
              </a:defRPr>
            </a:lvl1pPr>
          </a:lstStyle>
          <a:p>
            <a:pPr marL="39687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700" spc="-10" dirty="0">
                <a:solidFill>
                  <a:srgbClr val="D2D2D2"/>
                </a:solidFill>
              </a:rPr>
              <a:t>Presentation_ID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358838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3448" y="62483"/>
            <a:ext cx="282003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C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3C3935"/>
                </a:solidFill>
                <a:latin typeface="Arial"/>
                <a:cs typeface="Arial"/>
              </a:defRPr>
            </a:lvl1pPr>
          </a:lstStyle>
          <a:p>
            <a:pPr marL="39687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700" spc="-10" dirty="0">
                <a:solidFill>
                  <a:srgbClr val="D2D2D2"/>
                </a:solidFill>
              </a:rPr>
              <a:t>Presentation_ID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370157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"/>
            <a:ext cx="9144000" cy="3413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295" y="676401"/>
            <a:ext cx="8527872" cy="648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F8B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3722" y="1567941"/>
            <a:ext cx="7753984" cy="2147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69714" y="6708892"/>
            <a:ext cx="1876425" cy="124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2008</a:t>
            </a:r>
            <a:r>
              <a:rPr spc="-15" dirty="0"/>
              <a:t> </a:t>
            </a:r>
            <a:r>
              <a:rPr dirty="0"/>
              <a:t>Cisco</a:t>
            </a:r>
            <a:r>
              <a:rPr spc="-20" dirty="0"/>
              <a:t> </a:t>
            </a:r>
            <a:r>
              <a:rPr dirty="0"/>
              <a:t>Systems,</a:t>
            </a:r>
            <a:r>
              <a:rPr spc="5" dirty="0"/>
              <a:t> </a:t>
            </a:r>
            <a:r>
              <a:rPr dirty="0"/>
              <a:t>Inc. 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969632" y="6708892"/>
            <a:ext cx="735965" cy="124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Cisco</a:t>
            </a:r>
            <a:r>
              <a:rPr spc="-25" dirty="0"/>
              <a:t> </a:t>
            </a:r>
            <a:r>
              <a:rPr spc="-10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82355" y="6665258"/>
            <a:ext cx="203834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2D2D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0"/>
            <a:ext cx="5026660" cy="454659"/>
          </a:xfrm>
          <a:custGeom>
            <a:avLst/>
            <a:gdLst/>
            <a:ahLst/>
            <a:cxnLst/>
            <a:rect l="l" t="t" r="r" b="b"/>
            <a:pathLst>
              <a:path w="5026660" h="454659">
                <a:moveTo>
                  <a:pt x="5026131" y="0"/>
                </a:moveTo>
                <a:lnTo>
                  <a:pt x="0" y="0"/>
                </a:lnTo>
                <a:lnTo>
                  <a:pt x="0" y="454150"/>
                </a:lnTo>
                <a:lnTo>
                  <a:pt x="4568951" y="454150"/>
                </a:lnTo>
                <a:lnTo>
                  <a:pt x="5026131" y="0"/>
                </a:lnTo>
                <a:close/>
              </a:path>
            </a:pathLst>
          </a:custGeom>
          <a:solidFill>
            <a:srgbClr val="E8E2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0" y="6397751"/>
            <a:ext cx="4569460" cy="457200"/>
          </a:xfrm>
          <a:custGeom>
            <a:avLst/>
            <a:gdLst/>
            <a:ahLst/>
            <a:cxnLst/>
            <a:rect l="l" t="t" r="r" b="b"/>
            <a:pathLst>
              <a:path w="4569459" h="457200">
                <a:moveTo>
                  <a:pt x="4568953" y="0"/>
                </a:moveTo>
                <a:lnTo>
                  <a:pt x="460248" y="0"/>
                </a:lnTo>
                <a:lnTo>
                  <a:pt x="0" y="457198"/>
                </a:lnTo>
                <a:lnTo>
                  <a:pt x="4568953" y="457198"/>
                </a:lnTo>
                <a:lnTo>
                  <a:pt x="4568953" y="0"/>
                </a:lnTo>
                <a:close/>
              </a:path>
            </a:pathLst>
          </a:custGeom>
          <a:solidFill>
            <a:srgbClr val="E8E2D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79476" y="331684"/>
            <a:ext cx="1137925" cy="6420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68" y="981963"/>
            <a:ext cx="8449463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C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1683" y="1904998"/>
            <a:ext cx="8326755" cy="409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3142" y="6553546"/>
            <a:ext cx="645160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3C3935"/>
                </a:solidFill>
                <a:latin typeface="Arial"/>
                <a:cs typeface="Arial"/>
              </a:defRPr>
            </a:lvl1pPr>
          </a:lstStyle>
          <a:p>
            <a:pPr marL="39687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700" spc="-10" dirty="0">
                <a:solidFill>
                  <a:srgbClr val="D2D2D2"/>
                </a:solidFill>
              </a:rPr>
              <a:t>Presentation_ID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50539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46758"/>
            <a:ext cx="3280028" cy="2067842"/>
          </a:xfrm>
        </p:spPr>
        <p:txBody>
          <a:bodyPr/>
          <a:lstStyle/>
          <a:p>
            <a:r>
              <a:rPr lang="en-AU" sz="2550" dirty="0"/>
              <a:t>Build a Small Network and Preparation and Guideline for Assessment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DDFE-62E7-4B7A-B286-FF3EA6C1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4000501"/>
            <a:ext cx="2900363" cy="335756"/>
          </a:xfrm>
        </p:spPr>
        <p:txBody>
          <a:bodyPr/>
          <a:lstStyle/>
          <a:p>
            <a:r>
              <a:rPr lang="en-AU" sz="1500" b="1" dirty="0"/>
              <a:t>Week 11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E70E932-4411-F845-C640-9F68C2F38075}"/>
              </a:ext>
            </a:extLst>
          </p:cNvPr>
          <p:cNvSpPr txBox="1">
            <a:spLocks/>
          </p:cNvSpPr>
          <p:nvPr/>
        </p:nvSpPr>
        <p:spPr>
          <a:xfrm>
            <a:off x="628650" y="4686301"/>
            <a:ext cx="2900363" cy="33575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863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None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6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6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F2120C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500" b="1" i="0" u="none" strike="noStrike" kern="1200" cap="none" spc="0" normalizeH="0" baseline="0" noProof="0" dirty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203354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b="0" dirty="0">
                <a:solidFill>
                  <a:srgbClr val="FFFFFF"/>
                </a:solidFill>
                <a:latin typeface="Arial"/>
                <a:cs typeface="Arial"/>
              </a:rPr>
              <a:t>Chapter</a:t>
            </a:r>
            <a:r>
              <a:rPr sz="2800" b="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FFFFFF"/>
                </a:solidFill>
                <a:latin typeface="Arial"/>
                <a:cs typeface="Arial"/>
              </a:rPr>
              <a:t>11:</a:t>
            </a:r>
            <a:r>
              <a:rPr sz="2800" b="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FFFFFF"/>
                </a:solidFill>
                <a:latin typeface="Arial"/>
                <a:cs typeface="Arial"/>
              </a:rPr>
              <a:t>Build</a:t>
            </a:r>
            <a:r>
              <a:rPr sz="2800" b="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800" b="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800" b="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Network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63143" y="6708892"/>
            <a:ext cx="654685" cy="1244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00" spc="-10" dirty="0">
                <a:solidFill>
                  <a:srgbClr val="D2D2D2"/>
                </a:solidFill>
                <a:latin typeface="Arial"/>
                <a:cs typeface="Arial"/>
              </a:rPr>
              <a:t>Presentation_ID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2008</a:t>
            </a:r>
            <a:r>
              <a:rPr spc="-15" dirty="0"/>
              <a:t> </a:t>
            </a:r>
            <a:r>
              <a:rPr dirty="0"/>
              <a:t>Cisco</a:t>
            </a:r>
            <a:r>
              <a:rPr spc="-20" dirty="0"/>
              <a:t> </a:t>
            </a:r>
            <a:r>
              <a:rPr dirty="0"/>
              <a:t>Systems,</a:t>
            </a:r>
            <a:r>
              <a:rPr spc="5" dirty="0"/>
              <a:t> </a:t>
            </a:r>
            <a:r>
              <a:rPr dirty="0"/>
              <a:t>Inc. 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Cisco</a:t>
            </a:r>
            <a:r>
              <a:rPr spc="-25" dirty="0"/>
              <a:t> </a:t>
            </a:r>
            <a:r>
              <a:rPr spc="-10" dirty="0"/>
              <a:t>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0796" y="4657090"/>
            <a:ext cx="3918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Introduction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 </a:t>
            </a:r>
            <a:r>
              <a:rPr sz="2400" b="1" spc="-10" dirty="0">
                <a:latin typeface="Arial"/>
                <a:cs typeface="Arial"/>
              </a:rPr>
              <a:t>Networking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7743" y="676401"/>
            <a:ext cx="44265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Chapter</a:t>
            </a:r>
            <a:r>
              <a:rPr spc="-45" dirty="0"/>
              <a:t> </a:t>
            </a:r>
            <a:r>
              <a:rPr dirty="0"/>
              <a:t>11:</a:t>
            </a:r>
            <a:r>
              <a:rPr spc="-1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63143" y="6708892"/>
            <a:ext cx="654685" cy="1244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00" spc="-10" dirty="0">
                <a:solidFill>
                  <a:srgbClr val="D2D2D2"/>
                </a:solidFill>
                <a:latin typeface="Arial"/>
                <a:cs typeface="Arial"/>
              </a:rPr>
              <a:t>Presentation_ID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2008</a:t>
            </a:r>
            <a:r>
              <a:rPr spc="-15" dirty="0"/>
              <a:t> </a:t>
            </a:r>
            <a:r>
              <a:rPr dirty="0"/>
              <a:t>Cisco</a:t>
            </a:r>
            <a:r>
              <a:rPr spc="-20" dirty="0"/>
              <a:t> </a:t>
            </a:r>
            <a:r>
              <a:rPr dirty="0"/>
              <a:t>Systems,</a:t>
            </a:r>
            <a:r>
              <a:rPr spc="5" dirty="0"/>
              <a:t> </a:t>
            </a:r>
            <a:r>
              <a:rPr dirty="0"/>
              <a:t>Inc. All</a:t>
            </a:r>
            <a:r>
              <a:rPr spc="-25" dirty="0"/>
              <a:t> </a:t>
            </a:r>
            <a:r>
              <a:rPr dirty="0"/>
              <a:t>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Cisco</a:t>
            </a:r>
            <a:r>
              <a:rPr spc="-25" dirty="0"/>
              <a:t> </a:t>
            </a:r>
            <a:r>
              <a:rPr spc="-10" dirty="0"/>
              <a:t>Confidential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5220" y="1073886"/>
            <a:ext cx="7776845" cy="472059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180"/>
              </a:spcBef>
              <a:buClr>
                <a:srgbClr val="6F8BA0"/>
              </a:buClr>
              <a:buFont typeface="Wingdings"/>
              <a:buChar char=""/>
              <a:tabLst>
                <a:tab pos="248285" algn="l"/>
              </a:tabLst>
            </a:pPr>
            <a:r>
              <a:rPr sz="2000" dirty="0">
                <a:latin typeface="Arial"/>
                <a:cs typeface="Arial"/>
              </a:rPr>
              <a:t>Identify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devices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protocols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small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network</a:t>
            </a:r>
            <a:endParaRPr sz="2000">
              <a:latin typeface="Arial"/>
              <a:cs typeface="Arial"/>
            </a:endParaRPr>
          </a:p>
          <a:p>
            <a:pPr marL="248285" indent="-235585">
              <a:lnSpc>
                <a:spcPts val="2340"/>
              </a:lnSpc>
              <a:spcBef>
                <a:spcPts val="1080"/>
              </a:spcBef>
              <a:buClr>
                <a:srgbClr val="6F8BA0"/>
              </a:buClr>
              <a:buFont typeface="Wingdings"/>
              <a:buChar char=""/>
              <a:tabLst>
                <a:tab pos="248285" algn="l"/>
              </a:tabLst>
            </a:pPr>
            <a:r>
              <a:rPr sz="2000" dirty="0">
                <a:latin typeface="Arial"/>
                <a:cs typeface="Arial"/>
              </a:rPr>
              <a:t>Explain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how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small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network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serves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basis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larger</a:t>
            </a:r>
            <a:endParaRPr sz="2000">
              <a:latin typeface="Arial"/>
              <a:cs typeface="Arial"/>
            </a:endParaRPr>
          </a:p>
          <a:p>
            <a:pPr marL="248285">
              <a:lnSpc>
                <a:spcPts val="2340"/>
              </a:lnSpc>
            </a:pPr>
            <a:r>
              <a:rPr sz="2000" spc="-10" dirty="0">
                <a:latin typeface="Arial"/>
                <a:cs typeface="Arial"/>
              </a:rPr>
              <a:t>networks.</a:t>
            </a:r>
            <a:endParaRPr sz="20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1080"/>
              </a:spcBef>
              <a:buClr>
                <a:srgbClr val="6F8BA0"/>
              </a:buClr>
              <a:buFont typeface="Wingdings"/>
              <a:buChar char=""/>
              <a:tabLst>
                <a:tab pos="248285" algn="l"/>
              </a:tabLst>
            </a:pPr>
            <a:r>
              <a:rPr sz="2000" dirty="0">
                <a:latin typeface="Arial"/>
                <a:cs typeface="Arial"/>
              </a:rPr>
              <a:t>Explain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need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basic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security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measures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network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devices.</a:t>
            </a:r>
            <a:endParaRPr sz="20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1080"/>
              </a:spcBef>
              <a:buClr>
                <a:srgbClr val="6F8BA0"/>
              </a:buClr>
              <a:buFont typeface="Wingdings"/>
              <a:buChar char=""/>
              <a:tabLst>
                <a:tab pos="248285" algn="l"/>
              </a:tabLst>
            </a:pPr>
            <a:r>
              <a:rPr sz="2000" dirty="0">
                <a:latin typeface="Arial"/>
                <a:cs typeface="Arial"/>
              </a:rPr>
              <a:t>Identify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security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vulnerabilities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general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mitigation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techniques</a:t>
            </a:r>
            <a:endParaRPr sz="2000">
              <a:latin typeface="Arial"/>
              <a:cs typeface="Arial"/>
            </a:endParaRPr>
          </a:p>
          <a:p>
            <a:pPr marL="248285" marR="201930" indent="-236220">
              <a:lnSpc>
                <a:spcPts val="2280"/>
              </a:lnSpc>
              <a:spcBef>
                <a:spcPts val="1255"/>
              </a:spcBef>
              <a:buClr>
                <a:srgbClr val="6F8BA0"/>
              </a:buClr>
              <a:buFont typeface="Wingdings"/>
              <a:buChar char=""/>
              <a:tabLst>
                <a:tab pos="248285" algn="l"/>
              </a:tabLst>
            </a:pPr>
            <a:r>
              <a:rPr sz="2000" dirty="0">
                <a:latin typeface="Arial"/>
                <a:cs typeface="Arial"/>
              </a:rPr>
              <a:t>Use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output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tracert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commands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relative </a:t>
            </a:r>
            <a:r>
              <a:rPr sz="2000" dirty="0">
                <a:latin typeface="Arial"/>
                <a:cs typeface="Arial"/>
              </a:rPr>
              <a:t>network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performance.</a:t>
            </a:r>
            <a:endParaRPr sz="2000">
              <a:latin typeface="Arial"/>
              <a:cs typeface="Arial"/>
            </a:endParaRPr>
          </a:p>
          <a:p>
            <a:pPr marL="248285" marR="5080" indent="-236220">
              <a:lnSpc>
                <a:spcPts val="2280"/>
              </a:lnSpc>
              <a:spcBef>
                <a:spcPts val="1200"/>
              </a:spcBef>
              <a:buClr>
                <a:srgbClr val="6F8BA0"/>
              </a:buClr>
              <a:buFont typeface="Wingdings"/>
              <a:buChar char=""/>
              <a:tabLst>
                <a:tab pos="248285" algn="l"/>
              </a:tabLst>
            </a:pPr>
            <a:r>
              <a:rPr sz="2000" dirty="0">
                <a:latin typeface="Arial"/>
                <a:cs typeface="Arial"/>
              </a:rPr>
              <a:t>Use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basic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show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commands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verify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configuration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status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of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device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interface.</a:t>
            </a:r>
            <a:endParaRPr sz="2000">
              <a:latin typeface="Arial"/>
              <a:cs typeface="Arial"/>
            </a:endParaRPr>
          </a:p>
          <a:p>
            <a:pPr marL="318770" indent="-306070">
              <a:lnSpc>
                <a:spcPct val="100000"/>
              </a:lnSpc>
              <a:spcBef>
                <a:spcPts val="1025"/>
              </a:spcBef>
              <a:buClr>
                <a:srgbClr val="6F8BA0"/>
              </a:buClr>
              <a:buFont typeface="Wingdings"/>
              <a:buChar char=""/>
              <a:tabLst>
                <a:tab pos="318770" algn="l"/>
              </a:tabLst>
            </a:pPr>
            <a:r>
              <a:rPr sz="2000" dirty="0">
                <a:latin typeface="Arial"/>
                <a:cs typeface="Arial"/>
              </a:rPr>
              <a:t>Explain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systems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Routers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Switches.</a:t>
            </a:r>
            <a:endParaRPr sz="2000">
              <a:latin typeface="Arial"/>
              <a:cs typeface="Arial"/>
            </a:endParaRPr>
          </a:p>
          <a:p>
            <a:pPr marL="248285" marR="170815" indent="-236220">
              <a:lnSpc>
                <a:spcPts val="2280"/>
              </a:lnSpc>
              <a:spcBef>
                <a:spcPts val="1260"/>
              </a:spcBef>
              <a:buClr>
                <a:srgbClr val="6F8BA0"/>
              </a:buClr>
              <a:buFont typeface="Wingdings"/>
              <a:buChar char=""/>
              <a:tabLst>
                <a:tab pos="248285" algn="l"/>
              </a:tabLst>
            </a:pPr>
            <a:r>
              <a:rPr sz="2000" dirty="0">
                <a:latin typeface="Arial"/>
                <a:cs typeface="Arial"/>
              </a:rPr>
              <a:t>Apply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commands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back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up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restore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IOS</a:t>
            </a:r>
            <a:r>
              <a:rPr sz="2000" spc="-10" dirty="0">
                <a:latin typeface="Arial"/>
                <a:cs typeface="Arial"/>
              </a:rPr>
              <a:t> configuration file.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Choosing Devices for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F25AF-DE1B-0681-8159-77FFABBACDAE}"/>
              </a:ext>
            </a:extLst>
          </p:cNvPr>
          <p:cNvSpPr txBox="1"/>
          <p:nvPr/>
        </p:nvSpPr>
        <p:spPr>
          <a:xfrm>
            <a:off x="14514" y="521583"/>
            <a:ext cx="9144000" cy="6410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What should we consider when selecting networking devices?</a:t>
            </a:r>
          </a:p>
          <a:p>
            <a:pPr>
              <a:lnSpc>
                <a:spcPct val="150000"/>
              </a:lnSpc>
              <a:buNone/>
            </a:pPr>
            <a:r>
              <a:rPr lang="en-AU" sz="2200" dirty="0">
                <a:latin typeface="+mj-lt"/>
              </a:rPr>
              <a:t>When building a small network, we need to choose suitable routers, switches and wireless access points.</a:t>
            </a:r>
          </a:p>
          <a:p>
            <a:pPr>
              <a:lnSpc>
                <a:spcPct val="150000"/>
              </a:lnSpc>
              <a:buNone/>
            </a:pPr>
            <a:r>
              <a:rPr lang="en-AU" sz="2200" dirty="0">
                <a:latin typeface="+mj-lt"/>
              </a:rPr>
              <a:t>Five important factors: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Cost: Can the organisation afford the devices and ongoing maintenance?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Ports: Are there enough connections for computers, printers and other devices?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Speed: Can the devices handle the required network traffic?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Scalability: Can the network support more users and devices in the future?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Management: Can IT staff easily configure, monitor and troubleshoot the devices?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27A4-CD50-9AE4-E212-C611AE1B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AF0D4F19-9EDE-DFB9-CDB6-7DCB4D4FD5A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Choosing Devices for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36FDB66-35BF-CEB9-419B-A25439205014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EE5CB11-0263-3AE7-D4AE-674BF708589A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D75AE-74E9-D539-8B89-EB40BF061CDF}"/>
              </a:ext>
            </a:extLst>
          </p:cNvPr>
          <p:cNvSpPr txBox="1"/>
          <p:nvPr/>
        </p:nvSpPr>
        <p:spPr>
          <a:xfrm>
            <a:off x="0" y="457200"/>
            <a:ext cx="9144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 small accounting office in Sydney has 15 computers, two printers and a Wi-Fi network. The business needs a suitable router, a switch with enough ports and wireless access.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If a business has 15 computers and expects to grow to 22 computers next year, would you recommend a 16-port or 24-port switch?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A 24-port switch is better because it supports future growth, although additional ports may be needed for printers and access points.</a:t>
            </a:r>
          </a:p>
        </p:txBody>
      </p:sp>
    </p:spTree>
    <p:extLst>
      <p:ext uri="{BB962C8B-B14F-4D97-AF65-F5344CB8AC3E}">
        <p14:creationId xmlns:p14="http://schemas.microsoft.com/office/powerpoint/2010/main" val="227253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AA3B-DF44-173C-6C46-37640FF0A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E3858627-F62A-E552-E6F0-FB7A8F51638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Choosing Devices for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C83234E-FB4E-D7FD-9C5A-5ACBE9F064B6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6EACFA8-61EC-153D-826F-1D969E42AE4D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Picture 3" descr="The diagram illustrates a network setup with a business router, a 24-port switch, wireless access points, and multiple devices including three PCs and two printers.&#10;&#10;AI-generated content may be incorrect.">
            <a:extLst>
              <a:ext uri="{FF2B5EF4-FFF2-40B4-BE49-F238E27FC236}">
                <a16:creationId xmlns:a16="http://schemas.microsoft.com/office/drawing/2014/main" id="{B5373F7E-7892-6B7D-2881-106A99088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5676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38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D305-B66C-CE14-3AC5-A015A717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3B4A17B0-F179-C85F-A2EA-EDB3F866DA7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Planning IP Addresses for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AE0BD95-8E95-3E8A-5864-9F8B30866E63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B1CEBA8-FCC5-C110-BC70-727E76F7B809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12407-7D96-03C3-7FB9-9ED64AD29D0B}"/>
              </a:ext>
            </a:extLst>
          </p:cNvPr>
          <p:cNvSpPr txBox="1"/>
          <p:nvPr/>
        </p:nvSpPr>
        <p:spPr>
          <a:xfrm>
            <a:off x="0" y="990600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Why do we need an IP addressing plan?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Every device communicating over an IP network needs an appropriate IP configuration.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A good IP addressing plan helps us: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Assign addresses without conflicts.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Identify devices more easily.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Troubleshoot connection problems.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Organise different groups of devices.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Plan for future network growth.</a:t>
            </a:r>
          </a:p>
        </p:txBody>
      </p:sp>
    </p:spTree>
    <p:extLst>
      <p:ext uri="{BB962C8B-B14F-4D97-AF65-F5344CB8AC3E}">
        <p14:creationId xmlns:p14="http://schemas.microsoft.com/office/powerpoint/2010/main" val="215127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FDA97-22CB-CC4C-13A9-8235D087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787E56BA-C609-C557-703C-667E2EB9C19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Planning IP Addresses for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D094E5B-8E45-E8C9-5548-351041809563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E12884D-2D26-46DE-D65B-BE9F85B7391F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4231F-66DE-052F-D408-3645FE9DA185}"/>
              </a:ext>
            </a:extLst>
          </p:cNvPr>
          <p:cNvSpPr txBox="1"/>
          <p:nvPr/>
        </p:nvSpPr>
        <p:spPr>
          <a:xfrm>
            <a:off x="0" y="106680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Two common approaches: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Static IP: Manually configured address, often used for routers, servers and network printers.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Dynamic IP: Automatically assigned using DHCP, commonly used for laptops and desktop computers.</a:t>
            </a:r>
          </a:p>
        </p:txBody>
      </p:sp>
    </p:spTree>
    <p:extLst>
      <p:ext uri="{BB962C8B-B14F-4D97-AF65-F5344CB8AC3E}">
        <p14:creationId xmlns:p14="http://schemas.microsoft.com/office/powerpoint/2010/main" val="3389288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ADE13-F8B2-2D34-3581-4BFF61DC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7087FBBF-4BB3-E4DF-4463-88CE548C7C3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Planning IP Addresses for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191C277-1FA0-63FA-D82C-C1DC6C72E642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F1397C7-DB8E-CABC-E879-5D2D695B684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44512-23DE-C47C-A29F-1A8A3FEE4634}"/>
              </a:ext>
            </a:extLst>
          </p:cNvPr>
          <p:cNvSpPr txBox="1"/>
          <p:nvPr/>
        </p:nvSpPr>
        <p:spPr>
          <a:xfrm>
            <a:off x="0" y="967859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Example in Australia: A small Sydney training centre uses the network 192.168.10.0/24.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485A2C-99A6-0738-851C-EB6689E60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567249"/>
              </p:ext>
            </p:extLst>
          </p:nvPr>
        </p:nvGraphicFramePr>
        <p:xfrm>
          <a:off x="407988" y="2433995"/>
          <a:ext cx="8328024" cy="34442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776008">
                  <a:extLst>
                    <a:ext uri="{9D8B030D-6E8A-4147-A177-3AD203B41FA5}">
                      <a16:colId xmlns:a16="http://schemas.microsoft.com/office/drawing/2014/main" val="1697205900"/>
                    </a:ext>
                  </a:extLst>
                </a:gridCol>
                <a:gridCol w="2776008">
                  <a:extLst>
                    <a:ext uri="{9D8B030D-6E8A-4147-A177-3AD203B41FA5}">
                      <a16:colId xmlns:a16="http://schemas.microsoft.com/office/drawing/2014/main" val="1296961091"/>
                    </a:ext>
                  </a:extLst>
                </a:gridCol>
                <a:gridCol w="2776008">
                  <a:extLst>
                    <a:ext uri="{9D8B030D-6E8A-4147-A177-3AD203B41FA5}">
                      <a16:colId xmlns:a16="http://schemas.microsoft.com/office/drawing/2014/main" val="4047325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b="1" dirty="0"/>
                        <a:t>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b="1" dirty="0"/>
                        <a:t>Example IP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b="1" dirty="0"/>
                        <a:t>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082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Router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192.168.10.1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Static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29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Network printer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192.168.10.10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Static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609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File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192.168.10.20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Static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4952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Student computers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192.168.10.100–199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DHCP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907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490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5242D-E671-62F6-F389-97A3C6D5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E66C5CC4-702C-53BE-5E37-BE816AD83EB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Planning IP Addresses for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FAF7020-C06A-5FB4-563C-7FD06ADA088A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55DA1D0-7B68-3189-D5F0-1A76E124EC5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C3121-45E8-505B-1689-B627663D9D76}"/>
              </a:ext>
            </a:extLst>
          </p:cNvPr>
          <p:cNvSpPr txBox="1"/>
          <p:nvPr/>
        </p:nvSpPr>
        <p:spPr>
          <a:xfrm>
            <a:off x="0" y="1066800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Why might we give a network printer a fixed IP address?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So computers can consistently find the printer at the same address.</a:t>
            </a:r>
          </a:p>
        </p:txBody>
      </p:sp>
    </p:spTree>
    <p:extLst>
      <p:ext uri="{BB962C8B-B14F-4D97-AF65-F5344CB8AC3E}">
        <p14:creationId xmlns:p14="http://schemas.microsoft.com/office/powerpoint/2010/main" val="409204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11B55-46D5-21BF-4A64-BBCDA3D8E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D696EA62-BA6E-AD1C-FADB-6C87C532FF2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Common Protocols in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FB8E972-5104-F294-825D-52BC6B272C93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D763E68-AF35-5197-2691-A9AFB1ACEF9A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657B6-53AB-127C-3084-C8CF2CF229F7}"/>
              </a:ext>
            </a:extLst>
          </p:cNvPr>
          <p:cNvSpPr txBox="1"/>
          <p:nvPr/>
        </p:nvSpPr>
        <p:spPr>
          <a:xfrm>
            <a:off x="0" y="129540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What is a network protocol?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A network protocol is a set of rules that allows devices to communicate.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Protocols define how messages are formatted, sent, received and understood.</a:t>
            </a:r>
          </a:p>
        </p:txBody>
      </p:sp>
    </p:spTree>
    <p:extLst>
      <p:ext uri="{BB962C8B-B14F-4D97-AF65-F5344CB8AC3E}">
        <p14:creationId xmlns:p14="http://schemas.microsoft.com/office/powerpoint/2010/main" val="247828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61C0-93F5-E06A-D02E-56B9F292D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2872FC2B-52DC-FEE4-7E8E-80C8166C96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Common Protocols in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4511BAA-F0C3-8B52-2BB8-52E9C8BE7E85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7E0E436-66A0-2F6C-F42E-79B4DE597B5C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784C9F-29BC-C335-E1DB-EBF922411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750578"/>
              </p:ext>
            </p:extLst>
          </p:nvPr>
        </p:nvGraphicFramePr>
        <p:xfrm>
          <a:off x="407988" y="1371600"/>
          <a:ext cx="8328024" cy="46939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792412">
                  <a:extLst>
                    <a:ext uri="{9D8B030D-6E8A-4147-A177-3AD203B41FA5}">
                      <a16:colId xmlns:a16="http://schemas.microsoft.com/office/drawing/2014/main" val="509120865"/>
                    </a:ext>
                  </a:extLst>
                </a:gridCol>
                <a:gridCol w="5535612">
                  <a:extLst>
                    <a:ext uri="{9D8B030D-6E8A-4147-A177-3AD203B41FA5}">
                      <a16:colId xmlns:a16="http://schemas.microsoft.com/office/drawing/2014/main" val="6420494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b="1" dirty="0"/>
                        <a:t>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b="1" dirty="0"/>
                        <a:t>Main 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64572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dirty="0"/>
                        <a:t>DHCP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Automatically provides IP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8526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dirty="0"/>
                        <a:t>Converts domain names into IP addresses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897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HTTP/HTTPS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dirty="0"/>
                        <a:t>Transfers web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7812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SMTP/IMAP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Sends and accesses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9518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SSH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dirty="0"/>
                        <a:t>Provides secure remote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9262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FTP/SFTP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dirty="0"/>
                        <a:t>Transfers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67755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ICMP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dirty="0"/>
                        <a:t>Supports network testing and error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990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18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D459-9241-A0F5-F54A-F6779532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5FF9D4FE-3987-DD75-55A0-D6B871F827E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Common Protocols in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A33EF1E-9072-FFDD-7C76-A26517AF25C9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893E0F9-EDFD-79A3-42AF-8781D2A64096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19858-3EE9-829F-2E05-425CC258D9C8}"/>
              </a:ext>
            </a:extLst>
          </p:cNvPr>
          <p:cNvSpPr txBox="1"/>
          <p:nvPr/>
        </p:nvSpPr>
        <p:spPr>
          <a:xfrm>
            <a:off x="0" y="762000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When a student connects to campus Wi-Fi and opens the university website, DHCP may provide the network settings, DNS finds the website's IP address, and HTTPS transfers the web content securely.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Which protocol helps a computer find the IP address of a website such as www.abc.net.au?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DNS.</a:t>
            </a:r>
          </a:p>
        </p:txBody>
      </p:sp>
    </p:spTree>
    <p:extLst>
      <p:ext uri="{BB962C8B-B14F-4D97-AF65-F5344CB8AC3E}">
        <p14:creationId xmlns:p14="http://schemas.microsoft.com/office/powerpoint/2010/main" val="8230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0064F-19CA-948B-08A1-FEB2883C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F4DBA523-1CB9-E0A9-B004-4E73D130BAD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Common Protocols in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28F080E-793F-1663-BA06-4FE93B1C9C9F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E7D9832-0A39-847E-9C55-E69CB0B1406A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Picture 3" descr="The diagram illustrates a network setup with a DNS server, a switch, a router, a web server, and a user connected to a campus network.&#10;&#10;AI-generated content may be incorrect.">
            <a:extLst>
              <a:ext uri="{FF2B5EF4-FFF2-40B4-BE49-F238E27FC236}">
                <a16:creationId xmlns:a16="http://schemas.microsoft.com/office/drawing/2014/main" id="{A9A24F4C-DBDF-B50C-C0A2-E38D58C1E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44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A03A4-EB78-927B-842A-A75CE537D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676D8927-C122-18CA-9C93-E72A80B6759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Common Security Threats to Small Networks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C662958-7C9B-1450-8E2B-59D40CFBA2B0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7EB0F85-C539-BC9E-005C-5344585CCCF1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89595-4F95-69BC-F80C-BD4B9F8585D6}"/>
              </a:ext>
            </a:extLst>
          </p:cNvPr>
          <p:cNvSpPr txBox="1"/>
          <p:nvPr/>
        </p:nvSpPr>
        <p:spPr>
          <a:xfrm>
            <a:off x="0" y="967860"/>
            <a:ext cx="9144000" cy="566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What can go wrong if a network is not secure?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Small networks face several security risks.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Information theft: Someone accesses confidential files without permission.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Data loss or modification: Important files are deleted, damaged or changed.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Identity theft: Someone steals personal information and uses it fraudulently.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Service disruption: Users cannot access websites, servers or network services.</a:t>
            </a:r>
          </a:p>
        </p:txBody>
      </p:sp>
    </p:spTree>
    <p:extLst>
      <p:ext uri="{BB962C8B-B14F-4D97-AF65-F5344CB8AC3E}">
        <p14:creationId xmlns:p14="http://schemas.microsoft.com/office/powerpoint/2010/main" val="254560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0D47-ADD5-0C5E-EDAF-4319B2B3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72442877-36AF-74FA-83C1-319FBCFEAC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Common Security Threats to Small Networks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D667C1D-C271-C755-D8B1-F85B2B466621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27287C5-3501-418C-F588-818461FA7644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21F2C-2C08-6796-E784-09AEFD473223}"/>
              </a:ext>
            </a:extLst>
          </p:cNvPr>
          <p:cNvSpPr txBox="1"/>
          <p:nvPr/>
        </p:nvSpPr>
        <p:spPr>
          <a:xfrm>
            <a:off x="0" y="1066800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 small Australian business may experience a ransomware attack that encrypts its files and prevents employees from accessing customer records.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If a company's network becomes unavailable because of an attack, which type of security threat has occurred?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Service disruption. The attack may also cause data loss or other damage.</a:t>
            </a:r>
          </a:p>
        </p:txBody>
      </p:sp>
    </p:spTree>
    <p:extLst>
      <p:ext uri="{BB962C8B-B14F-4D97-AF65-F5344CB8AC3E}">
        <p14:creationId xmlns:p14="http://schemas.microsoft.com/office/powerpoint/2010/main" val="211280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0BA7-3B72-9E32-6D23-E6E987A6A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D73F4AEE-D702-395C-EF1C-589760A1684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Common Security Threats to Small Networks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6C5A92C-E188-247B-EA00-7B92D842E216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657AE64-3285-E6DF-EC0A-281C4196D872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Picture 3" descr="The image depicts a series of icons illustrating various types of cybersecurity threats: a masked figure for information theft, a broken data link for data loss, a masked figure with a stolen mask for identity theft, and a downed computer for service disruption.&#10;&#10;AI-generated content may be incorrect.">
            <a:extLst>
              <a:ext uri="{FF2B5EF4-FFF2-40B4-BE49-F238E27FC236}">
                <a16:creationId xmlns:a16="http://schemas.microsoft.com/office/drawing/2014/main" id="{10688BE9-E131-BFCA-9FED-550342A22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6454"/>
            <a:ext cx="9144000" cy="332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24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8B640-B154-A79E-7F95-654AC3D9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7A8A5DCA-11A6-A448-7023-6312A15D97F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Understanding Malware: Viruses, Worms and Trojans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CD4D8AE-EF0D-2659-16F6-0AAA2CFFEDA4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084AD88-87F6-6612-8214-8907308D2EB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A38E3-D2B1-AC83-4C66-7890709B9781}"/>
              </a:ext>
            </a:extLst>
          </p:cNvPr>
          <p:cNvSpPr txBox="1"/>
          <p:nvPr/>
        </p:nvSpPr>
        <p:spPr>
          <a:xfrm>
            <a:off x="263142" y="1066800"/>
            <a:ext cx="861771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Malware is software designed to damage systems, steal information or perform unwanted actions.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Three common types: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778D38-7AD6-B45A-54EB-83504AA10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43396"/>
              </p:ext>
            </p:extLst>
          </p:nvPr>
        </p:nvGraphicFramePr>
        <p:xfrm>
          <a:off x="407988" y="3429000"/>
          <a:ext cx="8328024" cy="292608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335212">
                  <a:extLst>
                    <a:ext uri="{9D8B030D-6E8A-4147-A177-3AD203B41FA5}">
                      <a16:colId xmlns:a16="http://schemas.microsoft.com/office/drawing/2014/main" val="2134978091"/>
                    </a:ext>
                  </a:extLst>
                </a:gridCol>
                <a:gridCol w="5992812">
                  <a:extLst>
                    <a:ext uri="{9D8B030D-6E8A-4147-A177-3AD203B41FA5}">
                      <a16:colId xmlns:a16="http://schemas.microsoft.com/office/drawing/2014/main" val="330404012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b="1" dirty="0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01449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Virus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Malicious code that attaches to a file or program and spreads when it runs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74903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Worm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Malware that can spread automatically between vulnerable devices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66793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Trojan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Malicious software disguised as a useful or legitimate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43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721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1240-A095-3F14-0B92-CA794599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A6DA0289-4FF4-E470-59BC-6143ED0DB54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Understanding Malware: Viruses, Worms and Trojans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01DEA5F-97D0-8B4D-5BF8-128F25965A28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79858F3-4EB9-B79B-FCE1-01137F05E04A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3C66D-FAEE-286F-CEA9-88D73518FA29}"/>
              </a:ext>
            </a:extLst>
          </p:cNvPr>
          <p:cNvSpPr txBox="1"/>
          <p:nvPr/>
        </p:nvSpPr>
        <p:spPr>
          <a:xfrm>
            <a:off x="0" y="1066801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An employee receives an email claiming to contain an important invoice. The attachment appears legitimate but installs a Trojan when opened.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What is the main difference between a worm and a Trojan?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A worm can spread automatically, while a Trojan tricks someone into installing or running malicious software.</a:t>
            </a:r>
          </a:p>
        </p:txBody>
      </p:sp>
    </p:spTree>
    <p:extLst>
      <p:ext uri="{BB962C8B-B14F-4D97-AF65-F5344CB8AC3E}">
        <p14:creationId xmlns:p14="http://schemas.microsoft.com/office/powerpoint/2010/main" val="118593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DB25-BB88-6BA5-ED87-8523D6D8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47C50E0B-3319-D004-B586-D6896C655FD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Understanding Malware: Viruses, Worms and Trojans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4FBF878-6741-FBC4-3DF6-611880369CA6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3C1769C-8F95-4B91-06FB-4A91E260297A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" name="Picture 4" descr="The image depicts various cyber threats: a virus, a worm, and a Trojan, each described as malicious software that spreads and disguises itself differently, with the worm automatically infecting other computers and the Trojan tricking users into running infected files.&#10;&#10;AI-generated content may be incorrect.">
            <a:extLst>
              <a:ext uri="{FF2B5EF4-FFF2-40B4-BE49-F238E27FC236}">
                <a16:creationId xmlns:a16="http://schemas.microsoft.com/office/drawing/2014/main" id="{51677340-368A-C0CD-0A0B-4B1F8BC56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85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D6B2-C2A2-DA0B-E013-DE922AFB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ACAD306C-966D-70F9-AF12-261596E249F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Reconnaissance: How Attackers Gather Network Information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E1EB37B-8FAB-50CC-3088-725385E172AE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1FF77D6-BD86-6DFD-1A21-F05FFC6724A8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ED649-E04B-B58E-DEBB-29416A7D5972}"/>
              </a:ext>
            </a:extLst>
          </p:cNvPr>
          <p:cNvSpPr txBox="1"/>
          <p:nvPr/>
        </p:nvSpPr>
        <p:spPr>
          <a:xfrm>
            <a:off x="0" y="967860"/>
            <a:ext cx="9144000" cy="546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What is reconnaissance in network security?</a:t>
            </a:r>
          </a:p>
          <a:p>
            <a:pPr>
              <a:lnSpc>
                <a:spcPct val="150000"/>
              </a:lnSpc>
              <a:buNone/>
            </a:pPr>
            <a:r>
              <a:rPr lang="en-AU" sz="2300" dirty="0">
                <a:latin typeface="+mj-lt"/>
              </a:rPr>
              <a:t>Reconnaissance means collecting information about a network or its devices.</a:t>
            </a:r>
          </a:p>
          <a:p>
            <a:pPr>
              <a:lnSpc>
                <a:spcPct val="150000"/>
              </a:lnSpc>
              <a:buNone/>
            </a:pPr>
            <a:r>
              <a:rPr lang="en-AU" sz="2300" dirty="0">
                <a:latin typeface="+mj-lt"/>
              </a:rPr>
              <a:t>Common techniques include: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Internet searches: Finding publicly available information about an organisation.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Ping checks: Testing whether a device responds to network messages.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Port scanning: Identifying accessible network services.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Packet capture: Examining network traffic when the person has access to capture it.</a:t>
            </a:r>
          </a:p>
        </p:txBody>
      </p:sp>
    </p:spTree>
    <p:extLst>
      <p:ext uri="{BB962C8B-B14F-4D97-AF65-F5344CB8AC3E}">
        <p14:creationId xmlns:p14="http://schemas.microsoft.com/office/powerpoint/2010/main" val="72873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27CFE-6E86-B72E-9E5D-79480188D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716FB5D5-6042-A153-744F-6D614860868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Reconnaissance: How Attackers Gather Network Information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DD18B6D-A7A7-5B76-D0A9-3036708C6C9C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346D4AA-F139-6A0F-7380-AD13DEADB724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DF474F-A538-16EB-8055-6B6051E5D8CB}"/>
              </a:ext>
            </a:extLst>
          </p:cNvPr>
          <p:cNvSpPr txBox="1"/>
          <p:nvPr/>
        </p:nvSpPr>
        <p:spPr>
          <a:xfrm>
            <a:off x="0" y="967859"/>
            <a:ext cx="9144000" cy="5431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These techniques are also used legitimately by authorised network administrators for troubleshooting and security testing.</a:t>
            </a:r>
          </a:p>
          <a:p>
            <a:pPr>
              <a:lnSpc>
                <a:spcPct val="150000"/>
              </a:lnSpc>
              <a:buNone/>
            </a:pPr>
            <a:r>
              <a:rPr lang="en-AU" sz="2600" b="1" dirty="0">
                <a:latin typeface="+mj-lt"/>
              </a:rPr>
              <a:t>Example in Australia: </a:t>
            </a:r>
            <a:r>
              <a:rPr lang="en-AU" sz="2600" dirty="0">
                <a:latin typeface="+mj-lt"/>
              </a:rPr>
              <a:t>An authorised IT administrator at a Sydney college checks which devices are responding and whether unnecessary network services are exposed.</a:t>
            </a:r>
          </a:p>
          <a:p>
            <a:pPr>
              <a:lnSpc>
                <a:spcPct val="150000"/>
              </a:lnSpc>
              <a:buNone/>
            </a:pPr>
            <a:r>
              <a:rPr lang="en-AU" sz="2600" b="1" dirty="0">
                <a:latin typeface="+mj-lt"/>
              </a:rPr>
              <a:t>Discussion question: </a:t>
            </a:r>
            <a:r>
              <a:rPr lang="en-AU" sz="2600" dirty="0">
                <a:latin typeface="+mj-lt"/>
              </a:rPr>
              <a:t>Why should organisations disable network services they do not need?</a:t>
            </a:r>
          </a:p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Simple answer: Because unnecessary services may create additional opportunities for attackers to access or exploit devices.</a:t>
            </a:r>
          </a:p>
        </p:txBody>
      </p:sp>
    </p:spTree>
    <p:extLst>
      <p:ext uri="{BB962C8B-B14F-4D97-AF65-F5344CB8AC3E}">
        <p14:creationId xmlns:p14="http://schemas.microsoft.com/office/powerpoint/2010/main" val="405566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AE26E-DCC7-8743-E7B9-5EBBC00E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F88B7799-6BB9-B1F7-8BDE-8DE0AE33760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Reconnaissance: How Attackers Gather Network Information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5083DAB-C48C-5622-963F-C7C47BB64519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AE34584-1BE7-B0A6-78DD-AF09A28CE55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" name="Picture 4" descr="The image shows a capture of ICMP Echo Request and Reply packets between two devices, with the source IP being 192.168.10.100 and the destination IP being 8.8.8.8.&#10;&#10;AI-generated content may be incorrect.">
            <a:extLst>
              <a:ext uri="{FF2B5EF4-FFF2-40B4-BE49-F238E27FC236}">
                <a16:creationId xmlns:a16="http://schemas.microsoft.com/office/drawing/2014/main" id="{DA2AAB58-FFAE-2215-BD1B-96CD50C06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13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2B46F-6D5F-7BB7-FFC2-2B6AD078C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210349B0-CDF4-7590-175A-7B837751213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Protecting a Small Network: Backup, Update and Patch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357CF1B-993B-A613-7754-E8C443A2087A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BCF6AE2-D1EC-747E-3351-7A80C439A1C0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97CD5-E06B-1AD5-063C-ED5A320F11BD}"/>
              </a:ext>
            </a:extLst>
          </p:cNvPr>
          <p:cNvSpPr txBox="1"/>
          <p:nvPr/>
        </p:nvSpPr>
        <p:spPr>
          <a:xfrm>
            <a:off x="0" y="1066801"/>
            <a:ext cx="9144000" cy="5764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How can we reduce network security risks?</a:t>
            </a:r>
          </a:p>
          <a:p>
            <a:pPr>
              <a:lnSpc>
                <a:spcPct val="150000"/>
              </a:lnSpc>
              <a:buNone/>
            </a:pPr>
            <a:r>
              <a:rPr lang="en-AU" sz="2200" dirty="0">
                <a:latin typeface="+mj-lt"/>
              </a:rPr>
              <a:t>Five practical security measures: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Back up important data: Keep recoverable copies of files in case they are lost or damaged.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Update software: Install supported versions of operating systems and applications.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Apply security patches: Fix known software vulnerabilities.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Use endpoint protection: Detect and block many types of malicious software.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Control access: Use strong passwords, multi-factor authentication where supported, and appropriate user permissions.</a:t>
            </a:r>
          </a:p>
        </p:txBody>
      </p:sp>
    </p:spTree>
    <p:extLst>
      <p:ext uri="{BB962C8B-B14F-4D97-AF65-F5344CB8AC3E}">
        <p14:creationId xmlns:p14="http://schemas.microsoft.com/office/powerpoint/2010/main" val="85181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36EF6-E040-6284-444F-0E74FFDD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ED829B52-6B06-5CE0-4C63-C6DEBB97FF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Protecting a Small Network: Backup, Update and Patch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F7B44C5-074D-DF49-09BD-194FD0DA043A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589B1F6-CF2C-A6EB-38C9-E30AA3005801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4AE9E-D83F-C31C-D20F-BC795D370B7C}"/>
              </a:ext>
            </a:extLst>
          </p:cNvPr>
          <p:cNvSpPr txBox="1"/>
          <p:nvPr/>
        </p:nvSpPr>
        <p:spPr>
          <a:xfrm>
            <a:off x="0" y="967860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 small medical clinic in Sydney regularly backs up its records, installs security updates and limits access to patient information to authorised staff.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Why are backups important even when antivirus software is installed?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Antivirus software cannot prevent every incident. Backups help recover important files after ransomware, accidental deletion or equipment failure.</a:t>
            </a:r>
          </a:p>
        </p:txBody>
      </p:sp>
    </p:spTree>
    <p:extLst>
      <p:ext uri="{BB962C8B-B14F-4D97-AF65-F5344CB8AC3E}">
        <p14:creationId xmlns:p14="http://schemas.microsoft.com/office/powerpoint/2010/main" val="375865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C5DF-796C-D265-2734-2974A0AF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A013E838-A2FC-0DDF-66EB-08E28696E35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Protecting a Small Network: Backup, Update and Patch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B2666E7-38C7-4EAC-44F6-015459F4FBCA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A71C297-63A1-9CC4-D4F9-A8A908C5DA59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" name="Picture 4" descr="The image illustrates a five-step cybersecurity process involving backup, update, patch, protection, and control access.&#10;&#10;AI-generated content may be incorrect.">
            <a:extLst>
              <a:ext uri="{FF2B5EF4-FFF2-40B4-BE49-F238E27FC236}">
                <a16:creationId xmlns:a16="http://schemas.microsoft.com/office/drawing/2014/main" id="{3FF7D55B-1A9A-8267-8DC2-3943D6FD5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0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11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98C7D-34DD-1CD7-1858-D8913E0D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CFCB755B-8CC6-9926-3B5B-6EE6A9198EC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AAA: Controlling Access to a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4A3BD21-E9D8-641F-A4F9-54BE41277C3C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B04798C-E2A7-DD1F-222C-F5389FDDBB9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EC1FF-3221-4161-396D-BA31A61B1EFE}"/>
              </a:ext>
            </a:extLst>
          </p:cNvPr>
          <p:cNvSpPr txBox="1"/>
          <p:nvPr/>
        </p:nvSpPr>
        <p:spPr>
          <a:xfrm>
            <a:off x="0" y="609601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What is AAA?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AAA stands for Authentication, Authorization and Accounting. It helps organisations control and monitor network access.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Authentication – Who are you? Verifies a user's identity using a password, passkey or multi-factor authentication.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Authorization – What can you do? Determines which files, systems or network functions a user can access.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Accounting – What did you do? Records user activities, such as login times and configuration changes.</a:t>
            </a:r>
          </a:p>
        </p:txBody>
      </p:sp>
    </p:spTree>
    <p:extLst>
      <p:ext uri="{BB962C8B-B14F-4D97-AF65-F5344CB8AC3E}">
        <p14:creationId xmlns:p14="http://schemas.microsoft.com/office/powerpoint/2010/main" val="411928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89424-C4A9-C513-FC9F-6072BB34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DF7163E5-BC0A-59D5-6FE4-ABCAED76BB1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AAA: Controlling Access to a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5912BE8-2879-FD5F-BE1A-9EF6C000B392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36D7E5C-1EED-3F3E-B9D3-E6D04D934BB9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05E63-4842-49B6-036C-345CDC21D545}"/>
              </a:ext>
            </a:extLst>
          </p:cNvPr>
          <p:cNvSpPr txBox="1"/>
          <p:nvPr/>
        </p:nvSpPr>
        <p:spPr>
          <a:xfrm>
            <a:off x="0" y="521584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At an Australian university, students sign in using their university accounts (authentication), access their enrolled units (authorization), and certain system activities are recorded for security purposes (accounting).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If a student logs into a university system successfully but cannot change another student's grades, which AAA function prevents this?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Authorization, because it controls what the student is allowed to do.</a:t>
            </a:r>
          </a:p>
        </p:txBody>
      </p:sp>
    </p:spTree>
    <p:extLst>
      <p:ext uri="{BB962C8B-B14F-4D97-AF65-F5344CB8AC3E}">
        <p14:creationId xmlns:p14="http://schemas.microsoft.com/office/powerpoint/2010/main" val="85581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0ED24-6783-8BA9-2958-78B1C78B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60CA838F-48F5-186B-D7E5-C1F59670F5B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AAA: Controlling Access to a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E439D3D-FF54-E88E-F9E7-D888A3EF81F6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8CD620A-51A4-7333-CD3E-687727C725C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32039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732C8-42A0-1D2C-98B9-D378571A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45C00A5A-3601-15D5-5DA4-1F28BD4B44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Securing Cisco Routers and Switches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D01A69A-68C2-25B0-3723-AE12B013B9E6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1FF0337-422D-A003-0D2B-689FA5440C11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BCBF3-E93D-47CC-0D47-67943798E0F5}"/>
              </a:ext>
            </a:extLst>
          </p:cNvPr>
          <p:cNvSpPr txBox="1"/>
          <p:nvPr/>
        </p:nvSpPr>
        <p:spPr>
          <a:xfrm>
            <a:off x="0" y="685800"/>
            <a:ext cx="9144000" cy="610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How can we protect network devices from unauthorised access?</a:t>
            </a:r>
          </a:p>
          <a:p>
            <a:pPr>
              <a:lnSpc>
                <a:spcPct val="150000"/>
              </a:lnSpc>
              <a:buNone/>
            </a:pPr>
            <a:r>
              <a:rPr lang="en-AU" sz="2300" dirty="0">
                <a:latin typeface="+mj-lt"/>
              </a:rPr>
              <a:t>Cisco routers and switches should use basic security settings.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Strong passwords: Protect administrator accounts using long, unique passwords.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Password protection: Use enable secret for privileged access; avoid storing passwords in plain text.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Login protection: Limit repeated unsuccessful login attempts.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Session timeout: Automatically close inactive administrator sessions.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Security banner: Display an authorised-use warning.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SSH: Allow encrypted remote management instead of insecure Telnet.</a:t>
            </a:r>
          </a:p>
        </p:txBody>
      </p:sp>
    </p:spTree>
    <p:extLst>
      <p:ext uri="{BB962C8B-B14F-4D97-AF65-F5344CB8AC3E}">
        <p14:creationId xmlns:p14="http://schemas.microsoft.com/office/powerpoint/2010/main" val="330176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88D1A-489B-C122-077D-12F377DD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2A5D585F-81B4-34E5-B0CD-85D98018317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Securing Cisco Routers and Switches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4EA4D06-EFE0-E8CE-6699-CDD2D92C118B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E292B60-2B2A-6242-D44D-DDF93A18ACA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0911D-93D8-E19A-6E83-B5B65C36966A}"/>
              </a:ext>
            </a:extLst>
          </p:cNvPr>
          <p:cNvSpPr txBox="1"/>
          <p:nvPr/>
        </p:nvSpPr>
        <p:spPr>
          <a:xfrm>
            <a:off x="0" y="830917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An IT administrator at a Sydney college configures secure passwords and SSH so authorised staff can manage the college's routers without exposing their login credentials over the network.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Why is SSH safer than Telnet for managing a router?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SSH encrypts the connection, while Telnet sends information without encryption.</a:t>
            </a:r>
          </a:p>
        </p:txBody>
      </p:sp>
    </p:spTree>
    <p:extLst>
      <p:ext uri="{BB962C8B-B14F-4D97-AF65-F5344CB8AC3E}">
        <p14:creationId xmlns:p14="http://schemas.microsoft.com/office/powerpoint/2010/main" val="79325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EA806-3F74-4661-DBDE-1729E3E9A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6003C2C0-EF9B-D50F-8175-3C7A6EF6248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Securing Cisco Routers and Switches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C671445-1AD9-47B4-4607-AE10E5491A0C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1CF435A-6989-4D79-E1E8-F41C286019E0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" name="Picture 2" descr="The image shows a router's command line interface (CLI) with SSH enabled, configured for local user authentication, and an open SSH connection to a PC.&#10;&#10;AI-generated content may be incorrect.">
            <a:extLst>
              <a:ext uri="{FF2B5EF4-FFF2-40B4-BE49-F238E27FC236}">
                <a16:creationId xmlns:a16="http://schemas.microsoft.com/office/drawing/2014/main" id="{D88575B8-9365-488B-5AD0-46E253C21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3"/>
          <a:stretch>
            <a:fillRect/>
          </a:stretch>
        </p:blipFill>
        <p:spPr>
          <a:xfrm>
            <a:off x="0" y="1371600"/>
            <a:ext cx="9144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8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50181-EDEB-7088-3B40-F3F8AF31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8306561C-070E-EBF3-57FA-AE3F6794219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Example Cisco IOS configuration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E3DE4E1-B0C2-1DBE-98A0-3E394493758B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9D0124F-9202-04E8-52D2-B793B47BD07C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49337-89A3-B76C-A5EB-265BC554C17B}"/>
              </a:ext>
            </a:extLst>
          </p:cNvPr>
          <p:cNvSpPr txBox="1"/>
          <p:nvPr/>
        </p:nvSpPr>
        <p:spPr>
          <a:xfrm>
            <a:off x="381000" y="637092"/>
            <a:ext cx="457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ighlight>
                  <a:srgbClr val="FFFF00"/>
                </a:highlight>
                <a:latin typeface="+mj-lt"/>
              </a:rPr>
              <a:t>enable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configure terminal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hostname R1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enable secret ClassDemo2026!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service password-encryption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security passwords min-length 10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login block-for 120 attempts 3 within 60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banner </a:t>
            </a:r>
            <a:r>
              <a:rPr lang="en-AU" dirty="0" err="1">
                <a:highlight>
                  <a:srgbClr val="FFFF00"/>
                </a:highlight>
                <a:latin typeface="+mj-lt"/>
              </a:rPr>
              <a:t>motd</a:t>
            </a:r>
            <a:r>
              <a:rPr lang="en-AU" dirty="0">
                <a:highlight>
                  <a:srgbClr val="FFFF00"/>
                </a:highlight>
                <a:latin typeface="+mj-lt"/>
              </a:rPr>
              <a:t> #Authorised access only#</a:t>
            </a:r>
          </a:p>
          <a:p>
            <a:endParaRPr lang="en-AU" dirty="0">
              <a:highlight>
                <a:srgbClr val="FFFF00"/>
              </a:highlight>
              <a:latin typeface="+mj-lt"/>
            </a:endParaRP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username admin privilege 15 secret SecureAdmin2026!</a:t>
            </a:r>
          </a:p>
          <a:p>
            <a:r>
              <a:rPr lang="en-AU" dirty="0" err="1">
                <a:highlight>
                  <a:srgbClr val="FFFF00"/>
                </a:highlight>
                <a:latin typeface="+mj-lt"/>
              </a:rPr>
              <a:t>ip</a:t>
            </a:r>
            <a:r>
              <a:rPr lang="en-AU" dirty="0">
                <a:highlight>
                  <a:srgbClr val="FFFF00"/>
                </a:highlight>
                <a:latin typeface="+mj-lt"/>
              </a:rPr>
              <a:t> domain-name </a:t>
            </a:r>
            <a:r>
              <a:rPr lang="en-AU" dirty="0" err="1">
                <a:highlight>
                  <a:srgbClr val="FFFF00"/>
                </a:highlight>
                <a:latin typeface="+mj-lt"/>
              </a:rPr>
              <a:t>lab.example</a:t>
            </a:r>
            <a:endParaRPr lang="en-AU" dirty="0">
              <a:highlight>
                <a:srgbClr val="FFFF00"/>
              </a:highlight>
              <a:latin typeface="+mj-lt"/>
            </a:endParaRP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crypto key generate </a:t>
            </a:r>
            <a:r>
              <a:rPr lang="en-AU" dirty="0" err="1">
                <a:highlight>
                  <a:srgbClr val="FFFF00"/>
                </a:highlight>
                <a:latin typeface="+mj-lt"/>
              </a:rPr>
              <a:t>rsa</a:t>
            </a:r>
            <a:r>
              <a:rPr lang="en-AU" dirty="0">
                <a:highlight>
                  <a:srgbClr val="FFFF00"/>
                </a:highlight>
                <a:latin typeface="+mj-lt"/>
              </a:rPr>
              <a:t> modulus 2048</a:t>
            </a:r>
          </a:p>
          <a:p>
            <a:r>
              <a:rPr lang="en-AU" dirty="0" err="1">
                <a:highlight>
                  <a:srgbClr val="FFFF00"/>
                </a:highlight>
                <a:latin typeface="+mj-lt"/>
              </a:rPr>
              <a:t>ip</a:t>
            </a:r>
            <a:r>
              <a:rPr lang="en-AU" dirty="0">
                <a:highlight>
                  <a:srgbClr val="FFFF00"/>
                </a:highlight>
                <a:latin typeface="+mj-lt"/>
              </a:rPr>
              <a:t> ssh version 2</a:t>
            </a:r>
          </a:p>
          <a:p>
            <a:endParaRPr lang="en-AU" dirty="0">
              <a:highlight>
                <a:srgbClr val="FFFF00"/>
              </a:highlight>
              <a:latin typeface="+mj-lt"/>
            </a:endParaRP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line </a:t>
            </a:r>
            <a:r>
              <a:rPr lang="en-AU" dirty="0" err="1">
                <a:highlight>
                  <a:srgbClr val="FFFF00"/>
                </a:highlight>
                <a:latin typeface="+mj-lt"/>
              </a:rPr>
              <a:t>vty</a:t>
            </a:r>
            <a:r>
              <a:rPr lang="en-AU" dirty="0">
                <a:highlight>
                  <a:srgbClr val="FFFF00"/>
                </a:highlight>
                <a:latin typeface="+mj-lt"/>
              </a:rPr>
              <a:t> 0 4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login local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transport input ssh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exec-timeout 5 0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end</a:t>
            </a:r>
          </a:p>
          <a:p>
            <a:r>
              <a:rPr lang="en-AU" dirty="0">
                <a:highlight>
                  <a:srgbClr val="FFFF00"/>
                </a:highlight>
                <a:latin typeface="+mj-lt"/>
              </a:rPr>
              <a:t>copy running-config startup-config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09FDF-3B2A-168A-8655-3960BA8582DB}"/>
              </a:ext>
            </a:extLst>
          </p:cNvPr>
          <p:cNvSpPr txBox="1"/>
          <p:nvPr/>
        </p:nvSpPr>
        <p:spPr>
          <a:xfrm>
            <a:off x="4451191" y="1219200"/>
            <a:ext cx="4692809" cy="522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500" dirty="0">
                <a:latin typeface="+mj-lt"/>
              </a:rPr>
              <a:t>service password-encryption provides only weak protection for certain stored passwords; it is not a substitute for secret credentials. Modern production networks should use stronger authentication and centrally managed access where appropriate.</a:t>
            </a:r>
          </a:p>
        </p:txBody>
      </p:sp>
    </p:spTree>
    <p:extLst>
      <p:ext uri="{BB962C8B-B14F-4D97-AF65-F5344CB8AC3E}">
        <p14:creationId xmlns:p14="http://schemas.microsoft.com/office/powerpoint/2010/main" val="1107015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3882-CF71-5AA1-EE60-C27CE54D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D7D567A5-B389-F3EE-14C0-38E2CB0DBA7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Useful Cisco Show Commands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69CA9F1-44CB-647A-455C-ECCEE5811F74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1887CB0-B7E2-0DB1-1903-EEC85020E6F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514E8-53BE-9FA7-75FD-1E1F9A1F7F20}"/>
              </a:ext>
            </a:extLst>
          </p:cNvPr>
          <p:cNvSpPr txBox="1"/>
          <p:nvPr/>
        </p:nvSpPr>
        <p:spPr>
          <a:xfrm>
            <a:off x="282192" y="685800"/>
            <a:ext cx="85344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How can we check what is happening on a router or switch?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Cisco IOS provides show commands to display network information without changing device settings.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165620-2A82-6F1F-1A41-F4333B569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321152"/>
              </p:ext>
            </p:extLst>
          </p:nvPr>
        </p:nvGraphicFramePr>
        <p:xfrm>
          <a:off x="488568" y="3350801"/>
          <a:ext cx="8328024" cy="341376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402012">
                  <a:extLst>
                    <a:ext uri="{9D8B030D-6E8A-4147-A177-3AD203B41FA5}">
                      <a16:colId xmlns:a16="http://schemas.microsoft.com/office/drawing/2014/main" val="2319845312"/>
                    </a:ext>
                  </a:extLst>
                </a:gridCol>
                <a:gridCol w="4926012">
                  <a:extLst>
                    <a:ext uri="{9D8B030D-6E8A-4147-A177-3AD203B41FA5}">
                      <a16:colId xmlns:a16="http://schemas.microsoft.com/office/drawing/2014/main" val="282608993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 b="1" dirty="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 b="1" dirty="0"/>
                        <a:t>What it shows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9421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 dirty="0"/>
                        <a:t>show running-config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 dirty="0"/>
                        <a:t>Current device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7040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/>
                        <a:t>show ip interface brief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/>
                        <a:t>IP addresses and interface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7176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/>
                        <a:t>show interfaces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/>
                        <a:t>Detailed interface information and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5013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/>
                        <a:t>show ip route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 dirty="0"/>
                        <a:t>Routes known to the router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5566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 dirty="0"/>
                        <a:t>show </a:t>
                      </a:r>
                      <a:r>
                        <a:rPr lang="en-AU" sz="2200" dirty="0" err="1"/>
                        <a:t>arp</a:t>
                      </a:r>
                      <a:endParaRPr lang="en-AU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 dirty="0"/>
                        <a:t>IP-to-MAC address mappings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0615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/>
                        <a:t>show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 dirty="0"/>
                        <a:t>Cisco IOS and device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4650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/>
                        <a:t>show protocols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200" dirty="0"/>
                        <a:t>Protocol and interface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461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8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3C049-70FC-CD8C-42B2-4AD69D9D4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0B7A58DE-9CF6-01C6-3A86-2ED6388917C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Useful Cisco Show Commands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C9D5408-3ED7-7A8B-5B56-1A30E4D89C9E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7C6E815-F1A7-7409-98E1-A4E51F3232D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419ED-AF46-6D93-96B0-756A9AA525D9}"/>
              </a:ext>
            </a:extLst>
          </p:cNvPr>
          <p:cNvSpPr txBox="1"/>
          <p:nvPr/>
        </p:nvSpPr>
        <p:spPr>
          <a:xfrm>
            <a:off x="0" y="762000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 Sydney office cannot connect to another branch. The IT technician uses show </a:t>
            </a:r>
            <a:r>
              <a:rPr lang="en-AU" sz="2800" dirty="0" err="1">
                <a:latin typeface="+mj-lt"/>
              </a:rPr>
              <a:t>ip</a:t>
            </a:r>
            <a:r>
              <a:rPr lang="en-AU" sz="2800" dirty="0">
                <a:latin typeface="+mj-lt"/>
              </a:rPr>
              <a:t> interface brief to check whether the router interfaces are working.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Which command would you use first to quickly check whether a router interface is up or down?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show </a:t>
            </a:r>
            <a:r>
              <a:rPr lang="en-AU" sz="2800" dirty="0" err="1">
                <a:latin typeface="+mj-lt"/>
              </a:rPr>
              <a:t>ip</a:t>
            </a:r>
            <a:r>
              <a:rPr lang="en-AU" sz="2800" dirty="0">
                <a:latin typeface="+mj-lt"/>
              </a:rPr>
              <a:t> interface brief.</a:t>
            </a:r>
          </a:p>
        </p:txBody>
      </p:sp>
    </p:spTree>
    <p:extLst>
      <p:ext uri="{BB962C8B-B14F-4D97-AF65-F5344CB8AC3E}">
        <p14:creationId xmlns:p14="http://schemas.microsoft.com/office/powerpoint/2010/main" val="90810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54DEC-BE17-BDEB-6407-077D255A5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B93C1F6E-6A6D-BAEA-65CF-A3C2072F33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Useful Cisco Show Commands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92C1CC0-16A3-E8E7-7FE1-012C100BEF15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ECE0DBE-3EF9-F79E-8C84-D3313D90DC23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Picture 3" descr="The image shows a network configuration for a Cisco router, detailing interface statuses, IP addresses, and routing protocols.&#10;&#10;AI-generated content may be incorrect.">
            <a:extLst>
              <a:ext uri="{FF2B5EF4-FFF2-40B4-BE49-F238E27FC236}">
                <a16:creationId xmlns:a16="http://schemas.microsoft.com/office/drawing/2014/main" id="{740E3080-4B51-F48B-3869-772EBEF9C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65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50B3-CE5C-AE03-1C43-C8CA8776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23CAE2F6-EE51-6EB3-750B-FA4DE8A958C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Checking Router Information with Show Version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892FBC1-0497-DBBF-96F8-A49278F074BC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581C465-F836-9DE0-D6DF-07D8BB18153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EFAA3-C5FD-024B-D262-CBDD902D1C71}"/>
              </a:ext>
            </a:extLst>
          </p:cNvPr>
          <p:cNvSpPr txBox="1"/>
          <p:nvPr/>
        </p:nvSpPr>
        <p:spPr>
          <a:xfrm>
            <a:off x="0" y="990601"/>
            <a:ext cx="9144000" cy="4931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What can we learn about a Cisco router?</a:t>
            </a:r>
          </a:p>
          <a:p>
            <a:pPr>
              <a:lnSpc>
                <a:spcPct val="150000"/>
              </a:lnSpc>
              <a:buNone/>
            </a:pPr>
            <a:r>
              <a:rPr lang="en-AU" sz="2300" dirty="0">
                <a:latin typeface="+mj-lt"/>
              </a:rPr>
              <a:t>The command show version provides useful information about the router's hardware and software.</a:t>
            </a:r>
          </a:p>
          <a:p>
            <a:pPr>
              <a:lnSpc>
                <a:spcPct val="150000"/>
              </a:lnSpc>
              <a:buNone/>
            </a:pPr>
            <a:r>
              <a:rPr lang="en-AU" sz="2300" dirty="0">
                <a:latin typeface="+mj-lt"/>
              </a:rPr>
              <a:t>It can display: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Cisco IOS version: The operating system version running on the router.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System image: The software image used to start the router.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Hardware information: Router model, processor and memory.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Interfaces: Information about the router's network interfaces.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>
                <a:latin typeface="+mj-lt"/>
              </a:rPr>
              <a:t>Configuration register: A setting that influences how the router starts.</a:t>
            </a:r>
          </a:p>
        </p:txBody>
      </p:sp>
    </p:spTree>
    <p:extLst>
      <p:ext uri="{BB962C8B-B14F-4D97-AF65-F5344CB8AC3E}">
        <p14:creationId xmlns:p14="http://schemas.microsoft.com/office/powerpoint/2010/main" val="165719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2287-CA0E-D6D4-1ED9-A56C7A5B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EE983B45-7CF3-6A02-F2E5-2759B70BF7F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Checking Router Information with Show Version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FA3BF25-76C5-6139-B468-1E30EF1D54E4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0976B13-047C-5E61-D1E1-CDEDB0F5126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E4333-5341-9F2C-C833-99CCB57E57B4}"/>
              </a:ext>
            </a:extLst>
          </p:cNvPr>
          <p:cNvSpPr txBox="1"/>
          <p:nvPr/>
        </p:nvSpPr>
        <p:spPr>
          <a:xfrm>
            <a:off x="0" y="967860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An IT technician at a Melbourne business uses show version to identify the router model and IOS version before planning a software upgrade.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Why should an administrator check the IOS version before updating a router?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To identify the current software and check which updates are compatible with the device.</a:t>
            </a:r>
          </a:p>
        </p:txBody>
      </p:sp>
    </p:spTree>
    <p:extLst>
      <p:ext uri="{BB962C8B-B14F-4D97-AF65-F5344CB8AC3E}">
        <p14:creationId xmlns:p14="http://schemas.microsoft.com/office/powerpoint/2010/main" val="39032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3567-1077-6619-F898-2E2C8C2C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F989C9DC-3B72-76B6-43C8-32ED081EC29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Checking Router Information with Show Version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4062205-222C-4C13-0321-C6D0A6EE3E48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F82F821-60BD-C7DF-8F9F-286433B93DFF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" name="Picture 2" descr="The image shows a configuration window for a Cisco C2900-UNIVERSALK9-M router, displaying its version, memory, and various network interfaces.&#10;&#10;AI-generated content may be incorrect.">
            <a:extLst>
              <a:ext uri="{FF2B5EF4-FFF2-40B4-BE49-F238E27FC236}">
                <a16:creationId xmlns:a16="http://schemas.microsoft.com/office/drawing/2014/main" id="{30AA5483-039C-5DBF-4AD8-81BEE91E6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56" y="977384"/>
            <a:ext cx="8741487" cy="58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97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350DF-FC24-2253-1203-74F01A1E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4F3BA848-8DB6-00A0-B7BE-A017FB01196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Checking Computer Network Settings with ipconfig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87C07AA-EAA9-7EDD-E0BD-CFBCE9C30DAD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9AE4127-FFD6-2DD7-8F8E-8526106BC200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D9CD6F-CEC4-AAD8-9D13-700C20DC124A}"/>
              </a:ext>
            </a:extLst>
          </p:cNvPr>
          <p:cNvSpPr txBox="1"/>
          <p:nvPr/>
        </p:nvSpPr>
        <p:spPr>
          <a:xfrm>
            <a:off x="0" y="1066800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How can we check the network settings of a Windows computer?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Windows provides the ipconfig command to view IP configuration information.</a:t>
            </a:r>
          </a:p>
        </p:txBody>
      </p:sp>
    </p:spTree>
    <p:extLst>
      <p:ext uri="{BB962C8B-B14F-4D97-AF65-F5344CB8AC3E}">
        <p14:creationId xmlns:p14="http://schemas.microsoft.com/office/powerpoint/2010/main" val="379617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26E3-4805-9864-F8B0-02670979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043433F8-5B08-A4F8-ED18-45941D55919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Checking Computer Network Settings with ipconfig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43D035C-2189-B157-5EF8-556160FA0478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FAA67D1-91AB-580B-CA31-257F9B03BD2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5833C5-9335-0C22-7676-6FF4D46FB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530655"/>
              </p:ext>
            </p:extLst>
          </p:nvPr>
        </p:nvGraphicFramePr>
        <p:xfrm>
          <a:off x="407988" y="1600200"/>
          <a:ext cx="8328024" cy="48158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328987">
                  <a:extLst>
                    <a:ext uri="{9D8B030D-6E8A-4147-A177-3AD203B41FA5}">
                      <a16:colId xmlns:a16="http://schemas.microsoft.com/office/drawing/2014/main" val="898252643"/>
                    </a:ext>
                  </a:extLst>
                </a:gridCol>
                <a:gridCol w="4999037">
                  <a:extLst>
                    <a:ext uri="{9D8B030D-6E8A-4147-A177-3AD203B41FA5}">
                      <a16:colId xmlns:a16="http://schemas.microsoft.com/office/drawing/2014/main" val="112828129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b="1" dirty="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73536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ipconfig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Displays IP address, subnet mask and default gateway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19801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ipconfig /all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Displays detailed information, including MAC address, DHCP and DNS settings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8178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ipconfig /displaydns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Displays cached DNS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896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ipconfig /release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Releases a DHCP-assigned IPv4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5398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ipconfig /renew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Requests a DHCP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606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604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40B1-72D4-6BCC-EA7F-B1407A5E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66572ACA-C8E5-B032-B8A3-EB74D86F402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Checking Computer Network Settings with ipconfig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4F5120B-2236-81B9-5B0F-36DB55AC2527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B99468A-DFD7-0245-8BC8-E2739A75CD2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EA6C2B-5BAC-5068-F86B-17F342BAA7DD}"/>
              </a:ext>
            </a:extLst>
          </p:cNvPr>
          <p:cNvSpPr txBox="1"/>
          <p:nvPr/>
        </p:nvSpPr>
        <p:spPr>
          <a:xfrm>
            <a:off x="0" y="1042630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 student connects a laptop to Wi-Fi at a Sydney university but cannot access the internet. The IT support team uses ipconfig /all to check the assigned IP address, default gateway and DNS server.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If a Windows computer has an IPv4 address beginning with 169.254, what might this indicate?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The computer may not have received an IPv4 address from DHCP and has assigned itself a link-local address.</a:t>
            </a:r>
          </a:p>
        </p:txBody>
      </p:sp>
    </p:spTree>
    <p:extLst>
      <p:ext uri="{BB962C8B-B14F-4D97-AF65-F5344CB8AC3E}">
        <p14:creationId xmlns:p14="http://schemas.microsoft.com/office/powerpoint/2010/main" val="404920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02535-E943-6007-0F1B-334A82AD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94218FD9-2984-32C6-B891-127B8A81D28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Checking Computer Network Settings with ipconfig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8441AC2-3533-7F65-DAA2-14720EB623FA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D3CD91D-C03A-ABD7-7A82-F992C1147AFB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" name="Picture 2" descr="The image displays a Windows Command Prompt window, showing the output of the 'ipconfig' command, which provides details about the computer's IP configuration.&#10;&#10;AI-generated content may be incorrect.">
            <a:extLst>
              <a:ext uri="{FF2B5EF4-FFF2-40B4-BE49-F238E27FC236}">
                <a16:creationId xmlns:a16="http://schemas.microsoft.com/office/drawing/2014/main" id="{6092F2A3-1F55-DC80-8E3A-88AA9643E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830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0789-B9A7-FE01-68F8-6FB57321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E8534870-8B5B-9B95-B5BA-40E78CADB4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Discovering Connected Devices with CDP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87BEF75-FE1D-C412-B5DE-CF87281A13FE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D73A4CF-B677-00F9-B57B-7B68E5D573F2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0D5DE-B2E6-B73B-4A6A-18CB0982D277}"/>
              </a:ext>
            </a:extLst>
          </p:cNvPr>
          <p:cNvSpPr txBox="1"/>
          <p:nvPr/>
        </p:nvSpPr>
        <p:spPr>
          <a:xfrm>
            <a:off x="0" y="762001"/>
            <a:ext cx="9144000" cy="5903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How can a router identify its directly connected Cisco neighbours?</a:t>
            </a:r>
          </a:p>
          <a:p>
            <a:pPr>
              <a:lnSpc>
                <a:spcPct val="150000"/>
              </a:lnSpc>
              <a:buNone/>
            </a:pPr>
            <a:r>
              <a:rPr lang="en-AU" sz="2200" dirty="0">
                <a:latin typeface="+mj-lt"/>
              </a:rPr>
              <a:t>Cisco Discovery Protocol (CDP) helps Cisco devices discover information about nearby Cisco networking devices.</a:t>
            </a:r>
          </a:p>
          <a:p>
            <a:pPr>
              <a:lnSpc>
                <a:spcPct val="150000"/>
              </a:lnSpc>
              <a:buNone/>
            </a:pPr>
            <a:r>
              <a:rPr lang="en-AU" sz="2200" dirty="0">
                <a:latin typeface="+mj-lt"/>
              </a:rPr>
              <a:t>Two useful commands: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show </a:t>
            </a:r>
            <a:r>
              <a:rPr lang="en-AU" sz="2200" dirty="0" err="1">
                <a:latin typeface="+mj-lt"/>
              </a:rPr>
              <a:t>cdp</a:t>
            </a:r>
            <a:r>
              <a:rPr lang="en-AU" sz="2200" dirty="0">
                <a:latin typeface="+mj-lt"/>
              </a:rPr>
              <a:t> </a:t>
            </a:r>
            <a:r>
              <a:rPr lang="en-AU" sz="2200" dirty="0" err="1">
                <a:latin typeface="+mj-lt"/>
              </a:rPr>
              <a:t>neighbors</a:t>
            </a:r>
            <a:r>
              <a:rPr lang="en-AU" sz="2200" dirty="0">
                <a:latin typeface="+mj-lt"/>
              </a:rPr>
              <a:t> — displays directly connected Cisco devices and their interfaces.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200" dirty="0">
                <a:latin typeface="+mj-lt"/>
              </a:rPr>
              <a:t>show </a:t>
            </a:r>
            <a:r>
              <a:rPr lang="en-AU" sz="2200" dirty="0" err="1">
                <a:latin typeface="+mj-lt"/>
              </a:rPr>
              <a:t>cdp</a:t>
            </a:r>
            <a:r>
              <a:rPr lang="en-AU" sz="2200" dirty="0">
                <a:latin typeface="+mj-lt"/>
              </a:rPr>
              <a:t> </a:t>
            </a:r>
            <a:r>
              <a:rPr lang="en-AU" sz="2200" dirty="0" err="1">
                <a:latin typeface="+mj-lt"/>
              </a:rPr>
              <a:t>neighbors</a:t>
            </a:r>
            <a:r>
              <a:rPr lang="en-AU" sz="2200" dirty="0">
                <a:latin typeface="+mj-lt"/>
              </a:rPr>
              <a:t> detail — provides additional information, which may include device IP addresses and software details.</a:t>
            </a:r>
          </a:p>
          <a:p>
            <a:pPr>
              <a:lnSpc>
                <a:spcPct val="150000"/>
              </a:lnSpc>
              <a:buNone/>
            </a:pPr>
            <a:r>
              <a:rPr lang="en-AU" sz="2200" dirty="0">
                <a:latin typeface="+mj-lt"/>
              </a:rPr>
              <a:t>CDP can help administrators identify connections and troubleshoot cabling or topology problems.</a:t>
            </a:r>
          </a:p>
        </p:txBody>
      </p:sp>
    </p:spTree>
    <p:extLst>
      <p:ext uri="{BB962C8B-B14F-4D97-AF65-F5344CB8AC3E}">
        <p14:creationId xmlns:p14="http://schemas.microsoft.com/office/powerpoint/2010/main" val="16812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C2068-411C-CC44-5784-9A937FA6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F5C6C7DF-84F2-A914-2BC9-4F96BA30B36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Discovering Connected Devices with CDP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D1EDCD2-8245-C265-D333-26210455BEC3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DBF057B-67B7-AE21-FDED-E3F7227F6FCD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81518-9060-8FC6-8727-7920043A6B79}"/>
              </a:ext>
            </a:extLst>
          </p:cNvPr>
          <p:cNvSpPr txBox="1"/>
          <p:nvPr/>
        </p:nvSpPr>
        <p:spPr>
          <a:xfrm>
            <a:off x="0" y="609600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 network administrator at a Brisbane office wants to identify which Cisco switch is connected to a particular router interface. The administrator uses show </a:t>
            </a:r>
            <a:r>
              <a:rPr lang="en-AU" sz="2800" dirty="0" err="1">
                <a:latin typeface="+mj-lt"/>
              </a:rPr>
              <a:t>cdp</a:t>
            </a:r>
            <a:r>
              <a:rPr lang="en-AU" sz="2800" dirty="0">
                <a:latin typeface="+mj-lt"/>
              </a:rPr>
              <a:t> </a:t>
            </a:r>
            <a:r>
              <a:rPr lang="en-AU" sz="2800" dirty="0" err="1">
                <a:latin typeface="+mj-lt"/>
              </a:rPr>
              <a:t>neighbors</a:t>
            </a:r>
            <a:r>
              <a:rPr lang="en-AU" sz="28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If a router is connected to two Cisco switches, which command can help identify those switches?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show </a:t>
            </a:r>
            <a:r>
              <a:rPr lang="en-AU" sz="2800" dirty="0" err="1">
                <a:latin typeface="+mj-lt"/>
              </a:rPr>
              <a:t>cdp</a:t>
            </a:r>
            <a:r>
              <a:rPr lang="en-AU" sz="2800" dirty="0">
                <a:latin typeface="+mj-lt"/>
              </a:rPr>
              <a:t> </a:t>
            </a:r>
            <a:r>
              <a:rPr lang="en-AU" sz="2800" dirty="0" err="1">
                <a:latin typeface="+mj-lt"/>
              </a:rPr>
              <a:t>neighbors</a:t>
            </a:r>
            <a:r>
              <a:rPr lang="en-AU" sz="2800" dirty="0">
                <a:latin typeface="+mj-lt"/>
              </a:rPr>
              <a:t>, provided CDP is enabled on the relevant devices and interfaces.</a:t>
            </a:r>
          </a:p>
        </p:txBody>
      </p:sp>
    </p:spTree>
    <p:extLst>
      <p:ext uri="{BB962C8B-B14F-4D97-AF65-F5344CB8AC3E}">
        <p14:creationId xmlns:p14="http://schemas.microsoft.com/office/powerpoint/2010/main" val="225352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01EA-8DA5-401B-7FC1-AC7E5FD8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5E060FA7-8303-5888-9BD1-FE3A56C796D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Discovering Connected Devices with CDP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6A14BB6-E934-CE32-50FA-6DF4F0E0D1D5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A73CC1F-AF53-F217-94D1-BE6AAE165558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" name="Picture 2" descr="The image depicts a network topology with two Cisco switches, R1 and R2, connected to two PCs, and shows the Cisco Discovery Protocol (CDP) neighbors list, indicating R1 connected to S1 on Gig 0/0 and S2 on Gig 0/1.&#10;&#10;AI-generated content may be incorrect.">
            <a:extLst>
              <a:ext uri="{FF2B5EF4-FFF2-40B4-BE49-F238E27FC236}">
                <a16:creationId xmlns:a16="http://schemas.microsoft.com/office/drawing/2014/main" id="{B668B6D8-A0DB-836A-160A-8D4107D8C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029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2113-3140-DA57-A033-2146EC57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8C81BADA-D2C0-F9F3-ED06-953DE64B38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Troubleshooting Network Interfaces and Connectivity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C63907F-4EA1-74A5-B302-63B2643FFE3E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6EFD0C9-09BE-5DDE-E7B2-70BBBE23ED69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B94F3-527C-99B1-2F4C-82D63B53E401}"/>
              </a:ext>
            </a:extLst>
          </p:cNvPr>
          <p:cNvSpPr txBox="1"/>
          <p:nvPr/>
        </p:nvSpPr>
        <p:spPr>
          <a:xfrm>
            <a:off x="0" y="967859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How can we find and fix network connection problems?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Three useful Cisco commands: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show </a:t>
            </a:r>
            <a:r>
              <a:rPr lang="en-AU" sz="2800" dirty="0" err="1">
                <a:latin typeface="+mj-lt"/>
              </a:rPr>
              <a:t>ip</a:t>
            </a:r>
            <a:r>
              <a:rPr lang="en-AU" sz="2800" dirty="0">
                <a:latin typeface="+mj-lt"/>
              </a:rPr>
              <a:t> interface brief — checks interface IP addresses and whether interfaces are up or down.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ping — tests whether a destination responds to ICMP echo requests.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traceroute — helps identify the network path towards a destination.</a:t>
            </a:r>
          </a:p>
        </p:txBody>
      </p:sp>
    </p:spTree>
    <p:extLst>
      <p:ext uri="{BB962C8B-B14F-4D97-AF65-F5344CB8AC3E}">
        <p14:creationId xmlns:p14="http://schemas.microsoft.com/office/powerpoint/2010/main" val="35557393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F9A1-CDA7-4BF0-43C7-E2A4811E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C65C8D5C-6DBF-90D2-5019-8533E9E705E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Troubleshooting Network Interfaces and Connectivity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1DCD747-2F62-63B5-0DC6-B8E689523F2D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889178D-9EFD-B488-D7C9-4F244EDC909D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AB37B5-A9F7-4F89-23E2-3BD5E8D2F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417976"/>
              </p:ext>
            </p:extLst>
          </p:nvPr>
        </p:nvGraphicFramePr>
        <p:xfrm>
          <a:off x="407988" y="1848937"/>
          <a:ext cx="8328024" cy="47244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164012">
                  <a:extLst>
                    <a:ext uri="{9D8B030D-6E8A-4147-A177-3AD203B41FA5}">
                      <a16:colId xmlns:a16="http://schemas.microsoft.com/office/drawing/2014/main" val="1807509505"/>
                    </a:ext>
                  </a:extLst>
                </a:gridCol>
                <a:gridCol w="4164012">
                  <a:extLst>
                    <a:ext uri="{9D8B030D-6E8A-4147-A177-3AD203B41FA5}">
                      <a16:colId xmlns:a16="http://schemas.microsoft.com/office/drawing/2014/main" val="227010263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b="1" dirty="0"/>
                        <a:t>Interface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6655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up / 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Interface and line protocol are operational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1020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down /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Interface or connection is not operational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17633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administratively down /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Interface has been disabled by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04843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up /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Physical interface is active, but the line protocol is not operational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8527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097D5B-A3DB-F5A1-964F-F076093E9F39}"/>
              </a:ext>
            </a:extLst>
          </p:cNvPr>
          <p:cNvSpPr txBox="1"/>
          <p:nvPr/>
        </p:nvSpPr>
        <p:spPr>
          <a:xfrm>
            <a:off x="0" y="116277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2800" dirty="0">
                <a:latin typeface="+mj-lt"/>
              </a:rPr>
              <a:t>Common interface states:</a:t>
            </a:r>
          </a:p>
        </p:txBody>
      </p:sp>
    </p:spTree>
    <p:extLst>
      <p:ext uri="{BB962C8B-B14F-4D97-AF65-F5344CB8AC3E}">
        <p14:creationId xmlns:p14="http://schemas.microsoft.com/office/powerpoint/2010/main" val="39370477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4C73-0DAF-3F1F-AE09-EF4BEC30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402D4FFE-41E9-39AE-707E-06322B08204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Troubleshooting Network Interfaces and Connectivity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14747B1-328C-879A-FD92-2235710243D8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D169623-97A0-EFF5-7D2D-90C4A274BEED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6594B-396D-D2A9-2EA3-81EEF0BC7D19}"/>
              </a:ext>
            </a:extLst>
          </p:cNvPr>
          <p:cNvSpPr txBox="1"/>
          <p:nvPr/>
        </p:nvSpPr>
        <p:spPr>
          <a:xfrm>
            <a:off x="0" y="908895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Example in Australia: </a:t>
            </a:r>
            <a:r>
              <a:rPr lang="en-AU" sz="2800" dirty="0">
                <a:latin typeface="+mj-lt"/>
              </a:rPr>
              <a:t>A small business in Parramatta cannot access its Melbourne branch network. The technician checks the router interfaces, tests connectivity with ping, and uses traceroute to investigate where communication may be failing.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Discussion question: </a:t>
            </a:r>
            <a:r>
              <a:rPr lang="en-AU" sz="2800" dirty="0">
                <a:latin typeface="+mj-lt"/>
              </a:rPr>
              <a:t>If an interface displays administratively down, what command can enable it?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Simple answer: Enter interface configuration mode and use no shutdown.</a:t>
            </a:r>
          </a:p>
        </p:txBody>
      </p:sp>
    </p:spTree>
    <p:extLst>
      <p:ext uri="{BB962C8B-B14F-4D97-AF65-F5344CB8AC3E}">
        <p14:creationId xmlns:p14="http://schemas.microsoft.com/office/powerpoint/2010/main" val="404341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A0FB-91AD-DB9A-D887-26A7EADC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DFBD429B-A8E6-2D2F-085D-402BE0A5E80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Troubleshooting Network Interfaces and Connectivity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DCA4921-0956-97B1-886B-31D9FC4A50EE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1641920-4265-CFC1-F857-80747EA61AF0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E62B8-F261-8C81-9444-3A6A1C1D2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146957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09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B384B-83F7-580F-D6BA-BCDCB65C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7AA83FBB-29F6-0417-EF73-A284554253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Troubleshooting Network Interfaces and Connectivity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EF32C1E-2469-A617-B557-6756B761E02D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FB2704C-9834-BDEA-56F5-4086857F279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F17FB-2870-0B16-01BF-958EE9451FFB}"/>
              </a:ext>
            </a:extLst>
          </p:cNvPr>
          <p:cNvSpPr txBox="1"/>
          <p:nvPr/>
        </p:nvSpPr>
        <p:spPr>
          <a:xfrm>
            <a:off x="120809" y="1143000"/>
            <a:ext cx="890238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Example troubleshooting commands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>
                <a:highlight>
                  <a:srgbClr val="FFFF00"/>
                </a:highlight>
                <a:latin typeface="+mj-lt"/>
              </a:rPr>
              <a:t>Router# show </a:t>
            </a:r>
            <a:r>
              <a:rPr lang="en-AU" sz="2800" dirty="0" err="1">
                <a:highlight>
                  <a:srgbClr val="FFFF00"/>
                </a:highlight>
                <a:latin typeface="+mj-lt"/>
              </a:rPr>
              <a:t>ip</a:t>
            </a:r>
            <a:r>
              <a:rPr lang="en-AU" sz="2800" dirty="0">
                <a:highlight>
                  <a:srgbClr val="FFFF00"/>
                </a:highlight>
                <a:latin typeface="+mj-lt"/>
              </a:rPr>
              <a:t> interface brief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>
                <a:highlight>
                  <a:srgbClr val="FFFF00"/>
                </a:highlight>
                <a:latin typeface="+mj-lt"/>
              </a:rPr>
              <a:t>Router# ping 192.168.2.1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>
                <a:highlight>
                  <a:srgbClr val="FFFF00"/>
                </a:highlight>
                <a:latin typeface="+mj-lt"/>
              </a:rPr>
              <a:t>Router# traceroute 192.168.2.1</a:t>
            </a:r>
          </a:p>
          <a:p>
            <a:pPr rtl="0">
              <a:lnSpc>
                <a:spcPct val="150000"/>
              </a:lnSpc>
              <a:buNone/>
            </a:pPr>
            <a:endParaRPr lang="en-AU" sz="2800" dirty="0">
              <a:highlight>
                <a:srgbClr val="FFFF00"/>
              </a:highlight>
              <a:latin typeface="+mj-lt"/>
            </a:endParaRPr>
          </a:p>
          <a:p>
            <a:pPr rtl="0">
              <a:lnSpc>
                <a:spcPct val="150000"/>
              </a:lnSpc>
              <a:buNone/>
            </a:pPr>
            <a:r>
              <a:rPr lang="en-AU" sz="2800" dirty="0">
                <a:highlight>
                  <a:srgbClr val="FFFF00"/>
                </a:highlight>
                <a:latin typeface="+mj-lt"/>
              </a:rPr>
              <a:t>Router# configure terminal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>
                <a:highlight>
                  <a:srgbClr val="FFFF00"/>
                </a:highlight>
                <a:latin typeface="+mj-lt"/>
              </a:rPr>
              <a:t>Router(config)# interface </a:t>
            </a:r>
            <a:r>
              <a:rPr lang="en-AU" sz="2800" dirty="0" err="1">
                <a:highlight>
                  <a:srgbClr val="FFFF00"/>
                </a:highlight>
                <a:latin typeface="+mj-lt"/>
              </a:rPr>
              <a:t>gigabitEthernet</a:t>
            </a:r>
            <a:r>
              <a:rPr lang="en-AU" sz="2800" dirty="0">
                <a:highlight>
                  <a:srgbClr val="FFFF00"/>
                </a:highlight>
                <a:latin typeface="+mj-lt"/>
              </a:rPr>
              <a:t> 0/0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>
                <a:highlight>
                  <a:srgbClr val="FFFF00"/>
                </a:highlight>
                <a:latin typeface="+mj-lt"/>
              </a:rPr>
              <a:t>Router(config-if)# no shutdown</a:t>
            </a:r>
          </a:p>
        </p:txBody>
      </p:sp>
    </p:spTree>
    <p:extLst>
      <p:ext uri="{BB962C8B-B14F-4D97-AF65-F5344CB8AC3E}">
        <p14:creationId xmlns:p14="http://schemas.microsoft.com/office/powerpoint/2010/main" val="2765242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111C-6F23-40B4-D841-46AAEFC7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3E6471D8-B16A-2866-7A4B-91BBA3AD91B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Class activity — Find and Fix the Network Problem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E18245D-825D-74A4-219F-AE47C2580A2F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0C1C9B3-3C42-47AE-FA01-8EFDF35E43EA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" name="Picture 2" descr="The diagram shows a network topology with two routers (R1 and R2) connected to two different subnets, but the link between them is disabled.&#10;&#10;AI-generated content may be incorrect.">
            <a:extLst>
              <a:ext uri="{FF2B5EF4-FFF2-40B4-BE49-F238E27FC236}">
                <a16:creationId xmlns:a16="http://schemas.microsoft.com/office/drawing/2014/main" id="{753D8F22-80B4-EE11-8857-382605015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6800"/>
            <a:ext cx="8686800" cy="2113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0B71D3-7CE8-4B46-C1F2-594AF30D61AF}"/>
              </a:ext>
            </a:extLst>
          </p:cNvPr>
          <p:cNvSpPr txBox="1"/>
          <p:nvPr/>
        </p:nvSpPr>
        <p:spPr>
          <a:xfrm>
            <a:off x="0" y="3278751"/>
            <a:ext cx="9144000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000" dirty="0">
                <a:latin typeface="+mj-lt"/>
              </a:rPr>
              <a:t>Scenario: PC-A cannot communicate with PC-B because an interface between the routers has been disabled.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000" dirty="0">
                <a:latin typeface="+mj-lt"/>
              </a:rPr>
              <a:t>Check the router interfaces.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000" dirty="0">
                <a:latin typeface="+mj-lt"/>
              </a:rPr>
              <a:t>Identify the disabled interface.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000" dirty="0">
                <a:latin typeface="+mj-lt"/>
              </a:rPr>
              <a:t>Enable it using no shutdown.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000" dirty="0">
                <a:latin typeface="+mj-lt"/>
              </a:rPr>
              <a:t>Test the connection using ping.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000" dirty="0">
                <a:latin typeface="+mj-lt"/>
              </a:rPr>
              <a:t>Explain what they changed and why.</a:t>
            </a:r>
          </a:p>
        </p:txBody>
      </p:sp>
    </p:spTree>
    <p:extLst>
      <p:ext uri="{BB962C8B-B14F-4D97-AF65-F5344CB8AC3E}">
        <p14:creationId xmlns:p14="http://schemas.microsoft.com/office/powerpoint/2010/main" val="20728558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E0D7-D398-B195-23D1-4E68BCBC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16972F78-456E-513B-F0C4-2199967666F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Class activity — Find and Fix the Network Problem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42B4604-A2C5-1427-8596-684E10DE124D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CFDBFEB-5964-F6D0-0DCD-610F29D29524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" name="Picture 2" descr="The diagram shows a network topology with two routers (R1 and R2) connected to two different subnets, but the link between them is disabled.&#10;&#10;AI-generated content may be incorrect.">
            <a:extLst>
              <a:ext uri="{FF2B5EF4-FFF2-40B4-BE49-F238E27FC236}">
                <a16:creationId xmlns:a16="http://schemas.microsoft.com/office/drawing/2014/main" id="{B32A7976-FB71-6C24-B5DE-A7FE2E6B7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6800"/>
            <a:ext cx="8686800" cy="21130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698197-285B-7590-5A12-131FF46618EF}"/>
              </a:ext>
            </a:extLst>
          </p:cNvPr>
          <p:cNvSpPr txBox="1"/>
          <p:nvPr/>
        </p:nvSpPr>
        <p:spPr>
          <a:xfrm>
            <a:off x="0" y="3179810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latin typeface="+mj-lt"/>
              </a:rPr>
              <a:t>Expected result: Students restore the connection, assuming all other addressing and routing settings are correct.</a:t>
            </a:r>
          </a:p>
        </p:txBody>
      </p:sp>
    </p:spTree>
    <p:extLst>
      <p:ext uri="{BB962C8B-B14F-4D97-AF65-F5344CB8AC3E}">
        <p14:creationId xmlns:p14="http://schemas.microsoft.com/office/powerpoint/2010/main" val="9912316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9694-269D-8103-697C-3EDF7721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5BA095FF-02B1-A2E4-8F07-AD4E2760DE0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CE9844C-78B4-F0FD-501F-CC11E8DD3FC8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51E0D9A-F56E-3B6A-227B-CF6003AD34D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E816E-CC65-1C8D-89FF-0F5D90D96D5C}"/>
              </a:ext>
            </a:extLst>
          </p:cNvPr>
          <p:cNvSpPr txBox="1"/>
          <p:nvPr/>
        </p:nvSpPr>
        <p:spPr>
          <a:xfrm>
            <a:off x="0" y="967859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Multiple-Choice Quiz (10 Questions)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Question 1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A small business in Sydney is choosing a new network switch. Which factor is important when selecting the switch?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A. The number of employees using email B. The brand of the office computers C. The colour of the switch D. The number of ports and their speeds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Answer: D. The number of ports and their speeds</a:t>
            </a:r>
          </a:p>
        </p:txBody>
      </p:sp>
    </p:spTree>
    <p:extLst>
      <p:ext uri="{BB962C8B-B14F-4D97-AF65-F5344CB8AC3E}">
        <p14:creationId xmlns:p14="http://schemas.microsoft.com/office/powerpoint/2010/main" val="389143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A85DE-9886-1E63-1D3F-00CDA64D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3C87C407-667C-2762-9369-DBB54BEF4C6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B26791E-BE78-607F-0437-3DCE01B662DB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BB02AE6-CEA6-7F2E-E129-D3FAD20694BA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3CCB4-83A9-80D6-D11E-783196AB5667}"/>
              </a:ext>
            </a:extLst>
          </p:cNvPr>
          <p:cNvSpPr txBox="1"/>
          <p:nvPr/>
        </p:nvSpPr>
        <p:spPr>
          <a:xfrm>
            <a:off x="0" y="990601"/>
            <a:ext cx="9144000" cy="511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Question 2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A small company in Melbourne wants to organise its computers, printers and servers into different IP address groups. What is the main benefit of planning an IP addressing scheme?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It removes the need for routers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It makes network management and troubleshooting </a:t>
            </a:r>
            <a:r>
              <a:rPr lang="en-AU" sz="2400" dirty="0" err="1">
                <a:latin typeface="+mj-lt"/>
              </a:rPr>
              <a:t>easie</a:t>
            </a:r>
            <a:endParaRPr lang="en-AU" sz="2400" dirty="0">
              <a:latin typeface="+mj-lt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It increases the physical size of the network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It automatically protects the network from all attacks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Answer: B. It makes network management and troubleshooting easier</a:t>
            </a:r>
          </a:p>
        </p:txBody>
      </p:sp>
    </p:spTree>
    <p:extLst>
      <p:ext uri="{BB962C8B-B14F-4D97-AF65-F5344CB8AC3E}">
        <p14:creationId xmlns:p14="http://schemas.microsoft.com/office/powerpoint/2010/main" val="195268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A876-D552-F3D0-6C8B-B3A9E2CDD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0FE5234F-D049-F5E2-238F-9465FA97F3B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DD320EA-08D9-10FA-D5F8-27CC831DCC25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18B9341-2FBB-487B-08CA-44BAA3B676AE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EC33C-D9AE-DE74-0C89-5F42B5057749}"/>
              </a:ext>
            </a:extLst>
          </p:cNvPr>
          <p:cNvSpPr txBox="1"/>
          <p:nvPr/>
        </p:nvSpPr>
        <p:spPr>
          <a:xfrm>
            <a:off x="0" y="967859"/>
            <a:ext cx="91440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Question 3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A university in Brisbane uses DHCP to connect student computers to its network. What is the main purpose of DHCP?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To automatically assign IP addresses and other network settings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To encrypt all network traffic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To transfer files between computers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To identify computer viruses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Answer: A. To automatically assign IP addresses and other network settings</a:t>
            </a:r>
          </a:p>
        </p:txBody>
      </p:sp>
    </p:spTree>
    <p:extLst>
      <p:ext uri="{BB962C8B-B14F-4D97-AF65-F5344CB8AC3E}">
        <p14:creationId xmlns:p14="http://schemas.microsoft.com/office/powerpoint/2010/main" val="65194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D36E-FEA9-2670-6181-EA0B7106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68213C4C-752B-4985-208A-7342A75915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618A095-6F6A-7F71-9869-3D47654617F9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1F3AE1B-CCF0-5458-5B10-14395864B651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42E5-F365-6BCE-FE91-BC6A4905A56B}"/>
              </a:ext>
            </a:extLst>
          </p:cNvPr>
          <p:cNvSpPr txBox="1"/>
          <p:nvPr/>
        </p:nvSpPr>
        <p:spPr>
          <a:xfrm>
            <a:off x="0" y="1066800"/>
            <a:ext cx="914400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Question 4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An employee at a Sydney company receives an email containing a malicious attachment. When opened, the attachment installs harmful software that spreads by infecting other files. What type of malware is this?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Firewall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Network switch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Computer virus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DNS server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Answer: C. Computer virus</a:t>
            </a:r>
          </a:p>
        </p:txBody>
      </p:sp>
    </p:spTree>
    <p:extLst>
      <p:ext uri="{BB962C8B-B14F-4D97-AF65-F5344CB8AC3E}">
        <p14:creationId xmlns:p14="http://schemas.microsoft.com/office/powerpoint/2010/main" val="18271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FC6E-19BC-D3B2-1D15-DBBF3A2B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E7808DC6-2F16-01CA-E2AD-658E9D3DCCD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60DBF93-F5BB-1B2D-7922-26DE3F8C0930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B5019BF-8FD4-5046-0370-C5AD8D811B34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51669-53CC-1470-5C1C-F1231C31303C}"/>
              </a:ext>
            </a:extLst>
          </p:cNvPr>
          <p:cNvSpPr txBox="1"/>
          <p:nvPr/>
        </p:nvSpPr>
        <p:spPr>
          <a:xfrm>
            <a:off x="0" y="1066800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Question 5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An attacker attempts to identify active devices and open ports on a company's network before launching an attack. What type of activity is this?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800" dirty="0">
                <a:latin typeface="+mj-lt"/>
              </a:rPr>
              <a:t>Data backup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800" dirty="0">
                <a:latin typeface="+mj-lt"/>
              </a:rPr>
              <a:t>Network reconnaissance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800" dirty="0">
                <a:latin typeface="+mj-lt"/>
              </a:rPr>
              <a:t>Network encryption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800" dirty="0">
                <a:latin typeface="+mj-lt"/>
              </a:rPr>
              <a:t>Software updating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Answer: B. Network reconnaissance</a:t>
            </a:r>
          </a:p>
        </p:txBody>
      </p:sp>
    </p:spTree>
    <p:extLst>
      <p:ext uri="{BB962C8B-B14F-4D97-AF65-F5344CB8AC3E}">
        <p14:creationId xmlns:p14="http://schemas.microsoft.com/office/powerpoint/2010/main" val="130533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9E9C-7249-DBE6-BA54-5DA839FF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5E2F10EA-702C-4448-72EF-12AA8582AFD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928ABF6-DF09-BD7E-7A64-FF818576DEB2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3BD3C9E-7582-FF45-BFB3-4382630653B8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32555-5692-9F92-E2DC-B22DD91016F1}"/>
              </a:ext>
            </a:extLst>
          </p:cNvPr>
          <p:cNvSpPr txBox="1"/>
          <p:nvPr/>
        </p:nvSpPr>
        <p:spPr>
          <a:xfrm>
            <a:off x="0" y="967860"/>
            <a:ext cx="9144000" cy="5431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Question 6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A Melbourne organisation regularly updates its computers and network devices to protect against known security vulnerabilities. What is the main purpose of installing security patches?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600" dirty="0">
                <a:latin typeface="+mj-lt"/>
              </a:rPr>
              <a:t>To increase the number of IP addresses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600" dirty="0">
                <a:latin typeface="+mj-lt"/>
              </a:rPr>
              <a:t>To replace network cables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600" dirty="0">
                <a:latin typeface="+mj-lt"/>
              </a:rPr>
              <a:t>To change the network topology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600" dirty="0">
                <a:latin typeface="+mj-lt"/>
              </a:rPr>
              <a:t>To fix known software security weaknesses</a:t>
            </a:r>
          </a:p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Answer: D. To fix known software security weaknesses</a:t>
            </a:r>
          </a:p>
        </p:txBody>
      </p:sp>
    </p:spTree>
    <p:extLst>
      <p:ext uri="{BB962C8B-B14F-4D97-AF65-F5344CB8AC3E}">
        <p14:creationId xmlns:p14="http://schemas.microsoft.com/office/powerpoint/2010/main" val="66118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572D6-90BA-0A7D-9DDC-78CCBCBD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6CBB97A3-3CBB-9814-7215-6D927C16D68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678FB7B-EAFE-753B-D808-4CDADC0C2850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EFC2393-98A8-D9B1-4C76-BB379A133968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4D113-7AE9-665E-E596-728B2C0D84D0}"/>
              </a:ext>
            </a:extLst>
          </p:cNvPr>
          <p:cNvSpPr txBox="1"/>
          <p:nvPr/>
        </p:nvSpPr>
        <p:spPr>
          <a:xfrm>
            <a:off x="0" y="1066801"/>
            <a:ext cx="9144000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Question 7</a:t>
            </a:r>
          </a:p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A network administrator at a Sydney university logs in to a router using a username and password. The system then checks which commands the administrator is permitted to use. Which AAA function determines the permitted commands?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Authentication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Accounting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Authorization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400" dirty="0">
                <a:latin typeface="+mj-lt"/>
              </a:rPr>
              <a:t>Addressing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Answer: C. Authorization</a:t>
            </a:r>
          </a:p>
        </p:txBody>
      </p:sp>
    </p:spTree>
    <p:extLst>
      <p:ext uri="{BB962C8B-B14F-4D97-AF65-F5344CB8AC3E}">
        <p14:creationId xmlns:p14="http://schemas.microsoft.com/office/powerpoint/2010/main" val="318760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2568-EB11-74F5-6910-04539A54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B44E31D9-1AA2-B037-4841-B42A24686F7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BEB562E-73E2-F8BC-1955-BDA418E9038E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93A9C6C-9DC9-BD4C-17E1-8263C2FBB4A3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972CD-5312-1509-DCD4-54AAF347693E}"/>
              </a:ext>
            </a:extLst>
          </p:cNvPr>
          <p:cNvSpPr txBox="1"/>
          <p:nvPr/>
        </p:nvSpPr>
        <p:spPr>
          <a:xfrm>
            <a:off x="0" y="1295400"/>
            <a:ext cx="9220200" cy="464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500" dirty="0">
                <a:latin typeface="+mj-lt"/>
              </a:rPr>
              <a:t>Question 8</a:t>
            </a:r>
          </a:p>
          <a:p>
            <a:pPr>
              <a:lnSpc>
                <a:spcPct val="150000"/>
              </a:lnSpc>
              <a:buNone/>
            </a:pPr>
            <a:r>
              <a:rPr lang="en-AU" sz="2500" dirty="0">
                <a:latin typeface="+mj-lt"/>
              </a:rPr>
              <a:t>A technician at a Brisbane office wants to check the current configuration of a Cisco router. Which command should they use?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500" dirty="0">
                <a:latin typeface="+mj-lt"/>
              </a:rPr>
              <a:t>show running-config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500" dirty="0">
                <a:latin typeface="+mj-lt"/>
              </a:rPr>
              <a:t>show version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500" dirty="0">
                <a:latin typeface="+mj-lt"/>
              </a:rPr>
              <a:t>show </a:t>
            </a:r>
            <a:r>
              <a:rPr lang="en-AU" sz="2500" dirty="0" err="1">
                <a:latin typeface="+mj-lt"/>
              </a:rPr>
              <a:t>ip</a:t>
            </a:r>
            <a:r>
              <a:rPr lang="en-AU" sz="2500" dirty="0">
                <a:latin typeface="+mj-lt"/>
              </a:rPr>
              <a:t> route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500" dirty="0">
                <a:latin typeface="+mj-lt"/>
              </a:rPr>
              <a:t>show </a:t>
            </a:r>
            <a:r>
              <a:rPr lang="en-AU" sz="2500" dirty="0" err="1">
                <a:latin typeface="+mj-lt"/>
              </a:rPr>
              <a:t>arp</a:t>
            </a:r>
            <a:endParaRPr lang="en-AU" sz="2500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AU" sz="2500" dirty="0">
                <a:latin typeface="+mj-lt"/>
              </a:rPr>
              <a:t>Answer: A. show running-config</a:t>
            </a:r>
          </a:p>
        </p:txBody>
      </p:sp>
    </p:spTree>
    <p:extLst>
      <p:ext uri="{BB962C8B-B14F-4D97-AF65-F5344CB8AC3E}">
        <p14:creationId xmlns:p14="http://schemas.microsoft.com/office/powerpoint/2010/main" val="291329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B8A2-DD0B-7744-1D15-88BE127B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13012239-9BEB-AE64-FB8C-892716DCE01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6910BEF-1213-4CE3-F6A6-CE208C065033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B26C5DE-8EC2-61E6-3A6D-1FC14C259474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2246E-DCBE-F6C9-C73B-9E17D8E12B55}"/>
              </a:ext>
            </a:extLst>
          </p:cNvPr>
          <p:cNvSpPr txBox="1"/>
          <p:nvPr/>
        </p:nvSpPr>
        <p:spPr>
          <a:xfrm>
            <a:off x="0" y="1143000"/>
            <a:ext cx="9144000" cy="5431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Question 9</a:t>
            </a:r>
          </a:p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A network administrator wants to identify which Cisco switch is directly connected to a particular router interface. Which command is most appropriate?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600" dirty="0">
                <a:latin typeface="+mj-lt"/>
              </a:rPr>
              <a:t>show </a:t>
            </a:r>
            <a:r>
              <a:rPr lang="en-AU" sz="2600" dirty="0" err="1">
                <a:latin typeface="+mj-lt"/>
              </a:rPr>
              <a:t>ip</a:t>
            </a:r>
            <a:r>
              <a:rPr lang="en-AU" sz="2600" dirty="0">
                <a:latin typeface="+mj-lt"/>
              </a:rPr>
              <a:t> route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600" dirty="0">
                <a:latin typeface="+mj-lt"/>
              </a:rPr>
              <a:t>show </a:t>
            </a:r>
            <a:r>
              <a:rPr lang="en-AU" sz="2600" dirty="0" err="1">
                <a:latin typeface="+mj-lt"/>
              </a:rPr>
              <a:t>cdp</a:t>
            </a:r>
            <a:r>
              <a:rPr lang="en-AU" sz="2600" dirty="0">
                <a:latin typeface="+mj-lt"/>
              </a:rPr>
              <a:t> </a:t>
            </a:r>
            <a:r>
              <a:rPr lang="en-AU" sz="2600" dirty="0" err="1">
                <a:latin typeface="+mj-lt"/>
              </a:rPr>
              <a:t>neighbors</a:t>
            </a:r>
            <a:endParaRPr lang="en-AU" sz="2600" dirty="0">
              <a:latin typeface="+mj-lt"/>
            </a:endParaRP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600" dirty="0">
                <a:latin typeface="+mj-lt"/>
              </a:rPr>
              <a:t>show version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AU" sz="2600" dirty="0">
                <a:latin typeface="+mj-lt"/>
              </a:rPr>
              <a:t>show running-config</a:t>
            </a:r>
          </a:p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Answer: B. show </a:t>
            </a:r>
            <a:r>
              <a:rPr lang="en-AU" sz="2600" dirty="0" err="1">
                <a:latin typeface="+mj-lt"/>
              </a:rPr>
              <a:t>cdp</a:t>
            </a:r>
            <a:r>
              <a:rPr lang="en-AU" sz="2600" dirty="0">
                <a:latin typeface="+mj-lt"/>
              </a:rPr>
              <a:t> </a:t>
            </a:r>
            <a:r>
              <a:rPr lang="en-AU" sz="2600" dirty="0" err="1">
                <a:latin typeface="+mj-lt"/>
              </a:rPr>
              <a:t>neighbors</a:t>
            </a:r>
            <a:endParaRPr lang="en-AU" sz="2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717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C0E4-7F37-E36B-4752-01654CF6D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C1953790-566E-FCFD-6254-649D159151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Knowledge Check: Building and Securing a Small Network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E6C6823-A141-5330-060C-28FD851D7E98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78F463C-5026-1276-7158-963DDD515668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CDBF0-2C8D-A0F5-2FE5-79EF1A34A950}"/>
              </a:ext>
            </a:extLst>
          </p:cNvPr>
          <p:cNvSpPr txBox="1"/>
          <p:nvPr/>
        </p:nvSpPr>
        <p:spPr>
          <a:xfrm>
            <a:off x="0" y="1066800"/>
            <a:ext cx="9144000" cy="580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500" dirty="0">
                <a:latin typeface="+mj-lt"/>
              </a:rPr>
              <a:t>Question 10</a:t>
            </a:r>
          </a:p>
          <a:p>
            <a:pPr>
              <a:lnSpc>
                <a:spcPct val="150000"/>
              </a:lnSpc>
              <a:buNone/>
            </a:pPr>
            <a:r>
              <a:rPr lang="en-AU" sz="2500" dirty="0">
                <a:latin typeface="+mj-lt"/>
              </a:rPr>
              <a:t>A small business in Parramatta cannot access its Melbourne branch network. The technician checks the router and notices that one interface displays administratively down. Which command can enable the interface?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500" dirty="0">
                <a:latin typeface="+mj-lt"/>
              </a:rPr>
              <a:t>show interfaces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500" dirty="0">
                <a:latin typeface="+mj-lt"/>
              </a:rPr>
              <a:t>shutdown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500" dirty="0">
                <a:latin typeface="+mj-lt"/>
              </a:rPr>
              <a:t>ipconfig /all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AU" sz="2500" dirty="0">
                <a:latin typeface="+mj-lt"/>
              </a:rPr>
              <a:t>no shutdown</a:t>
            </a:r>
          </a:p>
          <a:p>
            <a:pPr>
              <a:lnSpc>
                <a:spcPct val="150000"/>
              </a:lnSpc>
              <a:buNone/>
            </a:pPr>
            <a:r>
              <a:rPr lang="en-AU" sz="2500" dirty="0">
                <a:latin typeface="+mj-lt"/>
              </a:rPr>
              <a:t>Answer: D. no shutdown</a:t>
            </a:r>
          </a:p>
        </p:txBody>
      </p:sp>
    </p:spTree>
    <p:extLst>
      <p:ext uri="{BB962C8B-B14F-4D97-AF65-F5344CB8AC3E}">
        <p14:creationId xmlns:p14="http://schemas.microsoft.com/office/powerpoint/2010/main" val="202687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49BA3-95E7-EE1C-E91A-86A03353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631172C5-549A-6EF4-E289-4C5F1E15C7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7673075-DFF6-72C7-7B9A-68F9D1A21AA0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05C74E9-5FEE-397A-FA71-270BE6844D79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A4215-6A46-388D-52E0-30ABA2A9307B}"/>
              </a:ext>
            </a:extLst>
          </p:cNvPr>
          <p:cNvSpPr txBox="1"/>
          <p:nvPr/>
        </p:nvSpPr>
        <p:spPr>
          <a:xfrm>
            <a:off x="263142" y="1371600"/>
            <a:ext cx="8617716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Assessment:</a:t>
            </a:r>
            <a:r>
              <a:rPr lang="en-AU" sz="2800" dirty="0">
                <a:latin typeface="+mj-lt"/>
              </a:rPr>
              <a:t> Practical Task – Subnetting IP Networks</a:t>
            </a:r>
            <a:br>
              <a:rPr lang="en-AU" sz="2800" dirty="0">
                <a:latin typeface="+mj-lt"/>
              </a:rPr>
            </a:br>
            <a:r>
              <a:rPr lang="en-AU" sz="2800" b="1" dirty="0">
                <a:latin typeface="+mj-lt"/>
              </a:rPr>
              <a:t>Weighting:</a:t>
            </a:r>
            <a:r>
              <a:rPr lang="en-AU" sz="2800" dirty="0">
                <a:latin typeface="+mj-lt"/>
              </a:rPr>
              <a:t> 30% (30 marks)</a:t>
            </a:r>
            <a:br>
              <a:rPr lang="en-AU" sz="2800" dirty="0">
                <a:latin typeface="+mj-lt"/>
              </a:rPr>
            </a:br>
            <a:r>
              <a:rPr lang="en-AU" sz="2800" b="1" dirty="0">
                <a:latin typeface="+mj-lt"/>
              </a:rPr>
              <a:t>Assessment type:</a:t>
            </a:r>
            <a:r>
              <a:rPr lang="en-AU" sz="2800" dirty="0">
                <a:latin typeface="+mj-lt"/>
              </a:rPr>
              <a:t> Individual, Lane 2 – Open</a:t>
            </a:r>
            <a:br>
              <a:rPr lang="en-AU" sz="2800" dirty="0">
                <a:latin typeface="+mj-lt"/>
              </a:rPr>
            </a:br>
            <a:r>
              <a:rPr lang="en-AU" sz="2800" b="1" dirty="0">
                <a:latin typeface="+mj-lt"/>
              </a:rPr>
              <a:t>Submission:</a:t>
            </a:r>
            <a:r>
              <a:rPr lang="en-AU" sz="2800" dirty="0">
                <a:latin typeface="+mj-lt"/>
              </a:rPr>
              <a:t> Completed answer script through Canvas</a:t>
            </a:r>
            <a:br>
              <a:rPr lang="en-AU" sz="2800" dirty="0">
                <a:latin typeface="+mj-lt"/>
              </a:rPr>
            </a:br>
            <a:r>
              <a:rPr lang="en-AU" sz="2800" b="1" dirty="0">
                <a:latin typeface="+mj-lt"/>
              </a:rPr>
              <a:t>Viva:</a:t>
            </a:r>
            <a:r>
              <a:rPr lang="en-AU" sz="2800" dirty="0">
                <a:latin typeface="+mj-lt"/>
              </a:rPr>
              <a:t> Short online oral assessment</a:t>
            </a:r>
            <a:br>
              <a:rPr lang="en-AU" sz="2800" dirty="0">
                <a:latin typeface="+mj-lt"/>
              </a:rPr>
            </a:br>
            <a:r>
              <a:rPr lang="en-AU" sz="2800" b="1" dirty="0">
                <a:latin typeface="+mj-lt"/>
              </a:rPr>
              <a:t>Due date and viva schedule:</a:t>
            </a:r>
            <a:r>
              <a:rPr lang="en-AU" sz="2800" dirty="0">
                <a:latin typeface="+mj-lt"/>
              </a:rPr>
              <a:t> Refer to Canvas</a:t>
            </a:r>
          </a:p>
        </p:txBody>
      </p:sp>
    </p:spTree>
    <p:extLst>
      <p:ext uri="{BB962C8B-B14F-4D97-AF65-F5344CB8AC3E}">
        <p14:creationId xmlns:p14="http://schemas.microsoft.com/office/powerpoint/2010/main" val="22383488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B946-1817-29F9-C578-2B697113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4A760003-F7D4-3282-4F5B-92510C8F26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42A837-FBDA-9A58-F7E8-399A6D37B589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417A6B8-DCCC-0CA4-478D-24806AF19E2D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D7C72-4E96-3AE9-02B4-961188C7BC5E}"/>
              </a:ext>
            </a:extLst>
          </p:cNvPr>
          <p:cNvSpPr txBox="1"/>
          <p:nvPr/>
        </p:nvSpPr>
        <p:spPr>
          <a:xfrm>
            <a:off x="263142" y="1371600"/>
            <a:ext cx="861771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>
                <a:latin typeface="+mj-lt"/>
              </a:rPr>
              <a:t>1. What do you need to do?</a:t>
            </a:r>
          </a:p>
          <a:p>
            <a:pPr>
              <a:lnSpc>
                <a:spcPct val="150000"/>
              </a:lnSpc>
            </a:pPr>
            <a:r>
              <a:rPr lang="en-AU" sz="2800" dirty="0">
                <a:latin typeface="+mj-lt"/>
              </a:rPr>
              <a:t>Assessment 2 tests your ability to plan an IPv4 network using Variable Length Subnet Masking (VLSM), explain the benefits of subnetting, and discuss how networking benefits society and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61729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74B8-99F5-4D1B-6515-AE686A88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F4EE5ACD-075F-8709-2470-DEEC11B7CB5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DC9DABC-AEC6-8825-97A9-D9DA734FDEAB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7063C57-1030-0D7C-F394-112217C611E9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27E35-214E-5D4D-0304-962EB3F18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120333"/>
              </p:ext>
            </p:extLst>
          </p:nvPr>
        </p:nvGraphicFramePr>
        <p:xfrm>
          <a:off x="407988" y="1981200"/>
          <a:ext cx="8328024" cy="34442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728787">
                  <a:extLst>
                    <a:ext uri="{9D8B030D-6E8A-4147-A177-3AD203B41FA5}">
                      <a16:colId xmlns:a16="http://schemas.microsoft.com/office/drawing/2014/main" val="3218247873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624920372"/>
                    </a:ext>
                  </a:extLst>
                </a:gridCol>
                <a:gridCol w="1189037">
                  <a:extLst>
                    <a:ext uri="{9D8B030D-6E8A-4147-A177-3AD203B41FA5}">
                      <a16:colId xmlns:a16="http://schemas.microsoft.com/office/drawing/2014/main" val="2521446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b="1" dirty="0"/>
                        <a:t>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b="1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800" b="1" dirty="0">
                          <a:effectLst/>
                        </a:rPr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3666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VLSM calculations and IP address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800"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75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Advantages of subnetting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80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079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Social and environmental benefits of networking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8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994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800" dirty="0">
                          <a:effectLst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6231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0C809E-B055-9109-0984-E01D95EBF7C9}"/>
              </a:ext>
            </a:extLst>
          </p:cNvPr>
          <p:cNvSpPr txBox="1"/>
          <p:nvPr/>
        </p:nvSpPr>
        <p:spPr>
          <a:xfrm>
            <a:off x="263142" y="1212919"/>
            <a:ext cx="70135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2800" dirty="0">
                <a:latin typeface="+mj-lt"/>
              </a:rPr>
              <a:t>You must complete three questions: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3FEEB-B908-3728-58E2-8A31D3090F29}"/>
              </a:ext>
            </a:extLst>
          </p:cNvPr>
          <p:cNvSpPr txBox="1"/>
          <p:nvPr/>
        </p:nvSpPr>
        <p:spPr>
          <a:xfrm>
            <a:off x="76200" y="5328022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You must submit your own work and be prepared to explain your calculations and written answers during the viva.</a:t>
            </a:r>
          </a:p>
        </p:txBody>
      </p:sp>
    </p:spTree>
    <p:extLst>
      <p:ext uri="{BB962C8B-B14F-4D97-AF65-F5344CB8AC3E}">
        <p14:creationId xmlns:p14="http://schemas.microsoft.com/office/powerpoint/2010/main" val="9923699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EB440-0F08-EA18-E758-13E9F975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B8878211-7A85-9186-D02D-A5C95CA1F45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5810230-97BB-8EC2-7F2C-E969DB0F88FB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6A91D2F-D30B-D3A0-63A3-C7672F07E432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383D8-9B52-F737-88B2-37DCC3C38A18}"/>
              </a:ext>
            </a:extLst>
          </p:cNvPr>
          <p:cNvSpPr txBox="1"/>
          <p:nvPr/>
        </p:nvSpPr>
        <p:spPr>
          <a:xfrm>
            <a:off x="0" y="1066800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2. Question 1 – What exactly is required?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You have been allocated the IPv4 block 135.126.0.0/21.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You must design an addressing scheme for: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C593E-23B8-F813-19B1-D6506A1CF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179970"/>
              </p:ext>
            </p:extLst>
          </p:nvPr>
        </p:nvGraphicFramePr>
        <p:xfrm>
          <a:off x="407988" y="3424237"/>
          <a:ext cx="8328024" cy="292608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164012">
                  <a:extLst>
                    <a:ext uri="{9D8B030D-6E8A-4147-A177-3AD203B41FA5}">
                      <a16:colId xmlns:a16="http://schemas.microsoft.com/office/drawing/2014/main" val="3085411032"/>
                    </a:ext>
                  </a:extLst>
                </a:gridCol>
                <a:gridCol w="4164012">
                  <a:extLst>
                    <a:ext uri="{9D8B030D-6E8A-4147-A177-3AD203B41FA5}">
                      <a16:colId xmlns:a16="http://schemas.microsoft.com/office/drawing/2014/main" val="39491272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b="1" dirty="0"/>
                        <a:t>Network 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600" b="1" dirty="0">
                          <a:effectLst/>
                        </a:rPr>
                        <a:t>Required usable hosts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3694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New York 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600" dirty="0">
                          <a:effectLst/>
                        </a:rPr>
                        <a:t>325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2285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Washington D.C. 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600" dirty="0">
                          <a:effectLst/>
                        </a:rPr>
                        <a:t>220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8758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Dallas 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600" dirty="0">
                          <a:effectLst/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079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Router C–A WAN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8114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Router A–B WAN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409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2598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2BB21-C000-D699-40BE-0A863A7E1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F7ADA08A-3F4E-CB51-48E3-530B87B67F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8A50383-BF16-5BD8-181F-6C28B91685ED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2FBCE8B-5AC3-5790-8C45-A53007583CE0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0EEB4-1B82-2526-2079-E43793279E63}"/>
              </a:ext>
            </a:extLst>
          </p:cNvPr>
          <p:cNvSpPr txBox="1"/>
          <p:nvPr/>
        </p:nvSpPr>
        <p:spPr>
          <a:xfrm>
            <a:off x="0" y="1143000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For each network segment, calculate: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Prefix length, such as /23 or /26.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Subnet mask in dotted-decimal format.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Network address.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First usable host address.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Last usable host address.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Broadcast address.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Complete every column </a:t>
            </a:r>
          </a:p>
        </p:txBody>
      </p:sp>
    </p:spTree>
    <p:extLst>
      <p:ext uri="{BB962C8B-B14F-4D97-AF65-F5344CB8AC3E}">
        <p14:creationId xmlns:p14="http://schemas.microsoft.com/office/powerpoint/2010/main" val="35769149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9346-A75B-35D1-E51E-D3900EBDA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DDC5B09A-4FCF-D0ED-0CA2-330377478FE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F7B173A-56C3-6935-A06C-3E1B36FBE3C2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8A710F1-C3F8-41F6-C992-E1A199BA98C2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C8B895-2769-3AA8-CDB4-5B3203130EF0}"/>
              </a:ext>
            </a:extLst>
          </p:cNvPr>
          <p:cNvSpPr txBox="1"/>
          <p:nvPr/>
        </p:nvSpPr>
        <p:spPr>
          <a:xfrm>
            <a:off x="0" y="1295401"/>
            <a:ext cx="9144000" cy="4231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600" b="1" dirty="0">
                <a:latin typeface="+mj-lt"/>
              </a:rPr>
              <a:t>Important:</a:t>
            </a:r>
            <a:r>
              <a:rPr lang="en-AU" sz="2600" dirty="0">
                <a:latin typeface="+mj-lt"/>
              </a:rPr>
              <a:t> The addresses must fit within the original /21 block, must not overlap, and must provide enough usable host addresses for each segment.</a:t>
            </a:r>
          </a:p>
          <a:p>
            <a:pPr>
              <a:lnSpc>
                <a:spcPct val="150000"/>
              </a:lnSpc>
              <a:buNone/>
            </a:pPr>
            <a:r>
              <a:rPr lang="en-AU" sz="2600" b="1" dirty="0">
                <a:latin typeface="+mj-lt"/>
              </a:rPr>
              <a:t>3. How should you approach VLSM?</a:t>
            </a:r>
          </a:p>
          <a:p>
            <a:pPr>
              <a:lnSpc>
                <a:spcPct val="150000"/>
              </a:lnSpc>
              <a:buNone/>
            </a:pPr>
            <a:r>
              <a:rPr lang="en-AU" sz="2600" b="1" dirty="0">
                <a:latin typeface="+mj-lt"/>
              </a:rPr>
              <a:t>Step 1 – Understand the original network.</a:t>
            </a:r>
            <a:endParaRPr lang="en-AU" sz="2600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AU" sz="2600" dirty="0">
                <a:latin typeface="+mj-lt"/>
              </a:rPr>
              <a:t>Identify the network address, prefix length, subnet mask and complete address range of the allocated block.</a:t>
            </a:r>
          </a:p>
        </p:txBody>
      </p:sp>
    </p:spTree>
    <p:extLst>
      <p:ext uri="{BB962C8B-B14F-4D97-AF65-F5344CB8AC3E}">
        <p14:creationId xmlns:p14="http://schemas.microsoft.com/office/powerpoint/2010/main" val="347343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4CDEE-4C5E-1D88-1484-743AB1DDE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53E77CAB-4BAC-BB3C-CE9E-CBC4A4E690D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29E7A5D-1A90-13E0-0FDF-16630E1D8A2C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20B4D6C-6BDC-374D-326B-4344C9812C14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E1722-FB6B-42CD-A5AC-C66333F37A4F}"/>
              </a:ext>
            </a:extLst>
          </p:cNvPr>
          <p:cNvSpPr txBox="1"/>
          <p:nvPr/>
        </p:nvSpPr>
        <p:spPr>
          <a:xfrm>
            <a:off x="0" y="1143000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Step 2 – Arrange networks from largest to smallest.</a:t>
            </a:r>
            <a:endParaRPr lang="en-AU" sz="2800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Begin with the LAN requiring the most host addresses, then continue to the smaller LANs and WAN links.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Step 3 – Select the smallest suitable subnet.</a:t>
            </a:r>
            <a:endParaRPr lang="en-AU" sz="2800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Use the formula: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Usable host addresses = 2^h − 2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Here, h is the number of host bits. This formula applies to the conventional IPv4 subnets used in this assessment.</a:t>
            </a:r>
          </a:p>
        </p:txBody>
      </p:sp>
    </p:spTree>
    <p:extLst>
      <p:ext uri="{BB962C8B-B14F-4D97-AF65-F5344CB8AC3E}">
        <p14:creationId xmlns:p14="http://schemas.microsoft.com/office/powerpoint/2010/main" val="37592310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A1AC-A37D-73AF-8BA9-A1058EF6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BDA60A26-C4A3-42A4-62EB-83C13A6EFF3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63DD5FA-A3E3-13DB-FC1F-CD7D00AFE173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515D32C-9317-FB50-ADA9-43AADDF2B6F4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69172-39B8-3B9F-87C7-39AA5D489D5F}"/>
              </a:ext>
            </a:extLst>
          </p:cNvPr>
          <p:cNvSpPr txBox="1"/>
          <p:nvPr/>
        </p:nvSpPr>
        <p:spPr>
          <a:xfrm>
            <a:off x="0" y="1143000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Step 4 – Calculate the address ranges.</a:t>
            </a:r>
            <a:endParaRPr lang="en-AU" sz="2800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For every subnet, determine the network address, usable host range and broadcast address.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Step 5 – Check subnet boundaries.</a:t>
            </a:r>
            <a:endParaRPr lang="en-AU" sz="2800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The next subnet must begin at a valid network boundary after the previous allocated subnet. Do not simply increase the last octet by one without checking the prefix length.</a:t>
            </a:r>
          </a:p>
        </p:txBody>
      </p:sp>
    </p:spTree>
    <p:extLst>
      <p:ext uri="{BB962C8B-B14F-4D97-AF65-F5344CB8AC3E}">
        <p14:creationId xmlns:p14="http://schemas.microsoft.com/office/powerpoint/2010/main" val="39109667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6326-A1A5-F88B-54A8-B335A1DB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477C7BAF-DFDD-F788-D5F3-8F28BF478A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9B6EAA2-010C-2C7B-8F6E-C2DFCDB14C66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E7D0570-A387-C424-4FEA-6730870B1EE9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262E9-6605-8D19-25AD-096F1FB95649}"/>
              </a:ext>
            </a:extLst>
          </p:cNvPr>
          <p:cNvSpPr txBox="1"/>
          <p:nvPr/>
        </p:nvSpPr>
        <p:spPr>
          <a:xfrm>
            <a:off x="0" y="1066801"/>
            <a:ext cx="91440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Step 6 – Verify your design.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Check that every subnet: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Supports the required number of usable hosts.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Uses a valid network address for its prefix.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Has a correct subnet mask and broadcast address.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Does not overlap another subnet.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Remains within the allocated /21 address block.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For this assessment, use /30 for point-to-point WAN links. You do not need to use /31 or /32.</a:t>
            </a:r>
          </a:p>
        </p:txBody>
      </p:sp>
    </p:spTree>
    <p:extLst>
      <p:ext uri="{BB962C8B-B14F-4D97-AF65-F5344CB8AC3E}">
        <p14:creationId xmlns:p14="http://schemas.microsoft.com/office/powerpoint/2010/main" val="21324500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F79BA-3341-4A3C-3B79-773E5B26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0815D56C-1C1A-373F-F059-6026024A4D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9AE0DDA-2B89-07D4-EC0F-7C4CBE51E20F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C78C1A3-D222-F1C0-B8A1-01674793CA0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6825C-5B74-6C08-D4B3-350EBD31BE33}"/>
              </a:ext>
            </a:extLst>
          </p:cNvPr>
          <p:cNvSpPr txBox="1"/>
          <p:nvPr/>
        </p:nvSpPr>
        <p:spPr>
          <a:xfrm>
            <a:off x="0" y="1295400"/>
            <a:ext cx="922020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4. Question 2 – What should you explain?</a:t>
            </a:r>
          </a:p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(a) Network administration – 3 marks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Explain how subnetting helps an organisation manage its network.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Consider network organisation, identifying devices, troubleshooting, fault isolation and applying access-control policies.</a:t>
            </a:r>
          </a:p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Australian example:</a:t>
            </a:r>
            <a:r>
              <a:rPr lang="en-AU" sz="2400" dirty="0">
                <a:latin typeface="+mj-lt"/>
              </a:rPr>
              <a:t> A Sydney university may separate student computers, staff computers and administrative systems into different subnets to simplify management.</a:t>
            </a:r>
          </a:p>
        </p:txBody>
      </p:sp>
    </p:spTree>
    <p:extLst>
      <p:ext uri="{BB962C8B-B14F-4D97-AF65-F5344CB8AC3E}">
        <p14:creationId xmlns:p14="http://schemas.microsoft.com/office/powerpoint/2010/main" val="10574465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12DBC-FB85-00DC-BAE6-B6AA2CC7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18B4DACE-FC2C-0C33-64B2-65F6455283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A66E0EC-D5FB-4F05-0510-A29DF9E5E620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636A198-A3EF-A514-2B13-25206CDE616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03B02-581C-56DA-6738-815E22C65BD4}"/>
              </a:ext>
            </a:extLst>
          </p:cNvPr>
          <p:cNvSpPr txBox="1"/>
          <p:nvPr/>
        </p:nvSpPr>
        <p:spPr>
          <a:xfrm>
            <a:off x="0" y="1219201"/>
            <a:ext cx="91440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(b) Reduced network traffic – 3 marks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Explain how subnetting can reduce unnecessary broadcast traffic and improve network performance.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Remember that routers normally separate IPv4 broadcast domains. Subnetting alone does not automatically improve every aspect of network performance.</a:t>
            </a:r>
          </a:p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Australian example:</a:t>
            </a:r>
            <a:r>
              <a:rPr lang="en-AU" sz="2400" dirty="0">
                <a:latin typeface="+mj-lt"/>
              </a:rPr>
              <a:t> A Melbourne office may use separate subnets for employee computers and guest devices to limit broadcast traffic within each network.</a:t>
            </a:r>
          </a:p>
        </p:txBody>
      </p:sp>
    </p:spTree>
    <p:extLst>
      <p:ext uri="{BB962C8B-B14F-4D97-AF65-F5344CB8AC3E}">
        <p14:creationId xmlns:p14="http://schemas.microsoft.com/office/powerpoint/2010/main" val="25991974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38231-993D-2F03-503A-13377F5C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4369C4A4-C955-F424-6D32-BC4EDE1E6B3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1685BAB-3B20-4326-882B-BE9D694640A7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88BDF1-3102-A981-7DF1-EC06BAA04CA9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75E80-ACAA-7107-9EE0-E169FB610717}"/>
              </a:ext>
            </a:extLst>
          </p:cNvPr>
          <p:cNvSpPr txBox="1"/>
          <p:nvPr/>
        </p:nvSpPr>
        <p:spPr>
          <a:xfrm>
            <a:off x="0" y="1371600"/>
            <a:ext cx="914400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5. Question 3 – What should you explain?</a:t>
            </a:r>
          </a:p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(a) Online education – 2 marks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Explain how computer networks support online classes, remote learning, communication, collaboration and access to learning resources.</a:t>
            </a:r>
          </a:p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Australian example:</a:t>
            </a:r>
            <a:r>
              <a:rPr lang="en-AU" sz="2400" dirty="0">
                <a:latin typeface="+mj-lt"/>
              </a:rPr>
              <a:t> Students living in regional NSW can access university learning materials, recorded lectures and online classes without travelling to campus every day.</a:t>
            </a:r>
          </a:p>
        </p:txBody>
      </p:sp>
    </p:spTree>
    <p:extLst>
      <p:ext uri="{BB962C8B-B14F-4D97-AF65-F5344CB8AC3E}">
        <p14:creationId xmlns:p14="http://schemas.microsoft.com/office/powerpoint/2010/main" val="30639422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619E9-A41D-556E-8BF6-F78060A6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E57DB510-0AA8-FEF3-70F4-3D51912C81C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A2CD1AC-D842-4045-F420-801B6BEC05DB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C1A1748-A8C3-67F9-B7DA-EBFFEF911582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5F3DD-1CB3-30C0-F542-00FBE2717454}"/>
              </a:ext>
            </a:extLst>
          </p:cNvPr>
          <p:cNvSpPr txBox="1"/>
          <p:nvPr/>
        </p:nvSpPr>
        <p:spPr>
          <a:xfrm>
            <a:off x="0" y="1371600"/>
            <a:ext cx="914400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b="1" dirty="0">
                <a:latin typeface="+mj-lt"/>
              </a:rPr>
              <a:t>(b) Resource sharing – 2 marks</a:t>
            </a:r>
          </a:p>
          <a:p>
            <a:pPr>
              <a:lnSpc>
                <a:spcPct val="150000"/>
              </a:lnSpc>
            </a:pPr>
            <a:r>
              <a:rPr lang="en-AU" sz="2400" dirty="0">
                <a:latin typeface="+mj-lt"/>
              </a:rPr>
              <a:t>Explain how networking allows people to share printers, storage, software and other resources.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latin typeface="+mj-lt"/>
              </a:rPr>
              <a:t>Australian example:</a:t>
            </a:r>
            <a:r>
              <a:rPr lang="en-AU" sz="2400" dirty="0">
                <a:latin typeface="+mj-lt"/>
              </a:rPr>
              <a:t> A university computer laboratory can use shared network printers and central storage instead of purchasing separate equipment for every computer.</a:t>
            </a:r>
          </a:p>
          <a:p>
            <a:pPr>
              <a:lnSpc>
                <a:spcPct val="150000"/>
              </a:lnSpc>
            </a:pPr>
            <a:r>
              <a:rPr lang="en-AU" sz="2400" dirty="0">
                <a:latin typeface="+mj-lt"/>
              </a:rPr>
              <a:t>Connect your explanation to efficient resource use and the possible reduction of unnecessary hardware, paper and energy consumption.</a:t>
            </a:r>
          </a:p>
        </p:txBody>
      </p:sp>
    </p:spTree>
    <p:extLst>
      <p:ext uri="{BB962C8B-B14F-4D97-AF65-F5344CB8AC3E}">
        <p14:creationId xmlns:p14="http://schemas.microsoft.com/office/powerpoint/2010/main" val="11223066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9D1FF-E8F6-B257-C747-CED3A03C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802F62E3-04DD-19A5-32E1-E05BB999B07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2C6487B-1F06-1567-E51B-AEF27B4FC6CD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4E9C2B3-3ECA-C92C-C4B8-D2C2CC706F4E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86D14F-C5F8-6B3C-2B02-0942FCF8BEF5}"/>
              </a:ext>
            </a:extLst>
          </p:cNvPr>
          <p:cNvSpPr txBox="1"/>
          <p:nvPr/>
        </p:nvSpPr>
        <p:spPr>
          <a:xfrm>
            <a:off x="0" y="1143000"/>
            <a:ext cx="914400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6. What should you avoid?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allocate a subnet that is too small for its required hosts.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confuse the total number of addresses with usable host addresses.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use the network or broadcast address as a normal host address.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assign overlapping subnet ranges.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allocate addresses outside 135.126.0.0/21.</a:t>
            </a:r>
          </a:p>
        </p:txBody>
      </p:sp>
    </p:spTree>
    <p:extLst>
      <p:ext uri="{BB962C8B-B14F-4D97-AF65-F5344CB8AC3E}">
        <p14:creationId xmlns:p14="http://schemas.microsoft.com/office/powerpoint/2010/main" val="325444360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514FD-7C63-714A-B5D5-CF61C17D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7765F8A4-24A0-18E7-A2A3-C0F0DA882FB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FF2E7BC-099A-214C-1484-41617B3CD01F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CD687E3-0756-7E07-5052-C1715EF5F31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533CD-8267-7893-B865-4AC8DA5A6983}"/>
              </a:ext>
            </a:extLst>
          </p:cNvPr>
          <p:cNvSpPr txBox="1"/>
          <p:nvPr/>
        </p:nvSpPr>
        <p:spPr>
          <a:xfrm>
            <a:off x="0" y="1143000"/>
            <a:ext cx="91440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confuse prefix length, subnet mask and network address.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omit calculations or leave table cells blank.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copy another student's calculations or written responses.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submit AI-generated answers that you have not checked or cannot explain.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provide vague written responses that fail to address the specific question.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Do not miss the scheduled viva or assume that submitting the answer script completes all assessment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9551087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83F7F-AE1B-6687-FEA3-48047DA5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0C17AE76-7FFF-3071-A81C-E6F2530D7BC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2700389-5E08-4B3B-DE3C-BB9BC9FD8E17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1657EDE-5C8D-51A9-DD40-6C8A35C61F7B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D74B1C-632C-6704-E553-F3E4F20B6C8D}"/>
              </a:ext>
            </a:extLst>
          </p:cNvPr>
          <p:cNvSpPr txBox="1"/>
          <p:nvPr/>
        </p:nvSpPr>
        <p:spPr>
          <a:xfrm>
            <a:off x="0" y="1066800"/>
            <a:ext cx="914400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400" b="1" dirty="0">
                <a:latin typeface="+mj-lt"/>
              </a:rPr>
              <a:t>7. How should you prepare for the viva?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The viva is a short individual discussion in which your lecturer may ask you to explain your submitted work.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You should be able to: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Explain what VLSM means and why it is used.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Explain why you selected each subnet mask.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Demonstrate how you calculated usable hosts.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Identify network and broadcast addresses.</a:t>
            </a:r>
          </a:p>
        </p:txBody>
      </p:sp>
    </p:spTree>
    <p:extLst>
      <p:ext uri="{BB962C8B-B14F-4D97-AF65-F5344CB8AC3E}">
        <p14:creationId xmlns:p14="http://schemas.microsoft.com/office/powerpoint/2010/main" val="42542449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4DE3F-9A4B-F823-A93C-CAFE3621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2A195641-9990-1870-DC32-3F82AB51ADD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B2C782E-75E4-3B58-E9A4-706CE629034E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E33C347-13EB-E907-D728-553127FBFE2B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92759-1006-A155-6C76-5E330AA908AC}"/>
              </a:ext>
            </a:extLst>
          </p:cNvPr>
          <p:cNvSpPr txBox="1"/>
          <p:nvPr/>
        </p:nvSpPr>
        <p:spPr>
          <a:xfrm>
            <a:off x="0" y="1066800"/>
            <a:ext cx="914400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Explain how you determined the first and last usable addresses.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Explain why two allocated subnets do not overlap.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Correct a simple subnetting mistake.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Explain your written responses for Questions 2 and 3.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>
                <a:latin typeface="+mj-lt"/>
              </a:rPr>
              <a:t>The lecturer may ask you to explain an address or calculation from your own submitted table or solve a similar example.</a:t>
            </a:r>
          </a:p>
        </p:txBody>
      </p:sp>
    </p:spTree>
    <p:extLst>
      <p:ext uri="{BB962C8B-B14F-4D97-AF65-F5344CB8AC3E}">
        <p14:creationId xmlns:p14="http://schemas.microsoft.com/office/powerpoint/2010/main" val="5029120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11A4F-5819-A2A0-1450-3E5481D59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F00EB088-5DCD-6346-6592-2A7C88174C2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805F978-1394-804A-B81C-1D33E880B25B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A6A716D-B307-C14E-46A3-2648C787E2F6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342D0-59A2-B9A3-9557-569F391A50B1}"/>
              </a:ext>
            </a:extLst>
          </p:cNvPr>
          <p:cNvSpPr txBox="1"/>
          <p:nvPr/>
        </p:nvSpPr>
        <p:spPr>
          <a:xfrm>
            <a:off x="0" y="1447801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Preparation tip:</a:t>
            </a:r>
            <a:r>
              <a:rPr lang="en-AU" sz="2800" dirty="0">
                <a:latin typeface="+mj-lt"/>
              </a:rPr>
              <a:t> Practise explaining each calculation aloud in simple language rather than memorising a table.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8. Academic integrity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This is an individual assessment.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Your calculations, written answers and explanations must demonstrate your own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37615303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E03A-C1EE-D393-BDE6-845045712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40AAEE82-D78B-AF60-E5AA-0127DA0771C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8FC4E9D-4A1A-4123-CD10-D580669FE58B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FE1A7C1-F883-082A-8B69-93A569BBD28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80CE2-1062-FC85-3452-A05B6CE7CB45}"/>
              </a:ext>
            </a:extLst>
          </p:cNvPr>
          <p:cNvSpPr txBox="1"/>
          <p:nvPr/>
        </p:nvSpPr>
        <p:spPr>
          <a:xfrm>
            <a:off x="0" y="152400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During the viva. A correct answer that you cannot explain may raise questions about your understanding or authorship.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9. Submission checklist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Before submitting, confirm that you have completed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22198110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0B599-3DC2-3911-CDF8-8FB2AB77F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89BC9AC0-EBDA-BE02-FA12-CBA69465DC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75125A4-FBE1-673D-D5DF-D1443A82E037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28950A7-CBFA-C7F7-1137-D2FD476D8F29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BDFE9-F7E5-43C1-B103-341A215A7662}"/>
              </a:ext>
            </a:extLst>
          </p:cNvPr>
          <p:cNvSpPr txBox="1"/>
          <p:nvPr/>
        </p:nvSpPr>
        <p:spPr>
          <a:xfrm>
            <a:off x="0" y="1143001"/>
            <a:ext cx="91440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answered Questions 1, 2 and 3.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used the correct original address block: 135.126.0.0/21.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allocated the networks from largest to smallest.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selected suitable subnet masks for all five segments.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completed every required row of the VLSM table.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checked all network and broadcast addresses.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checked the first and last usable host addresses.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verified that no subnets overlap.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verified that all subnets remain inside the original /21 block.</a:t>
            </a:r>
          </a:p>
        </p:txBody>
      </p:sp>
    </p:spTree>
    <p:extLst>
      <p:ext uri="{BB962C8B-B14F-4D97-AF65-F5344CB8AC3E}">
        <p14:creationId xmlns:p14="http://schemas.microsoft.com/office/powerpoint/2010/main" val="20891034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492A2-4DB0-F4F3-1E2A-06EB728A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B7DAF4A1-1AD9-B961-E6C0-FEC2FC56C1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0D761D9-3A9A-F9E8-E37F-40026BB96ECA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7D50F1A-208C-354A-B6FB-66582C6FD0F7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80662-FEB9-BA2B-4954-398A2EA1C651}"/>
              </a:ext>
            </a:extLst>
          </p:cNvPr>
          <p:cNvSpPr txBox="1"/>
          <p:nvPr/>
        </p:nvSpPr>
        <p:spPr>
          <a:xfrm>
            <a:off x="0" y="1143001"/>
            <a:ext cx="914400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shown my calculations and working.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explained both advantages of subnetting in Question 2.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addressed both online education and resource sharing in Question 3.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My submission represents my own work.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reviewed the official Canvas rubric.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checked the submission deadline and uploaded the correct answer script.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have confirmed my scheduled viva arrangements.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+mj-lt"/>
              </a:rPr>
              <a:t>I can explain my answers without simply reading them.</a:t>
            </a:r>
          </a:p>
        </p:txBody>
      </p:sp>
    </p:spTree>
    <p:extLst>
      <p:ext uri="{BB962C8B-B14F-4D97-AF65-F5344CB8AC3E}">
        <p14:creationId xmlns:p14="http://schemas.microsoft.com/office/powerpoint/2010/main" val="27726941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50308-9157-32FF-691E-EBD5809D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C16FFDEF-41CA-4FC4-A827-9B0683A0B0F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6BE7ACB-6309-8E5E-A9D8-16DA9E5BF996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035E4D2-15AF-491B-3DA3-1124CA7588C5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39869-5B72-75C3-6832-E033B3D8F93D}"/>
              </a:ext>
            </a:extLst>
          </p:cNvPr>
          <p:cNvSpPr txBox="1"/>
          <p:nvPr/>
        </p:nvSpPr>
        <p:spPr>
          <a:xfrm>
            <a:off x="0" y="1371601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10. Final advice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The most important part of this assessment is understanding why each subnet has been allocated a particular address range.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Practise the method, check your calculations, and be ready to explain your reasoning.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The viva is an opportunity to demonstrate your understanding of the work you have submitted.</a:t>
            </a:r>
          </a:p>
        </p:txBody>
      </p:sp>
    </p:spTree>
    <p:extLst>
      <p:ext uri="{BB962C8B-B14F-4D97-AF65-F5344CB8AC3E}">
        <p14:creationId xmlns:p14="http://schemas.microsoft.com/office/powerpoint/2010/main" val="29471356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9D86-820E-7A14-BE17-DC2581363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D22AF7B2-3879-173B-508D-A54BFF494DC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BD3A3CB-CA04-CF9B-9105-5B4551417AD2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0E58EDC-5168-6A43-81AB-618D4B018A90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3211F-FE03-0B54-3D41-7E4E89D1C888}"/>
              </a:ext>
            </a:extLst>
          </p:cNvPr>
          <p:cNvSpPr txBox="1"/>
          <p:nvPr/>
        </p:nvSpPr>
        <p:spPr>
          <a:xfrm>
            <a:off x="0" y="137160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latin typeface="+mj-lt"/>
              </a:rPr>
              <a:t>Part B – Student Practice Question Bank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DA8C2-A504-5552-9D8F-52BA10BEA144}"/>
              </a:ext>
            </a:extLst>
          </p:cNvPr>
          <p:cNvSpPr txBox="1"/>
          <p:nvPr/>
        </p:nvSpPr>
        <p:spPr>
          <a:xfrm>
            <a:off x="0" y="2133601"/>
            <a:ext cx="901541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These 20 questions can be shared with students before the viva. They progress from basic IPv4 knowledge to practical VLSM calculations and short explanations.</a:t>
            </a:r>
          </a:p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Recommended use: </a:t>
            </a:r>
            <a:r>
              <a:rPr lang="en-AU" sz="2800" dirty="0">
                <a:latin typeface="+mj-lt"/>
              </a:rPr>
              <a:t>Students should attempt all questions before checking the answer key. They should also practise explaining how they obtained each answer.</a:t>
            </a:r>
          </a:p>
        </p:txBody>
      </p:sp>
    </p:spTree>
    <p:extLst>
      <p:ext uri="{BB962C8B-B14F-4D97-AF65-F5344CB8AC3E}">
        <p14:creationId xmlns:p14="http://schemas.microsoft.com/office/powerpoint/2010/main" val="38620519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1DE87-7FBE-255E-A218-2EB76B46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D70C9A57-7557-8487-702B-9C5094FECCA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71B2524-9615-79AB-D56C-9C7AEA060CD2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E29566F-EFE8-49C1-3040-B514817D68A2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F4617-3EB1-3CB4-38A4-8042E10D7DDD}"/>
              </a:ext>
            </a:extLst>
          </p:cNvPr>
          <p:cNvSpPr txBox="1"/>
          <p:nvPr/>
        </p:nvSpPr>
        <p:spPr>
          <a:xfrm>
            <a:off x="0" y="967859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>
                <a:latin typeface="+mj-lt"/>
              </a:rPr>
              <a:t>Section 1 – IPv4 and subnetting fundamentals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>
                <a:latin typeface="+mj-lt"/>
              </a:rPr>
              <a:t>Questions 1–8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What is the purpose of an IP address in a computer network?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What does the /24 mean in 192.168.10.0/24?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What is the subnet mask for /26?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latin typeface="+mj-lt"/>
              </a:rPr>
              <a:t>How many total addresses and usable host addresses are available in a /27 subnet?</a:t>
            </a:r>
          </a:p>
        </p:txBody>
      </p:sp>
    </p:spTree>
    <p:extLst>
      <p:ext uri="{BB962C8B-B14F-4D97-AF65-F5344CB8AC3E}">
        <p14:creationId xmlns:p14="http://schemas.microsoft.com/office/powerpoint/2010/main" val="162495294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3D12-8540-8343-1C34-47AA54FEC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D920DB58-2DAA-393C-D309-F97AEF53B1F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8C9E5F6-8ED1-B65C-8688-C415F776092E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DEB6E37-79F4-6FBC-AABB-CBE827768783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08C34-CB6A-DA9C-2893-D8F5676CEB48}"/>
              </a:ext>
            </a:extLst>
          </p:cNvPr>
          <p:cNvSpPr txBox="1"/>
          <p:nvPr/>
        </p:nvSpPr>
        <p:spPr>
          <a:xfrm>
            <a:off x="0" y="1471127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AU" sz="2800" dirty="0">
                <a:latin typeface="+mj-lt"/>
              </a:rPr>
              <a:t>What is the difference between a network address and a broadcast address?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AU" sz="2800" dirty="0">
                <a:latin typeface="+mj-lt"/>
              </a:rPr>
              <a:t>What is VLSM, and why is it useful?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AU" sz="2800" dirty="0">
                <a:latin typeface="+mj-lt"/>
              </a:rPr>
              <a:t>Why should the largest LAN normally be allocated first when using VLSM?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AU" sz="2800" dirty="0">
                <a:latin typeface="+mj-lt"/>
              </a:rPr>
              <a:t>Why is /24 insufficient for a LAN requiring 325 usable host addresses?</a:t>
            </a:r>
          </a:p>
        </p:txBody>
      </p:sp>
    </p:spTree>
    <p:extLst>
      <p:ext uri="{BB962C8B-B14F-4D97-AF65-F5344CB8AC3E}">
        <p14:creationId xmlns:p14="http://schemas.microsoft.com/office/powerpoint/2010/main" val="20907974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94FE-901C-7F64-AF77-A4B6698A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7C803A7B-49CE-EBEA-0654-72C7EC799FF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A847B85-4ABC-BE63-2BD4-299CE233EEA7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B68CB74-C1E3-E6AA-DA75-E6BAB3D9D863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B0A2F-6C0B-9F86-5B71-06EDCE970957}"/>
              </a:ext>
            </a:extLst>
          </p:cNvPr>
          <p:cNvSpPr txBox="1"/>
          <p:nvPr/>
        </p:nvSpPr>
        <p:spPr>
          <a:xfrm>
            <a:off x="0" y="1095708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AU" sz="2800" b="1" dirty="0">
                <a:latin typeface="+mj-lt"/>
              </a:rPr>
              <a:t>Section 2 – Practical calculations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Questions 9–15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For 192.168.10.0/26, calculate the first usable address, last usable address and broadcast address.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A LAN requires 60 usable hosts. What is the smallest suitable conventional IPv4 prefix?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A LAN requires 120 usable hosts. Would /26 or /25 be suitable? Explain.</a:t>
            </a:r>
          </a:p>
        </p:txBody>
      </p:sp>
    </p:spTree>
    <p:extLst>
      <p:ext uri="{BB962C8B-B14F-4D97-AF65-F5344CB8AC3E}">
        <p14:creationId xmlns:p14="http://schemas.microsoft.com/office/powerpoint/2010/main" val="3386570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7148-3D06-B0D5-CC94-682A6216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57EFEF74-7CCF-FB7A-D9CF-9B029739DA5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4AFFDA8-F1DE-C82F-159F-5270CEB97DD1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131BB47-E9F3-E963-2796-B25312F57026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7FF61-98AE-EA23-32C6-F1EFE1A94CEA}"/>
              </a:ext>
            </a:extLst>
          </p:cNvPr>
          <p:cNvSpPr txBox="1"/>
          <p:nvPr/>
        </p:nvSpPr>
        <p:spPr>
          <a:xfrm>
            <a:off x="0" y="967860"/>
            <a:ext cx="9144000" cy="5431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latin typeface="+mj-lt"/>
              </a:rPr>
              <a:t>Calculate the network address, first usable address, last usable address and broadcast address for 172.16.4.0/23.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latin typeface="+mj-lt"/>
              </a:rPr>
              <a:t>Two WAN routers each require one usable IP address. Which subnet size should you use for their point-to-point link in this assessment?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latin typeface="+mj-lt"/>
              </a:rPr>
              <a:t>A student allocates 192.168.1.0/25 and 192.168.1.64/26 to two LANs. Do these subnets overlap?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latin typeface="+mj-lt"/>
              </a:rPr>
              <a:t>For the assessment's 135.126.0.0/21 block, identify the subnet mask, complete address range and total number of addresses.</a:t>
            </a:r>
          </a:p>
        </p:txBody>
      </p:sp>
    </p:spTree>
    <p:extLst>
      <p:ext uri="{BB962C8B-B14F-4D97-AF65-F5344CB8AC3E}">
        <p14:creationId xmlns:p14="http://schemas.microsoft.com/office/powerpoint/2010/main" val="9189198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AEA4D-ADA4-EB6B-0867-BB7A0977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E18A3AA9-B680-8751-14ED-CFD8EC3055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FE838A8-F4AF-1D18-6F5A-F0773B56FA80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F999E36-052D-71E2-8422-77EB697A2841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6396D-1B3F-AD3E-1931-3370BB55C496}"/>
              </a:ext>
            </a:extLst>
          </p:cNvPr>
          <p:cNvSpPr txBox="1"/>
          <p:nvPr/>
        </p:nvSpPr>
        <p:spPr>
          <a:xfrm>
            <a:off x="0" y="1066801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AU" sz="2800" b="1" dirty="0">
                <a:latin typeface="+mj-lt"/>
              </a:rPr>
              <a:t>Section 3 – Design and written explanations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Questions 16–20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A Sydney office has three departments requiring 100, 40 and 12 usable host addresses. Select the smallest suitable conventional prefix for each department.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Explain two ways subnetting helps a network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1998783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AA52-EC8C-6D0C-8D3A-1688662D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1EA2B75E-AE90-DF27-E2B0-226EEB8E59A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3448" y="62483"/>
            <a:ext cx="735655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</a:rPr>
              <a:t>Assessment 2 – Preparation Guide and Clarifications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0AA3D75-BECE-20DE-8B70-52D8D297E2D0}"/>
              </a:ext>
            </a:extLst>
          </p:cNvPr>
          <p:cNvSpPr txBox="1"/>
          <p:nvPr/>
        </p:nvSpPr>
        <p:spPr>
          <a:xfrm>
            <a:off x="263142" y="6553546"/>
            <a:ext cx="645160" cy="278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687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3C3935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Arial"/>
                <a:cs typeface="Arial"/>
              </a:rPr>
              <a:t>Presentation_ID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47A8806-4F11-FB85-5567-C77A66E6F758}"/>
              </a:ext>
            </a:extLst>
          </p:cNvPr>
          <p:cNvSpPr txBox="1"/>
          <p:nvPr/>
        </p:nvSpPr>
        <p:spPr>
          <a:xfrm>
            <a:off x="4782661" y="6563812"/>
            <a:ext cx="42405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2008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Cisco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Systems,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Inc.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rights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cs typeface="Arial"/>
              </a:rPr>
              <a:t>reserved.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27468-8E2A-5062-4267-FE001FD6F41F}"/>
              </a:ext>
            </a:extLst>
          </p:cNvPr>
          <p:cNvSpPr txBox="1"/>
          <p:nvPr/>
        </p:nvSpPr>
        <p:spPr>
          <a:xfrm>
            <a:off x="0" y="1600200"/>
            <a:ext cx="9144000" cy="396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Explain how subnetting, together with appropriate network configuration, can reduce broadcast traffic.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Give one Australian example of how computer networking supports online education.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</a:rPr>
              <a:t>Give two examples of shared network resources and explain one possible environmental benefit.</a:t>
            </a:r>
          </a:p>
        </p:txBody>
      </p:sp>
    </p:spTree>
    <p:extLst>
      <p:ext uri="{BB962C8B-B14F-4D97-AF65-F5344CB8AC3E}">
        <p14:creationId xmlns:p14="http://schemas.microsoft.com/office/powerpoint/2010/main" val="23956803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CADA-C2BC-8C89-F224-6C84B30E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E8AB4A3-BE79-06FA-AC7C-BEC57E78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" y="24062"/>
            <a:ext cx="6686550" cy="43313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Answer Your Questions</a:t>
            </a:r>
            <a:endParaRPr lang="en-A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Answering Questions In Complete Sentences">
            <a:extLst>
              <a:ext uri="{FF2B5EF4-FFF2-40B4-BE49-F238E27FC236}">
                <a16:creationId xmlns:a16="http://schemas.microsoft.com/office/drawing/2014/main" id="{84E5527E-4D0B-667B-4471-EFDB8B31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434" y="1443320"/>
            <a:ext cx="2539133" cy="1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BBB43-1E60-3AC7-6893-6AAB3EFF1E14}"/>
              </a:ext>
            </a:extLst>
          </p:cNvPr>
          <p:cNvSpPr txBox="1"/>
          <p:nvPr/>
        </p:nvSpPr>
        <p:spPr>
          <a:xfrm>
            <a:off x="600075" y="2971800"/>
            <a:ext cx="7943850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marR="0" lvl="0" indent="-385763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Canvas Inbox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For academic queries. </a:t>
            </a:r>
          </a:p>
          <a:p>
            <a:pPr marL="385763" marR="0" lvl="0" indent="-385763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Email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For formal communication and attachments. </a:t>
            </a:r>
          </a:p>
          <a:p>
            <a:pPr marL="385763" marR="0" lvl="0" indent="-385763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Canvas Discussion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For academic discussions and general queries. </a:t>
            </a:r>
          </a:p>
          <a:p>
            <a:pPr marL="385763" marR="0" lvl="0" indent="-385763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Reminder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Please follow up if you do not receive a response within 3 business days.</a:t>
            </a:r>
          </a:p>
        </p:txBody>
      </p:sp>
    </p:spTree>
    <p:extLst>
      <p:ext uri="{BB962C8B-B14F-4D97-AF65-F5344CB8AC3E}">
        <p14:creationId xmlns:p14="http://schemas.microsoft.com/office/powerpoint/2010/main" val="11828031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379064" y="1272864"/>
            <a:ext cx="4306642" cy="4306642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4791089" y="931863"/>
            <a:ext cx="3898533" cy="498864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6774</Words>
  <Application>Microsoft Office PowerPoint</Application>
  <PresentationFormat>On-screen Show (4:3)</PresentationFormat>
  <Paragraphs>853</Paragraphs>
  <Slides>94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94</vt:i4>
      </vt:variant>
    </vt:vector>
  </HeadingPairs>
  <TitlesOfParts>
    <vt:vector size="99" baseType="lpstr">
      <vt:lpstr>Arial</vt:lpstr>
      <vt:lpstr>Calibri</vt:lpstr>
      <vt:lpstr>Wingdings</vt:lpstr>
      <vt:lpstr>Office Theme</vt:lpstr>
      <vt:lpstr>1_Office Theme</vt:lpstr>
      <vt:lpstr>Build a Small Network and Preparation and Guideline for Assessment 2</vt:lpstr>
      <vt:lpstr>Chapter 11: Build a Small Network</vt:lpstr>
      <vt:lpstr>Chapter 11: Objectives</vt:lpstr>
      <vt:lpstr>Choosing Devices for a Small Network</vt:lpstr>
      <vt:lpstr>Choosing Devices for a Small Network</vt:lpstr>
      <vt:lpstr>Choosing Devices for a Small Network</vt:lpstr>
      <vt:lpstr>Planning IP Addresses for a Small Network</vt:lpstr>
      <vt:lpstr>Planning IP Addresses for a Small Network</vt:lpstr>
      <vt:lpstr>Planning IP Addresses for a Small Network</vt:lpstr>
      <vt:lpstr>Planning IP Addresses for a Small Network</vt:lpstr>
      <vt:lpstr>Common Protocols in a Small Network</vt:lpstr>
      <vt:lpstr>Common Protocols in a Small Network</vt:lpstr>
      <vt:lpstr>Common Protocols in a Small Network</vt:lpstr>
      <vt:lpstr>Common Protocols in a Small Network</vt:lpstr>
      <vt:lpstr>Common Security Threats to Small Networks</vt:lpstr>
      <vt:lpstr>Common Security Threats to Small Networks</vt:lpstr>
      <vt:lpstr>Common Security Threats to Small Networks</vt:lpstr>
      <vt:lpstr>Understanding Malware: Viruses, Worms and Trojans</vt:lpstr>
      <vt:lpstr>Understanding Malware: Viruses, Worms and Trojans</vt:lpstr>
      <vt:lpstr>Understanding Malware: Viruses, Worms and Trojans</vt:lpstr>
      <vt:lpstr>Reconnaissance: How Attackers Gather Network Information</vt:lpstr>
      <vt:lpstr>Reconnaissance: How Attackers Gather Network Information</vt:lpstr>
      <vt:lpstr>Reconnaissance: How Attackers Gather Network Information</vt:lpstr>
      <vt:lpstr>Protecting a Small Network: Backup, Update and Patch</vt:lpstr>
      <vt:lpstr>Protecting a Small Network: Backup, Update and Patch</vt:lpstr>
      <vt:lpstr>Protecting a Small Network: Backup, Update and Patch</vt:lpstr>
      <vt:lpstr>AAA: Controlling Access to a Network</vt:lpstr>
      <vt:lpstr>AAA: Controlling Access to a Network</vt:lpstr>
      <vt:lpstr>AAA: Controlling Access to a Network</vt:lpstr>
      <vt:lpstr>Securing Cisco Routers and Switches</vt:lpstr>
      <vt:lpstr>Securing Cisco Routers and Switches</vt:lpstr>
      <vt:lpstr>Securing Cisco Routers and Switches</vt:lpstr>
      <vt:lpstr>Example Cisco IOS configuration</vt:lpstr>
      <vt:lpstr>Useful Cisco Show Commands</vt:lpstr>
      <vt:lpstr>Useful Cisco Show Commands</vt:lpstr>
      <vt:lpstr>Useful Cisco Show Commands</vt:lpstr>
      <vt:lpstr>Checking Router Information with Show Version</vt:lpstr>
      <vt:lpstr>Checking Router Information with Show Version</vt:lpstr>
      <vt:lpstr>Checking Router Information with Show Version</vt:lpstr>
      <vt:lpstr>Checking Computer Network Settings with ipconfig</vt:lpstr>
      <vt:lpstr>Checking Computer Network Settings with ipconfig</vt:lpstr>
      <vt:lpstr>Checking Computer Network Settings with ipconfig</vt:lpstr>
      <vt:lpstr>Checking Computer Network Settings with ipconfig</vt:lpstr>
      <vt:lpstr>Discovering Connected Devices with CDP</vt:lpstr>
      <vt:lpstr>Discovering Connected Devices with CDP</vt:lpstr>
      <vt:lpstr>Discovering Connected Devices with CDP</vt:lpstr>
      <vt:lpstr>Troubleshooting Network Interfaces and Connectivity</vt:lpstr>
      <vt:lpstr>Troubleshooting Network Interfaces and Connectivity</vt:lpstr>
      <vt:lpstr>Troubleshooting Network Interfaces and Connectivity</vt:lpstr>
      <vt:lpstr>Troubleshooting Network Interfaces and Connectivity</vt:lpstr>
      <vt:lpstr>Troubleshooting Network Interfaces and Connectivity</vt:lpstr>
      <vt:lpstr>Class activity — Find and Fix the Network Problem</vt:lpstr>
      <vt:lpstr>Class activity — Find and Fix the Network Problem</vt:lpstr>
      <vt:lpstr>Knowledge Check: Building and Securing a Small Network</vt:lpstr>
      <vt:lpstr>Knowledge Check: Building and Securing a Small Network</vt:lpstr>
      <vt:lpstr>Knowledge Check: Building and Securing a Small Network</vt:lpstr>
      <vt:lpstr>Knowledge Check: Building and Securing a Small Network</vt:lpstr>
      <vt:lpstr>Knowledge Check: Building and Securing a Small Network</vt:lpstr>
      <vt:lpstr>Knowledge Check: Building and Securing a Small Network</vt:lpstr>
      <vt:lpstr>Knowledge Check: Building and Securing a Small Network</vt:lpstr>
      <vt:lpstr>Knowledge Check: Building and Securing a Small Network</vt:lpstr>
      <vt:lpstr>Knowledge Check: Building and Securing a Small Network</vt:lpstr>
      <vt:lpstr>Knowledge Check: Building and Securing a Small Network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Assessment 2 – Preparation Guide and Clarifications</vt:lpstr>
      <vt:lpstr>Let’s Answer Your 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Farshid Keivanian</cp:lastModifiedBy>
  <cp:revision>128</cp:revision>
  <dcterms:created xsi:type="dcterms:W3CDTF">2026-10-20T21:41:52Z</dcterms:created>
  <dcterms:modified xsi:type="dcterms:W3CDTF">2026-10-21T08:39:22Z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2026-10-20T00:00:00Z</vt:filetime>
  </property>
  <property fmtid="{D5CDD505-2E9C-101B-9397-08002B2CF9AE}" pid="5" name="Producer">
    <vt:lpwstr>Microsoft® PowerPoint® 2010</vt:lpwstr>
  </property>
</Properties>
</file>