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sldIdLst>
    <p:sldId id="952" r:id="rId2"/>
    <p:sldId id="1893" r:id="rId3"/>
    <p:sldId id="1894" r:id="rId4"/>
    <p:sldId id="1895" r:id="rId5"/>
    <p:sldId id="1896" r:id="rId6"/>
    <p:sldId id="1897" r:id="rId7"/>
    <p:sldId id="1898" r:id="rId8"/>
    <p:sldId id="1899" r:id="rId9"/>
    <p:sldId id="1900" r:id="rId10"/>
    <p:sldId id="1901" r:id="rId11"/>
    <p:sldId id="1902" r:id="rId12"/>
    <p:sldId id="1903" r:id="rId13"/>
    <p:sldId id="1904" r:id="rId14"/>
    <p:sldId id="1905" r:id="rId15"/>
    <p:sldId id="1906" r:id="rId16"/>
    <p:sldId id="1907" r:id="rId17"/>
    <p:sldId id="1908" r:id="rId18"/>
    <p:sldId id="1909" r:id="rId19"/>
    <p:sldId id="1910" r:id="rId20"/>
    <p:sldId id="1911" r:id="rId21"/>
    <p:sldId id="1912" r:id="rId22"/>
    <p:sldId id="1914" r:id="rId23"/>
    <p:sldId id="1915" r:id="rId24"/>
    <p:sldId id="1916" r:id="rId25"/>
    <p:sldId id="1917" r:id="rId26"/>
    <p:sldId id="1913" r:id="rId27"/>
    <p:sldId id="1918" r:id="rId28"/>
    <p:sldId id="1919" r:id="rId29"/>
    <p:sldId id="1920" r:id="rId30"/>
    <p:sldId id="1921" r:id="rId31"/>
    <p:sldId id="1922" r:id="rId32"/>
    <p:sldId id="1923" r:id="rId33"/>
    <p:sldId id="1924" r:id="rId34"/>
    <p:sldId id="1925" r:id="rId35"/>
    <p:sldId id="1926" r:id="rId36"/>
    <p:sldId id="1927" r:id="rId37"/>
    <p:sldId id="1928" r:id="rId38"/>
    <p:sldId id="1929" r:id="rId39"/>
    <p:sldId id="1930" r:id="rId40"/>
    <p:sldId id="1931" r:id="rId41"/>
    <p:sldId id="1932" r:id="rId42"/>
    <p:sldId id="1933" r:id="rId43"/>
    <p:sldId id="1934" r:id="rId44"/>
    <p:sldId id="1935" r:id="rId45"/>
    <p:sldId id="1936" r:id="rId46"/>
    <p:sldId id="1937" r:id="rId47"/>
    <p:sldId id="1938" r:id="rId48"/>
    <p:sldId id="1939" r:id="rId49"/>
    <p:sldId id="1940" r:id="rId50"/>
    <p:sldId id="1941" r:id="rId51"/>
    <p:sldId id="1942" r:id="rId52"/>
    <p:sldId id="1943" r:id="rId53"/>
    <p:sldId id="1944" r:id="rId54"/>
    <p:sldId id="1945" r:id="rId55"/>
    <p:sldId id="1946" r:id="rId56"/>
    <p:sldId id="1947" r:id="rId57"/>
    <p:sldId id="1948" r:id="rId58"/>
    <p:sldId id="1949" r:id="rId59"/>
    <p:sldId id="1950" r:id="rId60"/>
    <p:sldId id="1951" r:id="rId61"/>
    <p:sldId id="1952" r:id="rId62"/>
    <p:sldId id="1953" r:id="rId63"/>
    <p:sldId id="1954" r:id="rId64"/>
    <p:sldId id="1955" r:id="rId65"/>
    <p:sldId id="1956" r:id="rId66"/>
    <p:sldId id="1957" r:id="rId67"/>
    <p:sldId id="1958" r:id="rId68"/>
    <p:sldId id="1959" r:id="rId69"/>
    <p:sldId id="1960" r:id="rId70"/>
    <p:sldId id="1961" r:id="rId71"/>
    <p:sldId id="1962" r:id="rId72"/>
    <p:sldId id="1963" r:id="rId73"/>
    <p:sldId id="1964" r:id="rId74"/>
    <p:sldId id="1965" r:id="rId75"/>
    <p:sldId id="1966" r:id="rId76"/>
    <p:sldId id="1967" r:id="rId77"/>
    <p:sldId id="1968" r:id="rId78"/>
    <p:sldId id="1969" r:id="rId79"/>
    <p:sldId id="1970" r:id="rId80"/>
    <p:sldId id="1971" r:id="rId81"/>
    <p:sldId id="1972" r:id="rId82"/>
    <p:sldId id="1973" r:id="rId83"/>
    <p:sldId id="1974" r:id="rId84"/>
    <p:sldId id="1975" r:id="rId85"/>
    <p:sldId id="1976" r:id="rId86"/>
    <p:sldId id="1977" r:id="rId87"/>
    <p:sldId id="1978" r:id="rId88"/>
    <p:sldId id="1979" r:id="rId89"/>
    <p:sldId id="1980" r:id="rId90"/>
    <p:sldId id="1981" r:id="rId91"/>
    <p:sldId id="1982" r:id="rId92"/>
    <p:sldId id="1983" r:id="rId93"/>
    <p:sldId id="1984" r:id="rId94"/>
    <p:sldId id="1889" r:id="rId95"/>
    <p:sldId id="749" r:id="rId96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7" d="100"/>
          <a:sy n="67" d="100"/>
        </p:scale>
        <p:origin x="1197" y="51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1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2895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40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397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198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2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198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5" y="2653278"/>
            <a:ext cx="1766125" cy="502731"/>
          </a:xfrm>
        </p:spPr>
        <p:txBody>
          <a:bodyPr/>
          <a:lstStyle>
            <a:lvl1pPr marL="0" indent="0">
              <a:buNone/>
              <a:defRPr sz="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9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2596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1" i="0">
                <a:solidFill>
                  <a:srgbClr val="3C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C3935"/>
                </a:solidFill>
                <a:latin typeface="Arial"/>
                <a:cs typeface="Arial"/>
              </a:defRPr>
            </a:lvl1pPr>
          </a:lstStyle>
          <a:p>
            <a:pPr marL="396875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700" spc="-10" dirty="0">
                <a:solidFill>
                  <a:srgbClr val="D2D2D2"/>
                </a:solidFill>
              </a:rPr>
              <a:t>Presentation_ID</a:t>
            </a:r>
            <a:endParaRPr sz="700"/>
          </a:p>
        </p:txBody>
      </p:sp>
    </p:spTree>
    <p:extLst>
      <p:ext uri="{BB962C8B-B14F-4D97-AF65-F5344CB8AC3E}">
        <p14:creationId xmlns:p14="http://schemas.microsoft.com/office/powerpoint/2010/main" val="3588381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63448" y="62483"/>
            <a:ext cx="2820035" cy="330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rgbClr val="3C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C3935"/>
                </a:solidFill>
                <a:latin typeface="Arial"/>
                <a:cs typeface="Arial"/>
              </a:defRPr>
            </a:lvl1pPr>
          </a:lstStyle>
          <a:p>
            <a:pPr marL="396875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700" spc="-10" dirty="0">
                <a:solidFill>
                  <a:srgbClr val="D2D2D2"/>
                </a:solidFill>
              </a:rPr>
              <a:t>Presentation_ID</a:t>
            </a:r>
            <a:endParaRPr sz="700"/>
          </a:p>
        </p:txBody>
      </p:sp>
    </p:spTree>
    <p:extLst>
      <p:ext uri="{BB962C8B-B14F-4D97-AF65-F5344CB8AC3E}">
        <p14:creationId xmlns:p14="http://schemas.microsoft.com/office/powerpoint/2010/main" val="3701571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047" y="0"/>
            <a:ext cx="5026660" cy="454659"/>
          </a:xfrm>
          <a:custGeom>
            <a:avLst/>
            <a:gdLst/>
            <a:ahLst/>
            <a:cxnLst/>
            <a:rect l="l" t="t" r="r" b="b"/>
            <a:pathLst>
              <a:path w="5026660" h="454659">
                <a:moveTo>
                  <a:pt x="5026131" y="0"/>
                </a:moveTo>
                <a:lnTo>
                  <a:pt x="0" y="0"/>
                </a:lnTo>
                <a:lnTo>
                  <a:pt x="0" y="454150"/>
                </a:lnTo>
                <a:lnTo>
                  <a:pt x="4568951" y="454150"/>
                </a:lnTo>
                <a:lnTo>
                  <a:pt x="5026131" y="0"/>
                </a:lnTo>
                <a:close/>
              </a:path>
            </a:pathLst>
          </a:custGeom>
          <a:solidFill>
            <a:srgbClr val="E8E2D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4572000" y="6397751"/>
            <a:ext cx="4569460" cy="457200"/>
          </a:xfrm>
          <a:custGeom>
            <a:avLst/>
            <a:gdLst/>
            <a:ahLst/>
            <a:cxnLst/>
            <a:rect l="l" t="t" r="r" b="b"/>
            <a:pathLst>
              <a:path w="4569459" h="457200">
                <a:moveTo>
                  <a:pt x="4568953" y="0"/>
                </a:moveTo>
                <a:lnTo>
                  <a:pt x="460248" y="0"/>
                </a:lnTo>
                <a:lnTo>
                  <a:pt x="0" y="457198"/>
                </a:lnTo>
                <a:lnTo>
                  <a:pt x="4568953" y="457198"/>
                </a:lnTo>
                <a:lnTo>
                  <a:pt x="4568953" y="0"/>
                </a:lnTo>
                <a:close/>
              </a:path>
            </a:pathLst>
          </a:custGeom>
          <a:solidFill>
            <a:srgbClr val="E8E2D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679476" y="331684"/>
            <a:ext cx="1137925" cy="64203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47268" y="981963"/>
            <a:ext cx="8449463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rgbClr val="3C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81683" y="1904998"/>
            <a:ext cx="8326755" cy="40913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263142" y="6553546"/>
            <a:ext cx="645160" cy="2781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3C3935"/>
                </a:solidFill>
                <a:latin typeface="Arial"/>
                <a:cs typeface="Arial"/>
              </a:defRPr>
            </a:lvl1pPr>
          </a:lstStyle>
          <a:p>
            <a:pPr marL="396875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700" spc="-10" dirty="0">
                <a:solidFill>
                  <a:srgbClr val="D2D2D2"/>
                </a:solidFill>
              </a:rPr>
              <a:t>Presentation_ID</a:t>
            </a:r>
            <a:endParaRPr sz="700"/>
          </a:p>
        </p:txBody>
      </p:sp>
    </p:spTree>
    <p:extLst>
      <p:ext uri="{BB962C8B-B14F-4D97-AF65-F5344CB8AC3E}">
        <p14:creationId xmlns:p14="http://schemas.microsoft.com/office/powerpoint/2010/main" val="50539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jobs" TargetMode="External"/><Relationship Id="rId2" Type="http://schemas.openxmlformats.org/officeDocument/2006/relationships/hyperlink" Target="https://www.seek.com.au/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46758"/>
            <a:ext cx="3280028" cy="2067842"/>
          </a:xfrm>
        </p:spPr>
        <p:txBody>
          <a:bodyPr/>
          <a:lstStyle/>
          <a:p>
            <a:r>
              <a:rPr lang="en-AU" sz="2550" dirty="0"/>
              <a:t>Revision and Preparation and Guideline for Assessment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4000501"/>
            <a:ext cx="2900363" cy="335756"/>
          </a:xfrm>
        </p:spPr>
        <p:txBody>
          <a:bodyPr/>
          <a:lstStyle/>
          <a:p>
            <a:r>
              <a:rPr lang="en-AU" sz="1500" b="1" dirty="0"/>
              <a:t>Week 12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E70E932-4411-F845-C640-9F68C2F38075}"/>
              </a:ext>
            </a:extLst>
          </p:cNvPr>
          <p:cNvSpPr txBox="1">
            <a:spLocks/>
          </p:cNvSpPr>
          <p:nvPr/>
        </p:nvSpPr>
        <p:spPr>
          <a:xfrm>
            <a:off x="628650" y="4686301"/>
            <a:ext cx="2900363" cy="335756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863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None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6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6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F2120C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AU" sz="1500" b="1" i="0" u="none" strike="noStrike" kern="1200" cap="none" spc="0" normalizeH="0" baseline="0" noProof="0" dirty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2033549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/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Assessment 3: From Network Design to Troubleshooting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D5561D-8FC1-2133-2FB7-C2E759A0D3E5}"/>
              </a:ext>
            </a:extLst>
          </p:cNvPr>
          <p:cNvSpPr txBox="1"/>
          <p:nvPr/>
        </p:nvSpPr>
        <p:spPr>
          <a:xfrm>
            <a:off x="0" y="1143000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Apply networking knowledge to realistic workplace problems.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Diagnose and correct faults in an existing network.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Design and configure a network for two departments.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Test connectivity, security and remote access.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Explain your work through a technical report, presentation and viva.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16DEA-DE92-B3CD-4E6A-18432BE73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1B520F8B-7D7F-576C-B541-82D41519437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Assessment 3: From Network Design to Troubleshooting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4A8E5F2-6771-7036-07D9-89D8CE5D0005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9A37B3A-8BBD-396C-ABFB-571482DB03F7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FFADAC-DBE6-21C9-74FE-D3FFDC409294}"/>
              </a:ext>
            </a:extLst>
          </p:cNvPr>
          <p:cNvSpPr txBox="1"/>
          <p:nvPr/>
        </p:nvSpPr>
        <p:spPr>
          <a:xfrm>
            <a:off x="0" y="1143000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Australian example: A junior network engineer working for a Sydney IT services company may be asked to investigate a network outage and set up connectivity for a new office.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Discussion: Why is a working Packet Tracer network not enough on its own?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Answer: A network engineer must also explain the design, prove that it works and document how problems were resolved.</a:t>
            </a:r>
          </a:p>
        </p:txBody>
      </p:sp>
    </p:spTree>
    <p:extLst>
      <p:ext uri="{BB962C8B-B14F-4D97-AF65-F5344CB8AC3E}">
        <p14:creationId xmlns:p14="http://schemas.microsoft.com/office/powerpoint/2010/main" val="158178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E4CD8-1550-55A1-FA6A-616746447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0C091F90-FA8A-4F33-8FB9-32A1FF3A0A2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Assessment Structure and Marking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D269CD2-8A8A-3439-E118-D17C0534F6E8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2DF1E4C6-7469-94AC-37AA-7DDE451ECBD3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CE5952E-42D5-9891-FA1F-1F93D5CFC2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95573"/>
              </p:ext>
            </p:extLst>
          </p:nvPr>
        </p:nvGraphicFramePr>
        <p:xfrm>
          <a:off x="407988" y="1143000"/>
          <a:ext cx="8328024" cy="460248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6602412">
                  <a:extLst>
                    <a:ext uri="{9D8B030D-6E8A-4147-A177-3AD203B41FA5}">
                      <a16:colId xmlns:a16="http://schemas.microsoft.com/office/drawing/2014/main" val="1773558890"/>
                    </a:ext>
                  </a:extLst>
                </a:gridCol>
                <a:gridCol w="1725612">
                  <a:extLst>
                    <a:ext uri="{9D8B030D-6E8A-4147-A177-3AD203B41FA5}">
                      <a16:colId xmlns:a16="http://schemas.microsoft.com/office/drawing/2014/main" val="151026294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Assessment component</a:t>
                      </a:r>
                      <a:endParaRPr lang="en-AU" sz="2800" b="1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Marks</a:t>
                      </a:r>
                      <a:endParaRPr lang="en-AU" sz="2800" b="1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387278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Scenario 1 – Troubleshooting and diagnosis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16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69369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Scenario 2 – Network architecture and IPv4 design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10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889671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Scenario 2 – Configuration, security and testing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12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424453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Technical analysis and design justification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5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654135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Technical report, presentation and viva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7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05784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Total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50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287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6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9D8D7-E456-BDBE-962B-A1B8056B9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95A8DCE-FF1C-C4B8-D876-0B4F751EFEA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Assessment Structure and Marking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0EB6790-08D7-70DF-6035-FAA3B1B3D73A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A965435E-4CD4-329E-F9A4-C19906039274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7F816F-9847-7A49-50F7-287FDD0F41E1}"/>
              </a:ext>
            </a:extLst>
          </p:cNvPr>
          <p:cNvSpPr txBox="1"/>
          <p:nvPr/>
        </p:nvSpPr>
        <p:spPr>
          <a:xfrm>
            <a:off x="0" y="610293"/>
            <a:ext cx="9144000" cy="622138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The rubric assesses both practical implementation and technical understanding.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Students should review all five criteria before beginning.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Evidence should correspond to the actual submitted Packet Tracer files.</a:t>
            </a:r>
          </a:p>
          <a:p>
            <a:pPr>
              <a:lnSpc>
                <a:spcPct val="150000"/>
              </a:lnSpc>
              <a:buNone/>
            </a:pPr>
            <a:r>
              <a:rPr lang="en-AU" sz="2600" dirty="0">
                <a:latin typeface="+mj-lt"/>
              </a:rPr>
              <a:t>Discussion: Can a student achieve the highest marks by submitting only screenshots of a working network?</a:t>
            </a:r>
          </a:p>
          <a:p>
            <a:pPr>
              <a:lnSpc>
                <a:spcPct val="150000"/>
              </a:lnSpc>
              <a:buNone/>
            </a:pPr>
            <a:r>
              <a:rPr lang="en-AU" sz="2600" dirty="0">
                <a:latin typeface="+mj-lt"/>
              </a:rPr>
              <a:t>Answer: No. The rubric also requires accurate explanations, diagnostic reasoning, design justification, professional documentation and viva performance.</a:t>
            </a:r>
          </a:p>
        </p:txBody>
      </p:sp>
    </p:spTree>
    <p:extLst>
      <p:ext uri="{BB962C8B-B14F-4D97-AF65-F5344CB8AC3E}">
        <p14:creationId xmlns:p14="http://schemas.microsoft.com/office/powerpoint/2010/main" val="2800546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F70F2-9EE3-F7A0-DAA8-72E491BBA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03AD8A60-3514-97AB-1B48-92A324927CB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What Skills Will You Develop?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2A28410F-CB8B-AA53-E7BF-2938196487D4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B1D0A6D-6B7B-CC5D-D21B-B49EC1DC4F6B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50AA59-A760-E027-4FC5-A8FDE112D296}"/>
              </a:ext>
            </a:extLst>
          </p:cNvPr>
          <p:cNvSpPr txBox="1"/>
          <p:nvPr/>
        </p:nvSpPr>
        <p:spPr>
          <a:xfrm>
            <a:off x="0" y="847679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Network design: choosing devices and planning connections.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IP addressing: configuring subnets and default gateways.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Cisco IOS: configuring and checking routers and switches.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Troubleshooting: identifying faults and testing solutions.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Network security: protecting devices and configuring remote access.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Technical communication: reporting and explaining your decisions.</a:t>
            </a:r>
          </a:p>
        </p:txBody>
      </p:sp>
    </p:spTree>
    <p:extLst>
      <p:ext uri="{BB962C8B-B14F-4D97-AF65-F5344CB8AC3E}">
        <p14:creationId xmlns:p14="http://schemas.microsoft.com/office/powerpoint/2010/main" val="1826936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E1C34-5E43-A8E6-D01B-690A79AE5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6289F5E6-13CC-6134-BB13-733DBF6258F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What Skills Will You Develop?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36412C7-6E9B-63C3-20DB-17D8099BAC1A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203B952A-9753-A473-3E22-DD38462DA937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B768A7-8703-A31C-36AE-373D029AF6DF}"/>
              </a:ext>
            </a:extLst>
          </p:cNvPr>
          <p:cNvSpPr txBox="1"/>
          <p:nvPr/>
        </p:nvSpPr>
        <p:spPr>
          <a:xfrm>
            <a:off x="0" y="1295401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Australian example: These skills are useful in IT support teams, managed service providers, universities and corporate networks across Australia.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Which skill is most important when a user reports that the network has stopped working?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Troubleshooting, supported by knowledge of addressing, routing, devices and network protocols.</a:t>
            </a:r>
          </a:p>
        </p:txBody>
      </p:sp>
    </p:spTree>
    <p:extLst>
      <p:ext uri="{BB962C8B-B14F-4D97-AF65-F5344CB8AC3E}">
        <p14:creationId xmlns:p14="http://schemas.microsoft.com/office/powerpoint/2010/main" val="3203013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6EC28-8194-75A4-D0C1-9E0473124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A8512182-D6E7-DEFB-5D4E-81ABC0CDB05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Career Opportunities in Australia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AE16BAB-A9AF-40E5-FFCE-6F0371687C30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2C788FD3-9F06-FA16-8625-DA99406D0E6F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516F0E-8038-E055-8E86-EFA981D421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478491"/>
              </p:ext>
            </p:extLst>
          </p:nvPr>
        </p:nvGraphicFramePr>
        <p:xfrm>
          <a:off x="0" y="2533174"/>
          <a:ext cx="9144000" cy="399288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4495800">
                  <a:extLst>
                    <a:ext uri="{9D8B030D-6E8A-4147-A177-3AD203B41FA5}">
                      <a16:colId xmlns:a16="http://schemas.microsoft.com/office/drawing/2014/main" val="4267911780"/>
                    </a:ext>
                  </a:extLst>
                </a:gridCol>
                <a:gridCol w="4648200">
                  <a:extLst>
                    <a:ext uri="{9D8B030D-6E8A-4147-A177-3AD203B41FA5}">
                      <a16:colId xmlns:a16="http://schemas.microsoft.com/office/drawing/2014/main" val="318101149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b="1" dirty="0"/>
                        <a:t>Job title</a:t>
                      </a:r>
                      <a:endParaRPr lang="en-AU" sz="2200" b="1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b="1" dirty="0"/>
                        <a:t>Relevant assessment skills</a:t>
                      </a:r>
                      <a:endParaRPr lang="en-AU" sz="2200" b="1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146988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IT Support Officer</a:t>
                      </a:r>
                      <a:endParaRPr lang="en-AU" sz="2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Connectivity testing and fault diagnosis</a:t>
                      </a:r>
                      <a:endParaRPr lang="en-AU" sz="220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0535238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Service Desk Analyst</a:t>
                      </a:r>
                      <a:endParaRPr lang="en-AU" sz="22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Troubleshooting and technical communication</a:t>
                      </a:r>
                      <a:endParaRPr lang="en-AU" sz="220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40847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Network Support Technician</a:t>
                      </a:r>
                      <a:endParaRPr lang="en-AU" sz="22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Switches, routers and IP configuration</a:t>
                      </a:r>
                      <a:endParaRPr lang="en-AU" sz="2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01713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Junior Network Administrator</a:t>
                      </a:r>
                      <a:endParaRPr lang="en-AU" sz="22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Network maintenance and documentation</a:t>
                      </a:r>
                      <a:endParaRPr lang="en-AU" sz="2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27378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Network Operations Centre (NOC) Analyst</a:t>
                      </a:r>
                      <a:endParaRPr lang="en-AU" sz="22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Monitoring and incident investigation</a:t>
                      </a:r>
                      <a:endParaRPr lang="en-AU" sz="2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1759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Junior Network Engineer</a:t>
                      </a:r>
                      <a:endParaRPr lang="en-AU" sz="22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Network design, routing and security</a:t>
                      </a:r>
                      <a:endParaRPr lang="en-AU" sz="2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82314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FC7ED6-221D-BABC-17F3-37984EC4D10F}"/>
              </a:ext>
            </a:extLst>
          </p:cNvPr>
          <p:cNvSpPr txBox="1"/>
          <p:nvPr/>
        </p:nvSpPr>
        <p:spPr>
          <a:xfrm>
            <a:off x="35718" y="881047"/>
            <a:ext cx="9108281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Students can explore entry-level and developing career opportunities such as:</a:t>
            </a:r>
          </a:p>
        </p:txBody>
      </p:sp>
    </p:spTree>
    <p:extLst>
      <p:ext uri="{BB962C8B-B14F-4D97-AF65-F5344CB8AC3E}">
        <p14:creationId xmlns:p14="http://schemas.microsoft.com/office/powerpoint/2010/main" val="2389537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1821-D3F8-B60F-B1EB-15465E71B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445A4BF8-9144-0E3D-969C-131A893B7B1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Career Opportunities in Australia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DD5E385-8CE8-5D27-7406-020E1214211A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5A21683C-861D-ACFC-C2C0-63EDB93F104B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8C1FD-F2CE-0EAB-DBCF-C975C6465C5E}"/>
              </a:ext>
            </a:extLst>
          </p:cNvPr>
          <p:cNvSpPr txBox="1"/>
          <p:nvPr/>
        </p:nvSpPr>
        <p:spPr>
          <a:xfrm>
            <a:off x="0" y="990599"/>
            <a:ext cx="92202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Search on </a:t>
            </a:r>
            <a:r>
              <a:rPr lang="en-AU" sz="2800" dirty="0">
                <a:latin typeface="+mj-lt"/>
                <a:hlinkClick r:id="rId2"/>
              </a:rPr>
              <a:t>SEEK Australia</a:t>
            </a:r>
            <a:r>
              <a:rPr lang="en-AU" sz="2800" dirty="0">
                <a:latin typeface="+mj-lt"/>
              </a:rPr>
              <a:t> or </a:t>
            </a:r>
            <a:r>
              <a:rPr lang="en-AU" sz="2800" dirty="0">
                <a:latin typeface="+mj-lt"/>
                <a:hlinkClick r:id="rId3"/>
              </a:rPr>
              <a:t>LinkedIn Jobs</a:t>
            </a:r>
            <a:r>
              <a:rPr lang="en-AU" sz="2800" dirty="0">
                <a:latin typeface="+mj-lt"/>
              </a:rPr>
              <a:t> using terms such as Junior Network Engineer, Network Support, NOC Analyst and Cisco Networking.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Which job would benefit most from knowing how to use show </a:t>
            </a:r>
            <a:r>
              <a:rPr lang="en-AU" sz="2800" dirty="0" err="1">
                <a:latin typeface="+mj-lt"/>
              </a:rPr>
              <a:t>ip</a:t>
            </a:r>
            <a:r>
              <a:rPr lang="en-AU" sz="2800" dirty="0">
                <a:latin typeface="+mj-lt"/>
              </a:rPr>
              <a:t> route?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Network support, network administration and NOC roles, because they frequently investigate routing and connectivity problems.</a:t>
            </a:r>
          </a:p>
        </p:txBody>
      </p:sp>
    </p:spTree>
    <p:extLst>
      <p:ext uri="{BB962C8B-B14F-4D97-AF65-F5344CB8AC3E}">
        <p14:creationId xmlns:p14="http://schemas.microsoft.com/office/powerpoint/2010/main" val="1126961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1CE40-7E3A-024D-2122-5DC8B4111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6FAC7945-0474-6443-61DD-460B16F84B6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Understand the Two Assessment Scenarios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3CC6256-644C-E249-2162-9FAA53F470FA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0F095A6-D723-32C7-584B-EF48F8F853D5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AF4CD5-A7A5-A79A-BB42-C246DEAE94B1}"/>
              </a:ext>
            </a:extLst>
          </p:cNvPr>
          <p:cNvSpPr txBox="1"/>
          <p:nvPr/>
        </p:nvSpPr>
        <p:spPr>
          <a:xfrm>
            <a:off x="76200" y="1143000"/>
            <a:ext cx="89916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Scenario 1 – Troubleshooting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Investigate an existing Packet Tracer network.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Complete four troubleshooting/information-gathering tickets.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Use permitted Cisco IOS commands.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Identify faults and provide corrective commands where applicable.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Answer route and round-trip-time questions.</a:t>
            </a:r>
          </a:p>
        </p:txBody>
      </p:sp>
    </p:spTree>
    <p:extLst>
      <p:ext uri="{BB962C8B-B14F-4D97-AF65-F5344CB8AC3E}">
        <p14:creationId xmlns:p14="http://schemas.microsoft.com/office/powerpoint/2010/main" val="4292284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257AB-5EBE-0D00-48AD-13A4D4ACF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B74AFF31-0477-B1CF-07E7-1479B44F477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Understand the Two Assessment Scenarios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8D92DBD-2B37-C8C5-ECCC-00293126F626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C331E5AE-924B-30EF-89DD-6EA00A7A093B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31B1F2-8658-3CFF-35CE-973C24C3A477}"/>
              </a:ext>
            </a:extLst>
          </p:cNvPr>
          <p:cNvSpPr txBox="1"/>
          <p:nvPr/>
        </p:nvSpPr>
        <p:spPr>
          <a:xfrm>
            <a:off x="0" y="1371600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Scenario 2 – Network design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Redesign the ABC company network.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Connect HR and Finance through a shared ISP connection.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Plan for future devices.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Configure and verify the required network services.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Provide technical evidence and design justification.</a:t>
            </a:r>
          </a:p>
        </p:txBody>
      </p:sp>
    </p:spTree>
    <p:extLst>
      <p:ext uri="{BB962C8B-B14F-4D97-AF65-F5344CB8AC3E}">
        <p14:creationId xmlns:p14="http://schemas.microsoft.com/office/powerpoint/2010/main" val="1755755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89F8F-C362-FA0A-4CE3-342742202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25B0ACC-5C26-2DA6-1891-8C57E11F11E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Understand the Two Assessment Scenarios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2A754008-2526-1891-FBBA-94F477FF3423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A6763A40-110D-1E5C-9551-3C1AAFE51454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09798D-0E56-FC9B-C0BA-375C71F7D459}"/>
              </a:ext>
            </a:extLst>
          </p:cNvPr>
          <p:cNvSpPr txBox="1"/>
          <p:nvPr/>
        </p:nvSpPr>
        <p:spPr>
          <a:xfrm>
            <a:off x="0" y="1371600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Discussion: What is the main difference between the scenarios?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Answer: Scenario 1 focuses on diagnosing an existing network; Scenario 2 focuses on designing and implementing a network to meet business requirements.</a:t>
            </a:r>
          </a:p>
        </p:txBody>
      </p:sp>
    </p:spTree>
    <p:extLst>
      <p:ext uri="{BB962C8B-B14F-4D97-AF65-F5344CB8AC3E}">
        <p14:creationId xmlns:p14="http://schemas.microsoft.com/office/powerpoint/2010/main" val="2162750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C6F0-E0E1-DFF5-7A8E-3A03F6ABF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69EBED5-2E5A-BC99-2B93-71988B07A44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Read the Network Topology Before Configuring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DCDA836-77D2-3E21-F48A-49C7B6D16E1E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A1E9F76-488B-D87F-77D0-A72CDE7A1611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7C4EC-E62B-9D50-BA15-89ABD1008D11}"/>
              </a:ext>
            </a:extLst>
          </p:cNvPr>
          <p:cNvSpPr txBox="1"/>
          <p:nvPr/>
        </p:nvSpPr>
        <p:spPr>
          <a:xfrm>
            <a:off x="0" y="1447800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Identify: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Routers and switches.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PCs, servers and other end devices.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LAN and WAN connections.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Interface names and IP addresses.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Default gateways and routing paths.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Existing connections and possible points of failure.</a:t>
            </a:r>
          </a:p>
        </p:txBody>
      </p:sp>
    </p:spTree>
    <p:extLst>
      <p:ext uri="{BB962C8B-B14F-4D97-AF65-F5344CB8AC3E}">
        <p14:creationId xmlns:p14="http://schemas.microsoft.com/office/powerpoint/2010/main" val="2892774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FDEF2-96A6-1C06-5FD8-F558B95A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3C76342C-B860-BC1F-ECAD-3A79BCEF631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Read the Network Topology Before Configuring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02A6296-6A61-5AF2-18B4-8FFC70E362F9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DB50F02-AECC-B654-CC99-EA6EDD1CEDFC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1640E6-CB67-8DE2-8282-6BBDFEE1FFC5}"/>
              </a:ext>
            </a:extLst>
          </p:cNvPr>
          <p:cNvSpPr txBox="1"/>
          <p:nvPr/>
        </p:nvSpPr>
        <p:spPr>
          <a:xfrm>
            <a:off x="0" y="1447801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Australian example: Before changing a network in a Melbourne office, a technician reviews the network diagram to avoid disconnecting the wrong department.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should you inspect the topology before entering Cisco commands?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To understand how devices connect and avoid making changes to the wrong interface or device.</a:t>
            </a:r>
          </a:p>
        </p:txBody>
      </p:sp>
    </p:spTree>
    <p:extLst>
      <p:ext uri="{BB962C8B-B14F-4D97-AF65-F5344CB8AC3E}">
        <p14:creationId xmlns:p14="http://schemas.microsoft.com/office/powerpoint/2010/main" val="3938890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FC74E-D03E-F8B9-9CB2-D5E647DFC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228DA57B-AB11-61D8-9B13-E06FA54A688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Read the Network Topology Before Configuring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C1989AE-C9D8-62F2-AC5F-1049C0E7D54E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2D90313E-D8AA-0B40-2199-237FCF7DCEA5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F232AC62-8CCD-CD24-149C-367AAE742B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667" b="73750"/>
          <a:stretch>
            <a:fillRect/>
          </a:stretch>
        </p:blipFill>
        <p:spPr>
          <a:xfrm>
            <a:off x="0" y="1260182"/>
            <a:ext cx="91440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35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D4E3B-705E-7B9F-C746-C645309D3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7DE91F81-DA05-D40A-4495-09488606F99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Essential IPv4 Addressing Knowledge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86F389F-8352-C7AB-F907-8911AB676ADF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A2DF9E91-4201-A869-95E3-563616AB57D6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557716-D978-0F95-B0BC-4ABD6B8BBC0A}"/>
              </a:ext>
            </a:extLst>
          </p:cNvPr>
          <p:cNvSpPr txBox="1"/>
          <p:nvPr/>
        </p:nvSpPr>
        <p:spPr>
          <a:xfrm>
            <a:off x="0" y="838201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An IPv4 address identifies a network interface.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 subnet mask identifies the network and host portions.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Devices in the same subnet can normally communicate directly through a switch.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Devices in different subnets need routing.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 default gateway is used to reach destinations outside the local subnet.</a:t>
            </a:r>
          </a:p>
        </p:txBody>
      </p:sp>
    </p:spTree>
    <p:extLst>
      <p:ext uri="{BB962C8B-B14F-4D97-AF65-F5344CB8AC3E}">
        <p14:creationId xmlns:p14="http://schemas.microsoft.com/office/powerpoint/2010/main" val="1398724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06477-8A36-B4D0-A1E3-1D13725F1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E3FB7D5-3634-D63B-2D63-AF36EE15398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Essential IPv4 Addressing Knowledge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CECC3EC-CA54-7791-2BA0-8C80DDAFABDC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E1F41C12-2DD1-5BA9-A712-F9F0DEBC345A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54F56D-7B14-BFB9-AD4F-B483CDFCB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1548577"/>
              </p:ext>
            </p:extLst>
          </p:nvPr>
        </p:nvGraphicFramePr>
        <p:xfrm>
          <a:off x="407988" y="1830437"/>
          <a:ext cx="8328024" cy="240792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2082006">
                  <a:extLst>
                    <a:ext uri="{9D8B030D-6E8A-4147-A177-3AD203B41FA5}">
                      <a16:colId xmlns:a16="http://schemas.microsoft.com/office/drawing/2014/main" val="1635755259"/>
                    </a:ext>
                  </a:extLst>
                </a:gridCol>
                <a:gridCol w="2082006">
                  <a:extLst>
                    <a:ext uri="{9D8B030D-6E8A-4147-A177-3AD203B41FA5}">
                      <a16:colId xmlns:a16="http://schemas.microsoft.com/office/drawing/2014/main" val="2644940404"/>
                    </a:ext>
                  </a:extLst>
                </a:gridCol>
                <a:gridCol w="2082006">
                  <a:extLst>
                    <a:ext uri="{9D8B030D-6E8A-4147-A177-3AD203B41FA5}">
                      <a16:colId xmlns:a16="http://schemas.microsoft.com/office/drawing/2014/main" val="700022377"/>
                    </a:ext>
                  </a:extLst>
                </a:gridCol>
                <a:gridCol w="2082006">
                  <a:extLst>
                    <a:ext uri="{9D8B030D-6E8A-4147-A177-3AD203B41FA5}">
                      <a16:colId xmlns:a16="http://schemas.microsoft.com/office/drawing/2014/main" val="23514162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Device</a:t>
                      </a:r>
                      <a:endParaRPr lang="en-AU" sz="2800" b="1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IP address</a:t>
                      </a:r>
                      <a:endParaRPr lang="en-AU" sz="2800" b="1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Mask</a:t>
                      </a:r>
                      <a:endParaRPr lang="en-AU" sz="2800" b="1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Gateway</a:t>
                      </a:r>
                      <a:endParaRPr lang="en-AU" sz="2800" b="1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5158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PC-A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192.168.1.10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255.255.255.0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192.168.1.1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465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PC-B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192.168.2.10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255.255.255.0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192.168.2.1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17251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86C68F0-D4C9-0077-1E93-9FBB565764EE}"/>
              </a:ext>
            </a:extLst>
          </p:cNvPr>
          <p:cNvSpPr txBox="1"/>
          <p:nvPr/>
        </p:nvSpPr>
        <p:spPr>
          <a:xfrm>
            <a:off x="210661" y="91440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sz="2800">
                <a:latin typeface="+mj-lt"/>
              </a:rPr>
              <a:t>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17871A-8204-9705-0837-54E7BDB4FC38}"/>
              </a:ext>
            </a:extLst>
          </p:cNvPr>
          <p:cNvSpPr txBox="1"/>
          <p:nvPr/>
        </p:nvSpPr>
        <p:spPr>
          <a:xfrm>
            <a:off x="133920" y="4220833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Can these two PCs communicate through switches alone?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Not under normal Layer 2 switching. A router or Layer 3 switch is needed between their different IP subnets.</a:t>
            </a:r>
          </a:p>
        </p:txBody>
      </p:sp>
    </p:spTree>
    <p:extLst>
      <p:ext uri="{BB962C8B-B14F-4D97-AF65-F5344CB8AC3E}">
        <p14:creationId xmlns:p14="http://schemas.microsoft.com/office/powerpoint/2010/main" val="598631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75397-B2BF-F243-17F5-626BC460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5F10B382-2132-249C-11C5-F2C5D3E8029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Subnetting and Future Network Growth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EBD5A81-05C4-180B-0E71-82B454F91069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2A9DAB9B-D58D-3CB2-CF7D-DE1801738D1B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E67D4B-3FB2-A957-A37E-BFE43760A1E2}"/>
              </a:ext>
            </a:extLst>
          </p:cNvPr>
          <p:cNvSpPr txBox="1"/>
          <p:nvPr/>
        </p:nvSpPr>
        <p:spPr>
          <a:xfrm>
            <a:off x="0" y="1219201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Calculate how many IP-enabled devices each department requires.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Include network infrastructure interfaces and future expansion.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Select a suitable subnet size.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Avoid overlapping subnet ranges.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Document the addressing scheme.</a:t>
            </a:r>
          </a:p>
        </p:txBody>
      </p:sp>
    </p:spTree>
    <p:extLst>
      <p:ext uri="{BB962C8B-B14F-4D97-AF65-F5344CB8AC3E}">
        <p14:creationId xmlns:p14="http://schemas.microsoft.com/office/powerpoint/2010/main" val="3092895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89D59-1BD5-BE6D-A00E-670EE8007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CB6039A0-FA32-8EFC-F622-18E8D5D84A2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Subnetting and Future Network Growth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E51940C-9BBD-E50A-6C9D-80CD6DAB1F45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20D1000-080A-D7F9-594C-0877C6809D4F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92F911C-36C3-81D0-2B2A-70B3797B1D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995259"/>
              </p:ext>
            </p:extLst>
          </p:nvPr>
        </p:nvGraphicFramePr>
        <p:xfrm>
          <a:off x="407988" y="1690585"/>
          <a:ext cx="8328024" cy="155448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2182812">
                  <a:extLst>
                    <a:ext uri="{9D8B030D-6E8A-4147-A177-3AD203B41FA5}">
                      <a16:colId xmlns:a16="http://schemas.microsoft.com/office/drawing/2014/main" val="642578158"/>
                    </a:ext>
                  </a:extLst>
                </a:gridCol>
                <a:gridCol w="3369204">
                  <a:extLst>
                    <a:ext uri="{9D8B030D-6E8A-4147-A177-3AD203B41FA5}">
                      <a16:colId xmlns:a16="http://schemas.microsoft.com/office/drawing/2014/main" val="665929081"/>
                    </a:ext>
                  </a:extLst>
                </a:gridCol>
                <a:gridCol w="2776008">
                  <a:extLst>
                    <a:ext uri="{9D8B030D-6E8A-4147-A177-3AD203B41FA5}">
                      <a16:colId xmlns:a16="http://schemas.microsoft.com/office/drawing/2014/main" val="34145440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Department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Current end devices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Example subnet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7606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HR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192.168.10.0/27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9554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Finance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192.168.20.0/27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3968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AF632B2-AC42-22AD-E1A5-1616DC97F89E}"/>
              </a:ext>
            </a:extLst>
          </p:cNvPr>
          <p:cNvSpPr txBox="1"/>
          <p:nvPr/>
        </p:nvSpPr>
        <p:spPr>
          <a:xfrm>
            <a:off x="84931" y="96784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sz="2800">
                <a:latin typeface="+mj-lt"/>
              </a:rPr>
              <a:t>Illustrative planning 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213BB9-EAD2-14EE-4680-11A394A6EE3B}"/>
              </a:ext>
            </a:extLst>
          </p:cNvPr>
          <p:cNvSpPr txBox="1"/>
          <p:nvPr/>
        </p:nvSpPr>
        <p:spPr>
          <a:xfrm>
            <a:off x="-23813" y="3245065"/>
            <a:ext cx="9101136" cy="363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600" dirty="0">
                <a:latin typeface="+mj-lt"/>
              </a:rPr>
              <a:t>Both /27 networks provide 30 usable IPv4 addresses. These are teaching examples, not prescribed assessment addresses.</a:t>
            </a:r>
          </a:p>
          <a:p>
            <a:pPr>
              <a:lnSpc>
                <a:spcPct val="150000"/>
              </a:lnSpc>
              <a:buNone/>
            </a:pPr>
            <a:r>
              <a:rPr lang="en-AU" sz="2600" dirty="0">
                <a:latin typeface="+mj-lt"/>
              </a:rPr>
              <a:t>Discussion: Why might a /28 subnet be unsuitable for Finance?</a:t>
            </a:r>
          </a:p>
          <a:p>
            <a:pPr>
              <a:lnSpc>
                <a:spcPct val="150000"/>
              </a:lnSpc>
              <a:buNone/>
            </a:pPr>
            <a:r>
              <a:rPr lang="en-AU" sz="2600" dirty="0">
                <a:latin typeface="+mj-lt"/>
              </a:rPr>
              <a:t>Answer: It provides only 14 usable addresses, which is fewer than Finance's 16 listed end devices, even before allowing for a gateway or future growth.</a:t>
            </a:r>
          </a:p>
        </p:txBody>
      </p:sp>
    </p:spTree>
    <p:extLst>
      <p:ext uri="{BB962C8B-B14F-4D97-AF65-F5344CB8AC3E}">
        <p14:creationId xmlns:p14="http://schemas.microsoft.com/office/powerpoint/2010/main" val="218112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B3A5-4738-04C5-4141-1671262D8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B23E4E8A-C198-EE74-DA67-F4222BA4900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Switches, Routers and Internet Connectivity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83A61D6-ABBA-34E1-C389-D0FDAD3589CA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2A12C98-AA72-2DAC-80F2-8251C197AF4E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4CEECB-3440-E84A-8DE2-F26BFA43871F}"/>
              </a:ext>
            </a:extLst>
          </p:cNvPr>
          <p:cNvSpPr txBox="1"/>
          <p:nvPr/>
        </p:nvSpPr>
        <p:spPr>
          <a:xfrm>
            <a:off x="0" y="1295401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Switches connect devices within a local network.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Routers connect different IP networks.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 default gateway forwards traffic outside the local subnet.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An ISP connection provides a route towards the Internet.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NAT/PAT may allow multiple private IPv4 devices to share a public IPv4 address.</a:t>
            </a:r>
          </a:p>
        </p:txBody>
      </p:sp>
    </p:spTree>
    <p:extLst>
      <p:ext uri="{BB962C8B-B14F-4D97-AF65-F5344CB8AC3E}">
        <p14:creationId xmlns:p14="http://schemas.microsoft.com/office/powerpoint/2010/main" val="522077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4866C-83CA-53DA-5AC6-F4F7A3318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CE98EF22-8767-EBD2-1369-B7F411C0513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Switches, Routers and Internet Connectivity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F177E1A-85FC-96F7-A702-7A08EE9BA661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69A97EA-CC7C-05B1-3F48-3693491CAAE8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6FA34-B431-323A-03C2-1341953BDBE8}"/>
              </a:ext>
            </a:extLst>
          </p:cNvPr>
          <p:cNvSpPr txBox="1"/>
          <p:nvPr/>
        </p:nvSpPr>
        <p:spPr>
          <a:xfrm>
            <a:off x="0" y="1524000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Australian example: A small Sydney business may connect its HR and Finance networks to one business Internet service.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Does connecting a router to an ISP automatically give every PC Internet access?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No. Correct addressing, gateways, routing, ISP connectivity and often NAT and DNS are also required.</a:t>
            </a:r>
          </a:p>
        </p:txBody>
      </p:sp>
    </p:spTree>
    <p:extLst>
      <p:ext uri="{BB962C8B-B14F-4D97-AF65-F5344CB8AC3E}">
        <p14:creationId xmlns:p14="http://schemas.microsoft.com/office/powerpoint/2010/main" val="360852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02A38-FE84-B9A7-A098-0FDD5D52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A0616135-87A6-CE80-14D3-F847D8D625C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Switches, Routers and Internet Connectivity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8BD5401-8F44-E413-9628-3E8BBDD0AE04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59C79A5-AC30-89A6-428E-DA6ABC513DE0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8F94635B-FECA-C66F-C0A1-2F869F692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3" r="33333" b="75000"/>
          <a:stretch>
            <a:fillRect/>
          </a:stretch>
        </p:blipFill>
        <p:spPr>
          <a:xfrm>
            <a:off x="0" y="1143000"/>
            <a:ext cx="9144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860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B8EFE-7266-A4AA-3EC6-D79249225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0E0547BD-4F6E-06EA-D54D-50C118C9BB1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Cisco IOS Command Modes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D9E3AC9-F7CD-259D-6760-198C9482E3FC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06AE88F-1447-425C-8814-EEE593950C26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2C6AD46-1200-B2E3-C0FD-6912ABBC8A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705585"/>
              </p:ext>
            </p:extLst>
          </p:nvPr>
        </p:nvGraphicFramePr>
        <p:xfrm>
          <a:off x="407988" y="1752600"/>
          <a:ext cx="8328024" cy="387096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2776008">
                  <a:extLst>
                    <a:ext uri="{9D8B030D-6E8A-4147-A177-3AD203B41FA5}">
                      <a16:colId xmlns:a16="http://schemas.microsoft.com/office/drawing/2014/main" val="2605034809"/>
                    </a:ext>
                  </a:extLst>
                </a:gridCol>
                <a:gridCol w="2776008">
                  <a:extLst>
                    <a:ext uri="{9D8B030D-6E8A-4147-A177-3AD203B41FA5}">
                      <a16:colId xmlns:a16="http://schemas.microsoft.com/office/drawing/2014/main" val="2427524530"/>
                    </a:ext>
                  </a:extLst>
                </a:gridCol>
                <a:gridCol w="2776008">
                  <a:extLst>
                    <a:ext uri="{9D8B030D-6E8A-4147-A177-3AD203B41FA5}">
                      <a16:colId xmlns:a16="http://schemas.microsoft.com/office/drawing/2014/main" val="35356572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Mode</a:t>
                      </a:r>
                      <a:endParaRPr lang="en-AU" sz="2800" b="1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Example prompt</a:t>
                      </a:r>
                      <a:endParaRPr lang="en-AU" sz="2800" b="1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/>
                        <a:t>Purpose</a:t>
                      </a:r>
                      <a:endParaRPr lang="en-AU" sz="2800" b="1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3679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User EXEC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Router&gt;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Basic monitoring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97500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Privileged EXEC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Router#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Advanced monitoring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5784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Global configuration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Router(config)#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Device-wide configuration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6910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/>
                        <a:t>Interface configuration</a:t>
                      </a:r>
                      <a:endParaRPr lang="en-AU" sz="28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Router(config-if)#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/>
                        <a:t>Interface settings</a:t>
                      </a:r>
                      <a:endParaRPr lang="en-AU" sz="2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78459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69426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B3EB0-06A7-BADF-0266-06086BD4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B27008F9-BB97-7A78-8F4B-70D412E79E2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Cisco IOS Command Modes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491E755-49F3-A422-C611-9EE5F2B1A4AA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D38972F-E136-E051-4D7C-B25BACC79A36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6C00D-6117-8E97-C4F3-7D9AA82CA914}"/>
              </a:ext>
            </a:extLst>
          </p:cNvPr>
          <p:cNvSpPr txBox="1"/>
          <p:nvPr/>
        </p:nvSpPr>
        <p:spPr>
          <a:xfrm>
            <a:off x="0" y="402285"/>
            <a:ext cx="457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Example commands: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enable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configure terminal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interface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gigabitEthernet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0/0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exit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63E3C3-329D-C371-E811-9191B52A62B8}"/>
              </a:ext>
            </a:extLst>
          </p:cNvPr>
          <p:cNvSpPr txBox="1"/>
          <p:nvPr/>
        </p:nvSpPr>
        <p:spPr>
          <a:xfrm>
            <a:off x="0" y="4115052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does </a:t>
            </a:r>
            <a:r>
              <a:rPr lang="en-AU" sz="2800" dirty="0" err="1">
                <a:latin typeface="+mj-lt"/>
              </a:rPr>
              <a:t>ip</a:t>
            </a:r>
            <a:r>
              <a:rPr lang="en-AU" sz="2800" dirty="0">
                <a:latin typeface="+mj-lt"/>
              </a:rPr>
              <a:t> address not normally work at the Router# prompt?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Interface IP addresses are configured in interface configuration mode.</a:t>
            </a:r>
          </a:p>
        </p:txBody>
      </p:sp>
    </p:spTree>
    <p:extLst>
      <p:ext uri="{BB962C8B-B14F-4D97-AF65-F5344CB8AC3E}">
        <p14:creationId xmlns:p14="http://schemas.microsoft.com/office/powerpoint/2010/main" val="161819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A6DE5-7C28-A574-1532-5BD2D89B2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2CBD000-B64F-9BBC-87C4-D3AA124C4C1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Cisco IOS Command Modes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5637B5B-22A9-BA4A-FCCA-301991A03D53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54B1317D-698D-396B-74C3-71270CC52AFC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4B9B2C3E-1A75-E7E7-833D-50A6E57D6D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641" b="74258"/>
          <a:stretch>
            <a:fillRect/>
          </a:stretch>
        </p:blipFill>
        <p:spPr>
          <a:xfrm>
            <a:off x="0" y="1219200"/>
            <a:ext cx="9143999" cy="470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7520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F2F10-30DC-BA07-0EE6-518FBE505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36CA421-E070-DBB9-04F8-6032AA99D37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Scenario 1 – Troubleshooting and Diagnostic Reasoning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C1176B1-288F-FEED-BE78-B0C1DE45ECEE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FEC8D2C3-72D0-0931-5553-E7A565CD2CE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5425E0-4ADB-EFF3-2EC7-E262EA98DFDB}"/>
              </a:ext>
            </a:extLst>
          </p:cNvPr>
          <p:cNvSpPr txBox="1"/>
          <p:nvPr/>
        </p:nvSpPr>
        <p:spPr>
          <a:xfrm>
            <a:off x="0" y="1219200"/>
            <a:ext cx="9144000" cy="4877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>
                <a:latin typeface="+mj-lt"/>
              </a:rPr>
              <a:t>Scenario 1: Understand the Existing Network</a:t>
            </a:r>
          </a:p>
          <a:p>
            <a:pPr>
              <a:lnSpc>
                <a:spcPct val="150000"/>
              </a:lnSpc>
              <a:buNone/>
            </a:pPr>
            <a:r>
              <a:rPr lang="en-AU" sz="2600" dirty="0">
                <a:latin typeface="+mj-lt"/>
              </a:rPr>
              <a:t>The supplied topology includes: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Routers R1, R2 and R3.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Switches SW0, SW1, SW2 and MGT-SW.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PC-A as the illustrated management PC.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Ethernet connections between network devices.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Serial connections between routers.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VLAN interfaces and router loopback interfaces.</a:t>
            </a:r>
          </a:p>
        </p:txBody>
      </p:sp>
    </p:spTree>
    <p:extLst>
      <p:ext uri="{BB962C8B-B14F-4D97-AF65-F5344CB8AC3E}">
        <p14:creationId xmlns:p14="http://schemas.microsoft.com/office/powerpoint/2010/main" val="3269974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D5F01-7949-2DB9-22A0-919BF2CB9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98A17CE-0974-3975-FFE4-B5276DF2C0C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Scenario 1 – Troubleshooting and Diagnostic Reasoning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CA81E22-AA7D-CE83-829C-488AF50B573B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A9081E6-8D0A-1287-9550-49963AE2A29C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7ED97-D27F-F3E3-0E18-618563C8E68E}"/>
              </a:ext>
            </a:extLst>
          </p:cNvPr>
          <p:cNvSpPr txBox="1"/>
          <p:nvPr/>
        </p:nvSpPr>
        <p:spPr>
          <a:xfrm>
            <a:off x="0" y="1219200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The task sheet also identifies a correctly configured USER-PC at 5.5.5.101/24.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should you avoid changing USER-PC settings?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The task states that USER-PC is already correctly configured. Troubleshooting should focus on the affected network devices.</a:t>
            </a:r>
          </a:p>
        </p:txBody>
      </p:sp>
    </p:spTree>
    <p:extLst>
      <p:ext uri="{BB962C8B-B14F-4D97-AF65-F5344CB8AC3E}">
        <p14:creationId xmlns:p14="http://schemas.microsoft.com/office/powerpoint/2010/main" val="1003537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A6043-0182-BCBD-0A58-52BD20E1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C30D07A-0E97-674F-8372-408B69AD5DA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Scenario 1 – Troubleshooting and Diagnostic Reasoning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2DF1B36-62B2-AB8B-DFBF-4FC583C5D3FB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CC81FA06-66CA-161D-893C-2F705FF54079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9BD8E8E3-9C1A-9A60-FAA7-CDF3E4AD7B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250" r="66667" b="43789"/>
          <a:stretch>
            <a:fillRect/>
          </a:stretch>
        </p:blipFill>
        <p:spPr>
          <a:xfrm>
            <a:off x="16668" y="1143000"/>
            <a:ext cx="9127331" cy="5469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9741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B5506-A8BD-4348-D20C-83DED16F7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07EB71F-32D0-768F-A13D-0A2630FDE39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Troubleshooting: Identify, Test and Fix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6FF66C3-0A45-4E52-18DF-98FE25E8E2FF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84924C84-DE54-A4E4-61A7-02CD0F379A5B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9C47A0-D639-A69E-AB77-E64621CA0A78}"/>
              </a:ext>
            </a:extLst>
          </p:cNvPr>
          <p:cNvSpPr txBox="1"/>
          <p:nvPr/>
        </p:nvSpPr>
        <p:spPr>
          <a:xfrm>
            <a:off x="0" y="914400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Use a systematic process: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Read the reported problem.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Identify the affected source and destination.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Check the relevant interface status and addressing.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Examine routing or protocol information.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Identify the likely cause.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Apply a targeted correction.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Test again and record the result.</a:t>
            </a:r>
          </a:p>
        </p:txBody>
      </p:sp>
    </p:spTree>
    <p:extLst>
      <p:ext uri="{BB962C8B-B14F-4D97-AF65-F5344CB8AC3E}">
        <p14:creationId xmlns:p14="http://schemas.microsoft.com/office/powerpoint/2010/main" val="13552430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6A5BB-0ED7-1A30-3303-209C8262C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CE7AE326-8146-DB87-8530-9B22919A318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Troubleshooting: Identify, Test and Fix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BAF2544-3BFE-E1BC-3603-D564878D8983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95D54CA-44E0-3A9A-0FBF-D19903AE787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E9CAE0-B9A0-B771-3413-84EA6695B70B}"/>
              </a:ext>
            </a:extLst>
          </p:cNvPr>
          <p:cNvSpPr txBox="1"/>
          <p:nvPr/>
        </p:nvSpPr>
        <p:spPr>
          <a:xfrm>
            <a:off x="0" y="914400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Discussion: Why should you not immediately change several router settings when a ping fails?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Answer: Multiple changes make it difficult to identify the original cause and may introduce additional problems.</a:t>
            </a:r>
          </a:p>
        </p:txBody>
      </p:sp>
    </p:spTree>
    <p:extLst>
      <p:ext uri="{BB962C8B-B14F-4D97-AF65-F5344CB8AC3E}">
        <p14:creationId xmlns:p14="http://schemas.microsoft.com/office/powerpoint/2010/main" val="1834911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4E661-8292-979F-A2C8-1921D046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647EED9E-65E6-653C-1EC1-9B3BCC37E24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Troubleshooting: Identify, Test and Fix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5907322A-0E59-53AE-2C7C-FAB9E3B56AE2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51087AB-76DE-0D9A-1616-252F94AD68CA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5925CB71-F198-8AFB-50A3-140314FB7D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3" t="26250" r="33333" b="36996"/>
          <a:stretch>
            <a:fillRect/>
          </a:stretch>
        </p:blipFill>
        <p:spPr>
          <a:xfrm>
            <a:off x="762000" y="942773"/>
            <a:ext cx="7620000" cy="560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980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26D3-AFE0-81BE-CF6D-F0D28B2AF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662AB82-1CA0-7295-61D3-0CACDB2DE38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Checking Interface Status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EADAFC5-18F6-E66A-6A44-E0A838CD793A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491C55E-F552-7D61-4FDB-353FC65E2C21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7CC650-FE91-5041-8F7C-E1FD84BF43BF}"/>
              </a:ext>
            </a:extLst>
          </p:cNvPr>
          <p:cNvSpPr txBox="1"/>
          <p:nvPr/>
        </p:nvSpPr>
        <p:spPr>
          <a:xfrm>
            <a:off x="210661" y="685800"/>
            <a:ext cx="457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Use: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interface brief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interfaces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AD6131-1B93-5288-B39C-09F269086A6E}"/>
              </a:ext>
            </a:extLst>
          </p:cNvPr>
          <p:cNvSpPr txBox="1"/>
          <p:nvPr/>
        </p:nvSpPr>
        <p:spPr>
          <a:xfrm>
            <a:off x="0" y="2814530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Interpret common results: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up/up: interface and line protocol are operational.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administratively down/down: interface is disabled.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down/down: possible physical or connection problem.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up/down: interface is active but the line protocol is not operational.</a:t>
            </a:r>
          </a:p>
        </p:txBody>
      </p:sp>
    </p:spTree>
    <p:extLst>
      <p:ext uri="{BB962C8B-B14F-4D97-AF65-F5344CB8AC3E}">
        <p14:creationId xmlns:p14="http://schemas.microsoft.com/office/powerpoint/2010/main" val="37593025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FB19E-5AC5-7CB3-0888-30EFE8259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9782287D-50E6-980D-EF17-685F96EB1B9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Checking Interface Status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8940725-2E59-A5A2-5B77-B5F232A33391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68EA4F3-4446-2BF3-C594-4A13B20232F4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AC9D1B-6C8D-5582-4196-49E41D3F6913}"/>
              </a:ext>
            </a:extLst>
          </p:cNvPr>
          <p:cNvSpPr txBox="1"/>
          <p:nvPr/>
        </p:nvSpPr>
        <p:spPr>
          <a:xfrm>
            <a:off x="0" y="1828801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What would you investigate if an interface is administratively down?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Whether it should be enabled using no shutdown, after confirming that it is the correct interface.</a:t>
            </a:r>
          </a:p>
        </p:txBody>
      </p:sp>
    </p:spTree>
    <p:extLst>
      <p:ext uri="{BB962C8B-B14F-4D97-AF65-F5344CB8AC3E}">
        <p14:creationId xmlns:p14="http://schemas.microsoft.com/office/powerpoint/2010/main" val="1444250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EDD2A-B885-7994-DACB-93DB50851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10003639-7EEB-A08A-9CBB-0EAF69EE04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Checking Interface Status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E490BD9-25D0-F3E9-8DE7-2930715F93F6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BC6E391-8AB7-1683-36C9-2B3BE4C6BC98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5A75D829-0A3E-8611-7FAE-B09C7F29DD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953" t="26211" b="43750"/>
          <a:stretch>
            <a:fillRect/>
          </a:stretch>
        </p:blipFill>
        <p:spPr>
          <a:xfrm>
            <a:off x="0" y="914400"/>
            <a:ext cx="9144000" cy="5541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8764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995B3-31E7-7B7A-2712-12A229E82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6531F646-5C03-03F6-6D38-B32B01A08C3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Troubleshooting Switch VLAN Interfaces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0EA34E6-E775-ECA9-9756-0F38CAF4C49D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806A1E4E-0833-2632-BF3E-9F208001C6C0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BAA987-959E-EB59-7C6A-869638C81D26}"/>
              </a:ext>
            </a:extLst>
          </p:cNvPr>
          <p:cNvSpPr txBox="1"/>
          <p:nvPr/>
        </p:nvSpPr>
        <p:spPr>
          <a:xfrm>
            <a:off x="0" y="1295400"/>
            <a:ext cx="9220200" cy="3979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 switch virtual interface (SVI) can provide an IP address for switch management.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Useful commands: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interface brief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interface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vlan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1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vlan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brief</a:t>
            </a:r>
          </a:p>
        </p:txBody>
      </p:sp>
    </p:spTree>
    <p:extLst>
      <p:ext uri="{BB962C8B-B14F-4D97-AF65-F5344CB8AC3E}">
        <p14:creationId xmlns:p14="http://schemas.microsoft.com/office/powerpoint/2010/main" val="42126469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7DDA0-CD36-62BF-8F44-6E1A1EDE0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C0FA152B-5386-47A0-0CE8-03237B34AB3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Troubleshooting Switch VLAN Interfaces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F786832-A292-1746-1999-DB4B05220362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78E3B883-0F73-D5A5-E65C-57ECE8A5E2C0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BF7F9-BEC4-930D-FD3B-E76F3894A8CF}"/>
              </a:ext>
            </a:extLst>
          </p:cNvPr>
          <p:cNvSpPr txBox="1"/>
          <p:nvPr/>
        </p:nvSpPr>
        <p:spPr>
          <a:xfrm>
            <a:off x="0" y="1219200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Check: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VLAN interface IP address and mask.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SVI operational status.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Whether the VLAN exists and has an active associated port.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Default gateway for management traffic outside the subnet.</a:t>
            </a:r>
          </a:p>
        </p:txBody>
      </p:sp>
    </p:spTree>
    <p:extLst>
      <p:ext uri="{BB962C8B-B14F-4D97-AF65-F5344CB8AC3E}">
        <p14:creationId xmlns:p14="http://schemas.microsoft.com/office/powerpoint/2010/main" val="21949279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16FB1-741E-A09C-FD62-1971D91F2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6A55ED73-D2C7-D46C-954B-6EA3BFD1664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Troubleshooting Switch VLAN Interfaces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384DCD7-CC85-9762-8813-D5A2AB5C1DC8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7FAD4EA0-D136-AA89-3D7B-DE1B37579699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787D27-9ECC-EE77-76F5-D71031A805F4}"/>
              </a:ext>
            </a:extLst>
          </p:cNvPr>
          <p:cNvSpPr txBox="1"/>
          <p:nvPr/>
        </p:nvSpPr>
        <p:spPr>
          <a:xfrm>
            <a:off x="0" y="1524000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might a switch management VLAN be unreachable even when its IP address is correct?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The SVI may be down, the VLAN may not have an active port, or the switch may lack the correct management default gateway.</a:t>
            </a:r>
          </a:p>
        </p:txBody>
      </p:sp>
    </p:spTree>
    <p:extLst>
      <p:ext uri="{BB962C8B-B14F-4D97-AF65-F5344CB8AC3E}">
        <p14:creationId xmlns:p14="http://schemas.microsoft.com/office/powerpoint/2010/main" val="1638488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969D4-2CF9-062A-BF10-E1D3766D4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74C0660B-2EED-2A39-51A2-78C0BF49CA9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Understanding Routing Tables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B487F0C-B681-999B-A2D1-A949DCA9196C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79E44A80-6FC7-E6D7-AC7F-88B36322E11B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009867-CFBD-C148-6B2B-40B40475B0C0}"/>
              </a:ext>
            </a:extLst>
          </p:cNvPr>
          <p:cNvSpPr txBox="1"/>
          <p:nvPr/>
        </p:nvSpPr>
        <p:spPr>
          <a:xfrm>
            <a:off x="0" y="933813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Use: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route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Common route codes: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 – directly connected network.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L – local interface address.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 – static route.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 – EIGRP-learned route, where supported and configured.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3663AC-CA8D-2DEE-0DFA-54DB97F73B71}"/>
              </a:ext>
            </a:extLst>
          </p:cNvPr>
          <p:cNvSpPr txBox="1"/>
          <p:nvPr/>
        </p:nvSpPr>
        <p:spPr>
          <a:xfrm>
            <a:off x="25400" y="5530794"/>
            <a:ext cx="905691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Check whether the destination network appears in the routing table.</a:t>
            </a:r>
          </a:p>
        </p:txBody>
      </p:sp>
    </p:spTree>
    <p:extLst>
      <p:ext uri="{BB962C8B-B14F-4D97-AF65-F5344CB8AC3E}">
        <p14:creationId xmlns:p14="http://schemas.microsoft.com/office/powerpoint/2010/main" val="28274266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3DDA9-B628-CE84-F541-C49F7AD62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230F8587-6F65-800C-3F03-33739E59C51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Understanding Routing Tables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645AEAF-2AD2-6EA2-6407-CB6145119858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421FE62-D828-393C-F5B4-1DDF5644816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F60EA8-7742-15B3-4C88-9B4103AA3163}"/>
              </a:ext>
            </a:extLst>
          </p:cNvPr>
          <p:cNvSpPr txBox="1"/>
          <p:nvPr/>
        </p:nvSpPr>
        <p:spPr>
          <a:xfrm>
            <a:off x="0" y="1676400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A router can ping its directly connected network but cannot reach a remote loopback. What should you inspect?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Its routing table and the return route from the destination.</a:t>
            </a:r>
          </a:p>
        </p:txBody>
      </p:sp>
    </p:spTree>
    <p:extLst>
      <p:ext uri="{BB962C8B-B14F-4D97-AF65-F5344CB8AC3E}">
        <p14:creationId xmlns:p14="http://schemas.microsoft.com/office/powerpoint/2010/main" val="118420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C0E8B-90F7-D4E5-7F9D-521A29EA0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AEE6A7D1-1F6C-4894-0C9C-682A49DB6B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Understanding EIGRP </a:t>
            </a:r>
            <a:r>
              <a:rPr lang="en-US" dirty="0" err="1">
                <a:solidFill>
                  <a:schemeClr val="tx1"/>
                </a:solidFill>
              </a:rPr>
              <a:t>Neighbours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5D68FB9E-D9A0-D826-A720-AA5D6EE20CB8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06B37F0-788F-5DD1-AB40-9FC0526E3D0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6FF44A-09FA-F5F1-B6AD-11E3B9FAEFB9}"/>
              </a:ext>
            </a:extLst>
          </p:cNvPr>
          <p:cNvSpPr txBox="1"/>
          <p:nvPr/>
        </p:nvSpPr>
        <p:spPr>
          <a:xfrm>
            <a:off x="0" y="1447801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The Scenario 1 appendix identifies EIGRP diagnostic commands.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Examples: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eigrp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neighbors</a:t>
            </a:r>
            <a:endParaRPr lang="en-AU" sz="2800" dirty="0">
              <a:highlight>
                <a:srgbClr val="FFFF00"/>
              </a:highlight>
              <a:latin typeface="+mj-lt"/>
            </a:endParaRP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eigrp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traffic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route</a:t>
            </a:r>
          </a:p>
        </p:txBody>
      </p:sp>
    </p:spTree>
    <p:extLst>
      <p:ext uri="{BB962C8B-B14F-4D97-AF65-F5344CB8AC3E}">
        <p14:creationId xmlns:p14="http://schemas.microsoft.com/office/powerpoint/2010/main" val="34168985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370D2-F1FC-AD4C-C51D-8F993A6A4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A19BA4B9-885B-BE43-1367-8F93FF005A0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Understanding EIGRP </a:t>
            </a:r>
            <a:r>
              <a:rPr lang="en-US" dirty="0" err="1">
                <a:solidFill>
                  <a:schemeClr val="tx1"/>
                </a:solidFill>
              </a:rPr>
              <a:t>Neighbours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B1F3563-F7E7-056D-D131-89E44B3615D1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CD92E84-9E89-EC64-1B24-4EE55310DC37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C0127C-B4A2-238E-D199-426D047253E7}"/>
              </a:ext>
            </a:extLst>
          </p:cNvPr>
          <p:cNvSpPr txBox="1"/>
          <p:nvPr/>
        </p:nvSpPr>
        <p:spPr>
          <a:xfrm>
            <a:off x="0" y="1371601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EIGRP can exchange routing information between configured neighbouring routers.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Possible problems include: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Incorrect interface addressing.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Inactive interfaces.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Incompatible EIGRP settings.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Missing network participation or filtering.</a:t>
            </a:r>
          </a:p>
        </p:txBody>
      </p:sp>
    </p:spTree>
    <p:extLst>
      <p:ext uri="{BB962C8B-B14F-4D97-AF65-F5344CB8AC3E}">
        <p14:creationId xmlns:p14="http://schemas.microsoft.com/office/powerpoint/2010/main" val="16324848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6268A-CDB7-0527-521C-169704785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75B23CF9-48C2-0770-D8A5-3B92074B851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Understanding EIGRP </a:t>
            </a:r>
            <a:r>
              <a:rPr lang="en-US" dirty="0" err="1">
                <a:solidFill>
                  <a:schemeClr val="tx1"/>
                </a:solidFill>
              </a:rPr>
              <a:t>Neighbours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A2BB463-ADC4-06B3-840A-B9447391D942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685E2A8-2559-52A9-8F65-6DEDD7B67983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BB533C-0AD5-0DEC-A863-A307A4367F96}"/>
              </a:ext>
            </a:extLst>
          </p:cNvPr>
          <p:cNvSpPr txBox="1"/>
          <p:nvPr/>
        </p:nvSpPr>
        <p:spPr>
          <a:xfrm>
            <a:off x="0" y="1371601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can two routers have an operational link but fail to exchange EIGRP routes?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Their routing protocol configurations may not allow them to form an EIGRP neighbour relationship.</a:t>
            </a:r>
          </a:p>
        </p:txBody>
      </p:sp>
    </p:spTree>
    <p:extLst>
      <p:ext uri="{BB962C8B-B14F-4D97-AF65-F5344CB8AC3E}">
        <p14:creationId xmlns:p14="http://schemas.microsoft.com/office/powerpoint/2010/main" val="212058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E38A6-7107-BF2D-52E3-4B624428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7AA406F-5FE2-A52C-B76F-20AA36AB256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Understanding EIGRP </a:t>
            </a:r>
            <a:r>
              <a:rPr lang="en-US" dirty="0" err="1">
                <a:solidFill>
                  <a:schemeClr val="tx1"/>
                </a:solidFill>
              </a:rPr>
              <a:t>Neighbours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B38CFC6-8E6D-2C2D-FC3B-3A8D977536C0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7A00F411-ADB7-EFCC-91FD-860A6F3B473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F515ADC8-5409-B064-584E-B9A0D875D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742" r="66884" b="17500"/>
          <a:stretch>
            <a:fillRect/>
          </a:stretch>
        </p:blipFill>
        <p:spPr>
          <a:xfrm>
            <a:off x="23812" y="1219200"/>
            <a:ext cx="9067800" cy="4884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1939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D0413-2D7F-D600-B9D4-FCF11B47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43CA84F-F033-0D99-A065-2CDEB0A7E0A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Testing Connectivity with Ping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3036856-81B7-FB3C-6318-8597D361F41C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CC3F45AD-D1AB-4680-0446-6BC4C9FDEAA0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8FDBD4-EB4B-8A94-944A-3BA9A7B0517C}"/>
              </a:ext>
            </a:extLst>
          </p:cNvPr>
          <p:cNvSpPr txBox="1"/>
          <p:nvPr/>
        </p:nvSpPr>
        <p:spPr>
          <a:xfrm>
            <a:off x="0" y="762001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Use: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ping 192.168.1.1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Ping uses ICMP Echo Request and Echo Reply messages.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It helps test whether a destination responds and may report round-trip time.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 failed ping can have several causes, including incorrect addressing, missing routes, interface problems or traffic filtering.</a:t>
            </a:r>
          </a:p>
        </p:txBody>
      </p:sp>
    </p:spTree>
    <p:extLst>
      <p:ext uri="{BB962C8B-B14F-4D97-AF65-F5344CB8AC3E}">
        <p14:creationId xmlns:p14="http://schemas.microsoft.com/office/powerpoint/2010/main" val="25056189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F1A4A-B71A-5D67-6DED-A56431F5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313A0B5C-B41A-C714-6A80-A9ABEF5886A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Testing Connectivity with Ping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22EB21D-B46F-747D-C46E-4E65EF9C1C5B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E9648195-969A-428B-2720-FFF488126FA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CB1F2E-EDD5-6E46-AA49-509BA5AB8B38}"/>
              </a:ext>
            </a:extLst>
          </p:cNvPr>
          <p:cNvSpPr txBox="1"/>
          <p:nvPr/>
        </p:nvSpPr>
        <p:spPr>
          <a:xfrm>
            <a:off x="-28575" y="2123578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Does a failed ping always mean the destination device is switched off?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No. The problem may be elsewhere in the network, or ICMP may be blocked.</a:t>
            </a:r>
          </a:p>
        </p:txBody>
      </p:sp>
    </p:spTree>
    <p:extLst>
      <p:ext uri="{BB962C8B-B14F-4D97-AF65-F5344CB8AC3E}">
        <p14:creationId xmlns:p14="http://schemas.microsoft.com/office/powerpoint/2010/main" val="542805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65AD9-9BD5-3C35-CD85-A631D06DF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F8EF035B-4420-314B-7531-176636780BE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Finding the Route with Traceroute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21347C1-1B0F-3F54-FC95-06101ED626CD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54AF29FE-5807-AC37-B8BB-B34C20B0D6DA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10AF64-C8A2-88D7-FCD5-6A4C18A2A68F}"/>
              </a:ext>
            </a:extLst>
          </p:cNvPr>
          <p:cNvSpPr txBox="1"/>
          <p:nvPr/>
        </p:nvSpPr>
        <p:spPr>
          <a:xfrm>
            <a:off x="0" y="838200"/>
            <a:ext cx="92202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On Cisco IOS: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traceroute 192.168.10.10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Traceroute helps identify Layer 3 hops along a path.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It can assist with: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Investigating unexpected routes.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Identifying where responses stop.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Comparing the observed route with the network design.</a:t>
            </a:r>
          </a:p>
        </p:txBody>
      </p:sp>
    </p:spTree>
    <p:extLst>
      <p:ext uri="{BB962C8B-B14F-4D97-AF65-F5344CB8AC3E}">
        <p14:creationId xmlns:p14="http://schemas.microsoft.com/office/powerpoint/2010/main" val="350956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9FCC7-E4B3-CC06-8C60-C97B4C210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830A662-B4C3-D4A0-9667-B0CFA7969DA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Finding the Route with Traceroute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084050B-1E54-B5C1-5F77-1BCFF8785080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36C27F7-3FEC-F1A4-193F-6F0AB589FFD8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DF6A95-523B-2DF9-749D-1AA530320198}"/>
              </a:ext>
            </a:extLst>
          </p:cNvPr>
          <p:cNvSpPr txBox="1"/>
          <p:nvPr/>
        </p:nvSpPr>
        <p:spPr>
          <a:xfrm>
            <a:off x="76200" y="1219200"/>
            <a:ext cx="8946991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Some hops may not respond, even when traffic can continue.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does traceroute normally show routers rather than ordinary Layer 2 switches?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Routers decrement the IP TTL and can generate the responses used by traceroute. Ordinary Layer 2 switches do not act as IP routing hops.</a:t>
            </a:r>
          </a:p>
        </p:txBody>
      </p:sp>
    </p:spTree>
    <p:extLst>
      <p:ext uri="{BB962C8B-B14F-4D97-AF65-F5344CB8AC3E}">
        <p14:creationId xmlns:p14="http://schemas.microsoft.com/office/powerpoint/2010/main" val="41599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74EA2-2545-3AC2-75C1-0F4F057BC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A6857967-C732-DA19-E225-CFEF56AEB45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Measuring Round-Trip Time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CF4F357-859E-418B-6569-F67C86145C5F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C33FD90-0FA6-F1FB-7FF6-D52F4050C59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3E601D-A80C-EDB0-019E-9C6315D18A65}"/>
                  </a:ext>
                </a:extLst>
              </p:cNvPr>
              <p:cNvSpPr txBox="1"/>
              <p:nvPr/>
            </p:nvSpPr>
            <p:spPr>
              <a:xfrm>
                <a:off x="0" y="838201"/>
                <a:ext cx="9144000" cy="52629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en-AU" sz="2800" dirty="0">
                    <a:latin typeface="+mj-lt"/>
                  </a:rPr>
                  <a:t>Round-trip time (RTT) is the time taken for a request to reach its destination and for the response to return.</a:t>
                </a:r>
              </a:p>
              <a:p>
                <a:pPr>
                  <a:lnSpc>
                    <a:spcPct val="150000"/>
                  </a:lnSpc>
                  <a:buNone/>
                </a:pPr>
                <a:r>
                  <a:rPr lang="en-AU" sz="2800" dirty="0">
                    <a:latin typeface="+mj-lt"/>
                  </a:rPr>
                  <a:t>Example ping results:</a:t>
                </a:r>
              </a:p>
              <a:p>
                <a:pPr marL="342900" lvl="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AU" sz="2800" dirty="0">
                    <a:latin typeface="+mj-lt"/>
                  </a:rPr>
                  <a:t>First reply: 4 </a:t>
                </a:r>
                <a:r>
                  <a:rPr lang="en-AU" sz="2800" dirty="0" err="1">
                    <a:latin typeface="+mj-lt"/>
                  </a:rPr>
                  <a:t>ms</a:t>
                </a:r>
                <a:r>
                  <a:rPr lang="en-AU" sz="2800" dirty="0">
                    <a:latin typeface="+mj-lt"/>
                  </a:rPr>
                  <a:t>.</a:t>
                </a:r>
              </a:p>
              <a:p>
                <a:pPr marL="342900" lvl="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AU" sz="2800" dirty="0">
                    <a:latin typeface="+mj-lt"/>
                  </a:rPr>
                  <a:t>Second reply: 6 </a:t>
                </a:r>
                <a:r>
                  <a:rPr lang="en-AU" sz="2800" dirty="0" err="1">
                    <a:latin typeface="+mj-lt"/>
                  </a:rPr>
                  <a:t>ms</a:t>
                </a:r>
                <a:r>
                  <a:rPr lang="en-AU" sz="2800" dirty="0">
                    <a:latin typeface="+mj-lt"/>
                  </a:rPr>
                  <a:t>.</a:t>
                </a:r>
              </a:p>
              <a:p>
                <a:pPr marL="342900" lvl="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AU" sz="2800" dirty="0">
                    <a:latin typeface="+mj-lt"/>
                  </a:rPr>
                  <a:t>Third reply: 5 </a:t>
                </a:r>
                <a:r>
                  <a:rPr lang="en-AU" sz="2800" dirty="0" err="1">
                    <a:latin typeface="+mj-lt"/>
                  </a:rPr>
                  <a:t>ms</a:t>
                </a:r>
                <a:r>
                  <a:rPr lang="en-AU" sz="2800" dirty="0">
                    <a:latin typeface="+mj-lt"/>
                  </a:rPr>
                  <a:t>.</a:t>
                </a:r>
              </a:p>
              <a:p>
                <a:pPr>
                  <a:lnSpc>
                    <a:spcPct val="150000"/>
                  </a:lnSpc>
                  <a:buNone/>
                </a:pPr>
                <a:r>
                  <a:rPr lang="en-AU" sz="2800" dirty="0">
                    <a:latin typeface="+mj-lt"/>
                  </a:rPr>
                  <a:t>Average RTT: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AU" sz="2800" i="1" dirty="0">
                          <a:latin typeface="Cambria Math" panose="02040503050406030204" pitchFamily="18" charset="0"/>
                        </a:rPr>
                        <m:t>(4+6+5)/3=5</m:t>
                      </m:r>
                    </m:oMath>
                  </m:oMathPara>
                </a14:m>
                <a:endParaRPr lang="en-AU" sz="2800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3E601D-A80C-EDB0-019E-9C6315D18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38201"/>
                <a:ext cx="9144000" cy="5262979"/>
              </a:xfrm>
              <a:prstGeom prst="rect">
                <a:avLst/>
              </a:prstGeom>
              <a:blipFill>
                <a:blip r:embed="rId2"/>
                <a:stretch>
                  <a:fillRect l="-1333" r="-11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3228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86ADF-5E67-658D-4EF9-86B713A57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1A55ABEE-2057-61A3-93E9-83D00B6BC2B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Measuring Round-Trip Time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2EDD1660-F2BD-1312-06AD-F670DC9365CE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58C580AE-10E2-A3BC-CD9B-21A1ECAB6E49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D0017B-2299-184B-D079-B8CBC78BFCBF}"/>
              </a:ext>
            </a:extLst>
          </p:cNvPr>
          <p:cNvSpPr txBox="1"/>
          <p:nvPr/>
        </p:nvSpPr>
        <p:spPr>
          <a:xfrm>
            <a:off x="0" y="1676401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Does a lower RTT always mean that a network has higher bandwidth?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No. RTT measures delay, while bandwidth describes data-carrying capacity.</a:t>
            </a:r>
          </a:p>
        </p:txBody>
      </p:sp>
    </p:spTree>
    <p:extLst>
      <p:ext uri="{BB962C8B-B14F-4D97-AF65-F5344CB8AC3E}">
        <p14:creationId xmlns:p14="http://schemas.microsoft.com/office/powerpoint/2010/main" val="425786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BE864-A7A5-B7F2-9953-13CDFB64E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AB22D419-BB7A-C116-C73E-EC9509EAA7C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Reading Router Hardware and Software Information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1C3AE04-F215-A05C-2F6A-5CBF495BECD1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C8B5EFA4-059E-E588-E595-0DD30DA81BB1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091135-75F4-D530-0F0F-555B86C26D8D}"/>
              </a:ext>
            </a:extLst>
          </p:cNvPr>
          <p:cNvSpPr txBox="1"/>
          <p:nvPr/>
        </p:nvSpPr>
        <p:spPr>
          <a:xfrm>
            <a:off x="0" y="1143001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Use: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version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Depending on the device and IOS output, this may show: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Cisco IOS version.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Router model.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System image.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Memory information.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Configuration register.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Hardware information.</a:t>
            </a:r>
          </a:p>
        </p:txBody>
      </p:sp>
    </p:spTree>
    <p:extLst>
      <p:ext uri="{BB962C8B-B14F-4D97-AF65-F5344CB8AC3E}">
        <p14:creationId xmlns:p14="http://schemas.microsoft.com/office/powerpoint/2010/main" val="35267395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3B92C-22D8-9455-D138-14307E5C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E81EC73B-9D5B-C46F-80AA-6E4EAB6589B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Reading Router Hardware and Software Information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7217503-CC98-412C-9BB4-B090DECE1F12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8AD437D0-C3F1-4EC3-DA62-024F34D0E6E4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95E036-3F4E-7A6D-D4FD-9471A5D66D76}"/>
              </a:ext>
            </a:extLst>
          </p:cNvPr>
          <p:cNvSpPr txBox="1"/>
          <p:nvPr/>
        </p:nvSpPr>
        <p:spPr>
          <a:xfrm>
            <a:off x="0" y="1143001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The Scenario 1 task specifically asks students to identify the IOS version, NVRAM and ROM size for R2.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7A3A29-A37A-4887-900B-984FC7BF0C36}"/>
              </a:ext>
            </a:extLst>
          </p:cNvPr>
          <p:cNvSpPr txBox="1"/>
          <p:nvPr/>
        </p:nvSpPr>
        <p:spPr>
          <a:xfrm>
            <a:off x="0" y="2971801"/>
            <a:ext cx="9020174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should you report the values from R2 rather than another router?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Different devices may have different hardware, software and memory information.</a:t>
            </a:r>
          </a:p>
        </p:txBody>
      </p:sp>
    </p:spTree>
    <p:extLst>
      <p:ext uri="{BB962C8B-B14F-4D97-AF65-F5344CB8AC3E}">
        <p14:creationId xmlns:p14="http://schemas.microsoft.com/office/powerpoint/2010/main" val="2173363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7CD8E-D7CC-F422-1D43-9ECFFAB9A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CA991219-75B5-1F70-E74A-B7D2B33B080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Reading Router Hardware and Software Information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35D3955-693C-BF82-F0F5-F3AB6057D831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3E456E3-F73E-A215-09E8-EE30EF157925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036C32B4-132A-3B2B-977B-ACE7D405D8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3" t="63750" r="33333" b="16250"/>
          <a:stretch>
            <a:fillRect/>
          </a:stretch>
        </p:blipFill>
        <p:spPr>
          <a:xfrm>
            <a:off x="23812" y="1828800"/>
            <a:ext cx="9144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126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53269-4B10-E170-035A-80A587463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456911A6-E603-D6B8-8C3B-49209F2371C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Scenario 2: ABC Company Requirements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20ECC19-EDD6-40B4-2D1D-33E0B5028E21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2B76C59-2458-E98D-FB5B-AFD9D967B6D0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350A391-A510-D056-A503-00E65B810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918481"/>
              </p:ext>
            </p:extLst>
          </p:nvPr>
        </p:nvGraphicFramePr>
        <p:xfrm>
          <a:off x="585722" y="1629549"/>
          <a:ext cx="8328024" cy="353568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2776008">
                  <a:extLst>
                    <a:ext uri="{9D8B030D-6E8A-4147-A177-3AD203B41FA5}">
                      <a16:colId xmlns:a16="http://schemas.microsoft.com/office/drawing/2014/main" val="1050777213"/>
                    </a:ext>
                  </a:extLst>
                </a:gridCol>
                <a:gridCol w="2776008">
                  <a:extLst>
                    <a:ext uri="{9D8B030D-6E8A-4147-A177-3AD203B41FA5}">
                      <a16:colId xmlns:a16="http://schemas.microsoft.com/office/drawing/2014/main" val="8859958"/>
                    </a:ext>
                  </a:extLst>
                </a:gridCol>
                <a:gridCol w="2776008">
                  <a:extLst>
                    <a:ext uri="{9D8B030D-6E8A-4147-A177-3AD203B41FA5}">
                      <a16:colId xmlns:a16="http://schemas.microsoft.com/office/drawing/2014/main" val="2405198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>
                          <a:latin typeface="+mj-lt"/>
                        </a:rPr>
                        <a:t>Requirement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>
                          <a:latin typeface="+mj-lt"/>
                        </a:rPr>
                        <a:t>HR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b="1" dirty="0">
                          <a:latin typeface="+mj-lt"/>
                        </a:rPr>
                        <a:t>Finance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62611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PCs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145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IP phones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43891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Wireless printers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8523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Scanners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4310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Current end devices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>
                          <a:latin typeface="+mj-lt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800" dirty="0">
                          <a:latin typeface="+mj-lt"/>
                        </a:rPr>
                        <a:t>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195922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2AA2627-4EBE-9DA8-2141-E5680F04FFD3}"/>
              </a:ext>
            </a:extLst>
          </p:cNvPr>
          <p:cNvSpPr txBox="1"/>
          <p:nvPr/>
        </p:nvSpPr>
        <p:spPr>
          <a:xfrm>
            <a:off x="152400" y="813956"/>
            <a:ext cx="65104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sz="2800" dirty="0">
                <a:latin typeface="+mj-lt"/>
              </a:rPr>
              <a:t>ABC Company has two departments.</a:t>
            </a:r>
          </a:p>
        </p:txBody>
      </p:sp>
    </p:spTree>
    <p:extLst>
      <p:ext uri="{BB962C8B-B14F-4D97-AF65-F5344CB8AC3E}">
        <p14:creationId xmlns:p14="http://schemas.microsoft.com/office/powerpoint/2010/main" val="39168962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EA37B-7C37-2C18-1570-37B64D99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5B12B0E6-1713-B94F-AC4A-46743D0705B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Scenario 2: ABC Company Requirements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C7C004C-DF34-2AD5-84FF-9C28F8E60D2A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5401B7E-D7A8-F216-01FF-3B712A48AB07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E37C84-C93B-0D57-002E-DA5843C2F679}"/>
              </a:ext>
            </a:extLst>
          </p:cNvPr>
          <p:cNvSpPr txBox="1"/>
          <p:nvPr/>
        </p:nvSpPr>
        <p:spPr>
          <a:xfrm>
            <a:off x="0" y="609600"/>
            <a:ext cx="9144000" cy="5754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Both departments require: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Internet connectivity through a shared ISP connection.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Capacity for future expansion.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Reliable communication.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Finance specifically requires secure and reliable systems.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should Finance receive particular attention during network design?</a:t>
            </a:r>
          </a:p>
          <a:p>
            <a:pPr>
              <a:lnSpc>
                <a:spcPct val="150000"/>
              </a:lnSpc>
              <a:buNone/>
            </a:pPr>
            <a:r>
              <a:rPr lang="en-AU" sz="2600" dirty="0">
                <a:latin typeface="+mj-lt"/>
              </a:rPr>
              <a:t>Answer: It handles business information that may be sensitive and requires appropriate access controls, reliability and protection.</a:t>
            </a:r>
          </a:p>
        </p:txBody>
      </p:sp>
    </p:spTree>
    <p:extLst>
      <p:ext uri="{BB962C8B-B14F-4D97-AF65-F5344CB8AC3E}">
        <p14:creationId xmlns:p14="http://schemas.microsoft.com/office/powerpoint/2010/main" val="1919030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989C3-36EF-8B14-14E8-641435DE8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3962CC09-9481-9331-9AD0-1B129F67208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Designing a Suitable Network Topology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25F1AAB-3CE0-7CD0-CAD2-7D53A3434604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D2F73529-95C9-AA05-F873-64B2FC2E432B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418388-A9C7-078A-139F-F9D8C55E6B3E}"/>
              </a:ext>
            </a:extLst>
          </p:cNvPr>
          <p:cNvSpPr txBox="1"/>
          <p:nvPr/>
        </p:nvSpPr>
        <p:spPr>
          <a:xfrm>
            <a:off x="0" y="838201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 suitable design should consider: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Separate logical networks for HR and Finance.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Enough wired and wireless connectivity.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 router or Layer 3 device for inter-network communication.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 shared path towards the ISP.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Additional ports and address capacity for future growth.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Appropriate access controls between departments.</a:t>
            </a:r>
          </a:p>
        </p:txBody>
      </p:sp>
    </p:spTree>
    <p:extLst>
      <p:ext uri="{BB962C8B-B14F-4D97-AF65-F5344CB8AC3E}">
        <p14:creationId xmlns:p14="http://schemas.microsoft.com/office/powerpoint/2010/main" val="7013259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78E25-73C5-82DF-908E-102CD311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99F5CC00-9874-75F2-295A-980CBB58D41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Designing a Suitable Network Topology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328F2DF-243D-53A9-199F-55D44E6A772B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2EE7DCF-CDEA-CBDD-BA31-B7FCB0736C4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5D0D62-6961-D345-7C5B-BD755AFB1482}"/>
              </a:ext>
            </a:extLst>
          </p:cNvPr>
          <p:cNvSpPr txBox="1"/>
          <p:nvPr/>
        </p:nvSpPr>
        <p:spPr>
          <a:xfrm>
            <a:off x="0" y="1066800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might separate VLANs be useful for HR and Finance?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VLANs create separate Layer 2 broadcast domains and can support more organised and controlled network access when combined with appropriate routing and security policies.</a:t>
            </a:r>
          </a:p>
        </p:txBody>
      </p:sp>
    </p:spTree>
    <p:extLst>
      <p:ext uri="{BB962C8B-B14F-4D97-AF65-F5344CB8AC3E}">
        <p14:creationId xmlns:p14="http://schemas.microsoft.com/office/powerpoint/2010/main" val="805801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EBB16-311B-7DAA-3F28-A7D844FAA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F8747204-30F9-A480-C4D7-575D45A7805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Designing a Suitable Network Topology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2325C68E-18B7-687D-64AB-A6158E80CCA2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997BBC0-7A50-9DD9-7463-DEBEF784788C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5D62C336-21F1-3896-1760-B84EB837E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667" t="56815" b="18750"/>
          <a:stretch>
            <a:fillRect/>
          </a:stretch>
        </p:blipFill>
        <p:spPr>
          <a:xfrm>
            <a:off x="-33338" y="1246432"/>
            <a:ext cx="9144000" cy="446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12094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CE98A-00AD-552F-7842-84DAF9707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87083DE-CA89-DB16-6189-5C3C24BB368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Configuring Router Interfaces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DB730E3-DACE-F810-3888-584378A91D70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70B9FB4-9BBD-074F-C28C-6203B62CCC6C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B20A7A-BBFC-608B-7722-91959FBFC25E}"/>
              </a:ext>
            </a:extLst>
          </p:cNvPr>
          <p:cNvSpPr txBox="1"/>
          <p:nvPr/>
        </p:nvSpPr>
        <p:spPr>
          <a:xfrm>
            <a:off x="0" y="762000"/>
            <a:ext cx="9144000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600" dirty="0">
                <a:latin typeface="+mj-lt"/>
              </a:rPr>
              <a:t>Illustrative Cisco IOS configuration: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600" dirty="0">
                <a:highlight>
                  <a:srgbClr val="FFFF00"/>
                </a:highlight>
                <a:latin typeface="+mj-lt"/>
              </a:rPr>
              <a:t>enable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600" dirty="0">
                <a:highlight>
                  <a:srgbClr val="FFFF00"/>
                </a:highlight>
                <a:latin typeface="+mj-lt"/>
              </a:rPr>
              <a:t>configure terminal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600" dirty="0">
                <a:highlight>
                  <a:srgbClr val="FFFF00"/>
                </a:highlight>
                <a:latin typeface="+mj-lt"/>
              </a:rPr>
              <a:t>interface </a:t>
            </a:r>
            <a:r>
              <a:rPr lang="en-AU" sz="2600" dirty="0" err="1">
                <a:highlight>
                  <a:srgbClr val="FFFF00"/>
                </a:highlight>
                <a:latin typeface="+mj-lt"/>
              </a:rPr>
              <a:t>gigabitEthernet</a:t>
            </a:r>
            <a:r>
              <a:rPr lang="en-AU" sz="2600" dirty="0">
                <a:highlight>
                  <a:srgbClr val="FFFF00"/>
                </a:highlight>
                <a:latin typeface="+mj-lt"/>
              </a:rPr>
              <a:t> 0/0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600" dirty="0">
                <a:highlight>
                  <a:srgbClr val="FFFF00"/>
                </a:highlight>
                <a:latin typeface="+mj-lt"/>
              </a:rPr>
              <a:t>description HR LAN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6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600" dirty="0">
                <a:highlight>
                  <a:srgbClr val="FFFF00"/>
                </a:highlight>
                <a:latin typeface="+mj-lt"/>
              </a:rPr>
              <a:t> address 192.168.10.1 255.255.255.224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600" dirty="0">
                <a:highlight>
                  <a:srgbClr val="FFFF00"/>
                </a:highlight>
                <a:latin typeface="+mj-lt"/>
              </a:rPr>
              <a:t>no shutdown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600" dirty="0">
                <a:highlight>
                  <a:srgbClr val="FFFF00"/>
                </a:highlight>
                <a:latin typeface="+mj-lt"/>
              </a:rPr>
              <a:t>exit</a:t>
            </a:r>
          </a:p>
          <a:p>
            <a:pPr>
              <a:lnSpc>
                <a:spcPct val="150000"/>
              </a:lnSpc>
              <a:buNone/>
            </a:pPr>
            <a:r>
              <a:rPr lang="en-AU" sz="2600" dirty="0">
                <a:latin typeface="+mj-lt"/>
              </a:rPr>
              <a:t>Check using: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600" dirty="0">
                <a:highlight>
                  <a:srgbClr val="FFFF00"/>
                </a:highlight>
                <a:latin typeface="+mj-lt"/>
              </a:rPr>
              <a:t>show </a:t>
            </a:r>
            <a:r>
              <a:rPr lang="en-AU" sz="26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600" dirty="0">
                <a:highlight>
                  <a:srgbClr val="FFFF00"/>
                </a:highlight>
                <a:latin typeface="+mj-lt"/>
              </a:rPr>
              <a:t> interface brief</a:t>
            </a:r>
          </a:p>
        </p:txBody>
      </p:sp>
    </p:spTree>
    <p:extLst>
      <p:ext uri="{BB962C8B-B14F-4D97-AF65-F5344CB8AC3E}">
        <p14:creationId xmlns:p14="http://schemas.microsoft.com/office/powerpoint/2010/main" val="91447104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D800-2FF3-ABB7-A585-E9EC70B15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9650D0E4-2D9B-481D-C091-E3E136E1DBE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Configuring Router Interfaces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1BDFCF0-1E4D-8E55-EED9-DA7746262D3D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6ED6994-92BF-5252-70D4-C0144D8C0DE4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179050-9E30-C876-F5A1-7F1B641B4B2E}"/>
              </a:ext>
            </a:extLst>
          </p:cNvPr>
          <p:cNvSpPr txBox="1"/>
          <p:nvPr/>
        </p:nvSpPr>
        <p:spPr>
          <a:xfrm>
            <a:off x="0" y="990600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What happens if the router interface and HR computers use different, non-overlapping IP subnets?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The computers will not be able to use that interface as a directly reachable default gateway without correcting the addressing.</a:t>
            </a:r>
          </a:p>
        </p:txBody>
      </p:sp>
    </p:spTree>
    <p:extLst>
      <p:ext uri="{BB962C8B-B14F-4D97-AF65-F5344CB8AC3E}">
        <p14:creationId xmlns:p14="http://schemas.microsoft.com/office/powerpoint/2010/main" val="393151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9D00-9526-0C21-4784-75C08BDF0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ADE3D12B-7F93-B0F0-79C9-0871E732062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Configuring Router Interfaces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70A7D8A-7CBE-F84D-9083-217C075A14D9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2E7CC68-1BE9-10CD-2D1A-A2DE244A4456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95AF63C1-421B-D780-7310-E1050D060A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500" r="67107"/>
          <a:stretch>
            <a:fillRect/>
          </a:stretch>
        </p:blipFill>
        <p:spPr>
          <a:xfrm>
            <a:off x="1" y="1828800"/>
            <a:ext cx="9144000" cy="324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3635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69F14-0DBB-FFDD-7488-8E159318D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254EED22-2EC5-3DE4-BC7D-072C1FB3A4E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Configuring End Devices and Default Gateways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E15D107-3562-7AD9-D6E2-770EAA77F956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8BD24826-9F81-E271-FDFD-2F4C5AFB7DD8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173537-F769-6D16-5C5F-C3812231E86D}"/>
              </a:ext>
            </a:extLst>
          </p:cNvPr>
          <p:cNvSpPr txBox="1"/>
          <p:nvPr/>
        </p:nvSpPr>
        <p:spPr>
          <a:xfrm>
            <a:off x="228600" y="1295400"/>
            <a:ext cx="86868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Each end device needs appropriate settings: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IP address.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Subnet mask.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Default gateway.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DNS server, where name resolution is required.</a:t>
            </a:r>
          </a:p>
        </p:txBody>
      </p:sp>
    </p:spTree>
    <p:extLst>
      <p:ext uri="{BB962C8B-B14F-4D97-AF65-F5344CB8AC3E}">
        <p14:creationId xmlns:p14="http://schemas.microsoft.com/office/powerpoint/2010/main" val="12863155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4D1D7-AFC1-462C-1376-8FAC4A38A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1DF7E0B-7AB3-95CB-9105-884152543CD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Configuring End Devices and Default Gateways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B9C8A71-D13A-8464-FBC7-D6B85465A6AC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AFE11351-248D-BAB3-3C30-F763AA56A7C1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1DC9A2-7A27-BA5E-17ED-1D8C81B00367}"/>
              </a:ext>
            </a:extLst>
          </p:cNvPr>
          <p:cNvSpPr txBox="1"/>
          <p:nvPr/>
        </p:nvSpPr>
        <p:spPr>
          <a:xfrm>
            <a:off x="262836" y="967859"/>
            <a:ext cx="8617716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Example HR PC: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IP address:       192.168.10.10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Subnet mask:      255.255.255.224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Default gateway:  192.168.10.1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A PC can ping another PC in the same subnet but cannot reach Finance. What should you check first?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347327-4A4C-A54B-407C-38CA09F2EFEE}"/>
              </a:ext>
            </a:extLst>
          </p:cNvPr>
          <p:cNvSpPr txBox="1"/>
          <p:nvPr/>
        </p:nvSpPr>
        <p:spPr>
          <a:xfrm>
            <a:off x="262836" y="4904998"/>
            <a:ext cx="838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The PC's default gateway and the routing between the two departmental networks.</a:t>
            </a:r>
          </a:p>
        </p:txBody>
      </p:sp>
    </p:spTree>
    <p:extLst>
      <p:ext uri="{BB962C8B-B14F-4D97-AF65-F5344CB8AC3E}">
        <p14:creationId xmlns:p14="http://schemas.microsoft.com/office/powerpoint/2010/main" val="188959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6B90-17A4-3BB2-C345-3CBA94F38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F8014784-5456-8762-EB65-5B33630BCE6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Remote Access: SSH and Telnet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1126273-0A5B-69B9-2227-BFF251B91D3B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8CFCC10A-60AF-E301-09B1-501ABE78BAEB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1E6FC4-48B8-4116-771C-17C89DF74EDC}"/>
              </a:ext>
            </a:extLst>
          </p:cNvPr>
          <p:cNvSpPr txBox="1"/>
          <p:nvPr/>
        </p:nvSpPr>
        <p:spPr>
          <a:xfrm>
            <a:off x="263142" y="1295400"/>
            <a:ext cx="8617716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Telnet provides remote command-line access but does not encrypt the session.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SSH encrypts remote management traffic.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SSH is preferred for secure administration.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Router and switch remote access should be restricted to authorised users.</a:t>
            </a:r>
          </a:p>
        </p:txBody>
      </p:sp>
    </p:spTree>
    <p:extLst>
      <p:ext uri="{BB962C8B-B14F-4D97-AF65-F5344CB8AC3E}">
        <p14:creationId xmlns:p14="http://schemas.microsoft.com/office/powerpoint/2010/main" val="13944695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ACB00-DA37-5C6A-A6E7-C61C08DC7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A849CBA-401F-5CAB-8D33-2788B23FB72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Remote Access: SSH and Telnet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334FF5B-A62C-06AE-41CA-2C2DE190AF1A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D3AA92B-84A2-53FF-9D35-3E33464B1BF7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A9B45B-BA9F-0CD9-1194-56DD14C9A062}"/>
              </a:ext>
            </a:extLst>
          </p:cNvPr>
          <p:cNvSpPr txBox="1"/>
          <p:nvPr/>
        </p:nvSpPr>
        <p:spPr>
          <a:xfrm>
            <a:off x="263142" y="838200"/>
            <a:ext cx="8617716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Illustrative SSH configuration: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hostname HR-Router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domain-name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abc.example</a:t>
            </a:r>
            <a:endParaRPr lang="en-AU" sz="2800" dirty="0">
              <a:highlight>
                <a:srgbClr val="FFFF00"/>
              </a:highlight>
              <a:latin typeface="+mj-lt"/>
            </a:endParaRP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username admin privilege 15 secret ExampleOnly123!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crypto key generate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rsa</a:t>
            </a:r>
            <a:endParaRPr lang="en-AU" sz="2800" dirty="0">
              <a:highlight>
                <a:srgbClr val="FFFF00"/>
              </a:highlight>
              <a:latin typeface="+mj-lt"/>
            </a:endParaRPr>
          </a:p>
          <a:p>
            <a:pPr rtl="0">
              <a:lnSpc>
                <a:spcPct val="150000"/>
              </a:lnSpc>
              <a:buNone/>
            </a:pPr>
            <a:r>
              <a:rPr lang="en-AU" sz="28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ssh version 2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line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vty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0 4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login local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transport input ssh</a:t>
            </a:r>
          </a:p>
        </p:txBody>
      </p:sp>
    </p:spTree>
    <p:extLst>
      <p:ext uri="{BB962C8B-B14F-4D97-AF65-F5344CB8AC3E}">
        <p14:creationId xmlns:p14="http://schemas.microsoft.com/office/powerpoint/2010/main" val="13476778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6C86D-B768-B846-8F35-CC6FA9523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366489E1-BA73-A022-2BE5-3B9907AFA54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Remote Access: SSH and Telnet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7377E71-C410-C950-8B8D-2E6540D55B57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23B4E25F-233C-21D0-E3DD-758F132071E2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EC9773-E60D-305F-D864-005705C46E1A}"/>
              </a:ext>
            </a:extLst>
          </p:cNvPr>
          <p:cNvSpPr txBox="1"/>
          <p:nvPr/>
        </p:nvSpPr>
        <p:spPr>
          <a:xfrm>
            <a:off x="263142" y="838200"/>
            <a:ext cx="8617716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The example credentials are for classroom practice only and must not be reused as real passwords. RSA key generation may require a key-size selection, depending on IOS.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is SSH generally safer than Telnet?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SSH encrypts the management session, reducing the risk of exposing credentials and commands.</a:t>
            </a:r>
          </a:p>
        </p:txBody>
      </p:sp>
    </p:spTree>
    <p:extLst>
      <p:ext uri="{BB962C8B-B14F-4D97-AF65-F5344CB8AC3E}">
        <p14:creationId xmlns:p14="http://schemas.microsoft.com/office/powerpoint/2010/main" val="732132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62740-D01C-C3B4-8AA8-210BB0DC6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86BEF3CF-0355-AD10-23DB-B6F7834753A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Remote Access: SSH and Telnet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A4D0CF2-4EFE-9C42-B13A-98E4590C7479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01A444A-30FE-6919-02F1-357537497BA7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F227F9F3-2061-6043-21FC-7E5B7917E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66" t="83750" r="33748"/>
          <a:stretch>
            <a:fillRect/>
          </a:stretch>
        </p:blipFill>
        <p:spPr>
          <a:xfrm>
            <a:off x="0" y="2084632"/>
            <a:ext cx="9141798" cy="3020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98485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EBE30-F752-219C-5C69-64DB2B952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70EE7518-DA29-E0BA-D132-6614AC112A5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Connecting Both Departments to the Internet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B83933E-C63E-44DC-581F-EEBAAB50925C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0895EFF-1C89-2D32-D155-4BC354290EA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BC4A42-BF80-6CE5-4D66-FFB1D3FC4FDD}"/>
              </a:ext>
            </a:extLst>
          </p:cNvPr>
          <p:cNvSpPr txBox="1"/>
          <p:nvPr/>
        </p:nvSpPr>
        <p:spPr>
          <a:xfrm>
            <a:off x="0" y="1066801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 shared ISP connection requires an end-to-end design.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Consider: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Correct department IP addressing.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Appropriate routing between networks.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 default route towards the ISP.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NAT/PAT where private IPv4 addresses are used.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DNS and any required ISP-side settings.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Appropriate security rules.</a:t>
            </a:r>
          </a:p>
        </p:txBody>
      </p:sp>
    </p:spTree>
    <p:extLst>
      <p:ext uri="{BB962C8B-B14F-4D97-AF65-F5344CB8AC3E}">
        <p14:creationId xmlns:p14="http://schemas.microsoft.com/office/powerpoint/2010/main" val="39732556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CB729-9D51-60FD-08AF-07092834E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E5DC52F8-4F75-F678-1680-226742C6D03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Connecting Both Departments to the Internet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F9112BE-9E52-F90D-5AF2-1DB4FA8F8BD3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A54739D-7483-E74B-84CD-AAD7897F0185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11C3E3-BD93-F84D-0259-A7684C19722C}"/>
              </a:ext>
            </a:extLst>
          </p:cNvPr>
          <p:cNvSpPr txBox="1"/>
          <p:nvPr/>
        </p:nvSpPr>
        <p:spPr>
          <a:xfrm>
            <a:off x="0" y="1295401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might two private departmental networks need NAT/PAT to access the public Internet?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3CC2E6-EBFB-E90C-6A16-333279C608E0}"/>
              </a:ext>
            </a:extLst>
          </p:cNvPr>
          <p:cNvSpPr txBox="1"/>
          <p:nvPr/>
        </p:nvSpPr>
        <p:spPr>
          <a:xfrm>
            <a:off x="0" y="2847886"/>
            <a:ext cx="902017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Private IPv4 addresses are not globally routed on the public Internet. NAT/PAT can translate internal addresses to a suitable public address.</a:t>
            </a:r>
          </a:p>
        </p:txBody>
      </p:sp>
    </p:spTree>
    <p:extLst>
      <p:ext uri="{BB962C8B-B14F-4D97-AF65-F5344CB8AC3E}">
        <p14:creationId xmlns:p14="http://schemas.microsoft.com/office/powerpoint/2010/main" val="3212690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A731F-8668-B7BF-E480-D82C6F2AF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AD07835F-81F9-8F7C-1F79-FD866AEB174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Connecting Both Departments to the Internet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3B40C62-CB73-42AF-0565-DFE468ADEB6E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E01461D6-52E0-5A2F-2C3A-2DB020458544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" name="Picture 2" descr="The image depicts a network topology for a company, showcasing the connection between the HR and Finance departments, an Internet connection, and various devices like a wireless printer and scanner.&#10;&#10;AI-generated content may be incorrect.">
            <a:extLst>
              <a:ext uri="{FF2B5EF4-FFF2-40B4-BE49-F238E27FC236}">
                <a16:creationId xmlns:a16="http://schemas.microsoft.com/office/drawing/2014/main" id="{DEC0EE14-09C1-E153-21FF-68D28E47E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500" t="82500"/>
          <a:stretch>
            <a:fillRect/>
          </a:stretch>
        </p:blipFill>
        <p:spPr>
          <a:xfrm>
            <a:off x="0" y="1905000"/>
            <a:ext cx="9144000" cy="328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72777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BFB6-F370-69E7-5FB1-FE1859BAA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2139F742-9DD3-CF6C-8EE1-B48574EDBDC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Network Testing and Evidence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5F390CD-3AF3-46A3-2C6E-392059B0E04C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D940C91E-215B-FA76-6178-7C57EC13E9C1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4BC01-38FB-A9C2-BAAA-E0C93A47C78E}"/>
              </a:ext>
            </a:extLst>
          </p:cNvPr>
          <p:cNvSpPr txBox="1"/>
          <p:nvPr/>
        </p:nvSpPr>
        <p:spPr>
          <a:xfrm>
            <a:off x="263142" y="838200"/>
            <a:ext cx="8617716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Test the network systematically: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Check interface status.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Verify device IP addresses.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Ping the local default gateway.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Test communication between authorised departments.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Test access towards the simulated ISP.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Test SSH remote access.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Verify routes and save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42603361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D2473-CBAF-BBC0-5DA1-D598C948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29CB07B3-729D-9343-1986-590976D0F50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Network Testing and Evidence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B98D60A-073A-0A08-5276-A16BE55A6CED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5336DE3E-98D6-4135-AC7C-315CE83EFF4A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33AFA0-C66D-6EEE-A973-1805E46CCF26}"/>
              </a:ext>
            </a:extLst>
          </p:cNvPr>
          <p:cNvSpPr txBox="1"/>
          <p:nvPr/>
        </p:nvSpPr>
        <p:spPr>
          <a:xfrm>
            <a:off x="304800" y="1143000"/>
            <a:ext cx="85344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Useful commands: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interface brief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</a:t>
            </a:r>
            <a:r>
              <a:rPr lang="en-AU" sz="2800" dirty="0" err="1">
                <a:highlight>
                  <a:srgbClr val="FFFF00"/>
                </a:highlight>
                <a:latin typeface="+mj-lt"/>
              </a:rPr>
              <a:t>ip</a:t>
            </a:r>
            <a:r>
              <a:rPr lang="en-AU" sz="2800" dirty="0">
                <a:highlight>
                  <a:srgbClr val="FFFF00"/>
                </a:highlight>
                <a:latin typeface="+mj-lt"/>
              </a:rPr>
              <a:t> route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ping &lt;destination-IP&gt;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traceroute &lt;destination-IP&gt;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show running-config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>
                <a:highlight>
                  <a:srgbClr val="FFFF00"/>
                </a:highlight>
                <a:latin typeface="+mj-lt"/>
              </a:rPr>
              <a:t>copy running-config startup-config</a:t>
            </a:r>
          </a:p>
        </p:txBody>
      </p:sp>
    </p:spTree>
    <p:extLst>
      <p:ext uri="{BB962C8B-B14F-4D97-AF65-F5344CB8AC3E}">
        <p14:creationId xmlns:p14="http://schemas.microsoft.com/office/powerpoint/2010/main" val="22013804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7D261-4AAF-01B8-9B36-630DC7A18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7D2C7F3E-C690-B17C-0434-DEB439F0950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Network Testing and Evidence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BCACD97-F8D8-680E-A1BD-EA95B6867634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E2A84D6-DBD7-F11E-DE2D-E9E6EF44DD36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846941-8F51-DCD3-D5F4-7092D27BE8D3}"/>
              </a:ext>
            </a:extLst>
          </p:cNvPr>
          <p:cNvSpPr txBox="1"/>
          <p:nvPr/>
        </p:nvSpPr>
        <p:spPr>
          <a:xfrm>
            <a:off x="304800" y="1143000"/>
            <a:ext cx="85344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Discussion: Why should screenshots show actual command results rather than just the topology?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Answer: A topology shows the intended connections, while command outputs provide evidence that the configuration and tests were performed.</a:t>
            </a:r>
          </a:p>
        </p:txBody>
      </p:sp>
    </p:spTree>
    <p:extLst>
      <p:ext uri="{BB962C8B-B14F-4D97-AF65-F5344CB8AC3E}">
        <p14:creationId xmlns:p14="http://schemas.microsoft.com/office/powerpoint/2010/main" val="423745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3C10C-6773-6A00-9607-AF25CEA9F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C9C57F9F-6E48-003A-3AA1-4C26A340889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What to Do and What to Avoid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41DF6D8-2D25-7FC3-4889-DB9383FD75C4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70506368-1517-64A4-2703-A787119AED41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E28501-C95F-3804-897E-E67749D7E51F}"/>
              </a:ext>
            </a:extLst>
          </p:cNvPr>
          <p:cNvSpPr txBox="1"/>
          <p:nvPr/>
        </p:nvSpPr>
        <p:spPr>
          <a:xfrm>
            <a:off x="0" y="783169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>
                <a:latin typeface="+mj-lt"/>
              </a:rPr>
              <a:t>What to do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Read both scenarios carefully.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Keep a record of original faults.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Test one correction at a time.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Use accurate subnet masks and gateways.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Configure the required security controls.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Save configurations and Packet Tracer files.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Provide genuine screenshots and command evidence.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Explain your design decisions.</a:t>
            </a:r>
          </a:p>
        </p:txBody>
      </p:sp>
    </p:spTree>
    <p:extLst>
      <p:ext uri="{BB962C8B-B14F-4D97-AF65-F5344CB8AC3E}">
        <p14:creationId xmlns:p14="http://schemas.microsoft.com/office/powerpoint/2010/main" val="42636337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EB58B-2B05-2BAF-0749-61F69C5AD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7099D4E1-FDE8-A8D7-9542-D1298EB5041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What to Do and What to Avoid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55149DD9-2F33-EA75-EA2F-D055E5DE44B7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EBAA16D9-30B7-8326-010E-B15F874AA1CE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BF9D5-55B9-C89C-AB20-38F06F359A79}"/>
              </a:ext>
            </a:extLst>
          </p:cNvPr>
          <p:cNvSpPr txBox="1"/>
          <p:nvPr/>
        </p:nvSpPr>
        <p:spPr>
          <a:xfrm>
            <a:off x="0" y="783169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>
                <a:latin typeface="+mj-lt"/>
              </a:rPr>
              <a:t>What to avoid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Guessing fault causes without evidence.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Changing unrelated configurations.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Reusing a previous ticket's solution.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Assigning overlapping IP subnets.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Assuming an ISP connection works without testing.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Using Telnet as the preferred secure management method.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Submitting screenshots that do not match the final files.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Copying another student's work.</a:t>
            </a:r>
          </a:p>
        </p:txBody>
      </p:sp>
    </p:spTree>
    <p:extLst>
      <p:ext uri="{BB962C8B-B14F-4D97-AF65-F5344CB8AC3E}">
        <p14:creationId xmlns:p14="http://schemas.microsoft.com/office/powerpoint/2010/main" val="384645575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EF3CC-0559-AFF8-182C-727F01FDE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7855EEF0-D727-B113-3770-421CD1496F1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What to Do and What to Avoid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96A224B-9F7F-4502-4060-85A71C85219F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ADFB0B0-3409-6775-165A-398521A7FDF9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9A2AC8-4957-613E-D814-B7877C1429F9}"/>
              </a:ext>
            </a:extLst>
          </p:cNvPr>
          <p:cNvSpPr txBox="1"/>
          <p:nvPr/>
        </p:nvSpPr>
        <p:spPr>
          <a:xfrm>
            <a:off x="0" y="1524000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Why should you save a copy of the original troubleshooting file?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It allows you to compare the original and corrected network and recover if an incorrect change causes additional problems.</a:t>
            </a:r>
          </a:p>
        </p:txBody>
      </p:sp>
    </p:spTree>
    <p:extLst>
      <p:ext uri="{BB962C8B-B14F-4D97-AF65-F5344CB8AC3E}">
        <p14:creationId xmlns:p14="http://schemas.microsoft.com/office/powerpoint/2010/main" val="321089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FE71-15FD-B851-04BD-C738E5340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7F22707D-29C1-1418-AC4D-EA877BE5E1E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Submission Checklist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281070C-CA10-F8E2-7233-F369AA3C30DF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AFE080A-DD89-C33E-725F-E7151C838144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5725-C760-43EA-4E73-FBBC448B6D13}"/>
              </a:ext>
            </a:extLst>
          </p:cNvPr>
          <p:cNvSpPr txBox="1"/>
          <p:nvPr/>
        </p:nvSpPr>
        <p:spPr>
          <a:xfrm>
            <a:off x="0" y="914401"/>
            <a:ext cx="9144000" cy="5431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600" dirty="0">
                <a:latin typeface="+mj-lt"/>
              </a:rPr>
              <a:t>Completed all four Scenario 1 tickets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600" dirty="0">
                <a:latin typeface="+mj-lt"/>
              </a:rPr>
              <a:t>Answered the route and RTT questions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600" dirty="0">
                <a:latin typeface="+mj-lt"/>
              </a:rPr>
              <a:t>Recorded diagnostic commands, findings and corrective commands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600" dirty="0">
                <a:latin typeface="+mj-lt"/>
              </a:rPr>
              <a:t>Completed the Scenario 2 network design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600" dirty="0">
                <a:latin typeface="+mj-lt"/>
              </a:rPr>
              <a:t>Included the required HR and Finance devices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600" dirty="0">
                <a:latin typeface="+mj-lt"/>
              </a:rPr>
              <a:t>Checked subnet masks, IP addresses and gateways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600" dirty="0">
                <a:latin typeface="+mj-lt"/>
              </a:rPr>
              <a:t>Configured and tested the required routing and remote-access services</a:t>
            </a:r>
          </a:p>
        </p:txBody>
      </p:sp>
    </p:spTree>
    <p:extLst>
      <p:ext uri="{BB962C8B-B14F-4D97-AF65-F5344CB8AC3E}">
        <p14:creationId xmlns:p14="http://schemas.microsoft.com/office/powerpoint/2010/main" val="104013056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00C0B-9DBF-74FE-5B03-831061B8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2ED3252-2A79-6256-1337-B0BAE04874C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Submission Checklist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297A51D-8C00-B676-5AEC-DD879049BF70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04B66FC-FB54-CE5F-604D-46FE368B5765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361D2-4062-DF1A-3561-64FA1C8F9A8B}"/>
              </a:ext>
            </a:extLst>
          </p:cNvPr>
          <p:cNvSpPr txBox="1"/>
          <p:nvPr/>
        </p:nvSpPr>
        <p:spPr>
          <a:xfrm>
            <a:off x="0" y="685800"/>
            <a:ext cx="9144000" cy="5803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500" dirty="0">
                <a:latin typeface="+mj-lt"/>
              </a:rPr>
              <a:t>Renamed one router with my first name, one with my last name and one switch with my student ID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500" dirty="0">
                <a:latin typeface="+mj-lt"/>
              </a:rPr>
              <a:t>Saved and reopened both Packet Tracer files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500" dirty="0">
                <a:latin typeface="+mj-lt"/>
              </a:rPr>
              <a:t>Prepared the technical report with screenshots and command evidence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500" dirty="0">
                <a:latin typeface="+mj-lt"/>
              </a:rPr>
              <a:t>Explained design decisions, security, scalability and sustainability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500" dirty="0">
                <a:latin typeface="+mj-lt"/>
              </a:rPr>
              <a:t>Prepared the required seven-minute presentation with face overlay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500" dirty="0">
                <a:latin typeface="+mj-lt"/>
              </a:rPr>
              <a:t>Checked the online viva arrangements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AU" sz="2500" dirty="0">
                <a:latin typeface="+mj-lt"/>
              </a:rPr>
              <a:t>Reviewed the Canvas rubric and submission deadline</a:t>
            </a:r>
          </a:p>
        </p:txBody>
      </p:sp>
    </p:spTree>
    <p:extLst>
      <p:ext uri="{BB962C8B-B14F-4D97-AF65-F5344CB8AC3E}">
        <p14:creationId xmlns:p14="http://schemas.microsoft.com/office/powerpoint/2010/main" val="393287660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58164-0E65-4E0A-DC9B-A5F75F97C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A3D03A88-DCBE-6C93-68E6-C341D5B196F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Submission Checklist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4D96068-84D6-1FAE-7B65-AFB14512138C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255E40CC-FAAB-161C-C1F4-42F2970A5375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BF0914-D429-8256-BA6F-A1EFA94D79C9}"/>
              </a:ext>
            </a:extLst>
          </p:cNvPr>
          <p:cNvSpPr txBox="1"/>
          <p:nvPr/>
        </p:nvSpPr>
        <p:spPr>
          <a:xfrm>
            <a:off x="0" y="1914110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Submission reminder: Based on the A3 guide, the required artefacts include the two .pkt files, technical report PDF, configuration evidence and presentation.</a:t>
            </a:r>
            <a:endParaRPr lang="en-AU" sz="25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291651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D11D8-19C5-9C73-DB56-38596E555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C7464433-9BA5-EC43-ADAD-8F1C52CD0D4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Final Revision: Think Like a Network Engineer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9B82441-EBFD-4E97-2785-9C0F2EF00969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27A2C77-C1E0-19DB-F931-BAC68E36EDE8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4050AE-AF72-B7C8-7F69-D5F58026CC83}"/>
              </a:ext>
            </a:extLst>
          </p:cNvPr>
          <p:cNvSpPr txBox="1"/>
          <p:nvPr/>
        </p:nvSpPr>
        <p:spPr>
          <a:xfrm>
            <a:off x="0" y="1066800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Before your viva, be ready to answer: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What problem did you identify?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Which command helped you find it?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Why did you select that command?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What did you change?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How did you verify the correction?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Why did you select your network design?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How did you improve security and scalability?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What would you do differently in a real workplace?</a:t>
            </a:r>
          </a:p>
        </p:txBody>
      </p:sp>
    </p:spTree>
    <p:extLst>
      <p:ext uri="{BB962C8B-B14F-4D97-AF65-F5344CB8AC3E}">
        <p14:creationId xmlns:p14="http://schemas.microsoft.com/office/powerpoint/2010/main" val="292173404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324E6-7E27-AACF-9643-25798BC0F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965E609F-25A7-76F1-FA56-95C93EBC9DD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9053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Final Revision: Think Like a Network Engineer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900C0A0-7E77-9EBE-F4B3-6A5075BDA305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FCCA09FF-72F2-71B8-BEF5-66571E45AA2B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4BB6B1-6855-A980-6934-9D8F722C6FE0}"/>
              </a:ext>
            </a:extLst>
          </p:cNvPr>
          <p:cNvSpPr txBox="1"/>
          <p:nvPr/>
        </p:nvSpPr>
        <p:spPr>
          <a:xfrm>
            <a:off x="0" y="1219201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Discussion: What is the difference between memorising Cisco commands and understanding networking?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Memorising helps you recall commands. Understanding helps you select the right command, interpret the result, identify the problem and explain the solution.</a:t>
            </a:r>
          </a:p>
        </p:txBody>
      </p:sp>
    </p:spTree>
    <p:extLst>
      <p:ext uri="{BB962C8B-B14F-4D97-AF65-F5344CB8AC3E}">
        <p14:creationId xmlns:p14="http://schemas.microsoft.com/office/powerpoint/2010/main" val="126803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04397-6824-BE29-F6ED-F93F5B338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BC8BBE07-1C89-DBAA-E8A7-C6C9A1CEE2F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46EA97D-61C0-C861-9C72-497D11885103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EE38D2CE-76DF-A85A-5CEB-BF0C9B8B2B2C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3C58D4-4C65-68C8-5697-8E570CDA6B42}"/>
              </a:ext>
            </a:extLst>
          </p:cNvPr>
          <p:cNvSpPr txBox="1"/>
          <p:nvPr/>
        </p:nvSpPr>
        <p:spPr>
          <a:xfrm>
            <a:off x="0" y="1219201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Students must submit the following: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Scenario 1 – Completed Cisco Packet Tracer .pkt file.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Scenario 2 – Completed Cisco Packet Tracer .pkt file.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Technical Design and Troubleshooting Report in PDF format.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Seven-minute recorded presentation with face overlay, or attend the scheduled live presentation as instructed.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800" dirty="0">
                <a:latin typeface="+mj-lt"/>
              </a:rPr>
              <a:t>Attend the compulsory online viva at the allocated time.</a:t>
            </a:r>
          </a:p>
        </p:txBody>
      </p:sp>
    </p:spTree>
    <p:extLst>
      <p:ext uri="{BB962C8B-B14F-4D97-AF65-F5344CB8AC3E}">
        <p14:creationId xmlns:p14="http://schemas.microsoft.com/office/powerpoint/2010/main" val="18848050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A01B4-A1F8-2A46-E483-61DA2F07E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7420BB5-2909-2B5A-DA5D-4D2BD6FF06A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573DA71-27D9-44EA-66AD-F6FBC72A32BE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F3F87BB8-4C90-A57F-4C13-0F3D72E51195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DC36C1-F9AA-2265-0E61-3F4DA70E52BB}"/>
              </a:ext>
            </a:extLst>
          </p:cNvPr>
          <p:cNvSpPr txBox="1"/>
          <p:nvPr/>
        </p:nvSpPr>
        <p:spPr>
          <a:xfrm>
            <a:off x="0" y="1066800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Important reminders: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Submit files individually through Canvas.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Do not submit ZIP or RAR files unless specifically instructed.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Ensure both Packet Tracer files open correctly.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Check that the report and presentation match the final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425254741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0ABD8-BD04-F861-789C-FEF2AE485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1FDAE459-89C1-BF6C-64F3-7510DDE0F2D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F321FC3-3BD8-9C4C-C67A-C29D81E7AE48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DFA4266E-7381-A3AB-6019-BA9133BD4297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7D5C61-3CF2-D42F-012E-661D2B6521FB}"/>
              </a:ext>
            </a:extLst>
          </p:cNvPr>
          <p:cNvSpPr txBox="1"/>
          <p:nvPr/>
        </p:nvSpPr>
        <p:spPr>
          <a:xfrm>
            <a:off x="0" y="1066800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Discussion question: Can students submit only the PDF report and screenshots without their Packet Tracer files?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Answer: No. Both completed .pkt files are compulsory.</a:t>
            </a:r>
          </a:p>
        </p:txBody>
      </p:sp>
    </p:spTree>
    <p:extLst>
      <p:ext uri="{BB962C8B-B14F-4D97-AF65-F5344CB8AC3E}">
        <p14:creationId xmlns:p14="http://schemas.microsoft.com/office/powerpoint/2010/main" val="2723134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084D4-C434-3860-0740-CAA773BB4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570F973-9959-F7CB-5C60-38DC10FE53E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254ACE4A-D21A-2C5C-AD72-217F2F0D3311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6383108-447F-7F08-2045-583596332DAE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2C8D5A-494A-01AE-AEFF-61273FA9E0A8}"/>
              </a:ext>
            </a:extLst>
          </p:cNvPr>
          <p:cNvSpPr txBox="1"/>
          <p:nvPr/>
        </p:nvSpPr>
        <p:spPr>
          <a:xfrm>
            <a:off x="0" y="762000"/>
            <a:ext cx="9144000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200" b="1" dirty="0">
                <a:latin typeface="+mj-lt"/>
              </a:rPr>
              <a:t>How to Prepare Your Technical Report</a:t>
            </a:r>
          </a:p>
          <a:p>
            <a:pPr>
              <a:lnSpc>
                <a:spcPct val="150000"/>
              </a:lnSpc>
              <a:buNone/>
            </a:pPr>
            <a:r>
              <a:rPr lang="en-AU" sz="2200" dirty="0">
                <a:latin typeface="+mj-lt"/>
              </a:rPr>
              <a:t>Recommended report structure: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200" dirty="0">
                <a:latin typeface="+mj-lt"/>
              </a:rPr>
              <a:t>Student details and assessment overview.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200" dirty="0">
                <a:latin typeface="+mj-lt"/>
              </a:rPr>
              <a:t>Scenario 1 – Troubleshooting tickets, identified problems, diagnostic commands and corrections.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200" dirty="0">
                <a:latin typeface="+mj-lt"/>
              </a:rPr>
              <a:t>Scenario 1 – Route identification and RTT calculations.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200" dirty="0">
                <a:latin typeface="+mj-lt"/>
              </a:rPr>
              <a:t>Scenario 2 – Proposed network topology and addressing plan.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200" dirty="0">
                <a:latin typeface="+mj-lt"/>
              </a:rPr>
              <a:t>Scenario 2 – Device configurations, security and remote access.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200" dirty="0">
                <a:latin typeface="+mj-lt"/>
              </a:rPr>
              <a:t>Connectivity testing, screenshots and command outputs.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200" dirty="0">
                <a:latin typeface="+mj-lt"/>
              </a:rPr>
              <a:t>Technical explanations, design justification, scalability and sustainability.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AU" sz="2200" dirty="0">
                <a:latin typeface="+mj-lt"/>
              </a:rPr>
              <a:t>Conclusion, references where applicable, and AI-use statement.</a:t>
            </a:r>
          </a:p>
        </p:txBody>
      </p:sp>
    </p:spTree>
    <p:extLst>
      <p:ext uri="{BB962C8B-B14F-4D97-AF65-F5344CB8AC3E}">
        <p14:creationId xmlns:p14="http://schemas.microsoft.com/office/powerpoint/2010/main" val="429222591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0D5B9-9B94-98C9-A111-45AA0EF1A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E9A5B59A-2B30-33CC-B2B1-40BE4C1D6A8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6F21C31-005B-F520-37CD-2A51FEF1689A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95FF258-9C85-04FD-5624-6B0A7F5A23F9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CBE81-8F37-347D-8184-8C73813E4641}"/>
              </a:ext>
            </a:extLst>
          </p:cNvPr>
          <p:cNvSpPr txBox="1"/>
          <p:nvPr/>
        </p:nvSpPr>
        <p:spPr>
          <a:xfrm>
            <a:off x="0" y="1143001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Important: Screenshots should be readable, clearly labelled and consistent with the submitted Packet Tracer files.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Discussion question: Why should the report include both diagnostic commands and their outputs?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Answer: The commands explain how the network was investigated, while the outputs provide evidence supporting the findings.</a:t>
            </a:r>
          </a:p>
        </p:txBody>
      </p:sp>
    </p:spTree>
    <p:extLst>
      <p:ext uri="{BB962C8B-B14F-4D97-AF65-F5344CB8AC3E}">
        <p14:creationId xmlns:p14="http://schemas.microsoft.com/office/powerpoint/2010/main" val="4248206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D64C7-3A08-C04A-7369-1166306A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19DD16C7-EFC7-71CA-B5CD-14AF12D4B95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9F48EA4-18F6-F6B7-4A2F-4F40EDF21C05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24F8925-1B54-4E9F-6DF2-580965801559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4A431DC-E130-E328-A1BD-135CD3414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161476"/>
              </p:ext>
            </p:extLst>
          </p:nvPr>
        </p:nvGraphicFramePr>
        <p:xfrm>
          <a:off x="76200" y="2590800"/>
          <a:ext cx="8837546" cy="362712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1732266892"/>
                    </a:ext>
                  </a:extLst>
                </a:gridCol>
                <a:gridCol w="2208146">
                  <a:extLst>
                    <a:ext uri="{9D8B030D-6E8A-4147-A177-3AD203B41FA5}">
                      <a16:colId xmlns:a16="http://schemas.microsoft.com/office/drawing/2014/main" val="248700329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b="1" dirty="0"/>
                        <a:t>Section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b="1" dirty="0"/>
                        <a:t>Time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7993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Introduction and assessment objectives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30 seconds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579860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Scenario 1 – Troubleshooting approach and results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2 minutes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0004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Scenario 2 – Network design and addressing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1.5 minutes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93573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Configuration, security and connectivity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2 minutes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62198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Conclusion and key learning outcomes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1 minute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313307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/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200" dirty="0"/>
                        <a:t>7 minutes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63181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EA312E2-EA85-5802-ED27-B3A78B8E71B8}"/>
              </a:ext>
            </a:extLst>
          </p:cNvPr>
          <p:cNvSpPr txBox="1"/>
          <p:nvPr/>
        </p:nvSpPr>
        <p:spPr>
          <a:xfrm>
            <a:off x="220186" y="990600"/>
            <a:ext cx="823801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>
                <a:latin typeface="+mj-lt"/>
              </a:rPr>
              <a:t>Preparing Your Seven-Minute Presentation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Suggested presentation structure:</a:t>
            </a:r>
          </a:p>
        </p:txBody>
      </p:sp>
    </p:spTree>
    <p:extLst>
      <p:ext uri="{BB962C8B-B14F-4D97-AF65-F5344CB8AC3E}">
        <p14:creationId xmlns:p14="http://schemas.microsoft.com/office/powerpoint/2010/main" val="404120899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9C75C-D193-DE3A-1773-F42A5AAC6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2CAF6FBD-BA9E-8569-DD05-AFCC0243CEA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A71E6A0-6260-C11B-4D8E-28C5901A32D7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59590FC7-DAB0-F7FB-25AD-91A12A6AC44E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625617-A1A4-3F41-290D-227D7A43D5E9}"/>
              </a:ext>
            </a:extLst>
          </p:cNvPr>
          <p:cNvSpPr txBox="1"/>
          <p:nvPr/>
        </p:nvSpPr>
        <p:spPr>
          <a:xfrm>
            <a:off x="0" y="1066801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Presentation requirements: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Explain the work in your own words.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Show the relevant Packet Tracer topology and evidence.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Explain important decisions rather than reading every configuration command.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Use a clear voice and professional language.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Include the required face overlay for a recorded presentation.</a:t>
            </a:r>
          </a:p>
        </p:txBody>
      </p:sp>
    </p:spTree>
    <p:extLst>
      <p:ext uri="{BB962C8B-B14F-4D97-AF65-F5344CB8AC3E}">
        <p14:creationId xmlns:p14="http://schemas.microsoft.com/office/powerpoint/2010/main" val="296817281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CA62F-7680-4CE6-237B-01338FAB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A2820097-BBE9-1E50-D352-3548EDD8F17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6CE3C38-B85A-1998-0C9D-F8AF02F0CF92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2A688EB2-561F-C473-07DD-B5BCEC74B6E1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87737-ACAC-3CBF-1DFA-B95B6E13ED0F}"/>
              </a:ext>
            </a:extLst>
          </p:cNvPr>
          <p:cNvSpPr txBox="1"/>
          <p:nvPr/>
        </p:nvSpPr>
        <p:spPr>
          <a:xfrm>
            <a:off x="0" y="1066801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Discussion question: Should students spend most of their presentation reading Cisco commands?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Answer: No. They should focus on what they implemented, why they selected that approach and how they verified that it worked.</a:t>
            </a:r>
          </a:p>
        </p:txBody>
      </p:sp>
    </p:spTree>
    <p:extLst>
      <p:ext uri="{BB962C8B-B14F-4D97-AF65-F5344CB8AC3E}">
        <p14:creationId xmlns:p14="http://schemas.microsoft.com/office/powerpoint/2010/main" val="567425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ECD85-B3B3-90C4-E547-A4E367BA9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62983A67-99E5-758D-BC39-6674D3E6FC5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5A452705-3227-65DA-87B5-DB8C266CBD7E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826388C1-92C1-8CE5-42CF-78A56025F52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EFA8FD-25AB-DF71-3744-235392C5551E}"/>
              </a:ext>
            </a:extLst>
          </p:cNvPr>
          <p:cNvSpPr txBox="1"/>
          <p:nvPr/>
        </p:nvSpPr>
        <p:spPr>
          <a:xfrm>
            <a:off x="0" y="1066801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>
                <a:latin typeface="+mj-lt"/>
              </a:rPr>
              <a:t>Academic Integrity and Responsible AI Use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Permitted AI support, subject to Canvas instructions: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Understanding networking concepts.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Brainstorming high-level design considerations.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Improving grammar and report clarity.</a:t>
            </a:r>
          </a:p>
          <a:p>
            <a:pPr marL="714375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latin typeface="+mj-lt"/>
              </a:rPr>
              <a:t>Identifying areas where explanations need improvement.</a:t>
            </a:r>
          </a:p>
        </p:txBody>
      </p:sp>
    </p:spTree>
    <p:extLst>
      <p:ext uri="{BB962C8B-B14F-4D97-AF65-F5344CB8AC3E}">
        <p14:creationId xmlns:p14="http://schemas.microsoft.com/office/powerpoint/2010/main" val="360049722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A1C39-4C63-A762-7531-35E171CE3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C29451E-5DFF-B76C-3F48-5A1860C720A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5E6E1AE4-9BEF-85F8-BE12-1B2AC3648296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C3C2830-5F0A-8B4E-11EE-0639E4166A35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40A414-D8C6-31F0-C889-78390DC9894F}"/>
              </a:ext>
            </a:extLst>
          </p:cNvPr>
          <p:cNvSpPr txBox="1"/>
          <p:nvPr/>
        </p:nvSpPr>
        <p:spPr>
          <a:xfrm>
            <a:off x="0" y="826092"/>
            <a:ext cx="9144000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600" dirty="0">
                <a:latin typeface="+mj-lt"/>
              </a:rPr>
              <a:t>Not permitted: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Using AI to generate the final network design.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Using AI to complete troubleshooting tickets.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Submitting AI-generated configuration commands as your own work.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Generating substantial report or presentation content.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600" dirty="0">
                <a:latin typeface="+mj-lt"/>
              </a:rPr>
              <a:t>Fabricating screenshots, command outputs or testing results.</a:t>
            </a:r>
          </a:p>
          <a:p>
            <a:pPr>
              <a:lnSpc>
                <a:spcPct val="150000"/>
              </a:lnSpc>
            </a:pPr>
            <a:r>
              <a:rPr lang="en-AU" sz="2600" dirty="0">
                <a:latin typeface="+mj-lt"/>
              </a:rPr>
              <a:t>Students must include a brief AI-use statement in the report, including any additional disclosure required by the assessment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1844206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21857-28B0-AAAE-E864-830D9523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17BB8017-DEB5-B0FD-E8BB-E9CAB92E41C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BA3302B-55C5-9B0C-93AF-6922AEBC8423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ECAEBB6-174C-0309-4350-7BB2A55D9B1D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ACA566-B48C-FBF0-0FD7-9B3BA34D726D}"/>
              </a:ext>
            </a:extLst>
          </p:cNvPr>
          <p:cNvSpPr txBox="1"/>
          <p:nvPr/>
        </p:nvSpPr>
        <p:spPr>
          <a:xfrm>
            <a:off x="0" y="826092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Discussion question: Can a student use AI to generate all the configuration commands and submit them without understanding them?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Answer: No. The guide prohibits AI-generated configuration commands for submission. Students must complete their own technical work and explain it during the viva.</a:t>
            </a:r>
          </a:p>
        </p:txBody>
      </p:sp>
    </p:spTree>
    <p:extLst>
      <p:ext uri="{BB962C8B-B14F-4D97-AF65-F5344CB8AC3E}">
        <p14:creationId xmlns:p14="http://schemas.microsoft.com/office/powerpoint/2010/main" val="3004956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7C90B-78D6-2C4B-15A8-87B084492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DE9AD0FA-FBAC-9869-A7D0-F123504DEEA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DBB4639-D6A9-3518-B561-9AB507FBAC64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A58775F-FCEA-6E29-D942-C375D704C109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71261B-7D83-5621-D57B-2A8736D096C9}"/>
              </a:ext>
            </a:extLst>
          </p:cNvPr>
          <p:cNvSpPr txBox="1"/>
          <p:nvPr/>
        </p:nvSpPr>
        <p:spPr>
          <a:xfrm>
            <a:off x="0" y="631895"/>
            <a:ext cx="9144000" cy="6313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>
                <a:latin typeface="+mj-lt"/>
              </a:rPr>
              <a:t>Final Preparation for the Online Viva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>
                <a:latin typeface="+mj-lt"/>
              </a:rPr>
              <a:t>During the compulsory viva, students may be asked to: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400" dirty="0">
                <a:latin typeface="+mj-lt"/>
              </a:rPr>
              <a:t>Open their submitted Packet Tracer files.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400" dirty="0">
                <a:latin typeface="+mj-lt"/>
              </a:rPr>
              <a:t>Explain how they identified a network fault.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400" dirty="0">
                <a:latin typeface="+mj-lt"/>
              </a:rPr>
              <a:t>Demonstrate a relevant Cisco IOS command.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400" dirty="0">
                <a:latin typeface="+mj-lt"/>
              </a:rPr>
              <a:t>Explain why a particular subnet or gateway was selected.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400" dirty="0">
                <a:latin typeface="+mj-lt"/>
              </a:rPr>
              <a:t>Justify security and remote-access configurations.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400" dirty="0">
                <a:latin typeface="+mj-lt"/>
              </a:rPr>
              <a:t>Interpret ping, traceroute or routing results.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400" dirty="0">
                <a:latin typeface="+mj-lt"/>
              </a:rPr>
              <a:t>Explain how their network supports future growth.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400" dirty="0">
                <a:latin typeface="+mj-lt"/>
              </a:rPr>
              <a:t>Demonstrate that they understand their own report and presentation.</a:t>
            </a:r>
          </a:p>
        </p:txBody>
      </p:sp>
    </p:spTree>
    <p:extLst>
      <p:ext uri="{BB962C8B-B14F-4D97-AF65-F5344CB8AC3E}">
        <p14:creationId xmlns:p14="http://schemas.microsoft.com/office/powerpoint/2010/main" val="35683613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06329-DB80-A7C0-88A6-230A73CDA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1B8BAE61-238F-332E-1CA4-64712CBB32E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63448" y="62483"/>
            <a:ext cx="7356552" cy="459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Additional Notes about Assessment 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117ADCB-88AC-0F19-3075-C3BC427E142E}"/>
              </a:ext>
            </a:extLst>
          </p:cNvPr>
          <p:cNvSpPr txBox="1"/>
          <p:nvPr/>
        </p:nvSpPr>
        <p:spPr>
          <a:xfrm>
            <a:off x="263142" y="6553546"/>
            <a:ext cx="645160" cy="27813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96875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3C3935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0" cap="none" spc="-10" normalizeH="0" baseline="0" noProof="0" dirty="0">
                <a:ln>
                  <a:noFill/>
                </a:ln>
                <a:solidFill>
                  <a:srgbClr val="D2D2D2"/>
                </a:solidFill>
                <a:effectLst/>
                <a:uLnTx/>
                <a:uFillTx/>
                <a:latin typeface="Arial"/>
                <a:cs typeface="Arial"/>
              </a:rPr>
              <a:t>Presentation_ID</a:t>
            </a:r>
            <a:endParaRPr kumimoji="0" sz="7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711AB77-9F41-71CB-F26A-A34B6C49A84A}"/>
              </a:ext>
            </a:extLst>
          </p:cNvPr>
          <p:cNvSpPr txBox="1"/>
          <p:nvPr/>
        </p:nvSpPr>
        <p:spPr>
          <a:xfrm>
            <a:off x="4782661" y="6563812"/>
            <a:ext cx="4240530" cy="2527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©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2008</a:t>
            </a:r>
            <a:r>
              <a:rPr kumimoji="0" sz="1600" b="0" i="0" u="none" strike="noStrike" kern="0" cap="none" spc="-4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Cisco</a:t>
            </a:r>
            <a:r>
              <a:rPr kumimoji="0" sz="1600" b="0" i="0" u="none" strike="noStrike" kern="0" cap="none" spc="-4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Systems,</a:t>
            </a:r>
            <a:r>
              <a:rPr kumimoji="0" sz="1600" b="0" i="0" u="none" strike="noStrike" kern="0" cap="none" spc="-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Inc.</a:t>
            </a:r>
            <a:r>
              <a:rPr kumimoji="0" sz="1600" b="0" i="0" u="none" strike="noStrike" kern="0" cap="none" spc="-2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600" b="0" i="0" u="none" strike="noStrike" kern="0" cap="none" spc="-5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rights</a:t>
            </a:r>
            <a:r>
              <a:rPr kumimoji="0" sz="1600" b="0" i="0" u="none" strike="noStrike" kern="0" cap="none" spc="-35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0" i="0" u="none" strike="noStrike" kern="0" cap="none" spc="-1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/>
                <a:cs typeface="Arial"/>
              </a:rPr>
              <a:t>reserved.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372C19-12CE-191F-8F8E-6FEF85F92D18}"/>
              </a:ext>
            </a:extLst>
          </p:cNvPr>
          <p:cNvSpPr txBox="1"/>
          <p:nvPr/>
        </p:nvSpPr>
        <p:spPr>
          <a:xfrm>
            <a:off x="0" y="2133600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Discussion question: What should you do if the lecturer asks why you selected a particular network configuration?</a:t>
            </a:r>
          </a:p>
          <a:p>
            <a:pPr>
              <a:lnSpc>
                <a:spcPct val="150000"/>
              </a:lnSpc>
            </a:pPr>
            <a:r>
              <a:rPr lang="en-AU" sz="2800" dirty="0">
                <a:latin typeface="+mj-lt"/>
              </a:rPr>
              <a:t>Answer: Explain the technical reason, relate it to the network requirements and show relevant evidence from your submitted work.</a:t>
            </a:r>
          </a:p>
        </p:txBody>
      </p:sp>
    </p:spTree>
    <p:extLst>
      <p:ext uri="{BB962C8B-B14F-4D97-AF65-F5344CB8AC3E}">
        <p14:creationId xmlns:p14="http://schemas.microsoft.com/office/powerpoint/2010/main" val="918208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BCADA-C2BC-8C89-F224-6C84B30E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E8AB4A3-BE79-06FA-AC7C-BEC57E783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" y="24062"/>
            <a:ext cx="6686550" cy="433138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Let’s Answer Your Questions</a:t>
            </a:r>
            <a:endParaRPr lang="en-A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Answering Questions In Complete Sentences">
            <a:extLst>
              <a:ext uri="{FF2B5EF4-FFF2-40B4-BE49-F238E27FC236}">
                <a16:creationId xmlns:a16="http://schemas.microsoft.com/office/drawing/2014/main" id="{84E5527E-4D0B-667B-4471-EFDB8B314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434" y="1443320"/>
            <a:ext cx="2539133" cy="1586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BBB43-1E60-3AC7-6893-6AAB3EFF1E14}"/>
              </a:ext>
            </a:extLst>
          </p:cNvPr>
          <p:cNvSpPr txBox="1"/>
          <p:nvPr/>
        </p:nvSpPr>
        <p:spPr>
          <a:xfrm>
            <a:off x="600075" y="2971800"/>
            <a:ext cx="7943850" cy="2465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5763" marR="0" lvl="0" indent="-385763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Canvas Inbox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– For academic queries. </a:t>
            </a:r>
          </a:p>
          <a:p>
            <a:pPr marL="385763" marR="0" lvl="0" indent="-385763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Email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– For formal communication and attachments. </a:t>
            </a:r>
          </a:p>
          <a:p>
            <a:pPr marL="385763" marR="0" lvl="0" indent="-385763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Canvas Discussion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– For academic discussions and general queries. </a:t>
            </a:r>
          </a:p>
          <a:p>
            <a:pPr marL="385763" marR="0" lvl="0" indent="-385763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Reminder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– Please follow up if you do not receive a response within 3 business days.</a:t>
            </a:r>
          </a:p>
        </p:txBody>
      </p:sp>
    </p:spTree>
    <p:extLst>
      <p:ext uri="{BB962C8B-B14F-4D97-AF65-F5344CB8AC3E}">
        <p14:creationId xmlns:p14="http://schemas.microsoft.com/office/powerpoint/2010/main" val="118280318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379064" y="1272864"/>
            <a:ext cx="4306642" cy="4306642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4791089" y="931863"/>
            <a:ext cx="3898533" cy="4988642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1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171450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1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540</TotalTime>
  <Words>5635</Words>
  <Application>Microsoft Office PowerPoint</Application>
  <PresentationFormat>On-screen Show (4:3)</PresentationFormat>
  <Paragraphs>853</Paragraphs>
  <Slides>95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100" baseType="lpstr">
      <vt:lpstr>Arial</vt:lpstr>
      <vt:lpstr>Calibri</vt:lpstr>
      <vt:lpstr>Cambria Math</vt:lpstr>
      <vt:lpstr>Wingdings</vt:lpstr>
      <vt:lpstr>1_Office Theme</vt:lpstr>
      <vt:lpstr>Revision and Preparation and Guideline for Assessment 3</vt:lpstr>
      <vt:lpstr>Assessment 3: From Network Design to Troubleshooting</vt:lpstr>
      <vt:lpstr>Assessment 3: From Network Design to Troubleshooting</vt:lpstr>
      <vt:lpstr>Assessment Structure and Marking</vt:lpstr>
      <vt:lpstr>Assessment Structure and Marking</vt:lpstr>
      <vt:lpstr>What Skills Will You Develop?</vt:lpstr>
      <vt:lpstr>What Skills Will You Develop?</vt:lpstr>
      <vt:lpstr>Career Opportunities in Australia</vt:lpstr>
      <vt:lpstr>Career Opportunities in Australia</vt:lpstr>
      <vt:lpstr>Understand the Two Assessment Scenarios</vt:lpstr>
      <vt:lpstr>Understand the Two Assessment Scenarios</vt:lpstr>
      <vt:lpstr>Understand the Two Assessment Scenarios</vt:lpstr>
      <vt:lpstr>Read the Network Topology Before Configuring</vt:lpstr>
      <vt:lpstr>Read the Network Topology Before Configuring</vt:lpstr>
      <vt:lpstr>Read the Network Topology Before Configuring</vt:lpstr>
      <vt:lpstr>Essential IPv4 Addressing Knowledge</vt:lpstr>
      <vt:lpstr>Essential IPv4 Addressing Knowledge</vt:lpstr>
      <vt:lpstr>Subnetting and Future Network Growth</vt:lpstr>
      <vt:lpstr>Subnetting and Future Network Growth</vt:lpstr>
      <vt:lpstr>Switches, Routers and Internet Connectivity</vt:lpstr>
      <vt:lpstr>Switches, Routers and Internet Connectivity</vt:lpstr>
      <vt:lpstr>Switches, Routers and Internet Connectivity</vt:lpstr>
      <vt:lpstr>Cisco IOS Command Modes</vt:lpstr>
      <vt:lpstr>Cisco IOS Command Modes</vt:lpstr>
      <vt:lpstr>Cisco IOS Command Modes</vt:lpstr>
      <vt:lpstr>Scenario 1 – Troubleshooting and Diagnostic Reasoning</vt:lpstr>
      <vt:lpstr>Scenario 1 – Troubleshooting and Diagnostic Reasoning</vt:lpstr>
      <vt:lpstr>Scenario 1 – Troubleshooting and Diagnostic Reasoning</vt:lpstr>
      <vt:lpstr>Troubleshooting: Identify, Test and Fix</vt:lpstr>
      <vt:lpstr>Troubleshooting: Identify, Test and Fix</vt:lpstr>
      <vt:lpstr>Troubleshooting: Identify, Test and Fix</vt:lpstr>
      <vt:lpstr>Checking Interface Status</vt:lpstr>
      <vt:lpstr>Checking Interface Status</vt:lpstr>
      <vt:lpstr>Checking Interface Status</vt:lpstr>
      <vt:lpstr>Troubleshooting Switch VLAN Interfaces</vt:lpstr>
      <vt:lpstr>Troubleshooting Switch VLAN Interfaces</vt:lpstr>
      <vt:lpstr>Troubleshooting Switch VLAN Interfaces</vt:lpstr>
      <vt:lpstr>Understanding Routing Tables</vt:lpstr>
      <vt:lpstr>Understanding Routing Tables</vt:lpstr>
      <vt:lpstr>Understanding EIGRP Neighbours</vt:lpstr>
      <vt:lpstr>Understanding EIGRP Neighbours</vt:lpstr>
      <vt:lpstr>Understanding EIGRP Neighbours</vt:lpstr>
      <vt:lpstr>Understanding EIGRP Neighbours</vt:lpstr>
      <vt:lpstr>Testing Connectivity with Ping</vt:lpstr>
      <vt:lpstr>Testing Connectivity with Ping</vt:lpstr>
      <vt:lpstr>Finding the Route with Traceroute</vt:lpstr>
      <vt:lpstr>Finding the Route with Traceroute</vt:lpstr>
      <vt:lpstr>Measuring Round-Trip Time</vt:lpstr>
      <vt:lpstr>Measuring Round-Trip Time</vt:lpstr>
      <vt:lpstr>Reading Router Hardware and Software Information</vt:lpstr>
      <vt:lpstr>Reading Router Hardware and Software Information</vt:lpstr>
      <vt:lpstr>Reading Router Hardware and Software Information</vt:lpstr>
      <vt:lpstr>Scenario 2: ABC Company Requirements</vt:lpstr>
      <vt:lpstr>Scenario 2: ABC Company Requirements</vt:lpstr>
      <vt:lpstr>Designing a Suitable Network Topology</vt:lpstr>
      <vt:lpstr>Designing a Suitable Network Topology</vt:lpstr>
      <vt:lpstr>Designing a Suitable Network Topology</vt:lpstr>
      <vt:lpstr>Configuring Router Interfaces</vt:lpstr>
      <vt:lpstr>Configuring Router Interfaces</vt:lpstr>
      <vt:lpstr>Configuring Router Interfaces</vt:lpstr>
      <vt:lpstr>Configuring End Devices and Default Gateways</vt:lpstr>
      <vt:lpstr>Configuring End Devices and Default Gateways</vt:lpstr>
      <vt:lpstr>Remote Access: SSH and Telnet</vt:lpstr>
      <vt:lpstr>Remote Access: SSH and Telnet</vt:lpstr>
      <vt:lpstr>Remote Access: SSH and Telnet</vt:lpstr>
      <vt:lpstr>Remote Access: SSH and Telnet</vt:lpstr>
      <vt:lpstr>Connecting Both Departments to the Internet</vt:lpstr>
      <vt:lpstr>Connecting Both Departments to the Internet</vt:lpstr>
      <vt:lpstr>Connecting Both Departments to the Internet</vt:lpstr>
      <vt:lpstr>Network Testing and Evidence</vt:lpstr>
      <vt:lpstr>Network Testing and Evidence</vt:lpstr>
      <vt:lpstr>Network Testing and Evidence</vt:lpstr>
      <vt:lpstr>What to Do and What to Avoid</vt:lpstr>
      <vt:lpstr>What to Do and What to Avoid</vt:lpstr>
      <vt:lpstr>What to Do and What to Avoid</vt:lpstr>
      <vt:lpstr>Submission Checklist</vt:lpstr>
      <vt:lpstr>Submission Checklist</vt:lpstr>
      <vt:lpstr>Submission Checklist</vt:lpstr>
      <vt:lpstr>Final Revision: Think Like a Network Engineer</vt:lpstr>
      <vt:lpstr>Final Revision: Think Like a Network Engineer</vt:lpstr>
      <vt:lpstr>Additional Notes about Assessment 3</vt:lpstr>
      <vt:lpstr>Additional Notes about Assessment 3</vt:lpstr>
      <vt:lpstr>Additional Notes about Assessment 3</vt:lpstr>
      <vt:lpstr>Additional Notes about Assessment 3</vt:lpstr>
      <vt:lpstr>Additional Notes about Assessment 3</vt:lpstr>
      <vt:lpstr>Additional Notes about Assessment 3</vt:lpstr>
      <vt:lpstr>Additional Notes about Assessment 3</vt:lpstr>
      <vt:lpstr>Additional Notes about Assessment 3</vt:lpstr>
      <vt:lpstr>Additional Notes about Assessment 3</vt:lpstr>
      <vt:lpstr>Additional Notes about Assessment 3</vt:lpstr>
      <vt:lpstr>Additional Notes about Assessment 3</vt:lpstr>
      <vt:lpstr>Additional Notes about Assessment 3</vt:lpstr>
      <vt:lpstr>Additional Notes about Assessment 3</vt:lpstr>
      <vt:lpstr>Let’s Answer Your Questions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ITE PC v4.0 Chapter 1</dc:title>
  <dc:creator>Karen Alderson</dc:creator>
  <cp:lastModifiedBy>Farshid Keivanian</cp:lastModifiedBy>
  <cp:revision>215</cp:revision>
  <dcterms:created xsi:type="dcterms:W3CDTF">2026-10-20T21:41:52Z</dcterms:created>
  <dcterms:modified xsi:type="dcterms:W3CDTF">2026-10-28T09:57:22Z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2016-09-15T00:00:00Z</vt:filetime>
  </property>
  <property fmtid="{D5CDD505-2E9C-101B-9397-08002B2CF9AE}" pid="3" name="Creator">
    <vt:lpwstr>Microsoft® PowerPoint® 2010</vt:lpwstr>
  </property>
  <property fmtid="{D5CDD505-2E9C-101B-9397-08002B2CF9AE}" pid="4" name="LastSaved">
    <vt:filetime>2026-10-20T00:00:00Z</vt:filetime>
  </property>
  <property fmtid="{D5CDD505-2E9C-101B-9397-08002B2CF9AE}" pid="5" name="Producer">
    <vt:lpwstr>Microsoft® PowerPoint® 2010</vt:lpwstr>
  </property>
</Properties>
</file>