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sldIdLst>
    <p:sldId id="952" r:id="rId2"/>
    <p:sldId id="1893" r:id="rId3"/>
    <p:sldId id="1894" r:id="rId4"/>
    <p:sldId id="1895" r:id="rId5"/>
    <p:sldId id="1896" r:id="rId6"/>
    <p:sldId id="1897" r:id="rId7"/>
    <p:sldId id="1898" r:id="rId8"/>
    <p:sldId id="1899" r:id="rId9"/>
    <p:sldId id="1900" r:id="rId10"/>
    <p:sldId id="1901" r:id="rId11"/>
    <p:sldId id="1902" r:id="rId12"/>
    <p:sldId id="1903" r:id="rId13"/>
    <p:sldId id="1904" r:id="rId14"/>
    <p:sldId id="1905" r:id="rId15"/>
    <p:sldId id="1906" r:id="rId16"/>
    <p:sldId id="1907" r:id="rId17"/>
    <p:sldId id="1908" r:id="rId18"/>
    <p:sldId id="1909" r:id="rId19"/>
    <p:sldId id="1910" r:id="rId20"/>
    <p:sldId id="1911" r:id="rId21"/>
    <p:sldId id="1912" r:id="rId22"/>
    <p:sldId id="1914" r:id="rId23"/>
    <p:sldId id="1915" r:id="rId24"/>
    <p:sldId id="1916" r:id="rId25"/>
    <p:sldId id="1917" r:id="rId26"/>
    <p:sldId id="1913" r:id="rId27"/>
    <p:sldId id="1918" r:id="rId28"/>
    <p:sldId id="1919" r:id="rId29"/>
    <p:sldId id="1920" r:id="rId30"/>
    <p:sldId id="1921" r:id="rId31"/>
    <p:sldId id="1922" r:id="rId32"/>
    <p:sldId id="1923" r:id="rId33"/>
    <p:sldId id="1924" r:id="rId34"/>
    <p:sldId id="1925" r:id="rId35"/>
    <p:sldId id="1926" r:id="rId36"/>
    <p:sldId id="1927" r:id="rId37"/>
    <p:sldId id="1928" r:id="rId38"/>
    <p:sldId id="1929" r:id="rId39"/>
    <p:sldId id="1930" r:id="rId40"/>
    <p:sldId id="1931" r:id="rId41"/>
    <p:sldId id="1932" r:id="rId42"/>
    <p:sldId id="1933" r:id="rId43"/>
    <p:sldId id="1934" r:id="rId44"/>
    <p:sldId id="1935" r:id="rId45"/>
    <p:sldId id="1936" r:id="rId46"/>
    <p:sldId id="1985" r:id="rId47"/>
    <p:sldId id="1937" r:id="rId48"/>
    <p:sldId id="1938" r:id="rId49"/>
    <p:sldId id="1939" r:id="rId50"/>
    <p:sldId id="1940" r:id="rId51"/>
    <p:sldId id="1941" r:id="rId52"/>
    <p:sldId id="1942" r:id="rId53"/>
    <p:sldId id="1943" r:id="rId54"/>
    <p:sldId id="1944" r:id="rId55"/>
    <p:sldId id="1945" r:id="rId56"/>
    <p:sldId id="1946" r:id="rId57"/>
    <p:sldId id="1947" r:id="rId58"/>
    <p:sldId id="1948" r:id="rId59"/>
    <p:sldId id="1949" r:id="rId60"/>
    <p:sldId id="1950" r:id="rId61"/>
    <p:sldId id="1951" r:id="rId62"/>
    <p:sldId id="1952" r:id="rId63"/>
    <p:sldId id="1953" r:id="rId64"/>
    <p:sldId id="1954" r:id="rId65"/>
    <p:sldId id="1955" r:id="rId66"/>
    <p:sldId id="1956" r:id="rId67"/>
    <p:sldId id="1957" r:id="rId68"/>
    <p:sldId id="1958" r:id="rId69"/>
    <p:sldId id="1959" r:id="rId70"/>
    <p:sldId id="1960" r:id="rId71"/>
    <p:sldId id="1961" r:id="rId72"/>
    <p:sldId id="1962" r:id="rId73"/>
    <p:sldId id="1963" r:id="rId74"/>
    <p:sldId id="1964" r:id="rId75"/>
    <p:sldId id="1965" r:id="rId76"/>
    <p:sldId id="1966" r:id="rId77"/>
    <p:sldId id="1967" r:id="rId78"/>
    <p:sldId id="1968" r:id="rId79"/>
    <p:sldId id="1969" r:id="rId80"/>
    <p:sldId id="1970" r:id="rId81"/>
    <p:sldId id="1971" r:id="rId82"/>
    <p:sldId id="1972" r:id="rId83"/>
    <p:sldId id="1973" r:id="rId84"/>
    <p:sldId id="1974" r:id="rId85"/>
    <p:sldId id="1975" r:id="rId86"/>
    <p:sldId id="1976" r:id="rId87"/>
    <p:sldId id="1977" r:id="rId88"/>
    <p:sldId id="1978" r:id="rId89"/>
    <p:sldId id="1979" r:id="rId90"/>
    <p:sldId id="1980" r:id="rId91"/>
    <p:sldId id="1981" r:id="rId92"/>
    <p:sldId id="1982" r:id="rId93"/>
    <p:sldId id="1983" r:id="rId94"/>
    <p:sldId id="1984" r:id="rId95"/>
    <p:sldId id="1889" r:id="rId96"/>
    <p:sldId id="749" r:id="rId97"/>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501"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co-branded">
    <p:spTree>
      <p:nvGrpSpPr>
        <p:cNvPr id="1" name=""/>
        <p:cNvGrpSpPr/>
        <p:nvPr/>
      </p:nvGrpSpPr>
      <p:grpSpPr>
        <a:xfrm>
          <a:off x="0" y="0"/>
          <a:ext cx="0" cy="0"/>
          <a:chOff x="0" y="0"/>
          <a:chExt cx="0" cy="0"/>
        </a:xfrm>
      </p:grpSpPr>
      <p:sp>
        <p:nvSpPr>
          <p:cNvPr id="42" name="Rectangle 41"/>
          <p:cNvSpPr/>
          <p:nvPr userDrawn="1"/>
        </p:nvSpPr>
        <p:spPr>
          <a:xfrm>
            <a:off x="1"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4" name="Picture 3"/>
          <p:cNvPicPr>
            <a:picLocks noChangeAspect="1"/>
          </p:cNvPicPr>
          <p:nvPr userDrawn="1"/>
        </p:nvPicPr>
        <p:blipFill>
          <a:blip r:embed="rId2"/>
          <a:stretch>
            <a:fillRect/>
          </a:stretch>
        </p:blipFill>
        <p:spPr>
          <a:xfrm>
            <a:off x="0" y="0"/>
            <a:ext cx="9144000" cy="6858000"/>
          </a:xfrm>
          <a:prstGeom prst="rect">
            <a:avLst/>
          </a:prstGeom>
        </p:spPr>
      </p:pic>
      <p:sp>
        <p:nvSpPr>
          <p:cNvPr id="2" name="Title 1"/>
          <p:cNvSpPr>
            <a:spLocks noGrp="1"/>
          </p:cNvSpPr>
          <p:nvPr userDrawn="1">
            <p:ph type="title" hasCustomPrompt="1"/>
          </p:nvPr>
        </p:nvSpPr>
        <p:spPr>
          <a:xfrm>
            <a:off x="873125" y="2658154"/>
            <a:ext cx="3867150" cy="580346"/>
          </a:xfrm>
        </p:spPr>
        <p:txBody>
          <a:bodyPr anchor="b">
            <a:noAutofit/>
          </a:bodyPr>
          <a:lstStyle>
            <a:lvl1pPr>
              <a:defRPr sz="2895"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7" name="Subtitle 2"/>
          <p:cNvSpPr>
            <a:spLocks noGrp="1"/>
          </p:cNvSpPr>
          <p:nvPr userDrawn="1">
            <p:ph type="subTitle" idx="1" hasCustomPrompt="1"/>
          </p:nvPr>
        </p:nvSpPr>
        <p:spPr>
          <a:xfrm>
            <a:off x="873125" y="3652840"/>
            <a:ext cx="3867150" cy="447675"/>
          </a:xfrm>
        </p:spPr>
        <p:txBody>
          <a:bodyPr anchor="b">
            <a:noAutofit/>
          </a:bodyPr>
          <a:lstStyle>
            <a:lvl1pPr marL="0" indent="0" algn="l">
              <a:buNone/>
              <a:defRPr sz="1397">
                <a:solidFill>
                  <a:srgbClr val="3D3935"/>
                </a:solidFill>
                <a:latin typeface="Arial" panose="020B0604020202020204" pitchFamily="34"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Subheading</a:t>
            </a:r>
          </a:p>
        </p:txBody>
      </p:sp>
      <p:sp>
        <p:nvSpPr>
          <p:cNvPr id="8" name="Text Placeholder 7"/>
          <p:cNvSpPr>
            <a:spLocks noGrp="1"/>
          </p:cNvSpPr>
          <p:nvPr userDrawn="1">
            <p:ph type="body" sz="quarter" idx="10" hasCustomPrompt="1"/>
          </p:nvPr>
        </p:nvSpPr>
        <p:spPr>
          <a:xfrm>
            <a:off x="873125" y="5316538"/>
            <a:ext cx="3770313" cy="294882"/>
          </a:xfrm>
        </p:spPr>
        <p:txBody>
          <a:bodyPr>
            <a:normAutofit/>
          </a:bodyPr>
          <a:lstStyle>
            <a:lvl1pPr marL="0" indent="0">
              <a:buNone/>
              <a:defRPr sz="1198" b="1" baseline="0">
                <a:solidFill>
                  <a:srgbClr val="3D3935"/>
                </a:solidFill>
                <a:latin typeface="Arial" panose="020B0604020202020204" pitchFamily="34" charset="0"/>
                <a:cs typeface="Arial" panose="020B0604020202020204" pitchFamily="34" charset="0"/>
              </a:defRPr>
            </a:lvl1pPr>
          </a:lstStyle>
          <a:p>
            <a:pPr lvl="0"/>
            <a:r>
              <a:rPr lang="en-AU" dirty="0"/>
              <a:t>Presenter Name</a:t>
            </a:r>
          </a:p>
        </p:txBody>
      </p:sp>
      <p:sp>
        <p:nvSpPr>
          <p:cNvPr id="9" name="Text Placeholder 7"/>
          <p:cNvSpPr>
            <a:spLocks noGrp="1"/>
          </p:cNvSpPr>
          <p:nvPr userDrawn="1">
            <p:ph type="body" sz="quarter" idx="11" hasCustomPrompt="1"/>
          </p:nvPr>
        </p:nvSpPr>
        <p:spPr>
          <a:xfrm>
            <a:off x="873125" y="5611422"/>
            <a:ext cx="3770313" cy="328773"/>
          </a:xfrm>
        </p:spPr>
        <p:txBody>
          <a:bodyPr>
            <a:normAutofit/>
          </a:bodyPr>
          <a:lstStyle>
            <a:lvl1pPr marL="0" indent="0">
              <a:buNone/>
              <a:defRPr sz="1198" baseline="0">
                <a:solidFill>
                  <a:srgbClr val="3D3935"/>
                </a:solidFill>
                <a:latin typeface="Arial" panose="020B0604020202020204" pitchFamily="34" charset="0"/>
                <a:cs typeface="Arial" panose="020B0604020202020204" pitchFamily="34" charset="0"/>
              </a:defRPr>
            </a:lvl1pPr>
          </a:lstStyle>
          <a:p>
            <a:pPr lvl="0"/>
            <a:r>
              <a:rPr lang="en-AU" dirty="0"/>
              <a:t>Date</a:t>
            </a:r>
          </a:p>
        </p:txBody>
      </p:sp>
      <p:sp>
        <p:nvSpPr>
          <p:cNvPr id="44" name="Picture Placeholder 85"/>
          <p:cNvSpPr>
            <a:spLocks noGrp="1"/>
          </p:cNvSpPr>
          <p:nvPr userDrawn="1">
            <p:ph type="pic" sz="quarter" idx="13" hasCustomPrompt="1"/>
          </p:nvPr>
        </p:nvSpPr>
        <p:spPr>
          <a:xfrm>
            <a:off x="6639195" y="2653278"/>
            <a:ext cx="1766125" cy="502731"/>
          </a:xfrm>
        </p:spPr>
        <p:txBody>
          <a:bodyPr/>
          <a:lstStyle>
            <a:lvl1pPr marL="0" indent="0">
              <a:buNone/>
              <a:defRPr sz="900">
                <a:solidFill>
                  <a:srgbClr val="3D3935"/>
                </a:solidFill>
                <a:latin typeface="Arial" panose="020B0604020202020204" pitchFamily="34" charset="0"/>
                <a:cs typeface="Arial" panose="020B0604020202020204" pitchFamily="34" charset="0"/>
              </a:defRPr>
            </a:lvl1pPr>
          </a:lstStyle>
          <a:p>
            <a:r>
              <a:rPr lang="en-US" dirty="0"/>
              <a:t>Drag co-branded logo to placeholder or click icon to add</a:t>
            </a:r>
            <a:endParaRPr lang="en-AU" dirty="0"/>
          </a:p>
        </p:txBody>
      </p:sp>
      <p:grpSp>
        <p:nvGrpSpPr>
          <p:cNvPr id="45" name="Group 44"/>
          <p:cNvGrpSpPr/>
          <p:nvPr userDrawn="1"/>
        </p:nvGrpSpPr>
        <p:grpSpPr>
          <a:xfrm>
            <a:off x="7401259" y="6092825"/>
            <a:ext cx="1374019" cy="484188"/>
            <a:chOff x="7401258" y="365125"/>
            <a:chExt cx="1374019" cy="484188"/>
          </a:xfrm>
        </p:grpSpPr>
        <p:sp>
          <p:nvSpPr>
            <p:cNvPr id="46" name="Freeform 7"/>
            <p:cNvSpPr>
              <a:spLocks/>
            </p:cNvSpPr>
            <p:nvPr userDrawn="1"/>
          </p:nvSpPr>
          <p:spPr bwMode="auto">
            <a:xfrm>
              <a:off x="7401258" y="371475"/>
              <a:ext cx="289435" cy="369888"/>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7" name="Freeform 8"/>
            <p:cNvSpPr>
              <a:spLocks/>
            </p:cNvSpPr>
            <p:nvPr userDrawn="1"/>
          </p:nvSpPr>
          <p:spPr bwMode="auto">
            <a:xfrm>
              <a:off x="7455328" y="415925"/>
              <a:ext cx="181294" cy="236538"/>
            </a:xfrm>
            <a:custGeom>
              <a:avLst/>
              <a:gdLst>
                <a:gd name="T0" fmla="*/ 0 w 114"/>
                <a:gd name="T1" fmla="*/ 74 h 149"/>
                <a:gd name="T2" fmla="*/ 58 w 114"/>
                <a:gd name="T3" fmla="*/ 0 h 149"/>
                <a:gd name="T4" fmla="*/ 114 w 114"/>
                <a:gd name="T5" fmla="*/ 74 h 149"/>
                <a:gd name="T6" fmla="*/ 58 w 114"/>
                <a:gd name="T7" fmla="*/ 149 h 149"/>
                <a:gd name="T8" fmla="*/ 0 w 114"/>
                <a:gd name="T9" fmla="*/ 74 h 149"/>
                <a:gd name="T10" fmla="*/ 0 w 114"/>
                <a:gd name="T11" fmla="*/ 74 h 149"/>
              </a:gdLst>
              <a:ahLst/>
              <a:cxnLst>
                <a:cxn ang="0">
                  <a:pos x="T0" y="T1"/>
                </a:cxn>
                <a:cxn ang="0">
                  <a:pos x="T2" y="T3"/>
                </a:cxn>
                <a:cxn ang="0">
                  <a:pos x="T4" y="T5"/>
                </a:cxn>
                <a:cxn ang="0">
                  <a:pos x="T6" y="T7"/>
                </a:cxn>
                <a:cxn ang="0">
                  <a:pos x="T8" y="T9"/>
                </a:cxn>
                <a:cxn ang="0">
                  <a:pos x="T10" y="T11"/>
                </a:cxn>
              </a:cxnLst>
              <a:rect l="0" t="0" r="r" b="b"/>
              <a:pathLst>
                <a:path w="114" h="149">
                  <a:moveTo>
                    <a:pt x="0" y="74"/>
                  </a:moveTo>
                  <a:lnTo>
                    <a:pt x="58" y="0"/>
                  </a:lnTo>
                  <a:lnTo>
                    <a:pt x="114" y="74"/>
                  </a:lnTo>
                  <a:lnTo>
                    <a:pt x="58" y="149"/>
                  </a:lnTo>
                  <a:lnTo>
                    <a:pt x="0" y="74"/>
                  </a:lnTo>
                  <a:lnTo>
                    <a:pt x="0" y="7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8" name="Freeform 9"/>
            <p:cNvSpPr>
              <a:spLocks/>
            </p:cNvSpPr>
            <p:nvPr userDrawn="1"/>
          </p:nvSpPr>
          <p:spPr bwMode="auto">
            <a:xfrm>
              <a:off x="7480773" y="466725"/>
              <a:ext cx="130405" cy="153988"/>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9" name="Freeform 10"/>
            <p:cNvSpPr>
              <a:spLocks noEditPoints="1"/>
            </p:cNvSpPr>
            <p:nvPr userDrawn="1"/>
          </p:nvSpPr>
          <p:spPr bwMode="auto">
            <a:xfrm>
              <a:off x="7401258" y="798513"/>
              <a:ext cx="54070" cy="50800"/>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0" name="Freeform 11"/>
            <p:cNvSpPr>
              <a:spLocks/>
            </p:cNvSpPr>
            <p:nvPr userDrawn="1"/>
          </p:nvSpPr>
          <p:spPr bwMode="auto">
            <a:xfrm>
              <a:off x="7458509" y="798513"/>
              <a:ext cx="44528" cy="50800"/>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1" name="Freeform 12"/>
            <p:cNvSpPr>
              <a:spLocks/>
            </p:cNvSpPr>
            <p:nvPr userDrawn="1"/>
          </p:nvSpPr>
          <p:spPr bwMode="auto">
            <a:xfrm>
              <a:off x="7512579" y="795338"/>
              <a:ext cx="41348" cy="53975"/>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2" name="Freeform 13"/>
            <p:cNvSpPr>
              <a:spLocks/>
            </p:cNvSpPr>
            <p:nvPr userDrawn="1"/>
          </p:nvSpPr>
          <p:spPr bwMode="auto">
            <a:xfrm>
              <a:off x="7560288" y="798513"/>
              <a:ext cx="41348" cy="50800"/>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3" name="Freeform 14"/>
            <p:cNvSpPr>
              <a:spLocks noEditPoints="1"/>
            </p:cNvSpPr>
            <p:nvPr userDrawn="1"/>
          </p:nvSpPr>
          <p:spPr bwMode="auto">
            <a:xfrm>
              <a:off x="7611177"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4" name="Freeform 15"/>
            <p:cNvSpPr>
              <a:spLocks noEditPoints="1"/>
            </p:cNvSpPr>
            <p:nvPr userDrawn="1"/>
          </p:nvSpPr>
          <p:spPr bwMode="auto">
            <a:xfrm>
              <a:off x="7658886" y="798513"/>
              <a:ext cx="54070" cy="50800"/>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2" name="Freeform 16"/>
            <p:cNvSpPr>
              <a:spLocks/>
            </p:cNvSpPr>
            <p:nvPr userDrawn="1"/>
          </p:nvSpPr>
          <p:spPr bwMode="auto">
            <a:xfrm>
              <a:off x="7719318"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3" name="Freeform 17"/>
            <p:cNvSpPr>
              <a:spLocks/>
            </p:cNvSpPr>
            <p:nvPr userDrawn="1"/>
          </p:nvSpPr>
          <p:spPr bwMode="auto">
            <a:xfrm>
              <a:off x="7763846"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4" name="Freeform 18"/>
            <p:cNvSpPr>
              <a:spLocks noEditPoints="1"/>
            </p:cNvSpPr>
            <p:nvPr userDrawn="1"/>
          </p:nvSpPr>
          <p:spPr bwMode="auto">
            <a:xfrm>
              <a:off x="7779749" y="798513"/>
              <a:ext cx="52480" cy="50800"/>
            </a:xfrm>
            <a:custGeom>
              <a:avLst/>
              <a:gdLst>
                <a:gd name="T0" fmla="*/ 19 w 33"/>
                <a:gd name="T1" fmla="*/ 0 h 32"/>
                <a:gd name="T2" fmla="*/ 13 w 33"/>
                <a:gd name="T3" fmla="*/ 0 h 32"/>
                <a:gd name="T4" fmla="*/ 0 w 33"/>
                <a:gd name="T5" fmla="*/ 32 h 32"/>
                <a:gd name="T6" fmla="*/ 6 w 33"/>
                <a:gd name="T7" fmla="*/ 32 h 32"/>
                <a:gd name="T8" fmla="*/ 7 w 33"/>
                <a:gd name="T9" fmla="*/ 26 h 32"/>
                <a:gd name="T10" fmla="*/ 25 w 33"/>
                <a:gd name="T11" fmla="*/ 26 h 32"/>
                <a:gd name="T12" fmla="*/ 27 w 33"/>
                <a:gd name="T13" fmla="*/ 32 h 32"/>
                <a:gd name="T14" fmla="*/ 33 w 33"/>
                <a:gd name="T15" fmla="*/ 32 h 32"/>
                <a:gd name="T16" fmla="*/ 19 w 33"/>
                <a:gd name="T17" fmla="*/ 0 h 32"/>
                <a:gd name="T18" fmla="*/ 19 w 33"/>
                <a:gd name="T19" fmla="*/ 0 h 32"/>
                <a:gd name="T20" fmla="*/ 19 w 33"/>
                <a:gd name="T21" fmla="*/ 0 h 32"/>
                <a:gd name="T22" fmla="*/ 23 w 33"/>
                <a:gd name="T23" fmla="*/ 20 h 32"/>
                <a:gd name="T24" fmla="*/ 9 w 33"/>
                <a:gd name="T25" fmla="*/ 20 h 32"/>
                <a:gd name="T26" fmla="*/ 17 w 33"/>
                <a:gd name="T27" fmla="*/ 6 h 32"/>
                <a:gd name="T28" fmla="*/ 23 w 33"/>
                <a:gd name="T29" fmla="*/ 20 h 32"/>
                <a:gd name="T30" fmla="*/ 23 w 33"/>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32">
                  <a:moveTo>
                    <a:pt x="19" y="0"/>
                  </a:moveTo>
                  <a:lnTo>
                    <a:pt x="13" y="0"/>
                  </a:lnTo>
                  <a:lnTo>
                    <a:pt x="0" y="32"/>
                  </a:lnTo>
                  <a:lnTo>
                    <a:pt x="6" y="32"/>
                  </a:lnTo>
                  <a:lnTo>
                    <a:pt x="7" y="26"/>
                  </a:lnTo>
                  <a:lnTo>
                    <a:pt x="25" y="26"/>
                  </a:lnTo>
                  <a:lnTo>
                    <a:pt x="27" y="32"/>
                  </a:lnTo>
                  <a:lnTo>
                    <a:pt x="33" y="32"/>
                  </a:lnTo>
                  <a:lnTo>
                    <a:pt x="19" y="0"/>
                  </a:lnTo>
                  <a:lnTo>
                    <a:pt x="19" y="0"/>
                  </a:lnTo>
                  <a:lnTo>
                    <a:pt x="19" y="0"/>
                  </a:lnTo>
                  <a:close/>
                  <a:moveTo>
                    <a:pt x="23" y="20"/>
                  </a:moveTo>
                  <a:lnTo>
                    <a:pt x="9" y="20"/>
                  </a:lnTo>
                  <a:lnTo>
                    <a:pt x="17" y="6"/>
                  </a:lnTo>
                  <a:lnTo>
                    <a:pt x="23" y="20"/>
                  </a:lnTo>
                  <a:lnTo>
                    <a:pt x="23"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5" name="Freeform 19"/>
            <p:cNvSpPr>
              <a:spLocks/>
            </p:cNvSpPr>
            <p:nvPr userDrawn="1"/>
          </p:nvSpPr>
          <p:spPr bwMode="auto">
            <a:xfrm>
              <a:off x="7841771" y="798513"/>
              <a:ext cx="41348" cy="50800"/>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6" name="Freeform 20"/>
            <p:cNvSpPr>
              <a:spLocks/>
            </p:cNvSpPr>
            <p:nvPr userDrawn="1"/>
          </p:nvSpPr>
          <p:spPr bwMode="auto">
            <a:xfrm>
              <a:off x="7921286"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7" name="Freeform 21"/>
            <p:cNvSpPr>
              <a:spLocks noEditPoints="1"/>
            </p:cNvSpPr>
            <p:nvPr userDrawn="1"/>
          </p:nvSpPr>
          <p:spPr bwMode="auto">
            <a:xfrm>
              <a:off x="7972176" y="798513"/>
              <a:ext cx="54070"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8" name="Freeform 22"/>
            <p:cNvSpPr>
              <a:spLocks/>
            </p:cNvSpPr>
            <p:nvPr userDrawn="1"/>
          </p:nvSpPr>
          <p:spPr bwMode="auto">
            <a:xfrm>
              <a:off x="8023065" y="798513"/>
              <a:ext cx="44528" cy="50800"/>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9" name="Freeform 23"/>
            <p:cNvSpPr>
              <a:spLocks/>
            </p:cNvSpPr>
            <p:nvPr userDrawn="1"/>
          </p:nvSpPr>
          <p:spPr bwMode="auto">
            <a:xfrm>
              <a:off x="8073955" y="798513"/>
              <a:ext cx="44528" cy="50800"/>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0" name="Freeform 24"/>
            <p:cNvSpPr>
              <a:spLocks noEditPoints="1"/>
            </p:cNvSpPr>
            <p:nvPr userDrawn="1"/>
          </p:nvSpPr>
          <p:spPr bwMode="auto">
            <a:xfrm>
              <a:off x="8128025" y="795338"/>
              <a:ext cx="50890" cy="53975"/>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1" name="Freeform 25"/>
            <p:cNvSpPr>
              <a:spLocks/>
            </p:cNvSpPr>
            <p:nvPr userDrawn="1"/>
          </p:nvSpPr>
          <p:spPr bwMode="auto">
            <a:xfrm>
              <a:off x="8188456"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2" name="Freeform 26"/>
            <p:cNvSpPr>
              <a:spLocks/>
            </p:cNvSpPr>
            <p:nvPr userDrawn="1"/>
          </p:nvSpPr>
          <p:spPr bwMode="auto">
            <a:xfrm>
              <a:off x="8232985"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3" name="Freeform 27"/>
            <p:cNvSpPr>
              <a:spLocks/>
            </p:cNvSpPr>
            <p:nvPr userDrawn="1"/>
          </p:nvSpPr>
          <p:spPr bwMode="auto">
            <a:xfrm>
              <a:off x="8248888"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4" name="Freeform 28"/>
            <p:cNvSpPr>
              <a:spLocks/>
            </p:cNvSpPr>
            <p:nvPr userDrawn="1"/>
          </p:nvSpPr>
          <p:spPr bwMode="auto">
            <a:xfrm>
              <a:off x="8331584" y="798513"/>
              <a:ext cx="41348" cy="50800"/>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5" name="Freeform 29"/>
            <p:cNvSpPr>
              <a:spLocks/>
            </p:cNvSpPr>
            <p:nvPr userDrawn="1"/>
          </p:nvSpPr>
          <p:spPr bwMode="auto">
            <a:xfrm>
              <a:off x="8388834" y="798513"/>
              <a:ext cx="41348" cy="50800"/>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6" name="Freeform 30"/>
            <p:cNvSpPr>
              <a:spLocks/>
            </p:cNvSpPr>
            <p:nvPr userDrawn="1"/>
          </p:nvSpPr>
          <p:spPr bwMode="auto">
            <a:xfrm>
              <a:off x="8442905"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7" name="Freeform 31"/>
            <p:cNvSpPr>
              <a:spLocks/>
            </p:cNvSpPr>
            <p:nvPr userDrawn="1"/>
          </p:nvSpPr>
          <p:spPr bwMode="auto">
            <a:xfrm>
              <a:off x="8461988" y="798513"/>
              <a:ext cx="50890" cy="50800"/>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8" name="Freeform 32"/>
            <p:cNvSpPr>
              <a:spLocks/>
            </p:cNvSpPr>
            <p:nvPr userDrawn="1"/>
          </p:nvSpPr>
          <p:spPr bwMode="auto">
            <a:xfrm>
              <a:off x="8519239" y="798513"/>
              <a:ext cx="38167" cy="50800"/>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9" name="Freeform 33"/>
            <p:cNvSpPr>
              <a:spLocks noEditPoints="1"/>
            </p:cNvSpPr>
            <p:nvPr userDrawn="1"/>
          </p:nvSpPr>
          <p:spPr bwMode="auto">
            <a:xfrm>
              <a:off x="8570129"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0" name="Freeform 34"/>
            <p:cNvSpPr>
              <a:spLocks/>
            </p:cNvSpPr>
            <p:nvPr userDrawn="1"/>
          </p:nvSpPr>
          <p:spPr bwMode="auto">
            <a:xfrm>
              <a:off x="8617838" y="795338"/>
              <a:ext cx="44528" cy="53975"/>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1" name="Freeform 35"/>
            <p:cNvSpPr>
              <a:spLocks/>
            </p:cNvSpPr>
            <p:nvPr userDrawn="1"/>
          </p:nvSpPr>
          <p:spPr bwMode="auto">
            <a:xfrm>
              <a:off x="8671908"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2" name="Freeform 36"/>
            <p:cNvSpPr>
              <a:spLocks/>
            </p:cNvSpPr>
            <p:nvPr userDrawn="1"/>
          </p:nvSpPr>
          <p:spPr bwMode="auto">
            <a:xfrm>
              <a:off x="8690991" y="798513"/>
              <a:ext cx="84286" cy="50800"/>
            </a:xfrm>
            <a:custGeom>
              <a:avLst/>
              <a:gdLst>
                <a:gd name="T0" fmla="*/ 29 w 53"/>
                <a:gd name="T1" fmla="*/ 0 h 32"/>
                <a:gd name="T2" fmla="*/ 0 w 53"/>
                <a:gd name="T3" fmla="*/ 0 h 32"/>
                <a:gd name="T4" fmla="*/ 0 w 53"/>
                <a:gd name="T5" fmla="*/ 4 h 32"/>
                <a:gd name="T6" fmla="*/ 9 w 53"/>
                <a:gd name="T7" fmla="*/ 4 h 32"/>
                <a:gd name="T8" fmla="*/ 9 w 53"/>
                <a:gd name="T9" fmla="*/ 32 h 32"/>
                <a:gd name="T10" fmla="*/ 15 w 53"/>
                <a:gd name="T11" fmla="*/ 32 h 32"/>
                <a:gd name="T12" fmla="*/ 15 w 53"/>
                <a:gd name="T13" fmla="*/ 4 h 32"/>
                <a:gd name="T14" fmla="*/ 25 w 53"/>
                <a:gd name="T15" fmla="*/ 4 h 32"/>
                <a:gd name="T16" fmla="*/ 35 w 53"/>
                <a:gd name="T17" fmla="*/ 18 h 32"/>
                <a:gd name="T18" fmla="*/ 35 w 53"/>
                <a:gd name="T19" fmla="*/ 32 h 32"/>
                <a:gd name="T20" fmla="*/ 41 w 53"/>
                <a:gd name="T21" fmla="*/ 32 h 32"/>
                <a:gd name="T22" fmla="*/ 41 w 53"/>
                <a:gd name="T23" fmla="*/ 18 h 32"/>
                <a:gd name="T24" fmla="*/ 53 w 53"/>
                <a:gd name="T25" fmla="*/ 0 h 32"/>
                <a:gd name="T26" fmla="*/ 53 w 53"/>
                <a:gd name="T27" fmla="*/ 0 h 32"/>
                <a:gd name="T28" fmla="*/ 53 w 53"/>
                <a:gd name="T29" fmla="*/ 0 h 32"/>
                <a:gd name="T30" fmla="*/ 47 w 53"/>
                <a:gd name="T31" fmla="*/ 0 h 32"/>
                <a:gd name="T32" fmla="*/ 37 w 53"/>
                <a:gd name="T33" fmla="*/ 14 h 32"/>
                <a:gd name="T34" fmla="*/ 29 w 53"/>
                <a:gd name="T35" fmla="*/ 0 h 32"/>
                <a:gd name="T36" fmla="*/ 29 w 53"/>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32">
                  <a:moveTo>
                    <a:pt x="29" y="0"/>
                  </a:moveTo>
                  <a:lnTo>
                    <a:pt x="0" y="0"/>
                  </a:lnTo>
                  <a:lnTo>
                    <a:pt x="0" y="4"/>
                  </a:lnTo>
                  <a:lnTo>
                    <a:pt x="9" y="4"/>
                  </a:lnTo>
                  <a:lnTo>
                    <a:pt x="9" y="32"/>
                  </a:lnTo>
                  <a:lnTo>
                    <a:pt x="15" y="32"/>
                  </a:lnTo>
                  <a:lnTo>
                    <a:pt x="15" y="4"/>
                  </a:lnTo>
                  <a:lnTo>
                    <a:pt x="25" y="4"/>
                  </a:lnTo>
                  <a:lnTo>
                    <a:pt x="35" y="18"/>
                  </a:lnTo>
                  <a:lnTo>
                    <a:pt x="35" y="32"/>
                  </a:lnTo>
                  <a:lnTo>
                    <a:pt x="41" y="32"/>
                  </a:lnTo>
                  <a:lnTo>
                    <a:pt x="41" y="18"/>
                  </a:lnTo>
                  <a:lnTo>
                    <a:pt x="53" y="0"/>
                  </a:lnTo>
                  <a:lnTo>
                    <a:pt x="53" y="0"/>
                  </a:lnTo>
                  <a:lnTo>
                    <a:pt x="53" y="0"/>
                  </a:lnTo>
                  <a:lnTo>
                    <a:pt x="47" y="0"/>
                  </a:lnTo>
                  <a:lnTo>
                    <a:pt x="37" y="14"/>
                  </a:lnTo>
                  <a:lnTo>
                    <a:pt x="29" y="0"/>
                  </a:lnTo>
                  <a:lnTo>
                    <a:pt x="29"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3" name="Freeform 37"/>
            <p:cNvSpPr>
              <a:spLocks/>
            </p:cNvSpPr>
            <p:nvPr userDrawn="1"/>
          </p:nvSpPr>
          <p:spPr bwMode="auto">
            <a:xfrm>
              <a:off x="8484252" y="371475"/>
              <a:ext cx="291025" cy="363538"/>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4" name="Freeform 38"/>
            <p:cNvSpPr>
              <a:spLocks/>
            </p:cNvSpPr>
            <p:nvPr userDrawn="1"/>
          </p:nvSpPr>
          <p:spPr bwMode="auto">
            <a:xfrm>
              <a:off x="8096219" y="365125"/>
              <a:ext cx="337144" cy="369888"/>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5" name="Freeform 39"/>
            <p:cNvSpPr>
              <a:spLocks noEditPoints="1"/>
            </p:cNvSpPr>
            <p:nvPr userDrawn="1"/>
          </p:nvSpPr>
          <p:spPr bwMode="auto">
            <a:xfrm>
              <a:off x="7760666" y="371475"/>
              <a:ext cx="329192" cy="357188"/>
            </a:xfrm>
            <a:custGeom>
              <a:avLst/>
              <a:gdLst>
                <a:gd name="T0" fmla="*/ 163 w 207"/>
                <a:gd name="T1" fmla="*/ 225 h 225"/>
                <a:gd name="T2" fmla="*/ 207 w 207"/>
                <a:gd name="T3" fmla="*/ 225 h 225"/>
                <a:gd name="T4" fmla="*/ 119 w 207"/>
                <a:gd name="T5" fmla="*/ 0 h 225"/>
                <a:gd name="T6" fmla="*/ 85 w 207"/>
                <a:gd name="T7" fmla="*/ 0 h 225"/>
                <a:gd name="T8" fmla="*/ 0 w 207"/>
                <a:gd name="T9" fmla="*/ 225 h 225"/>
                <a:gd name="T10" fmla="*/ 21 w 207"/>
                <a:gd name="T11" fmla="*/ 225 h 225"/>
                <a:gd name="T12" fmla="*/ 47 w 207"/>
                <a:gd name="T13" fmla="*/ 161 h 225"/>
                <a:gd name="T14" fmla="*/ 139 w 207"/>
                <a:gd name="T15" fmla="*/ 161 h 225"/>
                <a:gd name="T16" fmla="*/ 163 w 207"/>
                <a:gd name="T17" fmla="*/ 225 h 225"/>
                <a:gd name="T18" fmla="*/ 163 w 207"/>
                <a:gd name="T19" fmla="*/ 225 h 225"/>
                <a:gd name="T20" fmla="*/ 53 w 207"/>
                <a:gd name="T21" fmla="*/ 141 h 225"/>
                <a:gd name="T22" fmla="*/ 93 w 207"/>
                <a:gd name="T23" fmla="*/ 36 h 225"/>
                <a:gd name="T24" fmla="*/ 133 w 207"/>
                <a:gd name="T25" fmla="*/ 141 h 225"/>
                <a:gd name="T26" fmla="*/ 53 w 207"/>
                <a:gd name="T27" fmla="*/ 141 h 225"/>
                <a:gd name="T28" fmla="*/ 53 w 207"/>
                <a:gd name="T29" fmla="*/ 14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7" h="225">
                  <a:moveTo>
                    <a:pt x="163" y="225"/>
                  </a:moveTo>
                  <a:lnTo>
                    <a:pt x="207" y="225"/>
                  </a:lnTo>
                  <a:lnTo>
                    <a:pt x="119" y="0"/>
                  </a:lnTo>
                  <a:lnTo>
                    <a:pt x="85" y="0"/>
                  </a:lnTo>
                  <a:lnTo>
                    <a:pt x="0" y="225"/>
                  </a:lnTo>
                  <a:lnTo>
                    <a:pt x="21" y="225"/>
                  </a:lnTo>
                  <a:lnTo>
                    <a:pt x="47" y="161"/>
                  </a:lnTo>
                  <a:lnTo>
                    <a:pt x="139" y="161"/>
                  </a:lnTo>
                  <a:lnTo>
                    <a:pt x="163" y="225"/>
                  </a:lnTo>
                  <a:lnTo>
                    <a:pt x="163" y="225"/>
                  </a:lnTo>
                  <a:close/>
                  <a:moveTo>
                    <a:pt x="53" y="141"/>
                  </a:moveTo>
                  <a:lnTo>
                    <a:pt x="93" y="36"/>
                  </a:lnTo>
                  <a:lnTo>
                    <a:pt x="133" y="141"/>
                  </a:lnTo>
                  <a:lnTo>
                    <a:pt x="53" y="141"/>
                  </a:lnTo>
                  <a:lnTo>
                    <a:pt x="53" y="141"/>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1225960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1" i="0">
                <a:solidFill>
                  <a:srgbClr val="3C3935"/>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10/29/2026</a:t>
            </a:fld>
            <a:endParaRPr lang="en-US"/>
          </a:p>
        </p:txBody>
      </p:sp>
      <p:sp>
        <p:nvSpPr>
          <p:cNvPr id="6" name="Holder 6"/>
          <p:cNvSpPr>
            <a:spLocks noGrp="1"/>
          </p:cNvSpPr>
          <p:nvPr>
            <p:ph type="sldNum" sz="quarter" idx="7"/>
          </p:nvPr>
        </p:nvSpPr>
        <p:spPr/>
        <p:txBody>
          <a:bodyPr lIns="0" tIns="0" rIns="0" bIns="0"/>
          <a:lstStyle>
            <a:lvl1pPr>
              <a:defRPr sz="1000" b="0" i="0">
                <a:solidFill>
                  <a:srgbClr val="3C3935"/>
                </a:solidFill>
                <a:latin typeface="Arial"/>
                <a:cs typeface="Arial"/>
              </a:defRPr>
            </a:lvl1pPr>
          </a:lstStyle>
          <a:p>
            <a:pPr marL="396875">
              <a:lnSpc>
                <a:spcPct val="100000"/>
              </a:lnSpc>
              <a:spcBef>
                <a:spcPts val="5"/>
              </a:spcBef>
            </a:pPr>
            <a:fld id="{81D60167-4931-47E6-BA6A-407CBD079E47}" type="slidenum">
              <a:rPr spc="-50" dirty="0"/>
              <a:t>‹#›</a:t>
            </a:fld>
            <a:endParaRPr spc="-50" dirty="0"/>
          </a:p>
          <a:p>
            <a:pPr marL="12700">
              <a:lnSpc>
                <a:spcPct val="100000"/>
              </a:lnSpc>
              <a:spcBef>
                <a:spcPts val="35"/>
              </a:spcBef>
            </a:pPr>
            <a:r>
              <a:rPr sz="700" spc="-10" dirty="0">
                <a:solidFill>
                  <a:srgbClr val="D2D2D2"/>
                </a:solidFill>
              </a:rPr>
              <a:t>Presentation_ID</a:t>
            </a:r>
            <a:endParaRPr sz="700"/>
          </a:p>
        </p:txBody>
      </p:sp>
    </p:spTree>
    <p:extLst>
      <p:ext uri="{BB962C8B-B14F-4D97-AF65-F5344CB8AC3E}">
        <p14:creationId xmlns:p14="http://schemas.microsoft.com/office/powerpoint/2010/main" val="35883811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63448" y="62483"/>
            <a:ext cx="2820035" cy="330200"/>
          </a:xfrm>
          <a:prstGeom prst="rect">
            <a:avLst/>
          </a:prstGeom>
        </p:spPr>
        <p:txBody>
          <a:bodyPr wrap="square" lIns="0" tIns="0" rIns="0" bIns="0">
            <a:spAutoFit/>
          </a:bodyPr>
          <a:lstStyle>
            <a:lvl1pPr>
              <a:defRPr sz="2900" b="1" i="0">
                <a:solidFill>
                  <a:srgbClr val="3C3935"/>
                </a:solidFill>
                <a:latin typeface="Arial"/>
                <a:cs typeface="Aria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10/29/2026</a:t>
            </a:fld>
            <a:endParaRPr lang="en-US"/>
          </a:p>
        </p:txBody>
      </p:sp>
      <p:sp>
        <p:nvSpPr>
          <p:cNvPr id="6" name="Holder 6"/>
          <p:cNvSpPr>
            <a:spLocks noGrp="1"/>
          </p:cNvSpPr>
          <p:nvPr>
            <p:ph type="sldNum" sz="quarter" idx="7"/>
          </p:nvPr>
        </p:nvSpPr>
        <p:spPr/>
        <p:txBody>
          <a:bodyPr lIns="0" tIns="0" rIns="0" bIns="0"/>
          <a:lstStyle>
            <a:lvl1pPr>
              <a:defRPr sz="1000" b="0" i="0">
                <a:solidFill>
                  <a:srgbClr val="3C3935"/>
                </a:solidFill>
                <a:latin typeface="Arial"/>
                <a:cs typeface="Arial"/>
              </a:defRPr>
            </a:lvl1pPr>
          </a:lstStyle>
          <a:p>
            <a:pPr marL="396875">
              <a:lnSpc>
                <a:spcPct val="100000"/>
              </a:lnSpc>
              <a:spcBef>
                <a:spcPts val="5"/>
              </a:spcBef>
            </a:pPr>
            <a:fld id="{81D60167-4931-47E6-BA6A-407CBD079E47}" type="slidenum">
              <a:rPr spc="-50" dirty="0"/>
              <a:t>‹#›</a:t>
            </a:fld>
            <a:endParaRPr spc="-50" dirty="0"/>
          </a:p>
          <a:p>
            <a:pPr marL="12700">
              <a:lnSpc>
                <a:spcPct val="100000"/>
              </a:lnSpc>
              <a:spcBef>
                <a:spcPts val="35"/>
              </a:spcBef>
            </a:pPr>
            <a:r>
              <a:rPr sz="700" spc="-10" dirty="0">
                <a:solidFill>
                  <a:srgbClr val="D2D2D2"/>
                </a:solidFill>
              </a:rPr>
              <a:t>Presentation_ID</a:t>
            </a:r>
            <a:endParaRPr sz="700"/>
          </a:p>
        </p:txBody>
      </p:sp>
    </p:spTree>
    <p:extLst>
      <p:ext uri="{BB962C8B-B14F-4D97-AF65-F5344CB8AC3E}">
        <p14:creationId xmlns:p14="http://schemas.microsoft.com/office/powerpoint/2010/main" val="37015715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47" y="0"/>
            <a:ext cx="5026660" cy="454659"/>
          </a:xfrm>
          <a:custGeom>
            <a:avLst/>
            <a:gdLst/>
            <a:ahLst/>
            <a:cxnLst/>
            <a:rect l="l" t="t" r="r" b="b"/>
            <a:pathLst>
              <a:path w="5026660" h="454659">
                <a:moveTo>
                  <a:pt x="5026131" y="0"/>
                </a:moveTo>
                <a:lnTo>
                  <a:pt x="0" y="0"/>
                </a:lnTo>
                <a:lnTo>
                  <a:pt x="0" y="454150"/>
                </a:lnTo>
                <a:lnTo>
                  <a:pt x="4568951" y="454150"/>
                </a:lnTo>
                <a:lnTo>
                  <a:pt x="5026131" y="0"/>
                </a:lnTo>
                <a:close/>
              </a:path>
            </a:pathLst>
          </a:custGeom>
          <a:solidFill>
            <a:srgbClr val="E8E2DB"/>
          </a:solidFill>
        </p:spPr>
        <p:txBody>
          <a:bodyPr wrap="square" lIns="0" tIns="0" rIns="0" bIns="0" rtlCol="0"/>
          <a:lstStyle/>
          <a:p>
            <a:endParaRPr/>
          </a:p>
        </p:txBody>
      </p:sp>
      <p:sp>
        <p:nvSpPr>
          <p:cNvPr id="17" name="bg object 17"/>
          <p:cNvSpPr/>
          <p:nvPr/>
        </p:nvSpPr>
        <p:spPr>
          <a:xfrm>
            <a:off x="4572000" y="6397751"/>
            <a:ext cx="4569460" cy="457200"/>
          </a:xfrm>
          <a:custGeom>
            <a:avLst/>
            <a:gdLst/>
            <a:ahLst/>
            <a:cxnLst/>
            <a:rect l="l" t="t" r="r" b="b"/>
            <a:pathLst>
              <a:path w="4569459" h="457200">
                <a:moveTo>
                  <a:pt x="4568953" y="0"/>
                </a:moveTo>
                <a:lnTo>
                  <a:pt x="460248" y="0"/>
                </a:lnTo>
                <a:lnTo>
                  <a:pt x="0" y="457198"/>
                </a:lnTo>
                <a:lnTo>
                  <a:pt x="4568953" y="457198"/>
                </a:lnTo>
                <a:lnTo>
                  <a:pt x="4568953" y="0"/>
                </a:lnTo>
                <a:close/>
              </a:path>
            </a:pathLst>
          </a:custGeom>
          <a:solidFill>
            <a:srgbClr val="E8E2DB"/>
          </a:solidFill>
        </p:spPr>
        <p:txBody>
          <a:bodyPr wrap="square" lIns="0" tIns="0" rIns="0" bIns="0" rtlCol="0"/>
          <a:lstStyle/>
          <a:p>
            <a:endParaRPr/>
          </a:p>
        </p:txBody>
      </p:sp>
      <p:pic>
        <p:nvPicPr>
          <p:cNvPr id="18" name="bg object 18"/>
          <p:cNvPicPr/>
          <p:nvPr/>
        </p:nvPicPr>
        <p:blipFill>
          <a:blip r:embed="rId5" cstate="print"/>
          <a:stretch>
            <a:fillRect/>
          </a:stretch>
        </p:blipFill>
        <p:spPr>
          <a:xfrm>
            <a:off x="7679476" y="331684"/>
            <a:ext cx="1137925" cy="642031"/>
          </a:xfrm>
          <a:prstGeom prst="rect">
            <a:avLst/>
          </a:prstGeom>
        </p:spPr>
      </p:pic>
      <p:sp>
        <p:nvSpPr>
          <p:cNvPr id="2" name="Holder 2"/>
          <p:cNvSpPr>
            <a:spLocks noGrp="1"/>
          </p:cNvSpPr>
          <p:nvPr>
            <p:ph type="title"/>
          </p:nvPr>
        </p:nvSpPr>
        <p:spPr>
          <a:xfrm>
            <a:off x="347268" y="981963"/>
            <a:ext cx="8449463" cy="452119"/>
          </a:xfrm>
          <a:prstGeom prst="rect">
            <a:avLst/>
          </a:prstGeom>
        </p:spPr>
        <p:txBody>
          <a:bodyPr wrap="square" lIns="0" tIns="0" rIns="0" bIns="0">
            <a:spAutoFit/>
          </a:bodyPr>
          <a:lstStyle>
            <a:lvl1pPr>
              <a:defRPr sz="2900" b="1" i="0">
                <a:solidFill>
                  <a:srgbClr val="3C3935"/>
                </a:solidFill>
                <a:latin typeface="Arial"/>
                <a:cs typeface="Arial"/>
              </a:defRPr>
            </a:lvl1pPr>
          </a:lstStyle>
          <a:p>
            <a:endParaRPr/>
          </a:p>
        </p:txBody>
      </p:sp>
      <p:sp>
        <p:nvSpPr>
          <p:cNvPr id="3" name="Holder 3"/>
          <p:cNvSpPr>
            <a:spLocks noGrp="1"/>
          </p:cNvSpPr>
          <p:nvPr>
            <p:ph type="body" idx="1"/>
          </p:nvPr>
        </p:nvSpPr>
        <p:spPr>
          <a:xfrm>
            <a:off x="481683" y="1904998"/>
            <a:ext cx="8326755" cy="4091304"/>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10/29/2026</a:t>
            </a:fld>
            <a:endParaRPr lang="en-US"/>
          </a:p>
        </p:txBody>
      </p:sp>
      <p:sp>
        <p:nvSpPr>
          <p:cNvPr id="6" name="Holder 6"/>
          <p:cNvSpPr>
            <a:spLocks noGrp="1"/>
          </p:cNvSpPr>
          <p:nvPr>
            <p:ph type="sldNum" sz="quarter" idx="7"/>
          </p:nvPr>
        </p:nvSpPr>
        <p:spPr>
          <a:xfrm>
            <a:off x="263142" y="6553546"/>
            <a:ext cx="645160" cy="278129"/>
          </a:xfrm>
          <a:prstGeom prst="rect">
            <a:avLst/>
          </a:prstGeom>
        </p:spPr>
        <p:txBody>
          <a:bodyPr wrap="square" lIns="0" tIns="0" rIns="0" bIns="0">
            <a:spAutoFit/>
          </a:bodyPr>
          <a:lstStyle>
            <a:lvl1pPr>
              <a:defRPr sz="1000" b="0" i="0">
                <a:solidFill>
                  <a:srgbClr val="3C3935"/>
                </a:solidFill>
                <a:latin typeface="Arial"/>
                <a:cs typeface="Arial"/>
              </a:defRPr>
            </a:lvl1pPr>
          </a:lstStyle>
          <a:p>
            <a:pPr marL="396875">
              <a:lnSpc>
                <a:spcPct val="100000"/>
              </a:lnSpc>
              <a:spcBef>
                <a:spcPts val="5"/>
              </a:spcBef>
            </a:pPr>
            <a:fld id="{81D60167-4931-47E6-BA6A-407CBD079E47}" type="slidenum">
              <a:rPr spc="-50" dirty="0"/>
              <a:t>‹#›</a:t>
            </a:fld>
            <a:endParaRPr spc="-50" dirty="0"/>
          </a:p>
          <a:p>
            <a:pPr marL="12700">
              <a:lnSpc>
                <a:spcPct val="100000"/>
              </a:lnSpc>
              <a:spcBef>
                <a:spcPts val="35"/>
              </a:spcBef>
            </a:pPr>
            <a:r>
              <a:rPr sz="700" spc="-10" dirty="0">
                <a:solidFill>
                  <a:srgbClr val="D2D2D2"/>
                </a:solidFill>
              </a:rPr>
              <a:t>Presentation_ID</a:t>
            </a:r>
            <a:endParaRPr sz="700"/>
          </a:p>
        </p:txBody>
      </p:sp>
    </p:spTree>
    <p:extLst>
      <p:ext uri="{BB962C8B-B14F-4D97-AF65-F5344CB8AC3E}">
        <p14:creationId xmlns:p14="http://schemas.microsoft.com/office/powerpoint/2010/main" val="5053943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www.linkedin.com/jobs" TargetMode="External"/><Relationship Id="rId2" Type="http://schemas.openxmlformats.org/officeDocument/2006/relationships/hyperlink" Target="https://www.seek.com.au/"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hyperlink" Target="https://www.linkedin.com/in/farshid-keivanian" TargetMode="External"/><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hyperlink" Target="https://github.com/FarshidKeivani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ACF62-ED9D-4C0F-A976-E9C35DDB35EB}"/>
              </a:ext>
            </a:extLst>
          </p:cNvPr>
          <p:cNvSpPr>
            <a:spLocks noGrp="1"/>
          </p:cNvSpPr>
          <p:nvPr>
            <p:ph type="title"/>
          </p:nvPr>
        </p:nvSpPr>
        <p:spPr>
          <a:xfrm>
            <a:off x="628650" y="446758"/>
            <a:ext cx="3280028" cy="2067842"/>
          </a:xfrm>
        </p:spPr>
        <p:txBody>
          <a:bodyPr/>
          <a:lstStyle/>
          <a:p>
            <a:r>
              <a:rPr lang="en-AU" sz="2550" dirty="0"/>
              <a:t>Revision and Preparation and Guideline for Assessment 3</a:t>
            </a:r>
          </a:p>
        </p:txBody>
      </p:sp>
      <p:sp>
        <p:nvSpPr>
          <p:cNvPr id="3" name="Subtitle 2">
            <a:extLst>
              <a:ext uri="{FF2B5EF4-FFF2-40B4-BE49-F238E27FC236}">
                <a16:creationId xmlns:a16="http://schemas.microsoft.com/office/drawing/2014/main" id="{23EEDDFE-62E7-4B7A-B286-FF3EA6C173A5}"/>
              </a:ext>
            </a:extLst>
          </p:cNvPr>
          <p:cNvSpPr>
            <a:spLocks noGrp="1"/>
          </p:cNvSpPr>
          <p:nvPr>
            <p:ph type="subTitle" idx="1"/>
          </p:nvPr>
        </p:nvSpPr>
        <p:spPr>
          <a:xfrm>
            <a:off x="628650" y="4000501"/>
            <a:ext cx="2900363" cy="335756"/>
          </a:xfrm>
        </p:spPr>
        <p:txBody>
          <a:bodyPr/>
          <a:lstStyle/>
          <a:p>
            <a:r>
              <a:rPr lang="en-AU" sz="1500" b="1" dirty="0"/>
              <a:t>Week 12</a:t>
            </a:r>
          </a:p>
        </p:txBody>
      </p:sp>
      <p:sp>
        <p:nvSpPr>
          <p:cNvPr id="4" name="Subtitle 2">
            <a:extLst>
              <a:ext uri="{FF2B5EF4-FFF2-40B4-BE49-F238E27FC236}">
                <a16:creationId xmlns:a16="http://schemas.microsoft.com/office/drawing/2014/main" id="{0E70E932-4411-F845-C640-9F68C2F38075}"/>
              </a:ext>
            </a:extLst>
          </p:cNvPr>
          <p:cNvSpPr txBox="1">
            <a:spLocks/>
          </p:cNvSpPr>
          <p:nvPr/>
        </p:nvSpPr>
        <p:spPr>
          <a:xfrm>
            <a:off x="628650" y="4686301"/>
            <a:ext cx="2900363" cy="335756"/>
          </a:xfrm>
          <a:prstGeom prst="rect">
            <a:avLst/>
          </a:prstGeom>
        </p:spPr>
        <p:txBody>
          <a:bodyPr vert="horz" lIns="68580" tIns="34290" rIns="68580" bIns="34290" rtlCol="0" anchor="b">
            <a:noAutofit/>
          </a:bodyPr>
          <a:lstStyle>
            <a:lvl1pPr marL="0" indent="0" algn="l" defTabSz="914400" rtl="0" eaLnBrk="1" latinLnBrk="0" hangingPunct="1">
              <a:lnSpc>
                <a:spcPct val="100000"/>
              </a:lnSpc>
              <a:spcBef>
                <a:spcPts val="1000"/>
              </a:spcBef>
              <a:buClr>
                <a:srgbClr val="F2120C"/>
              </a:buClr>
              <a:buFont typeface="Arial" panose="020B0604020202020204" pitchFamily="34" charset="0"/>
              <a:buNone/>
              <a:defRPr sz="1863" kern="1200">
                <a:solidFill>
                  <a:srgbClr val="3D3935"/>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100000"/>
              </a:lnSpc>
              <a:spcBef>
                <a:spcPts val="500"/>
              </a:spcBef>
              <a:buClr>
                <a:srgbClr val="F2120C"/>
              </a:buClr>
              <a:buFont typeface="Arial" panose="020B0604020202020204" pitchFamily="34" charset="0"/>
              <a:buNone/>
              <a:defRPr sz="2000" kern="1200">
                <a:solidFill>
                  <a:srgbClr val="3D3935"/>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100000"/>
              </a:lnSpc>
              <a:spcBef>
                <a:spcPts val="500"/>
              </a:spcBef>
              <a:buClr>
                <a:srgbClr val="F2120C"/>
              </a:buClr>
              <a:buFont typeface="Arial" panose="020B0604020202020204" pitchFamily="34" charset="0"/>
              <a:buNone/>
              <a:defRPr sz="1800" kern="1200">
                <a:solidFill>
                  <a:srgbClr val="3D3935"/>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100000"/>
              </a:lnSpc>
              <a:spcBef>
                <a:spcPts val="500"/>
              </a:spcBef>
              <a:buClr>
                <a:srgbClr val="F2120C"/>
              </a:buClr>
              <a:buFont typeface="Arial" panose="020B0604020202020204" pitchFamily="34" charset="0"/>
              <a:buNone/>
              <a:defRPr sz="1600" kern="1200">
                <a:solidFill>
                  <a:srgbClr val="3D3935"/>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100000"/>
              </a:lnSpc>
              <a:spcBef>
                <a:spcPts val="500"/>
              </a:spcBef>
              <a:buClr>
                <a:srgbClr val="F2120C"/>
              </a:buClr>
              <a:buFont typeface="Arial" panose="020B0604020202020204" pitchFamily="34" charset="0"/>
              <a:buNone/>
              <a:defRPr sz="1600" kern="1200">
                <a:solidFill>
                  <a:srgbClr val="3D3935"/>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750"/>
              </a:spcBef>
              <a:spcAft>
                <a:spcPts val="0"/>
              </a:spcAft>
              <a:buClr>
                <a:srgbClr val="F2120C"/>
              </a:buClr>
              <a:buSzTx/>
              <a:buFont typeface="Arial" panose="020B0604020202020204" pitchFamily="34" charset="0"/>
              <a:buNone/>
              <a:tabLst/>
              <a:defRPr/>
            </a:pPr>
            <a:r>
              <a:rPr kumimoji="0" lang="en-AU" sz="1500" b="1" i="0" u="none" strike="noStrike" kern="1200" cap="none" spc="0" normalizeH="0" baseline="0" noProof="0" dirty="0">
                <a:ln>
                  <a:noFill/>
                </a:ln>
                <a:solidFill>
                  <a:srgbClr val="3D3935"/>
                </a:solidFill>
                <a:effectLst/>
                <a:uLnTx/>
                <a:uFillTx/>
                <a:latin typeface="Arial" panose="020B0604020202020204" pitchFamily="34" charset="0"/>
                <a:ea typeface="+mn-ea"/>
                <a:cs typeface="Arial" panose="020B0604020202020204" pitchFamily="34" charset="0"/>
              </a:rPr>
              <a:t>Dr. Farshid Keivanian</a:t>
            </a:r>
          </a:p>
        </p:txBody>
      </p:sp>
    </p:spTree>
    <p:extLst>
      <p:ext uri="{BB962C8B-B14F-4D97-AF65-F5344CB8AC3E}">
        <p14:creationId xmlns:p14="http://schemas.microsoft.com/office/powerpoint/2010/main" val="2033549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descr="$PPTXTitle"/>
          <p:cNvSpPr txBox="1">
            <a:spLocks noGrp="1"/>
          </p:cNvSpPr>
          <p:nvPr>
            <p:ph type="ctrTitle"/>
          </p:nvPr>
        </p:nvSpPr>
        <p:spPr>
          <a:xfrm>
            <a:off x="263448" y="62483"/>
            <a:ext cx="7356552" cy="905376"/>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Assessment 3: From Network Design to Troubleshooting</a:t>
            </a:r>
            <a:endParaRPr dirty="0">
              <a:solidFill>
                <a:schemeClr val="tx1"/>
              </a:solidFill>
            </a:endParaRPr>
          </a:p>
        </p:txBody>
      </p:sp>
      <p:sp>
        <p:nvSpPr>
          <p:cNvPr id="15" name="object 15"/>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14D5561D-8FC1-2133-2FB7-C2E759A0D3E5}"/>
              </a:ext>
            </a:extLst>
          </p:cNvPr>
          <p:cNvSpPr txBox="1"/>
          <p:nvPr/>
        </p:nvSpPr>
        <p:spPr>
          <a:xfrm>
            <a:off x="0" y="1143000"/>
            <a:ext cx="9144000" cy="4549835"/>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AU" sz="2800" dirty="0">
                <a:latin typeface="+mj-lt"/>
              </a:rPr>
              <a:t>Apply networking knowledge to realistic workplace problems.</a:t>
            </a:r>
          </a:p>
          <a:p>
            <a:pPr marL="342900" lvl="0" indent="-342900">
              <a:lnSpc>
                <a:spcPct val="150000"/>
              </a:lnSpc>
              <a:buFont typeface="Arial" panose="020B0604020202020204" pitchFamily="34" charset="0"/>
              <a:buChar char="•"/>
            </a:pPr>
            <a:r>
              <a:rPr lang="en-AU" sz="2800" dirty="0">
                <a:latin typeface="+mj-lt"/>
              </a:rPr>
              <a:t>Diagnose and correct faults in an existing network.</a:t>
            </a:r>
          </a:p>
          <a:p>
            <a:pPr marL="342900" lvl="0" indent="-342900">
              <a:lnSpc>
                <a:spcPct val="150000"/>
              </a:lnSpc>
              <a:buFont typeface="Arial" panose="020B0604020202020204" pitchFamily="34" charset="0"/>
              <a:buChar char="•"/>
            </a:pPr>
            <a:r>
              <a:rPr lang="en-AU" sz="2800" dirty="0">
                <a:latin typeface="+mj-lt"/>
              </a:rPr>
              <a:t>Design and configure a network for two departments.</a:t>
            </a:r>
          </a:p>
          <a:p>
            <a:pPr marL="342900" lvl="0" indent="-342900">
              <a:lnSpc>
                <a:spcPct val="150000"/>
              </a:lnSpc>
              <a:buFont typeface="Arial" panose="020B0604020202020204" pitchFamily="34" charset="0"/>
              <a:buChar char="•"/>
            </a:pPr>
            <a:r>
              <a:rPr lang="en-AU" sz="2800" dirty="0">
                <a:latin typeface="+mj-lt"/>
              </a:rPr>
              <a:t>Test connectivity, security and remote access.</a:t>
            </a:r>
          </a:p>
          <a:p>
            <a:pPr marL="342900" lvl="0" indent="-342900">
              <a:lnSpc>
                <a:spcPct val="150000"/>
              </a:lnSpc>
              <a:buFont typeface="Arial" panose="020B0604020202020204" pitchFamily="34" charset="0"/>
              <a:buChar char="•"/>
            </a:pPr>
            <a:r>
              <a:rPr lang="en-AU" sz="2800" dirty="0">
                <a:latin typeface="+mj-lt"/>
              </a:rPr>
              <a:t>Explain your work through a technical report, presentation and viva.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16DEA-DE92-B3CD-4E6A-18432BE737D7}"/>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1B520F8B-7D7F-576C-B541-82D41519437F}"/>
              </a:ext>
            </a:extLst>
          </p:cNvPr>
          <p:cNvSpPr txBox="1">
            <a:spLocks noGrp="1"/>
          </p:cNvSpPr>
          <p:nvPr>
            <p:ph type="ctrTitle"/>
          </p:nvPr>
        </p:nvSpPr>
        <p:spPr>
          <a:xfrm>
            <a:off x="263448" y="62483"/>
            <a:ext cx="7356552" cy="905376"/>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Assessment 3: From Network Design to Troubleshooting</a:t>
            </a:r>
            <a:endParaRPr dirty="0">
              <a:solidFill>
                <a:schemeClr val="tx1"/>
              </a:solidFill>
            </a:endParaRPr>
          </a:p>
        </p:txBody>
      </p:sp>
      <p:sp>
        <p:nvSpPr>
          <p:cNvPr id="15" name="object 15">
            <a:extLst>
              <a:ext uri="{FF2B5EF4-FFF2-40B4-BE49-F238E27FC236}">
                <a16:creationId xmlns:a16="http://schemas.microsoft.com/office/drawing/2014/main" id="{B4A8E5F2-6771-7036-07D9-89D8CE5D0005}"/>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B9A37B3A-8BBD-396C-ABFB-571482DB03F7}"/>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D7FFADAC-DBE6-21C9-74FE-D3FFDC409294}"/>
              </a:ext>
            </a:extLst>
          </p:cNvPr>
          <p:cNvSpPr txBox="1"/>
          <p:nvPr/>
        </p:nvSpPr>
        <p:spPr>
          <a:xfrm>
            <a:off x="0" y="1143000"/>
            <a:ext cx="9144000" cy="5196166"/>
          </a:xfrm>
          <a:prstGeom prst="rect">
            <a:avLst/>
          </a:prstGeom>
          <a:noFill/>
        </p:spPr>
        <p:txBody>
          <a:bodyPr wrap="square">
            <a:spAutoFit/>
          </a:bodyPr>
          <a:lstStyle/>
          <a:p>
            <a:pPr>
              <a:lnSpc>
                <a:spcPct val="150000"/>
              </a:lnSpc>
            </a:pPr>
            <a:r>
              <a:rPr lang="en-AU" sz="2800" dirty="0">
                <a:latin typeface="+mj-lt"/>
              </a:rPr>
              <a:t>Australian example: A junior network engineer working for a Sydney IT services company may be asked to investigate a network outage and set up connectivity for a new office.</a:t>
            </a:r>
          </a:p>
          <a:p>
            <a:pPr>
              <a:lnSpc>
                <a:spcPct val="150000"/>
              </a:lnSpc>
            </a:pPr>
            <a:r>
              <a:rPr lang="en-AU" sz="2800" dirty="0">
                <a:latin typeface="+mj-lt"/>
              </a:rPr>
              <a:t>Discussion: Why is a working Packet Tracer network not enough on its own?</a:t>
            </a:r>
          </a:p>
          <a:p>
            <a:pPr>
              <a:lnSpc>
                <a:spcPct val="150000"/>
              </a:lnSpc>
            </a:pPr>
            <a:r>
              <a:rPr lang="en-AU" sz="2800" dirty="0">
                <a:latin typeface="+mj-lt"/>
              </a:rPr>
              <a:t>Answer: A network engineer must also explain the design, prove that it works and document how problems were resolved.</a:t>
            </a:r>
          </a:p>
        </p:txBody>
      </p:sp>
    </p:spTree>
    <p:extLst>
      <p:ext uri="{BB962C8B-B14F-4D97-AF65-F5344CB8AC3E}">
        <p14:creationId xmlns:p14="http://schemas.microsoft.com/office/powerpoint/2010/main" val="1581789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E4CD8-1550-55A1-FA6A-616746447EC4}"/>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0C091F90-FA8A-4F33-8FB9-32A1FF3A0A28}"/>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Assessment Structure and Marking</a:t>
            </a:r>
            <a:endParaRPr dirty="0">
              <a:solidFill>
                <a:schemeClr val="tx1"/>
              </a:solidFill>
            </a:endParaRPr>
          </a:p>
        </p:txBody>
      </p:sp>
      <p:sp>
        <p:nvSpPr>
          <p:cNvPr id="15" name="object 15">
            <a:extLst>
              <a:ext uri="{FF2B5EF4-FFF2-40B4-BE49-F238E27FC236}">
                <a16:creationId xmlns:a16="http://schemas.microsoft.com/office/drawing/2014/main" id="{1D269CD2-8A8A-3439-E118-D17C0534F6E8}"/>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2DF1E4C6-7469-94AC-37AA-7DDE451ECBD3}"/>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graphicFrame>
        <p:nvGraphicFramePr>
          <p:cNvPr id="2" name="Table 1">
            <a:extLst>
              <a:ext uri="{FF2B5EF4-FFF2-40B4-BE49-F238E27FC236}">
                <a16:creationId xmlns:a16="http://schemas.microsoft.com/office/drawing/2014/main" id="{8CE5952E-42D5-9891-FA1F-1F93D5CFC2A2}"/>
              </a:ext>
            </a:extLst>
          </p:cNvPr>
          <p:cNvGraphicFramePr>
            <a:graphicFrameLocks noGrp="1"/>
          </p:cNvGraphicFramePr>
          <p:nvPr>
            <p:extLst>
              <p:ext uri="{D42A27DB-BD31-4B8C-83A1-F6EECF244321}">
                <p14:modId xmlns:p14="http://schemas.microsoft.com/office/powerpoint/2010/main" val="273095573"/>
              </p:ext>
            </p:extLst>
          </p:nvPr>
        </p:nvGraphicFramePr>
        <p:xfrm>
          <a:off x="407988" y="1143000"/>
          <a:ext cx="8328024" cy="4602480"/>
        </p:xfrm>
        <a:graphic>
          <a:graphicData uri="http://schemas.openxmlformats.org/drawingml/2006/table">
            <a:tbl>
              <a:tblPr>
                <a:tableStyleId>{00A15C55-8517-42AA-B614-E9B94910E393}</a:tableStyleId>
              </a:tblPr>
              <a:tblGrid>
                <a:gridCol w="6602412">
                  <a:extLst>
                    <a:ext uri="{9D8B030D-6E8A-4147-A177-3AD203B41FA5}">
                      <a16:colId xmlns:a16="http://schemas.microsoft.com/office/drawing/2014/main" val="1773558890"/>
                    </a:ext>
                  </a:extLst>
                </a:gridCol>
                <a:gridCol w="1725612">
                  <a:extLst>
                    <a:ext uri="{9D8B030D-6E8A-4147-A177-3AD203B41FA5}">
                      <a16:colId xmlns:a16="http://schemas.microsoft.com/office/drawing/2014/main" val="1510262946"/>
                    </a:ext>
                  </a:extLst>
                </a:gridCol>
              </a:tblGrid>
              <a:tr h="365760">
                <a:tc>
                  <a:txBody>
                    <a:bodyPr/>
                    <a:lstStyle/>
                    <a:p>
                      <a:pPr>
                        <a:buNone/>
                      </a:pPr>
                      <a:r>
                        <a:rPr lang="en-AU" sz="2800" b="1" dirty="0"/>
                        <a:t>Assessment component</a:t>
                      </a:r>
                      <a:endParaRPr lang="en-AU" sz="2800" b="1" dirty="0">
                        <a:latin typeface="+mj-lt"/>
                      </a:endParaRPr>
                    </a:p>
                  </a:txBody>
                  <a:tcPr anchor="ctr"/>
                </a:tc>
                <a:tc>
                  <a:txBody>
                    <a:bodyPr/>
                    <a:lstStyle/>
                    <a:p>
                      <a:pPr>
                        <a:buNone/>
                      </a:pPr>
                      <a:r>
                        <a:rPr lang="en-AU" sz="2800" b="1" dirty="0"/>
                        <a:t>Marks</a:t>
                      </a:r>
                      <a:endParaRPr lang="en-AU" sz="2800" b="1" dirty="0">
                        <a:latin typeface="+mj-lt"/>
                      </a:endParaRPr>
                    </a:p>
                  </a:txBody>
                  <a:tcPr anchor="ctr"/>
                </a:tc>
                <a:extLst>
                  <a:ext uri="{0D108BD9-81ED-4DB2-BD59-A6C34878D82A}">
                    <a16:rowId xmlns:a16="http://schemas.microsoft.com/office/drawing/2014/main" val="4165387278"/>
                  </a:ext>
                </a:extLst>
              </a:tr>
              <a:tr h="640080">
                <a:tc>
                  <a:txBody>
                    <a:bodyPr/>
                    <a:lstStyle/>
                    <a:p>
                      <a:pPr>
                        <a:buNone/>
                      </a:pPr>
                      <a:r>
                        <a:rPr lang="en-AU" sz="2800" dirty="0"/>
                        <a:t>Scenario 1 – Troubleshooting and diagnosis</a:t>
                      </a:r>
                      <a:endParaRPr lang="en-AU" sz="2800" dirty="0">
                        <a:latin typeface="+mj-lt"/>
                      </a:endParaRPr>
                    </a:p>
                  </a:txBody>
                  <a:tcPr anchor="ctr"/>
                </a:tc>
                <a:tc>
                  <a:txBody>
                    <a:bodyPr/>
                    <a:lstStyle/>
                    <a:p>
                      <a:pPr>
                        <a:buNone/>
                      </a:pPr>
                      <a:r>
                        <a:rPr lang="en-AU" sz="2800"/>
                        <a:t>16</a:t>
                      </a:r>
                      <a:endParaRPr lang="en-AU" sz="2800">
                        <a:latin typeface="+mj-lt"/>
                      </a:endParaRPr>
                    </a:p>
                  </a:txBody>
                  <a:tcPr anchor="ctr"/>
                </a:tc>
                <a:extLst>
                  <a:ext uri="{0D108BD9-81ED-4DB2-BD59-A6C34878D82A}">
                    <a16:rowId xmlns:a16="http://schemas.microsoft.com/office/drawing/2014/main" val="1173693691"/>
                  </a:ext>
                </a:extLst>
              </a:tr>
              <a:tr h="640080">
                <a:tc>
                  <a:txBody>
                    <a:bodyPr/>
                    <a:lstStyle/>
                    <a:p>
                      <a:pPr>
                        <a:buNone/>
                      </a:pPr>
                      <a:r>
                        <a:rPr lang="en-AU" sz="2800"/>
                        <a:t>Scenario 2 – Network architecture and IPv4 design</a:t>
                      </a:r>
                      <a:endParaRPr lang="en-AU" sz="2800">
                        <a:latin typeface="+mj-lt"/>
                      </a:endParaRPr>
                    </a:p>
                  </a:txBody>
                  <a:tcPr anchor="ctr"/>
                </a:tc>
                <a:tc>
                  <a:txBody>
                    <a:bodyPr/>
                    <a:lstStyle/>
                    <a:p>
                      <a:pPr>
                        <a:buNone/>
                      </a:pPr>
                      <a:r>
                        <a:rPr lang="en-AU" sz="2800" dirty="0"/>
                        <a:t>10</a:t>
                      </a:r>
                      <a:endParaRPr lang="en-AU" sz="2800" dirty="0">
                        <a:latin typeface="+mj-lt"/>
                      </a:endParaRPr>
                    </a:p>
                  </a:txBody>
                  <a:tcPr anchor="ctr"/>
                </a:tc>
                <a:extLst>
                  <a:ext uri="{0D108BD9-81ED-4DB2-BD59-A6C34878D82A}">
                    <a16:rowId xmlns:a16="http://schemas.microsoft.com/office/drawing/2014/main" val="2258896716"/>
                  </a:ext>
                </a:extLst>
              </a:tr>
              <a:tr h="640080">
                <a:tc>
                  <a:txBody>
                    <a:bodyPr/>
                    <a:lstStyle/>
                    <a:p>
                      <a:pPr>
                        <a:buNone/>
                      </a:pPr>
                      <a:r>
                        <a:rPr lang="en-AU" sz="2800"/>
                        <a:t>Scenario 2 – Configuration, security and testing</a:t>
                      </a:r>
                      <a:endParaRPr lang="en-AU" sz="2800">
                        <a:latin typeface="+mj-lt"/>
                      </a:endParaRPr>
                    </a:p>
                  </a:txBody>
                  <a:tcPr anchor="ctr"/>
                </a:tc>
                <a:tc>
                  <a:txBody>
                    <a:bodyPr/>
                    <a:lstStyle/>
                    <a:p>
                      <a:pPr>
                        <a:buNone/>
                      </a:pPr>
                      <a:r>
                        <a:rPr lang="en-AU" sz="2800" dirty="0"/>
                        <a:t>12</a:t>
                      </a:r>
                      <a:endParaRPr lang="en-AU" sz="2800" dirty="0">
                        <a:latin typeface="+mj-lt"/>
                      </a:endParaRPr>
                    </a:p>
                  </a:txBody>
                  <a:tcPr anchor="ctr"/>
                </a:tc>
                <a:extLst>
                  <a:ext uri="{0D108BD9-81ED-4DB2-BD59-A6C34878D82A}">
                    <a16:rowId xmlns:a16="http://schemas.microsoft.com/office/drawing/2014/main" val="1804244530"/>
                  </a:ext>
                </a:extLst>
              </a:tr>
              <a:tr h="365760">
                <a:tc>
                  <a:txBody>
                    <a:bodyPr/>
                    <a:lstStyle/>
                    <a:p>
                      <a:pPr>
                        <a:buNone/>
                      </a:pPr>
                      <a:r>
                        <a:rPr lang="en-AU" sz="2800"/>
                        <a:t>Technical analysis and design justification</a:t>
                      </a:r>
                      <a:endParaRPr lang="en-AU" sz="2800">
                        <a:latin typeface="+mj-lt"/>
                      </a:endParaRPr>
                    </a:p>
                  </a:txBody>
                  <a:tcPr anchor="ctr"/>
                </a:tc>
                <a:tc>
                  <a:txBody>
                    <a:bodyPr/>
                    <a:lstStyle/>
                    <a:p>
                      <a:pPr>
                        <a:buNone/>
                      </a:pPr>
                      <a:r>
                        <a:rPr lang="en-AU" sz="2800" dirty="0"/>
                        <a:t>5</a:t>
                      </a:r>
                      <a:endParaRPr lang="en-AU" sz="2800" dirty="0">
                        <a:latin typeface="+mj-lt"/>
                      </a:endParaRPr>
                    </a:p>
                  </a:txBody>
                  <a:tcPr anchor="ctr"/>
                </a:tc>
                <a:extLst>
                  <a:ext uri="{0D108BD9-81ED-4DB2-BD59-A6C34878D82A}">
                    <a16:rowId xmlns:a16="http://schemas.microsoft.com/office/drawing/2014/main" val="1056541359"/>
                  </a:ext>
                </a:extLst>
              </a:tr>
              <a:tr h="365760">
                <a:tc>
                  <a:txBody>
                    <a:bodyPr/>
                    <a:lstStyle/>
                    <a:p>
                      <a:pPr>
                        <a:buNone/>
                      </a:pPr>
                      <a:r>
                        <a:rPr lang="en-AU" sz="2800"/>
                        <a:t>Technical report, presentation and viva</a:t>
                      </a:r>
                      <a:endParaRPr lang="en-AU" sz="2800">
                        <a:latin typeface="+mj-lt"/>
                      </a:endParaRPr>
                    </a:p>
                  </a:txBody>
                  <a:tcPr anchor="ctr"/>
                </a:tc>
                <a:tc>
                  <a:txBody>
                    <a:bodyPr/>
                    <a:lstStyle/>
                    <a:p>
                      <a:pPr>
                        <a:buNone/>
                      </a:pPr>
                      <a:r>
                        <a:rPr lang="en-AU" sz="2800" dirty="0"/>
                        <a:t>7</a:t>
                      </a:r>
                      <a:endParaRPr lang="en-AU" sz="2800" dirty="0">
                        <a:latin typeface="+mj-lt"/>
                      </a:endParaRPr>
                    </a:p>
                  </a:txBody>
                  <a:tcPr anchor="ctr"/>
                </a:tc>
                <a:extLst>
                  <a:ext uri="{0D108BD9-81ED-4DB2-BD59-A6C34878D82A}">
                    <a16:rowId xmlns:a16="http://schemas.microsoft.com/office/drawing/2014/main" val="2895057840"/>
                  </a:ext>
                </a:extLst>
              </a:tr>
              <a:tr h="365760">
                <a:tc>
                  <a:txBody>
                    <a:bodyPr/>
                    <a:lstStyle/>
                    <a:p>
                      <a:pPr>
                        <a:buNone/>
                      </a:pPr>
                      <a:r>
                        <a:rPr lang="en-AU" sz="2800"/>
                        <a:t>Total</a:t>
                      </a:r>
                      <a:endParaRPr lang="en-AU" sz="2800">
                        <a:latin typeface="+mj-lt"/>
                      </a:endParaRPr>
                    </a:p>
                  </a:txBody>
                  <a:tcPr anchor="ctr"/>
                </a:tc>
                <a:tc>
                  <a:txBody>
                    <a:bodyPr/>
                    <a:lstStyle/>
                    <a:p>
                      <a:pPr>
                        <a:buNone/>
                      </a:pPr>
                      <a:r>
                        <a:rPr lang="en-AU" sz="2800" dirty="0"/>
                        <a:t>50</a:t>
                      </a:r>
                      <a:endParaRPr lang="en-AU" sz="2800" dirty="0">
                        <a:latin typeface="+mj-lt"/>
                      </a:endParaRPr>
                    </a:p>
                  </a:txBody>
                  <a:tcPr anchor="ctr"/>
                </a:tc>
                <a:extLst>
                  <a:ext uri="{0D108BD9-81ED-4DB2-BD59-A6C34878D82A}">
                    <a16:rowId xmlns:a16="http://schemas.microsoft.com/office/drawing/2014/main" val="1714287869"/>
                  </a:ext>
                </a:extLst>
              </a:tr>
            </a:tbl>
          </a:graphicData>
        </a:graphic>
      </p:graphicFrame>
    </p:spTree>
    <p:extLst>
      <p:ext uri="{BB962C8B-B14F-4D97-AF65-F5344CB8AC3E}">
        <p14:creationId xmlns:p14="http://schemas.microsoft.com/office/powerpoint/2010/main" val="42046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9D8D7-E456-BDBE-962B-A1B8056B9747}"/>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D95A8DCE-FF1C-C4B8-D876-0B4F751EFEA1}"/>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Assessment Structure and Marking</a:t>
            </a:r>
            <a:endParaRPr dirty="0">
              <a:solidFill>
                <a:schemeClr val="tx1"/>
              </a:solidFill>
            </a:endParaRPr>
          </a:p>
        </p:txBody>
      </p:sp>
      <p:sp>
        <p:nvSpPr>
          <p:cNvPr id="15" name="object 15">
            <a:extLst>
              <a:ext uri="{FF2B5EF4-FFF2-40B4-BE49-F238E27FC236}">
                <a16:creationId xmlns:a16="http://schemas.microsoft.com/office/drawing/2014/main" id="{70EB6790-08D7-70DF-6035-FAA3B1B3D73A}"/>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A965435E-4CD4-329E-F9A4-C19906039274}"/>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AA7F816F-9847-7A49-50F7-287FDD0F41E1}"/>
              </a:ext>
            </a:extLst>
          </p:cNvPr>
          <p:cNvSpPr txBox="1"/>
          <p:nvPr/>
        </p:nvSpPr>
        <p:spPr>
          <a:xfrm>
            <a:off x="0" y="610293"/>
            <a:ext cx="9144000" cy="6221383"/>
          </a:xfrm>
          <a:prstGeom prst="rect">
            <a:avLst/>
          </a:prstGeom>
          <a:solidFill>
            <a:schemeClr val="bg1"/>
          </a:solidFill>
        </p:spPr>
        <p:txBody>
          <a:bodyPr wrap="square">
            <a:spAutoFit/>
          </a:bodyPr>
          <a:lstStyle/>
          <a:p>
            <a:pPr marL="342900" lvl="0" indent="-342900">
              <a:lnSpc>
                <a:spcPct val="150000"/>
              </a:lnSpc>
              <a:buFont typeface="Arial" panose="020B0604020202020204" pitchFamily="34" charset="0"/>
              <a:buChar char="•"/>
            </a:pPr>
            <a:r>
              <a:rPr lang="en-AU" sz="2600" dirty="0">
                <a:latin typeface="+mj-lt"/>
              </a:rPr>
              <a:t>The rubric assesses both practical implementation and technical understanding.</a:t>
            </a:r>
          </a:p>
          <a:p>
            <a:pPr marL="342900" lvl="0" indent="-342900">
              <a:lnSpc>
                <a:spcPct val="150000"/>
              </a:lnSpc>
              <a:buFont typeface="Arial" panose="020B0604020202020204" pitchFamily="34" charset="0"/>
              <a:buChar char="•"/>
            </a:pPr>
            <a:r>
              <a:rPr lang="en-AU" sz="2600" dirty="0">
                <a:latin typeface="+mj-lt"/>
              </a:rPr>
              <a:t>Students should review all five criteria before beginning.</a:t>
            </a:r>
          </a:p>
          <a:p>
            <a:pPr marL="342900" lvl="0" indent="-342900">
              <a:lnSpc>
                <a:spcPct val="150000"/>
              </a:lnSpc>
              <a:buFont typeface="Arial" panose="020B0604020202020204" pitchFamily="34" charset="0"/>
              <a:buChar char="•"/>
            </a:pPr>
            <a:r>
              <a:rPr lang="en-AU" sz="2600" dirty="0">
                <a:latin typeface="+mj-lt"/>
              </a:rPr>
              <a:t>Evidence should correspond to the actual submitted Packet Tracer files.</a:t>
            </a:r>
          </a:p>
          <a:p>
            <a:pPr>
              <a:lnSpc>
                <a:spcPct val="150000"/>
              </a:lnSpc>
              <a:buNone/>
            </a:pPr>
            <a:r>
              <a:rPr lang="en-AU" sz="2600" dirty="0">
                <a:latin typeface="+mj-lt"/>
              </a:rPr>
              <a:t>Discussion: Can a student achieve the highest marks by submitting only screenshots of a working network?</a:t>
            </a:r>
          </a:p>
          <a:p>
            <a:pPr>
              <a:lnSpc>
                <a:spcPct val="150000"/>
              </a:lnSpc>
              <a:buNone/>
            </a:pPr>
            <a:r>
              <a:rPr lang="en-AU" sz="2600" dirty="0">
                <a:latin typeface="+mj-lt"/>
              </a:rPr>
              <a:t>Answer: No. The rubric also requires accurate explanations, diagnostic reasoning, design justification, professional documentation and viva performance.</a:t>
            </a:r>
          </a:p>
        </p:txBody>
      </p:sp>
    </p:spTree>
    <p:extLst>
      <p:ext uri="{BB962C8B-B14F-4D97-AF65-F5344CB8AC3E}">
        <p14:creationId xmlns:p14="http://schemas.microsoft.com/office/powerpoint/2010/main" val="2800546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1000"/>
                                        <p:tgtEl>
                                          <p:spTgt spid="4">
                                            <p:txEl>
                                              <p:pRg st="4" end="4"/>
                                            </p:txEl>
                                          </p:spTgt>
                                        </p:tgtEl>
                                      </p:cBhvr>
                                    </p:animEffect>
                                    <p:anim calcmode="lin" valueType="num">
                                      <p:cBhvr>
                                        <p:cTn id="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F70F2-9EE3-F7A0-DAA8-72E491BBA33A}"/>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03AD8A60-3514-97AB-1B48-92A324927CB5}"/>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What Skills Will You Develop?</a:t>
            </a:r>
            <a:endParaRPr dirty="0">
              <a:solidFill>
                <a:schemeClr val="tx1"/>
              </a:solidFill>
            </a:endParaRPr>
          </a:p>
        </p:txBody>
      </p:sp>
      <p:sp>
        <p:nvSpPr>
          <p:cNvPr id="15" name="object 15">
            <a:extLst>
              <a:ext uri="{FF2B5EF4-FFF2-40B4-BE49-F238E27FC236}">
                <a16:creationId xmlns:a16="http://schemas.microsoft.com/office/drawing/2014/main" id="{2A28410F-CB8B-AA53-E7BF-2938196487D4}"/>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0B1D0A6D-6B7B-CC5D-D21B-B49EC1DC4F6B}"/>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6050AA59-A760-E027-4FC5-A8FDE112D296}"/>
              </a:ext>
            </a:extLst>
          </p:cNvPr>
          <p:cNvSpPr txBox="1"/>
          <p:nvPr/>
        </p:nvSpPr>
        <p:spPr>
          <a:xfrm>
            <a:off x="0" y="847679"/>
            <a:ext cx="9144000" cy="5842497"/>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AU" sz="2800" dirty="0">
                <a:latin typeface="+mj-lt"/>
              </a:rPr>
              <a:t>Network design: choosing devices and planning connections.</a:t>
            </a:r>
          </a:p>
          <a:p>
            <a:pPr marL="342900" lvl="0" indent="-342900">
              <a:lnSpc>
                <a:spcPct val="150000"/>
              </a:lnSpc>
              <a:buFont typeface="Arial" panose="020B0604020202020204" pitchFamily="34" charset="0"/>
              <a:buChar char="•"/>
            </a:pPr>
            <a:r>
              <a:rPr lang="en-AU" sz="2800" dirty="0">
                <a:latin typeface="+mj-lt"/>
              </a:rPr>
              <a:t>IP addressing: configuring subnets and default gateways.</a:t>
            </a:r>
          </a:p>
          <a:p>
            <a:pPr marL="342900" lvl="0" indent="-342900">
              <a:lnSpc>
                <a:spcPct val="150000"/>
              </a:lnSpc>
              <a:buFont typeface="Arial" panose="020B0604020202020204" pitchFamily="34" charset="0"/>
              <a:buChar char="•"/>
            </a:pPr>
            <a:r>
              <a:rPr lang="en-AU" sz="2800" dirty="0">
                <a:latin typeface="+mj-lt"/>
              </a:rPr>
              <a:t>Cisco IOS: configuring and checking routers and switches.</a:t>
            </a:r>
          </a:p>
          <a:p>
            <a:pPr marL="342900" lvl="0" indent="-342900">
              <a:lnSpc>
                <a:spcPct val="150000"/>
              </a:lnSpc>
              <a:buFont typeface="Arial" panose="020B0604020202020204" pitchFamily="34" charset="0"/>
              <a:buChar char="•"/>
            </a:pPr>
            <a:r>
              <a:rPr lang="en-AU" sz="2800" dirty="0">
                <a:latin typeface="+mj-lt"/>
              </a:rPr>
              <a:t>Troubleshooting: identifying faults and testing solutions.</a:t>
            </a:r>
          </a:p>
          <a:p>
            <a:pPr marL="342900" lvl="0" indent="-342900">
              <a:lnSpc>
                <a:spcPct val="150000"/>
              </a:lnSpc>
              <a:buFont typeface="Arial" panose="020B0604020202020204" pitchFamily="34" charset="0"/>
              <a:buChar char="•"/>
            </a:pPr>
            <a:r>
              <a:rPr lang="en-AU" sz="2800" dirty="0">
                <a:latin typeface="+mj-lt"/>
              </a:rPr>
              <a:t>Network security: protecting devices and configuring remote access.</a:t>
            </a:r>
          </a:p>
          <a:p>
            <a:pPr marL="342900" lvl="0" indent="-342900">
              <a:lnSpc>
                <a:spcPct val="150000"/>
              </a:lnSpc>
              <a:buFont typeface="Arial" panose="020B0604020202020204" pitchFamily="34" charset="0"/>
              <a:buChar char="•"/>
            </a:pPr>
            <a:r>
              <a:rPr lang="en-AU" sz="2800" dirty="0">
                <a:latin typeface="+mj-lt"/>
              </a:rPr>
              <a:t>Technical communication: reporting and explaining your decisions.</a:t>
            </a:r>
          </a:p>
        </p:txBody>
      </p:sp>
    </p:spTree>
    <p:extLst>
      <p:ext uri="{BB962C8B-B14F-4D97-AF65-F5344CB8AC3E}">
        <p14:creationId xmlns:p14="http://schemas.microsoft.com/office/powerpoint/2010/main" val="1826936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E1C34-5E43-A8E6-D01B-690A79AE5E50}"/>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6289F5E6-13CC-6134-BB13-733DBF6258FD}"/>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What Skills Will You Develop?</a:t>
            </a:r>
            <a:endParaRPr dirty="0">
              <a:solidFill>
                <a:schemeClr val="tx1"/>
              </a:solidFill>
            </a:endParaRPr>
          </a:p>
        </p:txBody>
      </p:sp>
      <p:sp>
        <p:nvSpPr>
          <p:cNvPr id="15" name="object 15">
            <a:extLst>
              <a:ext uri="{FF2B5EF4-FFF2-40B4-BE49-F238E27FC236}">
                <a16:creationId xmlns:a16="http://schemas.microsoft.com/office/drawing/2014/main" id="{836412C7-6E9B-63C3-20DB-17D8099BAC1A}"/>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203B952A-9753-A473-3E22-DD38462DA937}"/>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D4B768A7-8703-A31C-36AE-373D029AF6DF}"/>
              </a:ext>
            </a:extLst>
          </p:cNvPr>
          <p:cNvSpPr txBox="1"/>
          <p:nvPr/>
        </p:nvSpPr>
        <p:spPr>
          <a:xfrm>
            <a:off x="0" y="1295401"/>
            <a:ext cx="9144000" cy="4549835"/>
          </a:xfrm>
          <a:prstGeom prst="rect">
            <a:avLst/>
          </a:prstGeom>
          <a:noFill/>
        </p:spPr>
        <p:txBody>
          <a:bodyPr wrap="square">
            <a:spAutoFit/>
          </a:bodyPr>
          <a:lstStyle/>
          <a:p>
            <a:pPr>
              <a:lnSpc>
                <a:spcPct val="150000"/>
              </a:lnSpc>
              <a:buNone/>
            </a:pPr>
            <a:r>
              <a:rPr lang="en-AU" sz="2800" dirty="0">
                <a:latin typeface="+mj-lt"/>
              </a:rPr>
              <a:t>Australian example: These skills are useful in IT support teams, managed service providers, universities and corporate networks across Australia.</a:t>
            </a:r>
          </a:p>
          <a:p>
            <a:pPr>
              <a:lnSpc>
                <a:spcPct val="150000"/>
              </a:lnSpc>
              <a:buNone/>
            </a:pPr>
            <a:r>
              <a:rPr lang="en-AU" sz="2800" dirty="0">
                <a:latin typeface="+mj-lt"/>
              </a:rPr>
              <a:t>Discussion: Which skill is most important when a user reports that the network has stopped working?</a:t>
            </a:r>
          </a:p>
          <a:p>
            <a:pPr>
              <a:lnSpc>
                <a:spcPct val="150000"/>
              </a:lnSpc>
              <a:buNone/>
            </a:pPr>
            <a:r>
              <a:rPr lang="en-AU" sz="2800" dirty="0">
                <a:latin typeface="+mj-lt"/>
              </a:rPr>
              <a:t>Answer: Troubleshooting, supported by knowledge of addressing, routing, devices and network protocols.</a:t>
            </a:r>
          </a:p>
        </p:txBody>
      </p:sp>
    </p:spTree>
    <p:extLst>
      <p:ext uri="{BB962C8B-B14F-4D97-AF65-F5344CB8AC3E}">
        <p14:creationId xmlns:p14="http://schemas.microsoft.com/office/powerpoint/2010/main" val="3203013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1000"/>
                                        <p:tgtEl>
                                          <p:spTgt spid="4">
                                            <p:txEl>
                                              <p:pRg st="2" end="2"/>
                                            </p:txEl>
                                          </p:spTgt>
                                        </p:tgtEl>
                                      </p:cBhvr>
                                    </p:animEffect>
                                    <p:anim calcmode="lin" valueType="num">
                                      <p:cBhvr>
                                        <p:cTn id="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6EC28-8194-75A4-D0C1-9E0473124D22}"/>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A8512182-D6E7-DEFB-5D4E-81ABC0CDB05E}"/>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Career Opportunities in Australia</a:t>
            </a:r>
            <a:endParaRPr dirty="0">
              <a:solidFill>
                <a:schemeClr val="tx1"/>
              </a:solidFill>
            </a:endParaRPr>
          </a:p>
        </p:txBody>
      </p:sp>
      <p:sp>
        <p:nvSpPr>
          <p:cNvPr id="15" name="object 15">
            <a:extLst>
              <a:ext uri="{FF2B5EF4-FFF2-40B4-BE49-F238E27FC236}">
                <a16:creationId xmlns:a16="http://schemas.microsoft.com/office/drawing/2014/main" id="{3AE16BAB-A9AF-40E5-FFCE-6F0371687C30}"/>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2C788FD3-9F06-FA16-8625-DA99406D0E6F}"/>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graphicFrame>
        <p:nvGraphicFramePr>
          <p:cNvPr id="2" name="Table 1">
            <a:extLst>
              <a:ext uri="{FF2B5EF4-FFF2-40B4-BE49-F238E27FC236}">
                <a16:creationId xmlns:a16="http://schemas.microsoft.com/office/drawing/2014/main" id="{26516F0E-8038-E055-8E86-EFA981D421CD}"/>
              </a:ext>
            </a:extLst>
          </p:cNvPr>
          <p:cNvGraphicFramePr>
            <a:graphicFrameLocks noGrp="1"/>
          </p:cNvGraphicFramePr>
          <p:nvPr>
            <p:extLst>
              <p:ext uri="{D42A27DB-BD31-4B8C-83A1-F6EECF244321}">
                <p14:modId xmlns:p14="http://schemas.microsoft.com/office/powerpoint/2010/main" val="84478491"/>
              </p:ext>
            </p:extLst>
          </p:nvPr>
        </p:nvGraphicFramePr>
        <p:xfrm>
          <a:off x="0" y="2533174"/>
          <a:ext cx="9144000" cy="3992880"/>
        </p:xfrm>
        <a:graphic>
          <a:graphicData uri="http://schemas.openxmlformats.org/drawingml/2006/table">
            <a:tbl>
              <a:tblPr>
                <a:tableStyleId>{00A15C55-8517-42AA-B614-E9B94910E393}</a:tableStyleId>
              </a:tblPr>
              <a:tblGrid>
                <a:gridCol w="4495800">
                  <a:extLst>
                    <a:ext uri="{9D8B030D-6E8A-4147-A177-3AD203B41FA5}">
                      <a16:colId xmlns:a16="http://schemas.microsoft.com/office/drawing/2014/main" val="4267911780"/>
                    </a:ext>
                  </a:extLst>
                </a:gridCol>
                <a:gridCol w="4648200">
                  <a:extLst>
                    <a:ext uri="{9D8B030D-6E8A-4147-A177-3AD203B41FA5}">
                      <a16:colId xmlns:a16="http://schemas.microsoft.com/office/drawing/2014/main" val="3181011492"/>
                    </a:ext>
                  </a:extLst>
                </a:gridCol>
              </a:tblGrid>
              <a:tr h="365760">
                <a:tc>
                  <a:txBody>
                    <a:bodyPr/>
                    <a:lstStyle/>
                    <a:p>
                      <a:pPr>
                        <a:buNone/>
                      </a:pPr>
                      <a:r>
                        <a:rPr lang="en-AU" sz="2200" b="1" dirty="0"/>
                        <a:t>Job title</a:t>
                      </a:r>
                      <a:endParaRPr lang="en-AU" sz="2200" b="1" dirty="0">
                        <a:latin typeface="+mj-lt"/>
                      </a:endParaRPr>
                    </a:p>
                  </a:txBody>
                  <a:tcPr anchor="ctr"/>
                </a:tc>
                <a:tc>
                  <a:txBody>
                    <a:bodyPr/>
                    <a:lstStyle/>
                    <a:p>
                      <a:pPr>
                        <a:buNone/>
                      </a:pPr>
                      <a:r>
                        <a:rPr lang="en-AU" sz="2200" b="1" dirty="0"/>
                        <a:t>Relevant assessment skills</a:t>
                      </a:r>
                      <a:endParaRPr lang="en-AU" sz="2200" b="1" dirty="0">
                        <a:latin typeface="+mj-lt"/>
                      </a:endParaRPr>
                    </a:p>
                  </a:txBody>
                  <a:tcPr anchor="ctr"/>
                </a:tc>
                <a:extLst>
                  <a:ext uri="{0D108BD9-81ED-4DB2-BD59-A6C34878D82A}">
                    <a16:rowId xmlns:a16="http://schemas.microsoft.com/office/drawing/2014/main" val="2371469886"/>
                  </a:ext>
                </a:extLst>
              </a:tr>
              <a:tr h="365760">
                <a:tc>
                  <a:txBody>
                    <a:bodyPr/>
                    <a:lstStyle/>
                    <a:p>
                      <a:pPr>
                        <a:buNone/>
                      </a:pPr>
                      <a:r>
                        <a:rPr lang="en-AU" sz="2200" dirty="0"/>
                        <a:t>IT Support Officer</a:t>
                      </a:r>
                      <a:endParaRPr lang="en-AU" sz="2200" dirty="0">
                        <a:latin typeface="+mj-lt"/>
                      </a:endParaRPr>
                    </a:p>
                  </a:txBody>
                  <a:tcPr anchor="ctr"/>
                </a:tc>
                <a:tc>
                  <a:txBody>
                    <a:bodyPr/>
                    <a:lstStyle/>
                    <a:p>
                      <a:pPr>
                        <a:buNone/>
                      </a:pPr>
                      <a:r>
                        <a:rPr lang="en-AU" sz="2200"/>
                        <a:t>Connectivity testing and fault diagnosis</a:t>
                      </a:r>
                      <a:endParaRPr lang="en-AU" sz="2200">
                        <a:latin typeface="+mj-lt"/>
                      </a:endParaRPr>
                    </a:p>
                  </a:txBody>
                  <a:tcPr anchor="ctr"/>
                </a:tc>
                <a:extLst>
                  <a:ext uri="{0D108BD9-81ED-4DB2-BD59-A6C34878D82A}">
                    <a16:rowId xmlns:a16="http://schemas.microsoft.com/office/drawing/2014/main" val="3150535238"/>
                  </a:ext>
                </a:extLst>
              </a:tr>
              <a:tr h="640080">
                <a:tc>
                  <a:txBody>
                    <a:bodyPr/>
                    <a:lstStyle/>
                    <a:p>
                      <a:pPr>
                        <a:buNone/>
                      </a:pPr>
                      <a:r>
                        <a:rPr lang="en-AU" sz="2200"/>
                        <a:t>Service Desk Analyst</a:t>
                      </a:r>
                      <a:endParaRPr lang="en-AU" sz="2200">
                        <a:latin typeface="+mj-lt"/>
                      </a:endParaRPr>
                    </a:p>
                  </a:txBody>
                  <a:tcPr anchor="ctr"/>
                </a:tc>
                <a:tc>
                  <a:txBody>
                    <a:bodyPr/>
                    <a:lstStyle/>
                    <a:p>
                      <a:pPr>
                        <a:buNone/>
                      </a:pPr>
                      <a:r>
                        <a:rPr lang="en-AU" sz="2200"/>
                        <a:t>Troubleshooting and technical communication</a:t>
                      </a:r>
                      <a:endParaRPr lang="en-AU" sz="2200">
                        <a:latin typeface="+mj-lt"/>
                      </a:endParaRPr>
                    </a:p>
                  </a:txBody>
                  <a:tcPr anchor="ctr"/>
                </a:tc>
                <a:extLst>
                  <a:ext uri="{0D108BD9-81ED-4DB2-BD59-A6C34878D82A}">
                    <a16:rowId xmlns:a16="http://schemas.microsoft.com/office/drawing/2014/main" val="1114084701"/>
                  </a:ext>
                </a:extLst>
              </a:tr>
              <a:tr h="365760">
                <a:tc>
                  <a:txBody>
                    <a:bodyPr/>
                    <a:lstStyle/>
                    <a:p>
                      <a:pPr>
                        <a:buNone/>
                      </a:pPr>
                      <a:r>
                        <a:rPr lang="en-AU" sz="2200"/>
                        <a:t>Network Support Technician</a:t>
                      </a:r>
                      <a:endParaRPr lang="en-AU" sz="2200">
                        <a:latin typeface="+mj-lt"/>
                      </a:endParaRPr>
                    </a:p>
                  </a:txBody>
                  <a:tcPr anchor="ctr"/>
                </a:tc>
                <a:tc>
                  <a:txBody>
                    <a:bodyPr/>
                    <a:lstStyle/>
                    <a:p>
                      <a:pPr>
                        <a:buNone/>
                      </a:pPr>
                      <a:r>
                        <a:rPr lang="en-AU" sz="2200" dirty="0"/>
                        <a:t>Switches, routers and IP configuration</a:t>
                      </a:r>
                      <a:endParaRPr lang="en-AU" sz="2200" dirty="0">
                        <a:latin typeface="+mj-lt"/>
                      </a:endParaRPr>
                    </a:p>
                  </a:txBody>
                  <a:tcPr anchor="ctr"/>
                </a:tc>
                <a:extLst>
                  <a:ext uri="{0D108BD9-81ED-4DB2-BD59-A6C34878D82A}">
                    <a16:rowId xmlns:a16="http://schemas.microsoft.com/office/drawing/2014/main" val="1740171301"/>
                  </a:ext>
                </a:extLst>
              </a:tr>
              <a:tr h="365760">
                <a:tc>
                  <a:txBody>
                    <a:bodyPr/>
                    <a:lstStyle/>
                    <a:p>
                      <a:pPr>
                        <a:buNone/>
                      </a:pPr>
                      <a:r>
                        <a:rPr lang="en-AU" sz="2200"/>
                        <a:t>Junior Network Administrator</a:t>
                      </a:r>
                      <a:endParaRPr lang="en-AU" sz="2200">
                        <a:latin typeface="+mj-lt"/>
                      </a:endParaRPr>
                    </a:p>
                  </a:txBody>
                  <a:tcPr anchor="ctr"/>
                </a:tc>
                <a:tc>
                  <a:txBody>
                    <a:bodyPr/>
                    <a:lstStyle/>
                    <a:p>
                      <a:pPr>
                        <a:buNone/>
                      </a:pPr>
                      <a:r>
                        <a:rPr lang="en-AU" sz="2200" dirty="0"/>
                        <a:t>Network maintenance and documentation</a:t>
                      </a:r>
                      <a:endParaRPr lang="en-AU" sz="2200" dirty="0">
                        <a:latin typeface="+mj-lt"/>
                      </a:endParaRPr>
                    </a:p>
                  </a:txBody>
                  <a:tcPr anchor="ctr"/>
                </a:tc>
                <a:extLst>
                  <a:ext uri="{0D108BD9-81ED-4DB2-BD59-A6C34878D82A}">
                    <a16:rowId xmlns:a16="http://schemas.microsoft.com/office/drawing/2014/main" val="570273780"/>
                  </a:ext>
                </a:extLst>
              </a:tr>
              <a:tr h="365760">
                <a:tc>
                  <a:txBody>
                    <a:bodyPr/>
                    <a:lstStyle/>
                    <a:p>
                      <a:pPr>
                        <a:buNone/>
                      </a:pPr>
                      <a:r>
                        <a:rPr lang="en-AU" sz="2200"/>
                        <a:t>Network Operations Centre (NOC) Analyst</a:t>
                      </a:r>
                      <a:endParaRPr lang="en-AU" sz="2200">
                        <a:latin typeface="+mj-lt"/>
                      </a:endParaRPr>
                    </a:p>
                  </a:txBody>
                  <a:tcPr anchor="ctr"/>
                </a:tc>
                <a:tc>
                  <a:txBody>
                    <a:bodyPr/>
                    <a:lstStyle/>
                    <a:p>
                      <a:pPr>
                        <a:buNone/>
                      </a:pPr>
                      <a:r>
                        <a:rPr lang="en-AU" sz="2200" dirty="0"/>
                        <a:t>Monitoring and incident investigation</a:t>
                      </a:r>
                      <a:endParaRPr lang="en-AU" sz="2200" dirty="0">
                        <a:latin typeface="+mj-lt"/>
                      </a:endParaRPr>
                    </a:p>
                  </a:txBody>
                  <a:tcPr anchor="ctr"/>
                </a:tc>
                <a:extLst>
                  <a:ext uri="{0D108BD9-81ED-4DB2-BD59-A6C34878D82A}">
                    <a16:rowId xmlns:a16="http://schemas.microsoft.com/office/drawing/2014/main" val="1762175938"/>
                  </a:ext>
                </a:extLst>
              </a:tr>
              <a:tr h="365760">
                <a:tc>
                  <a:txBody>
                    <a:bodyPr/>
                    <a:lstStyle/>
                    <a:p>
                      <a:pPr>
                        <a:buNone/>
                      </a:pPr>
                      <a:r>
                        <a:rPr lang="en-AU" sz="2200"/>
                        <a:t>Junior Network Engineer</a:t>
                      </a:r>
                      <a:endParaRPr lang="en-AU" sz="2200">
                        <a:latin typeface="+mj-lt"/>
                      </a:endParaRPr>
                    </a:p>
                  </a:txBody>
                  <a:tcPr anchor="ctr"/>
                </a:tc>
                <a:tc>
                  <a:txBody>
                    <a:bodyPr/>
                    <a:lstStyle/>
                    <a:p>
                      <a:pPr>
                        <a:buNone/>
                      </a:pPr>
                      <a:r>
                        <a:rPr lang="en-AU" sz="2200" dirty="0"/>
                        <a:t>Network design, routing and security</a:t>
                      </a:r>
                      <a:endParaRPr lang="en-AU" sz="2200" dirty="0">
                        <a:latin typeface="+mj-lt"/>
                      </a:endParaRPr>
                    </a:p>
                  </a:txBody>
                  <a:tcPr anchor="ctr"/>
                </a:tc>
                <a:extLst>
                  <a:ext uri="{0D108BD9-81ED-4DB2-BD59-A6C34878D82A}">
                    <a16:rowId xmlns:a16="http://schemas.microsoft.com/office/drawing/2014/main" val="438231476"/>
                  </a:ext>
                </a:extLst>
              </a:tr>
            </a:tbl>
          </a:graphicData>
        </a:graphic>
      </p:graphicFrame>
      <p:sp>
        <p:nvSpPr>
          <p:cNvPr id="5" name="TextBox 4">
            <a:extLst>
              <a:ext uri="{FF2B5EF4-FFF2-40B4-BE49-F238E27FC236}">
                <a16:creationId xmlns:a16="http://schemas.microsoft.com/office/drawing/2014/main" id="{D3FC7ED6-221D-BABC-17F3-37984EC4D10F}"/>
              </a:ext>
            </a:extLst>
          </p:cNvPr>
          <p:cNvSpPr txBox="1"/>
          <p:nvPr/>
        </p:nvSpPr>
        <p:spPr>
          <a:xfrm>
            <a:off x="35718" y="881047"/>
            <a:ext cx="9108281" cy="1318181"/>
          </a:xfrm>
          <a:prstGeom prst="rect">
            <a:avLst/>
          </a:prstGeom>
          <a:noFill/>
        </p:spPr>
        <p:txBody>
          <a:bodyPr wrap="square">
            <a:spAutoFit/>
          </a:bodyPr>
          <a:lstStyle/>
          <a:p>
            <a:pPr>
              <a:lnSpc>
                <a:spcPct val="150000"/>
              </a:lnSpc>
              <a:buNone/>
            </a:pPr>
            <a:r>
              <a:rPr lang="en-AU" sz="2800" dirty="0">
                <a:latin typeface="+mj-lt"/>
              </a:rPr>
              <a:t>Students can explore entry-level and developing career opportunities such as:</a:t>
            </a:r>
          </a:p>
        </p:txBody>
      </p:sp>
    </p:spTree>
    <p:extLst>
      <p:ext uri="{BB962C8B-B14F-4D97-AF65-F5344CB8AC3E}">
        <p14:creationId xmlns:p14="http://schemas.microsoft.com/office/powerpoint/2010/main" val="23895377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C1821-D3F8-B60F-B1EB-15465E71BD78}"/>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445A4BF8-9144-0E3D-969C-131A893B7B1E}"/>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Career Opportunities in Australia</a:t>
            </a:r>
            <a:endParaRPr dirty="0">
              <a:solidFill>
                <a:schemeClr val="tx1"/>
              </a:solidFill>
            </a:endParaRPr>
          </a:p>
        </p:txBody>
      </p:sp>
      <p:sp>
        <p:nvSpPr>
          <p:cNvPr id="15" name="object 15">
            <a:extLst>
              <a:ext uri="{FF2B5EF4-FFF2-40B4-BE49-F238E27FC236}">
                <a16:creationId xmlns:a16="http://schemas.microsoft.com/office/drawing/2014/main" id="{4DD5E385-8CE8-5D27-7406-020E1214211A}"/>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5A21683C-861D-ACFC-C2C0-63EDB93F104B}"/>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3528C1FD-F2CE-0EAB-DBCF-C975C6465C5E}"/>
              </a:ext>
            </a:extLst>
          </p:cNvPr>
          <p:cNvSpPr txBox="1"/>
          <p:nvPr/>
        </p:nvSpPr>
        <p:spPr>
          <a:xfrm>
            <a:off x="0" y="990599"/>
            <a:ext cx="9220200" cy="5196166"/>
          </a:xfrm>
          <a:prstGeom prst="rect">
            <a:avLst/>
          </a:prstGeom>
          <a:noFill/>
        </p:spPr>
        <p:txBody>
          <a:bodyPr wrap="square">
            <a:spAutoFit/>
          </a:bodyPr>
          <a:lstStyle/>
          <a:p>
            <a:pPr>
              <a:lnSpc>
                <a:spcPct val="150000"/>
              </a:lnSpc>
              <a:buNone/>
            </a:pPr>
            <a:r>
              <a:rPr lang="en-AU" sz="2800" dirty="0">
                <a:latin typeface="+mj-lt"/>
              </a:rPr>
              <a:t>Search on </a:t>
            </a:r>
            <a:r>
              <a:rPr lang="en-AU" sz="2800" dirty="0">
                <a:latin typeface="+mj-lt"/>
                <a:hlinkClick r:id="rId2"/>
              </a:rPr>
              <a:t>SEEK Australia</a:t>
            </a:r>
            <a:r>
              <a:rPr lang="en-AU" sz="2800" dirty="0">
                <a:latin typeface="+mj-lt"/>
              </a:rPr>
              <a:t> or </a:t>
            </a:r>
            <a:r>
              <a:rPr lang="en-AU" sz="2800" dirty="0">
                <a:latin typeface="+mj-lt"/>
                <a:hlinkClick r:id="rId3"/>
              </a:rPr>
              <a:t>LinkedIn Jobs</a:t>
            </a:r>
            <a:r>
              <a:rPr lang="en-AU" sz="2800" dirty="0">
                <a:latin typeface="+mj-lt"/>
              </a:rPr>
              <a:t> using terms such as Junior Network Engineer, Network Support, NOC Analyst and Cisco Networking.</a:t>
            </a:r>
          </a:p>
          <a:p>
            <a:pPr>
              <a:lnSpc>
                <a:spcPct val="150000"/>
              </a:lnSpc>
              <a:buNone/>
            </a:pPr>
            <a:r>
              <a:rPr lang="en-AU" sz="2800" dirty="0">
                <a:latin typeface="+mj-lt"/>
              </a:rPr>
              <a:t>Discussion: Which job would benefit most from knowing how to use show </a:t>
            </a:r>
            <a:r>
              <a:rPr lang="en-AU" sz="2800" dirty="0" err="1">
                <a:latin typeface="+mj-lt"/>
              </a:rPr>
              <a:t>ip</a:t>
            </a:r>
            <a:r>
              <a:rPr lang="en-AU" sz="2800" dirty="0">
                <a:latin typeface="+mj-lt"/>
              </a:rPr>
              <a:t> route?</a:t>
            </a:r>
          </a:p>
          <a:p>
            <a:pPr>
              <a:lnSpc>
                <a:spcPct val="150000"/>
              </a:lnSpc>
              <a:buNone/>
            </a:pPr>
            <a:r>
              <a:rPr lang="en-AU" sz="2800" dirty="0">
                <a:latin typeface="+mj-lt"/>
              </a:rPr>
              <a:t>Answer: Network support, network administration and NOC roles, because they frequently investigate routing and connectivity problems.</a:t>
            </a:r>
          </a:p>
        </p:txBody>
      </p:sp>
    </p:spTree>
    <p:extLst>
      <p:ext uri="{BB962C8B-B14F-4D97-AF65-F5344CB8AC3E}">
        <p14:creationId xmlns:p14="http://schemas.microsoft.com/office/powerpoint/2010/main" val="1126961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1000"/>
                                        <p:tgtEl>
                                          <p:spTgt spid="4">
                                            <p:txEl>
                                              <p:pRg st="2" end="2"/>
                                            </p:txEl>
                                          </p:spTgt>
                                        </p:tgtEl>
                                      </p:cBhvr>
                                    </p:animEffect>
                                    <p:anim calcmode="lin" valueType="num">
                                      <p:cBhvr>
                                        <p:cTn id="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1CE40-7E3A-024D-2122-5DC8B4111A6D}"/>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6FAC7945-0474-6443-61DD-460B16F84B66}"/>
              </a:ext>
            </a:extLst>
          </p:cNvPr>
          <p:cNvSpPr txBox="1">
            <a:spLocks noGrp="1"/>
          </p:cNvSpPr>
          <p:nvPr>
            <p:ph type="ctrTitle"/>
          </p:nvPr>
        </p:nvSpPr>
        <p:spPr>
          <a:xfrm>
            <a:off x="263448" y="62483"/>
            <a:ext cx="7356552" cy="905376"/>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Understand the Two Assessment Scenarios</a:t>
            </a:r>
            <a:endParaRPr dirty="0">
              <a:solidFill>
                <a:schemeClr val="tx1"/>
              </a:solidFill>
            </a:endParaRPr>
          </a:p>
        </p:txBody>
      </p:sp>
      <p:sp>
        <p:nvSpPr>
          <p:cNvPr id="15" name="object 15">
            <a:extLst>
              <a:ext uri="{FF2B5EF4-FFF2-40B4-BE49-F238E27FC236}">
                <a16:creationId xmlns:a16="http://schemas.microsoft.com/office/drawing/2014/main" id="{63CC6256-644C-E249-2162-9FAA53F470FA}"/>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60F095A6-D723-32C7-584B-EF48F8F853D5}"/>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5DAF4CD5-A7A5-A79A-BB42-C246DEAE94B1}"/>
              </a:ext>
            </a:extLst>
          </p:cNvPr>
          <p:cNvSpPr txBox="1"/>
          <p:nvPr/>
        </p:nvSpPr>
        <p:spPr>
          <a:xfrm>
            <a:off x="76200" y="1143000"/>
            <a:ext cx="8991600" cy="5196166"/>
          </a:xfrm>
          <a:prstGeom prst="rect">
            <a:avLst/>
          </a:prstGeom>
          <a:noFill/>
        </p:spPr>
        <p:txBody>
          <a:bodyPr wrap="square">
            <a:spAutoFit/>
          </a:bodyPr>
          <a:lstStyle/>
          <a:p>
            <a:pPr>
              <a:lnSpc>
                <a:spcPct val="150000"/>
              </a:lnSpc>
              <a:buNone/>
            </a:pPr>
            <a:r>
              <a:rPr lang="en-AU" sz="2800" dirty="0">
                <a:latin typeface="+mj-lt"/>
              </a:rPr>
              <a:t>Scenario 1 – Troubleshooting</a:t>
            </a:r>
          </a:p>
          <a:p>
            <a:pPr marL="342900" lvl="0" indent="-342900">
              <a:lnSpc>
                <a:spcPct val="150000"/>
              </a:lnSpc>
              <a:buFont typeface="Arial" panose="020B0604020202020204" pitchFamily="34" charset="0"/>
              <a:buChar char="•"/>
            </a:pPr>
            <a:r>
              <a:rPr lang="en-AU" sz="2800" dirty="0">
                <a:latin typeface="+mj-lt"/>
              </a:rPr>
              <a:t>Investigate an existing Packet Tracer network.</a:t>
            </a:r>
          </a:p>
          <a:p>
            <a:pPr marL="342900" lvl="0" indent="-342900">
              <a:lnSpc>
                <a:spcPct val="150000"/>
              </a:lnSpc>
              <a:buFont typeface="Arial" panose="020B0604020202020204" pitchFamily="34" charset="0"/>
              <a:buChar char="•"/>
            </a:pPr>
            <a:r>
              <a:rPr lang="en-AU" sz="2800" dirty="0">
                <a:latin typeface="+mj-lt"/>
              </a:rPr>
              <a:t>Complete four troubleshooting/information-gathering tickets.</a:t>
            </a:r>
          </a:p>
          <a:p>
            <a:pPr marL="342900" lvl="0" indent="-342900">
              <a:lnSpc>
                <a:spcPct val="150000"/>
              </a:lnSpc>
              <a:buFont typeface="Arial" panose="020B0604020202020204" pitchFamily="34" charset="0"/>
              <a:buChar char="•"/>
            </a:pPr>
            <a:r>
              <a:rPr lang="en-AU" sz="2800" dirty="0">
                <a:latin typeface="+mj-lt"/>
              </a:rPr>
              <a:t>Use permitted Cisco IOS commands.</a:t>
            </a:r>
          </a:p>
          <a:p>
            <a:pPr marL="342900" lvl="0" indent="-342900">
              <a:lnSpc>
                <a:spcPct val="150000"/>
              </a:lnSpc>
              <a:buFont typeface="Arial" panose="020B0604020202020204" pitchFamily="34" charset="0"/>
              <a:buChar char="•"/>
            </a:pPr>
            <a:r>
              <a:rPr lang="en-AU" sz="2800" dirty="0">
                <a:latin typeface="+mj-lt"/>
              </a:rPr>
              <a:t>Identify faults and provide corrective commands where applicable.</a:t>
            </a:r>
          </a:p>
          <a:p>
            <a:pPr marL="342900" lvl="0" indent="-342900">
              <a:lnSpc>
                <a:spcPct val="150000"/>
              </a:lnSpc>
              <a:buFont typeface="Arial" panose="020B0604020202020204" pitchFamily="34" charset="0"/>
              <a:buChar char="•"/>
            </a:pPr>
            <a:r>
              <a:rPr lang="en-AU" sz="2800" dirty="0">
                <a:latin typeface="+mj-lt"/>
              </a:rPr>
              <a:t>Answer route and round-trip-time questions.</a:t>
            </a:r>
          </a:p>
        </p:txBody>
      </p:sp>
    </p:spTree>
    <p:extLst>
      <p:ext uri="{BB962C8B-B14F-4D97-AF65-F5344CB8AC3E}">
        <p14:creationId xmlns:p14="http://schemas.microsoft.com/office/powerpoint/2010/main" val="4292284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257AB-5EBE-0D00-48AD-13A4D4ACF6CD}"/>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B74AFF31-0477-B1CF-07E7-1479B44F477E}"/>
              </a:ext>
            </a:extLst>
          </p:cNvPr>
          <p:cNvSpPr txBox="1">
            <a:spLocks noGrp="1"/>
          </p:cNvSpPr>
          <p:nvPr>
            <p:ph type="ctrTitle"/>
          </p:nvPr>
        </p:nvSpPr>
        <p:spPr>
          <a:xfrm>
            <a:off x="263448" y="62483"/>
            <a:ext cx="7356552" cy="905376"/>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Understand the Two Assessment Scenarios</a:t>
            </a:r>
            <a:endParaRPr dirty="0">
              <a:solidFill>
                <a:schemeClr val="tx1"/>
              </a:solidFill>
            </a:endParaRPr>
          </a:p>
        </p:txBody>
      </p:sp>
      <p:sp>
        <p:nvSpPr>
          <p:cNvPr id="15" name="object 15">
            <a:extLst>
              <a:ext uri="{FF2B5EF4-FFF2-40B4-BE49-F238E27FC236}">
                <a16:creationId xmlns:a16="http://schemas.microsoft.com/office/drawing/2014/main" id="{C8D92DBD-2B37-C8C5-ECCC-00293126F626}"/>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C331E5AE-924B-30EF-89DD-6EA00A7A093B}"/>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0631B1F2-8658-3CFF-35CE-973C24C3A477}"/>
              </a:ext>
            </a:extLst>
          </p:cNvPr>
          <p:cNvSpPr txBox="1"/>
          <p:nvPr/>
        </p:nvSpPr>
        <p:spPr>
          <a:xfrm>
            <a:off x="0" y="1371600"/>
            <a:ext cx="9144000" cy="3903504"/>
          </a:xfrm>
          <a:prstGeom prst="rect">
            <a:avLst/>
          </a:prstGeom>
          <a:noFill/>
        </p:spPr>
        <p:txBody>
          <a:bodyPr wrap="square">
            <a:spAutoFit/>
          </a:bodyPr>
          <a:lstStyle/>
          <a:p>
            <a:pPr>
              <a:lnSpc>
                <a:spcPct val="150000"/>
              </a:lnSpc>
              <a:buNone/>
            </a:pPr>
            <a:r>
              <a:rPr lang="en-AU" sz="2800" dirty="0">
                <a:latin typeface="+mj-lt"/>
              </a:rPr>
              <a:t>Scenario 2 – Network design</a:t>
            </a:r>
          </a:p>
          <a:p>
            <a:pPr marL="342900" lvl="0" indent="-342900">
              <a:lnSpc>
                <a:spcPct val="150000"/>
              </a:lnSpc>
              <a:buFont typeface="Arial" panose="020B0604020202020204" pitchFamily="34" charset="0"/>
              <a:buChar char="•"/>
            </a:pPr>
            <a:r>
              <a:rPr lang="en-AU" sz="2800" dirty="0">
                <a:latin typeface="+mj-lt"/>
              </a:rPr>
              <a:t>Redesign the ABC company network.</a:t>
            </a:r>
          </a:p>
          <a:p>
            <a:pPr marL="342900" lvl="0" indent="-342900">
              <a:lnSpc>
                <a:spcPct val="150000"/>
              </a:lnSpc>
              <a:buFont typeface="Arial" panose="020B0604020202020204" pitchFamily="34" charset="0"/>
              <a:buChar char="•"/>
            </a:pPr>
            <a:r>
              <a:rPr lang="en-AU" sz="2800" dirty="0">
                <a:latin typeface="+mj-lt"/>
              </a:rPr>
              <a:t>Connect HR and Finance through a shared ISP connection.</a:t>
            </a:r>
          </a:p>
          <a:p>
            <a:pPr marL="342900" lvl="0" indent="-342900">
              <a:lnSpc>
                <a:spcPct val="150000"/>
              </a:lnSpc>
              <a:buFont typeface="Arial" panose="020B0604020202020204" pitchFamily="34" charset="0"/>
              <a:buChar char="•"/>
            </a:pPr>
            <a:r>
              <a:rPr lang="en-AU" sz="2800" dirty="0">
                <a:latin typeface="+mj-lt"/>
              </a:rPr>
              <a:t>Plan for future devices.</a:t>
            </a:r>
          </a:p>
          <a:p>
            <a:pPr marL="342900" lvl="0" indent="-342900">
              <a:lnSpc>
                <a:spcPct val="150000"/>
              </a:lnSpc>
              <a:buFont typeface="Arial" panose="020B0604020202020204" pitchFamily="34" charset="0"/>
              <a:buChar char="•"/>
            </a:pPr>
            <a:r>
              <a:rPr lang="en-AU" sz="2800" dirty="0">
                <a:latin typeface="+mj-lt"/>
              </a:rPr>
              <a:t>Configure and verify the required network services.</a:t>
            </a:r>
          </a:p>
          <a:p>
            <a:pPr marL="342900" lvl="0" indent="-342900">
              <a:lnSpc>
                <a:spcPct val="150000"/>
              </a:lnSpc>
              <a:buFont typeface="Arial" panose="020B0604020202020204" pitchFamily="34" charset="0"/>
              <a:buChar char="•"/>
            </a:pPr>
            <a:r>
              <a:rPr lang="en-AU" sz="2800" dirty="0">
                <a:latin typeface="+mj-lt"/>
              </a:rPr>
              <a:t>Provide technical evidence and design justification.</a:t>
            </a:r>
          </a:p>
        </p:txBody>
      </p:sp>
    </p:spTree>
    <p:extLst>
      <p:ext uri="{BB962C8B-B14F-4D97-AF65-F5344CB8AC3E}">
        <p14:creationId xmlns:p14="http://schemas.microsoft.com/office/powerpoint/2010/main" val="1755755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89F8F-C362-FA0A-4CE3-342742202FEE}"/>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825B0ACC-5C26-2DA6-1891-8C57E11F11EE}"/>
              </a:ext>
            </a:extLst>
          </p:cNvPr>
          <p:cNvSpPr txBox="1">
            <a:spLocks noGrp="1"/>
          </p:cNvSpPr>
          <p:nvPr>
            <p:ph type="ctrTitle"/>
          </p:nvPr>
        </p:nvSpPr>
        <p:spPr>
          <a:xfrm>
            <a:off x="263448" y="62483"/>
            <a:ext cx="7356552" cy="905376"/>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Understand the Two Assessment Scenarios</a:t>
            </a:r>
            <a:endParaRPr dirty="0">
              <a:solidFill>
                <a:schemeClr val="tx1"/>
              </a:solidFill>
            </a:endParaRPr>
          </a:p>
        </p:txBody>
      </p:sp>
      <p:sp>
        <p:nvSpPr>
          <p:cNvPr id="15" name="object 15">
            <a:extLst>
              <a:ext uri="{FF2B5EF4-FFF2-40B4-BE49-F238E27FC236}">
                <a16:creationId xmlns:a16="http://schemas.microsoft.com/office/drawing/2014/main" id="{2A754008-2526-1891-FBBA-94F477FF3423}"/>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A6763A40-110D-1E5C-9551-3C1AAFE51454}"/>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C509798D-0E56-FC9B-C0BA-375C71F7D459}"/>
              </a:ext>
            </a:extLst>
          </p:cNvPr>
          <p:cNvSpPr txBox="1"/>
          <p:nvPr/>
        </p:nvSpPr>
        <p:spPr>
          <a:xfrm>
            <a:off x="0" y="1371600"/>
            <a:ext cx="9144000" cy="3257174"/>
          </a:xfrm>
          <a:prstGeom prst="rect">
            <a:avLst/>
          </a:prstGeom>
          <a:noFill/>
        </p:spPr>
        <p:txBody>
          <a:bodyPr wrap="square">
            <a:spAutoFit/>
          </a:bodyPr>
          <a:lstStyle/>
          <a:p>
            <a:pPr>
              <a:lnSpc>
                <a:spcPct val="150000"/>
              </a:lnSpc>
            </a:pPr>
            <a:r>
              <a:rPr lang="en-AU" sz="2800" dirty="0">
                <a:latin typeface="+mj-lt"/>
              </a:rPr>
              <a:t>Discussion: What is the main difference between the scenarios?</a:t>
            </a:r>
          </a:p>
          <a:p>
            <a:pPr>
              <a:lnSpc>
                <a:spcPct val="150000"/>
              </a:lnSpc>
            </a:pPr>
            <a:r>
              <a:rPr lang="en-AU" sz="2800" dirty="0">
                <a:latin typeface="+mj-lt"/>
              </a:rPr>
              <a:t>Answer: Scenario 1 focuses on diagnosing an existing network; Scenario 2 focuses on designing and implementing a network to meet business requirements.</a:t>
            </a:r>
          </a:p>
        </p:txBody>
      </p:sp>
    </p:spTree>
    <p:extLst>
      <p:ext uri="{BB962C8B-B14F-4D97-AF65-F5344CB8AC3E}">
        <p14:creationId xmlns:p14="http://schemas.microsoft.com/office/powerpoint/2010/main" val="2162750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FC6F0-E0E1-DFF5-7A8E-3A03F6ABF702}"/>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D69EBED5-2E5A-BC99-2B93-71988B07A440}"/>
              </a:ext>
            </a:extLst>
          </p:cNvPr>
          <p:cNvSpPr txBox="1">
            <a:spLocks noGrp="1"/>
          </p:cNvSpPr>
          <p:nvPr>
            <p:ph type="ctrTitle"/>
          </p:nvPr>
        </p:nvSpPr>
        <p:spPr>
          <a:xfrm>
            <a:off x="263448" y="62483"/>
            <a:ext cx="7356552" cy="905376"/>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Read the Network Topology Before Configuring</a:t>
            </a:r>
            <a:endParaRPr dirty="0">
              <a:solidFill>
                <a:schemeClr val="tx1"/>
              </a:solidFill>
            </a:endParaRPr>
          </a:p>
        </p:txBody>
      </p:sp>
      <p:sp>
        <p:nvSpPr>
          <p:cNvPr id="15" name="object 15">
            <a:extLst>
              <a:ext uri="{FF2B5EF4-FFF2-40B4-BE49-F238E27FC236}">
                <a16:creationId xmlns:a16="http://schemas.microsoft.com/office/drawing/2014/main" id="{1DCDA836-77D2-3E21-F48A-49C7B6D16E1E}"/>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1A1E9F76-488B-D87F-77D0-A72CDE7A1611}"/>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9A97C4EC-E62B-9D50-BA15-89ABD1008D11}"/>
              </a:ext>
            </a:extLst>
          </p:cNvPr>
          <p:cNvSpPr txBox="1"/>
          <p:nvPr/>
        </p:nvSpPr>
        <p:spPr>
          <a:xfrm>
            <a:off x="0" y="1447800"/>
            <a:ext cx="9144000" cy="4549835"/>
          </a:xfrm>
          <a:prstGeom prst="rect">
            <a:avLst/>
          </a:prstGeom>
          <a:noFill/>
        </p:spPr>
        <p:txBody>
          <a:bodyPr wrap="square">
            <a:spAutoFit/>
          </a:bodyPr>
          <a:lstStyle/>
          <a:p>
            <a:pPr>
              <a:lnSpc>
                <a:spcPct val="150000"/>
              </a:lnSpc>
              <a:buNone/>
            </a:pPr>
            <a:r>
              <a:rPr lang="en-AU" sz="2800" dirty="0">
                <a:latin typeface="+mj-lt"/>
              </a:rPr>
              <a:t>Identify:</a:t>
            </a:r>
          </a:p>
          <a:p>
            <a:pPr marL="342900" lvl="0" indent="-342900">
              <a:lnSpc>
                <a:spcPct val="150000"/>
              </a:lnSpc>
              <a:buFont typeface="Arial" panose="020B0604020202020204" pitchFamily="34" charset="0"/>
              <a:buChar char="•"/>
            </a:pPr>
            <a:r>
              <a:rPr lang="en-AU" sz="2800" dirty="0">
                <a:latin typeface="+mj-lt"/>
              </a:rPr>
              <a:t>Routers and switches.</a:t>
            </a:r>
          </a:p>
          <a:p>
            <a:pPr marL="342900" lvl="0" indent="-342900">
              <a:lnSpc>
                <a:spcPct val="150000"/>
              </a:lnSpc>
              <a:buFont typeface="Arial" panose="020B0604020202020204" pitchFamily="34" charset="0"/>
              <a:buChar char="•"/>
            </a:pPr>
            <a:r>
              <a:rPr lang="en-AU" sz="2800" dirty="0">
                <a:latin typeface="+mj-lt"/>
              </a:rPr>
              <a:t>PCs, servers and other end devices.</a:t>
            </a:r>
          </a:p>
          <a:p>
            <a:pPr marL="342900" lvl="0" indent="-342900">
              <a:lnSpc>
                <a:spcPct val="150000"/>
              </a:lnSpc>
              <a:buFont typeface="Arial" panose="020B0604020202020204" pitchFamily="34" charset="0"/>
              <a:buChar char="•"/>
            </a:pPr>
            <a:r>
              <a:rPr lang="en-AU" sz="2800" dirty="0">
                <a:latin typeface="+mj-lt"/>
              </a:rPr>
              <a:t>LAN and WAN connections.</a:t>
            </a:r>
          </a:p>
          <a:p>
            <a:pPr marL="342900" lvl="0" indent="-342900">
              <a:lnSpc>
                <a:spcPct val="150000"/>
              </a:lnSpc>
              <a:buFont typeface="Arial" panose="020B0604020202020204" pitchFamily="34" charset="0"/>
              <a:buChar char="•"/>
            </a:pPr>
            <a:r>
              <a:rPr lang="en-AU" sz="2800" dirty="0">
                <a:latin typeface="+mj-lt"/>
              </a:rPr>
              <a:t>Interface names and IP addresses.</a:t>
            </a:r>
          </a:p>
          <a:p>
            <a:pPr marL="342900" lvl="0" indent="-342900">
              <a:lnSpc>
                <a:spcPct val="150000"/>
              </a:lnSpc>
              <a:buFont typeface="Arial" panose="020B0604020202020204" pitchFamily="34" charset="0"/>
              <a:buChar char="•"/>
            </a:pPr>
            <a:r>
              <a:rPr lang="en-AU" sz="2800" dirty="0">
                <a:latin typeface="+mj-lt"/>
              </a:rPr>
              <a:t>Default gateways and routing paths.</a:t>
            </a:r>
          </a:p>
          <a:p>
            <a:pPr marL="342900" lvl="0" indent="-342900">
              <a:lnSpc>
                <a:spcPct val="150000"/>
              </a:lnSpc>
              <a:buFont typeface="Arial" panose="020B0604020202020204" pitchFamily="34" charset="0"/>
              <a:buChar char="•"/>
            </a:pPr>
            <a:r>
              <a:rPr lang="en-AU" sz="2800" dirty="0">
                <a:latin typeface="+mj-lt"/>
              </a:rPr>
              <a:t>Existing connections and possible points of failure.</a:t>
            </a:r>
          </a:p>
        </p:txBody>
      </p:sp>
    </p:spTree>
    <p:extLst>
      <p:ext uri="{BB962C8B-B14F-4D97-AF65-F5344CB8AC3E}">
        <p14:creationId xmlns:p14="http://schemas.microsoft.com/office/powerpoint/2010/main" val="28927741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FDEF2-96A6-1C06-5FD8-F558B95A5E6D}"/>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3C76342C-B860-BC1F-ECAD-3A79BCEF6311}"/>
              </a:ext>
            </a:extLst>
          </p:cNvPr>
          <p:cNvSpPr txBox="1">
            <a:spLocks noGrp="1"/>
          </p:cNvSpPr>
          <p:nvPr>
            <p:ph type="ctrTitle"/>
          </p:nvPr>
        </p:nvSpPr>
        <p:spPr>
          <a:xfrm>
            <a:off x="263448" y="62483"/>
            <a:ext cx="7356552" cy="905376"/>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Read the Network Topology Before Configuring</a:t>
            </a:r>
            <a:endParaRPr dirty="0">
              <a:solidFill>
                <a:schemeClr val="tx1"/>
              </a:solidFill>
            </a:endParaRPr>
          </a:p>
        </p:txBody>
      </p:sp>
      <p:sp>
        <p:nvSpPr>
          <p:cNvPr id="15" name="object 15">
            <a:extLst>
              <a:ext uri="{FF2B5EF4-FFF2-40B4-BE49-F238E27FC236}">
                <a16:creationId xmlns:a16="http://schemas.microsoft.com/office/drawing/2014/main" id="{702A6296-6A61-5AF2-18B4-8FFC70E362F9}"/>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1DB50F02-AECC-B654-CC99-EA6EDD1CEDFC}"/>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0D1640E6-CB67-8DE2-8282-6BBDFEE1FFC5}"/>
              </a:ext>
            </a:extLst>
          </p:cNvPr>
          <p:cNvSpPr txBox="1"/>
          <p:nvPr/>
        </p:nvSpPr>
        <p:spPr>
          <a:xfrm>
            <a:off x="0" y="1447801"/>
            <a:ext cx="9144000" cy="4549835"/>
          </a:xfrm>
          <a:prstGeom prst="rect">
            <a:avLst/>
          </a:prstGeom>
          <a:noFill/>
        </p:spPr>
        <p:txBody>
          <a:bodyPr wrap="square">
            <a:spAutoFit/>
          </a:bodyPr>
          <a:lstStyle/>
          <a:p>
            <a:pPr>
              <a:lnSpc>
                <a:spcPct val="150000"/>
              </a:lnSpc>
              <a:buNone/>
            </a:pPr>
            <a:r>
              <a:rPr lang="en-AU" sz="2800" dirty="0">
                <a:latin typeface="+mj-lt"/>
              </a:rPr>
              <a:t>Australian example: Before changing a network in a Melbourne office, a technician reviews the network diagram to avoid disconnecting the wrong department.</a:t>
            </a:r>
          </a:p>
          <a:p>
            <a:pPr>
              <a:lnSpc>
                <a:spcPct val="150000"/>
              </a:lnSpc>
              <a:buNone/>
            </a:pPr>
            <a:r>
              <a:rPr lang="en-AU" sz="2800" dirty="0">
                <a:latin typeface="+mj-lt"/>
              </a:rPr>
              <a:t>Discussion: Why should you inspect the topology before entering Cisco commands?</a:t>
            </a:r>
          </a:p>
          <a:p>
            <a:pPr>
              <a:lnSpc>
                <a:spcPct val="150000"/>
              </a:lnSpc>
              <a:buNone/>
            </a:pPr>
            <a:r>
              <a:rPr lang="en-AU" sz="2800" dirty="0">
                <a:latin typeface="+mj-lt"/>
              </a:rPr>
              <a:t>Answer: To understand how devices connect and avoid making changes to the wrong interface or device.</a:t>
            </a:r>
          </a:p>
        </p:txBody>
      </p:sp>
    </p:spTree>
    <p:extLst>
      <p:ext uri="{BB962C8B-B14F-4D97-AF65-F5344CB8AC3E}">
        <p14:creationId xmlns:p14="http://schemas.microsoft.com/office/powerpoint/2010/main" val="3938890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1000"/>
                                        <p:tgtEl>
                                          <p:spTgt spid="4">
                                            <p:txEl>
                                              <p:pRg st="2" end="2"/>
                                            </p:txEl>
                                          </p:spTgt>
                                        </p:tgtEl>
                                      </p:cBhvr>
                                    </p:animEffect>
                                    <p:anim calcmode="lin" valueType="num">
                                      <p:cBhvr>
                                        <p:cTn id="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FC74E-D03E-F8B9-9CB2-D5E647DFC1B0}"/>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228DA57B-AB11-61D8-9B13-E06FA54A6886}"/>
              </a:ext>
            </a:extLst>
          </p:cNvPr>
          <p:cNvSpPr txBox="1">
            <a:spLocks noGrp="1"/>
          </p:cNvSpPr>
          <p:nvPr>
            <p:ph type="ctrTitle"/>
          </p:nvPr>
        </p:nvSpPr>
        <p:spPr>
          <a:xfrm>
            <a:off x="263448" y="62483"/>
            <a:ext cx="7356552" cy="905376"/>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Read the Network Topology Before Configuring</a:t>
            </a:r>
            <a:endParaRPr dirty="0">
              <a:solidFill>
                <a:schemeClr val="tx1"/>
              </a:solidFill>
            </a:endParaRPr>
          </a:p>
        </p:txBody>
      </p:sp>
      <p:sp>
        <p:nvSpPr>
          <p:cNvPr id="15" name="object 15">
            <a:extLst>
              <a:ext uri="{FF2B5EF4-FFF2-40B4-BE49-F238E27FC236}">
                <a16:creationId xmlns:a16="http://schemas.microsoft.com/office/drawing/2014/main" id="{4C1989AE-C9D8-62F2-AC5F-1049C0E7D54E}"/>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2D90313E-D8AA-0B40-2199-237FCF7DCEA5}"/>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pic>
        <p:nvPicPr>
          <p:cNvPr id="3" name="Picture 2" descr="The image depicts a network topology for a company, showcasing the connection between the HR and Finance departments, an Internet connection, and various devices like a wireless printer and scanner.&#10;&#10;AI-generated content may be incorrect.">
            <a:extLst>
              <a:ext uri="{FF2B5EF4-FFF2-40B4-BE49-F238E27FC236}">
                <a16:creationId xmlns:a16="http://schemas.microsoft.com/office/drawing/2014/main" id="{F232AC62-8CCD-CD24-149C-367AAE742B5B}"/>
              </a:ext>
            </a:extLst>
          </p:cNvPr>
          <p:cNvPicPr>
            <a:picLocks noChangeAspect="1"/>
          </p:cNvPicPr>
          <p:nvPr/>
        </p:nvPicPr>
        <p:blipFill>
          <a:blip r:embed="rId2">
            <a:extLst>
              <a:ext uri="{28A0092B-C50C-407E-A947-70E740481C1C}">
                <a14:useLocalDpi xmlns:a14="http://schemas.microsoft.com/office/drawing/2010/main" val="0"/>
              </a:ext>
            </a:extLst>
          </a:blip>
          <a:srcRect r="66667" b="73750"/>
          <a:stretch>
            <a:fillRect/>
          </a:stretch>
        </p:blipFill>
        <p:spPr>
          <a:xfrm>
            <a:off x="33337" y="1028700"/>
            <a:ext cx="9144000" cy="4800600"/>
          </a:xfrm>
          <a:prstGeom prst="rect">
            <a:avLst/>
          </a:prstGeom>
        </p:spPr>
      </p:pic>
      <p:sp>
        <p:nvSpPr>
          <p:cNvPr id="4" name="TextBox 3">
            <a:extLst>
              <a:ext uri="{FF2B5EF4-FFF2-40B4-BE49-F238E27FC236}">
                <a16:creationId xmlns:a16="http://schemas.microsoft.com/office/drawing/2014/main" id="{F4929C69-5CE5-028A-09A7-36A2A3A5E830}"/>
              </a:ext>
            </a:extLst>
          </p:cNvPr>
          <p:cNvSpPr txBox="1"/>
          <p:nvPr/>
        </p:nvSpPr>
        <p:spPr>
          <a:xfrm>
            <a:off x="-6098" y="5865851"/>
            <a:ext cx="9113044" cy="923330"/>
          </a:xfrm>
          <a:prstGeom prst="rect">
            <a:avLst/>
          </a:prstGeom>
          <a:solidFill>
            <a:schemeClr val="bg1"/>
          </a:solidFill>
        </p:spPr>
        <p:txBody>
          <a:bodyPr wrap="square">
            <a:spAutoFit/>
          </a:bodyPr>
          <a:lstStyle/>
          <a:p>
            <a:pPr>
              <a:buNone/>
            </a:pPr>
            <a:r>
              <a:rPr lang="en-AU" dirty="0"/>
              <a:t>This diagram shows how routers, switches and computers are connected in Scenario 1. The red lines represent serial connections between routers, while the black lines show Ethernet connections.</a:t>
            </a:r>
          </a:p>
        </p:txBody>
      </p:sp>
    </p:spTree>
    <p:extLst>
      <p:ext uri="{BB962C8B-B14F-4D97-AF65-F5344CB8AC3E}">
        <p14:creationId xmlns:p14="http://schemas.microsoft.com/office/powerpoint/2010/main" val="110235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D4E3B-705E-7B9F-C746-C645309D398A}"/>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7DE91F81-DA05-D40A-4495-09488606F99F}"/>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Essential IPv4 Addressing Knowledge</a:t>
            </a:r>
            <a:endParaRPr dirty="0">
              <a:solidFill>
                <a:schemeClr val="tx1"/>
              </a:solidFill>
            </a:endParaRPr>
          </a:p>
        </p:txBody>
      </p:sp>
      <p:sp>
        <p:nvSpPr>
          <p:cNvPr id="15" name="object 15">
            <a:extLst>
              <a:ext uri="{FF2B5EF4-FFF2-40B4-BE49-F238E27FC236}">
                <a16:creationId xmlns:a16="http://schemas.microsoft.com/office/drawing/2014/main" id="{786F389F-8352-C7AB-F907-8911AB676ADF}"/>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A2DF9E91-4201-A869-95E3-563616AB57D6}"/>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EE557716-D978-0F95-B0BC-4ABD6B8BBC0A}"/>
              </a:ext>
            </a:extLst>
          </p:cNvPr>
          <p:cNvSpPr txBox="1"/>
          <p:nvPr/>
        </p:nvSpPr>
        <p:spPr>
          <a:xfrm>
            <a:off x="0" y="838201"/>
            <a:ext cx="9144000" cy="4549835"/>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AU" sz="2800" dirty="0">
                <a:latin typeface="+mj-lt"/>
              </a:rPr>
              <a:t>An IPv4 address identifies a network interface.</a:t>
            </a:r>
          </a:p>
          <a:p>
            <a:pPr marL="342900" lvl="0" indent="-342900">
              <a:lnSpc>
                <a:spcPct val="150000"/>
              </a:lnSpc>
              <a:buFont typeface="Arial" panose="020B0604020202020204" pitchFamily="34" charset="0"/>
              <a:buChar char="•"/>
            </a:pPr>
            <a:r>
              <a:rPr lang="en-AU" sz="2800" dirty="0">
                <a:latin typeface="+mj-lt"/>
              </a:rPr>
              <a:t>A subnet mask identifies the network and host portions.</a:t>
            </a:r>
          </a:p>
          <a:p>
            <a:pPr marL="342900" lvl="0" indent="-342900">
              <a:lnSpc>
                <a:spcPct val="150000"/>
              </a:lnSpc>
              <a:buFont typeface="Arial" panose="020B0604020202020204" pitchFamily="34" charset="0"/>
              <a:buChar char="•"/>
            </a:pPr>
            <a:r>
              <a:rPr lang="en-AU" sz="2800" dirty="0">
                <a:latin typeface="+mj-lt"/>
              </a:rPr>
              <a:t>Devices in the same subnet can normally communicate directly through a switch.</a:t>
            </a:r>
          </a:p>
          <a:p>
            <a:pPr marL="342900" lvl="0" indent="-342900">
              <a:lnSpc>
                <a:spcPct val="150000"/>
              </a:lnSpc>
              <a:buFont typeface="Arial" panose="020B0604020202020204" pitchFamily="34" charset="0"/>
              <a:buChar char="•"/>
            </a:pPr>
            <a:r>
              <a:rPr lang="en-AU" sz="2800" dirty="0">
                <a:latin typeface="+mj-lt"/>
              </a:rPr>
              <a:t>Devices in different subnets need routing.</a:t>
            </a:r>
          </a:p>
          <a:p>
            <a:pPr marL="342900" lvl="0" indent="-342900">
              <a:lnSpc>
                <a:spcPct val="150000"/>
              </a:lnSpc>
              <a:buFont typeface="Arial" panose="020B0604020202020204" pitchFamily="34" charset="0"/>
              <a:buChar char="•"/>
            </a:pPr>
            <a:r>
              <a:rPr lang="en-AU" sz="2800" dirty="0">
                <a:latin typeface="+mj-lt"/>
              </a:rPr>
              <a:t>A default gateway is used to reach destinations outside the local subnet.</a:t>
            </a:r>
          </a:p>
        </p:txBody>
      </p:sp>
    </p:spTree>
    <p:extLst>
      <p:ext uri="{BB962C8B-B14F-4D97-AF65-F5344CB8AC3E}">
        <p14:creationId xmlns:p14="http://schemas.microsoft.com/office/powerpoint/2010/main" val="13987249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06477-8A36-B4D0-A1E3-1D13725F1B8C}"/>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DE3FB7D5-3634-D63B-2D63-AF36EE153983}"/>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Essential IPv4 Addressing Knowledge</a:t>
            </a:r>
            <a:endParaRPr dirty="0">
              <a:solidFill>
                <a:schemeClr val="tx1"/>
              </a:solidFill>
            </a:endParaRPr>
          </a:p>
        </p:txBody>
      </p:sp>
      <p:sp>
        <p:nvSpPr>
          <p:cNvPr id="15" name="object 15">
            <a:extLst>
              <a:ext uri="{FF2B5EF4-FFF2-40B4-BE49-F238E27FC236}">
                <a16:creationId xmlns:a16="http://schemas.microsoft.com/office/drawing/2014/main" id="{CCECC3EC-CA54-7791-2BA0-8C80DDAFABDC}"/>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E1F41C12-2DD1-5BA9-A712-F9F0DEBC345A}"/>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graphicFrame>
        <p:nvGraphicFramePr>
          <p:cNvPr id="2" name="Table 1">
            <a:extLst>
              <a:ext uri="{FF2B5EF4-FFF2-40B4-BE49-F238E27FC236}">
                <a16:creationId xmlns:a16="http://schemas.microsoft.com/office/drawing/2014/main" id="{9C54F56D-7B14-BFB9-AD4F-B483CDFCB324}"/>
              </a:ext>
            </a:extLst>
          </p:cNvPr>
          <p:cNvGraphicFramePr>
            <a:graphicFrameLocks noGrp="1"/>
          </p:cNvGraphicFramePr>
          <p:nvPr>
            <p:extLst>
              <p:ext uri="{D42A27DB-BD31-4B8C-83A1-F6EECF244321}">
                <p14:modId xmlns:p14="http://schemas.microsoft.com/office/powerpoint/2010/main" val="3581548577"/>
              </p:ext>
            </p:extLst>
          </p:nvPr>
        </p:nvGraphicFramePr>
        <p:xfrm>
          <a:off x="407988" y="1830437"/>
          <a:ext cx="8328024" cy="2407920"/>
        </p:xfrm>
        <a:graphic>
          <a:graphicData uri="http://schemas.openxmlformats.org/drawingml/2006/table">
            <a:tbl>
              <a:tblPr>
                <a:tableStyleId>{00A15C55-8517-42AA-B614-E9B94910E393}</a:tableStyleId>
              </a:tblPr>
              <a:tblGrid>
                <a:gridCol w="2082006">
                  <a:extLst>
                    <a:ext uri="{9D8B030D-6E8A-4147-A177-3AD203B41FA5}">
                      <a16:colId xmlns:a16="http://schemas.microsoft.com/office/drawing/2014/main" val="1635755259"/>
                    </a:ext>
                  </a:extLst>
                </a:gridCol>
                <a:gridCol w="2082006">
                  <a:extLst>
                    <a:ext uri="{9D8B030D-6E8A-4147-A177-3AD203B41FA5}">
                      <a16:colId xmlns:a16="http://schemas.microsoft.com/office/drawing/2014/main" val="2644940404"/>
                    </a:ext>
                  </a:extLst>
                </a:gridCol>
                <a:gridCol w="2082006">
                  <a:extLst>
                    <a:ext uri="{9D8B030D-6E8A-4147-A177-3AD203B41FA5}">
                      <a16:colId xmlns:a16="http://schemas.microsoft.com/office/drawing/2014/main" val="700022377"/>
                    </a:ext>
                  </a:extLst>
                </a:gridCol>
                <a:gridCol w="2082006">
                  <a:extLst>
                    <a:ext uri="{9D8B030D-6E8A-4147-A177-3AD203B41FA5}">
                      <a16:colId xmlns:a16="http://schemas.microsoft.com/office/drawing/2014/main" val="2351416252"/>
                    </a:ext>
                  </a:extLst>
                </a:gridCol>
              </a:tblGrid>
              <a:tr h="0">
                <a:tc>
                  <a:txBody>
                    <a:bodyPr/>
                    <a:lstStyle/>
                    <a:p>
                      <a:pPr>
                        <a:buNone/>
                      </a:pPr>
                      <a:r>
                        <a:rPr lang="en-AU" sz="2800" b="1" dirty="0"/>
                        <a:t>Device</a:t>
                      </a:r>
                      <a:endParaRPr lang="en-AU" sz="2800" b="1" dirty="0">
                        <a:latin typeface="+mj-lt"/>
                      </a:endParaRPr>
                    </a:p>
                  </a:txBody>
                  <a:tcPr anchor="ctr"/>
                </a:tc>
                <a:tc>
                  <a:txBody>
                    <a:bodyPr/>
                    <a:lstStyle/>
                    <a:p>
                      <a:pPr>
                        <a:buNone/>
                      </a:pPr>
                      <a:r>
                        <a:rPr lang="en-AU" sz="2800" b="1" dirty="0"/>
                        <a:t>IP address</a:t>
                      </a:r>
                      <a:endParaRPr lang="en-AU" sz="2800" b="1" dirty="0">
                        <a:latin typeface="+mj-lt"/>
                      </a:endParaRPr>
                    </a:p>
                  </a:txBody>
                  <a:tcPr anchor="ctr"/>
                </a:tc>
                <a:tc>
                  <a:txBody>
                    <a:bodyPr/>
                    <a:lstStyle/>
                    <a:p>
                      <a:pPr>
                        <a:buNone/>
                      </a:pPr>
                      <a:r>
                        <a:rPr lang="en-AU" sz="2800" b="1" dirty="0"/>
                        <a:t>Mask</a:t>
                      </a:r>
                      <a:endParaRPr lang="en-AU" sz="2800" b="1" dirty="0">
                        <a:latin typeface="+mj-lt"/>
                      </a:endParaRPr>
                    </a:p>
                  </a:txBody>
                  <a:tcPr anchor="ctr"/>
                </a:tc>
                <a:tc>
                  <a:txBody>
                    <a:bodyPr/>
                    <a:lstStyle/>
                    <a:p>
                      <a:pPr>
                        <a:buNone/>
                      </a:pPr>
                      <a:r>
                        <a:rPr lang="en-AU" sz="2800" b="1" dirty="0"/>
                        <a:t>Gateway</a:t>
                      </a:r>
                      <a:endParaRPr lang="en-AU" sz="2800" b="1" dirty="0">
                        <a:latin typeface="+mj-lt"/>
                      </a:endParaRPr>
                    </a:p>
                  </a:txBody>
                  <a:tcPr anchor="ctr"/>
                </a:tc>
                <a:extLst>
                  <a:ext uri="{0D108BD9-81ED-4DB2-BD59-A6C34878D82A}">
                    <a16:rowId xmlns:a16="http://schemas.microsoft.com/office/drawing/2014/main" val="2335158582"/>
                  </a:ext>
                </a:extLst>
              </a:tr>
              <a:tr h="0">
                <a:tc>
                  <a:txBody>
                    <a:bodyPr/>
                    <a:lstStyle/>
                    <a:p>
                      <a:pPr>
                        <a:buNone/>
                      </a:pPr>
                      <a:r>
                        <a:rPr lang="en-AU" sz="2800"/>
                        <a:t>PC-A</a:t>
                      </a:r>
                      <a:endParaRPr lang="en-AU" sz="2800">
                        <a:latin typeface="+mj-lt"/>
                      </a:endParaRPr>
                    </a:p>
                  </a:txBody>
                  <a:tcPr anchor="ctr"/>
                </a:tc>
                <a:tc>
                  <a:txBody>
                    <a:bodyPr/>
                    <a:lstStyle/>
                    <a:p>
                      <a:pPr>
                        <a:buNone/>
                      </a:pPr>
                      <a:r>
                        <a:rPr lang="en-AU" sz="2800"/>
                        <a:t>192.168.1.10</a:t>
                      </a:r>
                      <a:endParaRPr lang="en-AU" sz="2800">
                        <a:latin typeface="+mj-lt"/>
                      </a:endParaRPr>
                    </a:p>
                  </a:txBody>
                  <a:tcPr anchor="ctr"/>
                </a:tc>
                <a:tc>
                  <a:txBody>
                    <a:bodyPr/>
                    <a:lstStyle/>
                    <a:p>
                      <a:pPr>
                        <a:buNone/>
                      </a:pPr>
                      <a:r>
                        <a:rPr lang="en-AU" sz="2800" dirty="0"/>
                        <a:t>255.255.255.0</a:t>
                      </a:r>
                      <a:endParaRPr lang="en-AU" sz="2800" dirty="0">
                        <a:latin typeface="+mj-lt"/>
                      </a:endParaRPr>
                    </a:p>
                  </a:txBody>
                  <a:tcPr anchor="ctr"/>
                </a:tc>
                <a:tc>
                  <a:txBody>
                    <a:bodyPr/>
                    <a:lstStyle/>
                    <a:p>
                      <a:pPr>
                        <a:buNone/>
                      </a:pPr>
                      <a:r>
                        <a:rPr lang="en-AU" sz="2800"/>
                        <a:t>192.168.1.1</a:t>
                      </a:r>
                      <a:endParaRPr lang="en-AU" sz="2800">
                        <a:latin typeface="+mj-lt"/>
                      </a:endParaRPr>
                    </a:p>
                  </a:txBody>
                  <a:tcPr anchor="ctr"/>
                </a:tc>
                <a:extLst>
                  <a:ext uri="{0D108BD9-81ED-4DB2-BD59-A6C34878D82A}">
                    <a16:rowId xmlns:a16="http://schemas.microsoft.com/office/drawing/2014/main" val="317465255"/>
                  </a:ext>
                </a:extLst>
              </a:tr>
              <a:tr h="0">
                <a:tc>
                  <a:txBody>
                    <a:bodyPr/>
                    <a:lstStyle/>
                    <a:p>
                      <a:pPr>
                        <a:buNone/>
                      </a:pPr>
                      <a:r>
                        <a:rPr lang="en-AU" sz="2800"/>
                        <a:t>PC-B</a:t>
                      </a:r>
                      <a:endParaRPr lang="en-AU" sz="2800">
                        <a:latin typeface="+mj-lt"/>
                      </a:endParaRPr>
                    </a:p>
                  </a:txBody>
                  <a:tcPr anchor="ctr"/>
                </a:tc>
                <a:tc>
                  <a:txBody>
                    <a:bodyPr/>
                    <a:lstStyle/>
                    <a:p>
                      <a:pPr>
                        <a:buNone/>
                      </a:pPr>
                      <a:r>
                        <a:rPr lang="en-AU" sz="2800"/>
                        <a:t>192.168.2.10</a:t>
                      </a:r>
                      <a:endParaRPr lang="en-AU" sz="2800">
                        <a:latin typeface="+mj-lt"/>
                      </a:endParaRPr>
                    </a:p>
                  </a:txBody>
                  <a:tcPr anchor="ctr"/>
                </a:tc>
                <a:tc>
                  <a:txBody>
                    <a:bodyPr/>
                    <a:lstStyle/>
                    <a:p>
                      <a:pPr>
                        <a:buNone/>
                      </a:pPr>
                      <a:r>
                        <a:rPr lang="en-AU" sz="2800" dirty="0"/>
                        <a:t>255.255.255.0</a:t>
                      </a:r>
                      <a:endParaRPr lang="en-AU" sz="2800" dirty="0">
                        <a:latin typeface="+mj-lt"/>
                      </a:endParaRPr>
                    </a:p>
                  </a:txBody>
                  <a:tcPr anchor="ctr"/>
                </a:tc>
                <a:tc>
                  <a:txBody>
                    <a:bodyPr/>
                    <a:lstStyle/>
                    <a:p>
                      <a:pPr>
                        <a:buNone/>
                      </a:pPr>
                      <a:r>
                        <a:rPr lang="en-AU" sz="2800" dirty="0"/>
                        <a:t>192.168.2.1</a:t>
                      </a:r>
                      <a:endParaRPr lang="en-AU" sz="2800" dirty="0">
                        <a:latin typeface="+mj-lt"/>
                      </a:endParaRPr>
                    </a:p>
                  </a:txBody>
                  <a:tcPr anchor="ctr"/>
                </a:tc>
                <a:extLst>
                  <a:ext uri="{0D108BD9-81ED-4DB2-BD59-A6C34878D82A}">
                    <a16:rowId xmlns:a16="http://schemas.microsoft.com/office/drawing/2014/main" val="947172511"/>
                  </a:ext>
                </a:extLst>
              </a:tr>
            </a:tbl>
          </a:graphicData>
        </a:graphic>
      </p:graphicFrame>
      <p:sp>
        <p:nvSpPr>
          <p:cNvPr id="5" name="TextBox 4">
            <a:extLst>
              <a:ext uri="{FF2B5EF4-FFF2-40B4-BE49-F238E27FC236}">
                <a16:creationId xmlns:a16="http://schemas.microsoft.com/office/drawing/2014/main" id="{C86C68F0-D4C9-0077-1E93-9FBB565764EE}"/>
              </a:ext>
            </a:extLst>
          </p:cNvPr>
          <p:cNvSpPr txBox="1"/>
          <p:nvPr/>
        </p:nvSpPr>
        <p:spPr>
          <a:xfrm>
            <a:off x="210661" y="914400"/>
            <a:ext cx="4572000" cy="523220"/>
          </a:xfrm>
          <a:prstGeom prst="rect">
            <a:avLst/>
          </a:prstGeom>
          <a:noFill/>
        </p:spPr>
        <p:txBody>
          <a:bodyPr wrap="square">
            <a:spAutoFit/>
          </a:bodyPr>
          <a:lstStyle/>
          <a:p>
            <a:pPr>
              <a:buNone/>
            </a:pPr>
            <a:r>
              <a:rPr lang="en-AU" sz="2800">
                <a:latin typeface="+mj-lt"/>
              </a:rPr>
              <a:t>Example</a:t>
            </a:r>
          </a:p>
        </p:txBody>
      </p:sp>
      <p:sp>
        <p:nvSpPr>
          <p:cNvPr id="7" name="TextBox 6">
            <a:extLst>
              <a:ext uri="{FF2B5EF4-FFF2-40B4-BE49-F238E27FC236}">
                <a16:creationId xmlns:a16="http://schemas.microsoft.com/office/drawing/2014/main" id="{ED17871A-8204-9705-0837-54E7BDB4FC38}"/>
              </a:ext>
            </a:extLst>
          </p:cNvPr>
          <p:cNvSpPr txBox="1"/>
          <p:nvPr/>
        </p:nvSpPr>
        <p:spPr>
          <a:xfrm>
            <a:off x="133920" y="4220833"/>
            <a:ext cx="9144000" cy="2610843"/>
          </a:xfrm>
          <a:prstGeom prst="rect">
            <a:avLst/>
          </a:prstGeom>
          <a:noFill/>
        </p:spPr>
        <p:txBody>
          <a:bodyPr wrap="square">
            <a:spAutoFit/>
          </a:bodyPr>
          <a:lstStyle/>
          <a:p>
            <a:pPr>
              <a:lnSpc>
                <a:spcPct val="150000"/>
              </a:lnSpc>
              <a:buNone/>
            </a:pPr>
            <a:r>
              <a:rPr lang="en-AU" sz="2800" dirty="0">
                <a:latin typeface="+mj-lt"/>
              </a:rPr>
              <a:t>Discussion: Can these two PCs communicate through switches alone?</a:t>
            </a:r>
          </a:p>
          <a:p>
            <a:pPr>
              <a:lnSpc>
                <a:spcPct val="150000"/>
              </a:lnSpc>
              <a:buNone/>
            </a:pPr>
            <a:r>
              <a:rPr lang="en-AU" sz="2800" dirty="0">
                <a:latin typeface="+mj-lt"/>
              </a:rPr>
              <a:t>Answer: Not under normal Layer 2 switching. A router or Layer 3 switch is needed between their different IP subnets.</a:t>
            </a:r>
          </a:p>
        </p:txBody>
      </p:sp>
    </p:spTree>
    <p:extLst>
      <p:ext uri="{BB962C8B-B14F-4D97-AF65-F5344CB8AC3E}">
        <p14:creationId xmlns:p14="http://schemas.microsoft.com/office/powerpoint/2010/main" val="598631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75397-B2BF-F243-17F5-626BC460ACF9}"/>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5F10B382-2132-249C-11C5-F2C5D3E8029B}"/>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Subnetting and Future Network Growth</a:t>
            </a:r>
            <a:endParaRPr dirty="0">
              <a:solidFill>
                <a:schemeClr val="tx1"/>
              </a:solidFill>
            </a:endParaRPr>
          </a:p>
        </p:txBody>
      </p:sp>
      <p:sp>
        <p:nvSpPr>
          <p:cNvPr id="15" name="object 15">
            <a:extLst>
              <a:ext uri="{FF2B5EF4-FFF2-40B4-BE49-F238E27FC236}">
                <a16:creationId xmlns:a16="http://schemas.microsoft.com/office/drawing/2014/main" id="{8EBD5A81-05C4-180B-0E71-82B454F91069}"/>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2A9DAB9B-D58D-3CB2-CF7D-DE1801738D1B}"/>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69E67D4B-3FB2-A957-A37E-BFE43760A1E2}"/>
              </a:ext>
            </a:extLst>
          </p:cNvPr>
          <p:cNvSpPr txBox="1"/>
          <p:nvPr/>
        </p:nvSpPr>
        <p:spPr>
          <a:xfrm>
            <a:off x="0" y="1219201"/>
            <a:ext cx="9144000" cy="4549835"/>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AU" sz="2800" dirty="0">
                <a:latin typeface="+mj-lt"/>
              </a:rPr>
              <a:t>Calculate how many IP-enabled devices each department requires.</a:t>
            </a:r>
          </a:p>
          <a:p>
            <a:pPr marL="342900" lvl="0" indent="-342900">
              <a:lnSpc>
                <a:spcPct val="150000"/>
              </a:lnSpc>
              <a:buFont typeface="Arial" panose="020B0604020202020204" pitchFamily="34" charset="0"/>
              <a:buChar char="•"/>
            </a:pPr>
            <a:r>
              <a:rPr lang="en-AU" sz="2800" dirty="0">
                <a:latin typeface="+mj-lt"/>
              </a:rPr>
              <a:t>Include network infrastructure interfaces and future expansion.</a:t>
            </a:r>
          </a:p>
          <a:p>
            <a:pPr marL="342900" lvl="0" indent="-342900">
              <a:lnSpc>
                <a:spcPct val="150000"/>
              </a:lnSpc>
              <a:buFont typeface="Arial" panose="020B0604020202020204" pitchFamily="34" charset="0"/>
              <a:buChar char="•"/>
            </a:pPr>
            <a:r>
              <a:rPr lang="en-AU" sz="2800" dirty="0">
                <a:latin typeface="+mj-lt"/>
              </a:rPr>
              <a:t>Select a suitable subnet size.</a:t>
            </a:r>
          </a:p>
          <a:p>
            <a:pPr marL="342900" lvl="0" indent="-342900">
              <a:lnSpc>
                <a:spcPct val="150000"/>
              </a:lnSpc>
              <a:buFont typeface="Arial" panose="020B0604020202020204" pitchFamily="34" charset="0"/>
              <a:buChar char="•"/>
            </a:pPr>
            <a:r>
              <a:rPr lang="en-AU" sz="2800" dirty="0">
                <a:latin typeface="+mj-lt"/>
              </a:rPr>
              <a:t>Avoid overlapping subnet ranges.</a:t>
            </a:r>
          </a:p>
          <a:p>
            <a:pPr marL="342900" lvl="0" indent="-342900">
              <a:lnSpc>
                <a:spcPct val="150000"/>
              </a:lnSpc>
              <a:buFont typeface="Arial" panose="020B0604020202020204" pitchFamily="34" charset="0"/>
              <a:buChar char="•"/>
            </a:pPr>
            <a:r>
              <a:rPr lang="en-AU" sz="2800" dirty="0">
                <a:latin typeface="+mj-lt"/>
              </a:rPr>
              <a:t>Document the addressing scheme.</a:t>
            </a:r>
          </a:p>
        </p:txBody>
      </p:sp>
    </p:spTree>
    <p:extLst>
      <p:ext uri="{BB962C8B-B14F-4D97-AF65-F5344CB8AC3E}">
        <p14:creationId xmlns:p14="http://schemas.microsoft.com/office/powerpoint/2010/main" val="3092895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89D59-1BD5-BE6D-A00E-670EE8007A65}"/>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CB6039A0-FA32-8EFC-F622-18E8D5D84A22}"/>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Subnetting and Future Network Growth</a:t>
            </a:r>
            <a:endParaRPr dirty="0">
              <a:solidFill>
                <a:schemeClr val="tx1"/>
              </a:solidFill>
            </a:endParaRPr>
          </a:p>
        </p:txBody>
      </p:sp>
      <p:sp>
        <p:nvSpPr>
          <p:cNvPr id="15" name="object 15">
            <a:extLst>
              <a:ext uri="{FF2B5EF4-FFF2-40B4-BE49-F238E27FC236}">
                <a16:creationId xmlns:a16="http://schemas.microsoft.com/office/drawing/2014/main" id="{6E51940C-9BBD-E50A-6C9D-80CD6DAB1F45}"/>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420D1000-080A-D7F9-594C-0877C6809D4F}"/>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graphicFrame>
        <p:nvGraphicFramePr>
          <p:cNvPr id="2" name="Table 1">
            <a:extLst>
              <a:ext uri="{FF2B5EF4-FFF2-40B4-BE49-F238E27FC236}">
                <a16:creationId xmlns:a16="http://schemas.microsoft.com/office/drawing/2014/main" id="{192F911C-36C3-81D0-2B2A-70B3797B1D3E}"/>
              </a:ext>
            </a:extLst>
          </p:cNvPr>
          <p:cNvGraphicFramePr>
            <a:graphicFrameLocks noGrp="1"/>
          </p:cNvGraphicFramePr>
          <p:nvPr>
            <p:extLst>
              <p:ext uri="{D42A27DB-BD31-4B8C-83A1-F6EECF244321}">
                <p14:modId xmlns:p14="http://schemas.microsoft.com/office/powerpoint/2010/main" val="3547995259"/>
              </p:ext>
            </p:extLst>
          </p:nvPr>
        </p:nvGraphicFramePr>
        <p:xfrm>
          <a:off x="407988" y="1690585"/>
          <a:ext cx="8328024" cy="1554480"/>
        </p:xfrm>
        <a:graphic>
          <a:graphicData uri="http://schemas.openxmlformats.org/drawingml/2006/table">
            <a:tbl>
              <a:tblPr>
                <a:tableStyleId>{00A15C55-8517-42AA-B614-E9B94910E393}</a:tableStyleId>
              </a:tblPr>
              <a:tblGrid>
                <a:gridCol w="2182812">
                  <a:extLst>
                    <a:ext uri="{9D8B030D-6E8A-4147-A177-3AD203B41FA5}">
                      <a16:colId xmlns:a16="http://schemas.microsoft.com/office/drawing/2014/main" val="642578158"/>
                    </a:ext>
                  </a:extLst>
                </a:gridCol>
                <a:gridCol w="3369204">
                  <a:extLst>
                    <a:ext uri="{9D8B030D-6E8A-4147-A177-3AD203B41FA5}">
                      <a16:colId xmlns:a16="http://schemas.microsoft.com/office/drawing/2014/main" val="665929081"/>
                    </a:ext>
                  </a:extLst>
                </a:gridCol>
                <a:gridCol w="2776008">
                  <a:extLst>
                    <a:ext uri="{9D8B030D-6E8A-4147-A177-3AD203B41FA5}">
                      <a16:colId xmlns:a16="http://schemas.microsoft.com/office/drawing/2014/main" val="3414544078"/>
                    </a:ext>
                  </a:extLst>
                </a:gridCol>
              </a:tblGrid>
              <a:tr h="0">
                <a:tc>
                  <a:txBody>
                    <a:bodyPr/>
                    <a:lstStyle/>
                    <a:p>
                      <a:pPr>
                        <a:buNone/>
                      </a:pPr>
                      <a:r>
                        <a:rPr lang="en-AU" sz="2800" b="1" dirty="0"/>
                        <a:t>Department</a:t>
                      </a:r>
                    </a:p>
                  </a:txBody>
                  <a:tcPr anchor="ctr"/>
                </a:tc>
                <a:tc>
                  <a:txBody>
                    <a:bodyPr/>
                    <a:lstStyle/>
                    <a:p>
                      <a:pPr>
                        <a:buNone/>
                      </a:pPr>
                      <a:r>
                        <a:rPr lang="en-AU" sz="2800" b="1" dirty="0"/>
                        <a:t>Current end devices</a:t>
                      </a:r>
                    </a:p>
                  </a:txBody>
                  <a:tcPr anchor="ctr"/>
                </a:tc>
                <a:tc>
                  <a:txBody>
                    <a:bodyPr/>
                    <a:lstStyle/>
                    <a:p>
                      <a:pPr>
                        <a:buNone/>
                      </a:pPr>
                      <a:r>
                        <a:rPr lang="en-AU" sz="2800" b="1" dirty="0"/>
                        <a:t>Example subnet</a:t>
                      </a:r>
                    </a:p>
                  </a:txBody>
                  <a:tcPr anchor="ctr"/>
                </a:tc>
                <a:extLst>
                  <a:ext uri="{0D108BD9-81ED-4DB2-BD59-A6C34878D82A}">
                    <a16:rowId xmlns:a16="http://schemas.microsoft.com/office/drawing/2014/main" val="1367606500"/>
                  </a:ext>
                </a:extLst>
              </a:tr>
              <a:tr h="0">
                <a:tc>
                  <a:txBody>
                    <a:bodyPr/>
                    <a:lstStyle/>
                    <a:p>
                      <a:pPr>
                        <a:buNone/>
                      </a:pPr>
                      <a:r>
                        <a:rPr lang="en-AU" sz="2800"/>
                        <a:t>HR</a:t>
                      </a:r>
                    </a:p>
                  </a:txBody>
                  <a:tcPr anchor="ctr"/>
                </a:tc>
                <a:tc>
                  <a:txBody>
                    <a:bodyPr/>
                    <a:lstStyle/>
                    <a:p>
                      <a:pPr>
                        <a:buNone/>
                      </a:pPr>
                      <a:r>
                        <a:rPr lang="en-AU" sz="2800"/>
                        <a:t>12</a:t>
                      </a:r>
                    </a:p>
                  </a:txBody>
                  <a:tcPr anchor="ctr"/>
                </a:tc>
                <a:tc>
                  <a:txBody>
                    <a:bodyPr/>
                    <a:lstStyle/>
                    <a:p>
                      <a:pPr>
                        <a:buNone/>
                      </a:pPr>
                      <a:r>
                        <a:rPr lang="en-AU" sz="2800" dirty="0"/>
                        <a:t>192.168.10.0/27</a:t>
                      </a:r>
                    </a:p>
                  </a:txBody>
                  <a:tcPr anchor="ctr"/>
                </a:tc>
                <a:extLst>
                  <a:ext uri="{0D108BD9-81ED-4DB2-BD59-A6C34878D82A}">
                    <a16:rowId xmlns:a16="http://schemas.microsoft.com/office/drawing/2014/main" val="2919554785"/>
                  </a:ext>
                </a:extLst>
              </a:tr>
              <a:tr h="0">
                <a:tc>
                  <a:txBody>
                    <a:bodyPr/>
                    <a:lstStyle/>
                    <a:p>
                      <a:pPr>
                        <a:buNone/>
                      </a:pPr>
                      <a:r>
                        <a:rPr lang="en-AU" sz="2800"/>
                        <a:t>Finance</a:t>
                      </a:r>
                    </a:p>
                  </a:txBody>
                  <a:tcPr anchor="ctr"/>
                </a:tc>
                <a:tc>
                  <a:txBody>
                    <a:bodyPr/>
                    <a:lstStyle/>
                    <a:p>
                      <a:pPr>
                        <a:buNone/>
                      </a:pPr>
                      <a:r>
                        <a:rPr lang="en-AU" sz="2800"/>
                        <a:t>16</a:t>
                      </a:r>
                    </a:p>
                  </a:txBody>
                  <a:tcPr anchor="ctr"/>
                </a:tc>
                <a:tc>
                  <a:txBody>
                    <a:bodyPr/>
                    <a:lstStyle/>
                    <a:p>
                      <a:pPr>
                        <a:buNone/>
                      </a:pPr>
                      <a:r>
                        <a:rPr lang="en-AU" sz="2800" dirty="0"/>
                        <a:t>192.168.20.0/27</a:t>
                      </a:r>
                    </a:p>
                  </a:txBody>
                  <a:tcPr anchor="ctr"/>
                </a:tc>
                <a:extLst>
                  <a:ext uri="{0D108BD9-81ED-4DB2-BD59-A6C34878D82A}">
                    <a16:rowId xmlns:a16="http://schemas.microsoft.com/office/drawing/2014/main" val="2529396805"/>
                  </a:ext>
                </a:extLst>
              </a:tr>
            </a:tbl>
          </a:graphicData>
        </a:graphic>
      </p:graphicFrame>
      <p:sp>
        <p:nvSpPr>
          <p:cNvPr id="5" name="TextBox 4">
            <a:extLst>
              <a:ext uri="{FF2B5EF4-FFF2-40B4-BE49-F238E27FC236}">
                <a16:creationId xmlns:a16="http://schemas.microsoft.com/office/drawing/2014/main" id="{4AF632B2-AC42-22AD-E1A5-1616DC97F89E}"/>
              </a:ext>
            </a:extLst>
          </p:cNvPr>
          <p:cNvSpPr txBox="1"/>
          <p:nvPr/>
        </p:nvSpPr>
        <p:spPr>
          <a:xfrm>
            <a:off x="84931" y="967844"/>
            <a:ext cx="4572000" cy="523220"/>
          </a:xfrm>
          <a:prstGeom prst="rect">
            <a:avLst/>
          </a:prstGeom>
          <a:noFill/>
        </p:spPr>
        <p:txBody>
          <a:bodyPr wrap="square">
            <a:spAutoFit/>
          </a:bodyPr>
          <a:lstStyle/>
          <a:p>
            <a:pPr>
              <a:buNone/>
            </a:pPr>
            <a:r>
              <a:rPr lang="en-AU" sz="2800">
                <a:latin typeface="+mj-lt"/>
              </a:rPr>
              <a:t>Illustrative planning example</a:t>
            </a:r>
          </a:p>
        </p:txBody>
      </p:sp>
      <p:sp>
        <p:nvSpPr>
          <p:cNvPr id="7" name="TextBox 6">
            <a:extLst>
              <a:ext uri="{FF2B5EF4-FFF2-40B4-BE49-F238E27FC236}">
                <a16:creationId xmlns:a16="http://schemas.microsoft.com/office/drawing/2014/main" id="{49213BB9-EAD2-14EE-4680-11A394A6EE3B}"/>
              </a:ext>
            </a:extLst>
          </p:cNvPr>
          <p:cNvSpPr txBox="1"/>
          <p:nvPr/>
        </p:nvSpPr>
        <p:spPr>
          <a:xfrm>
            <a:off x="-23813" y="3245065"/>
            <a:ext cx="9101136" cy="3631250"/>
          </a:xfrm>
          <a:prstGeom prst="rect">
            <a:avLst/>
          </a:prstGeom>
          <a:noFill/>
        </p:spPr>
        <p:txBody>
          <a:bodyPr wrap="square">
            <a:spAutoFit/>
          </a:bodyPr>
          <a:lstStyle/>
          <a:p>
            <a:pPr>
              <a:lnSpc>
                <a:spcPct val="150000"/>
              </a:lnSpc>
              <a:buNone/>
            </a:pPr>
            <a:r>
              <a:rPr lang="en-AU" sz="2600" dirty="0">
                <a:latin typeface="+mj-lt"/>
              </a:rPr>
              <a:t>Both /27 networks provide 30 usable IPv4 addresses. These are teaching examples, not prescribed assessment addresses.</a:t>
            </a:r>
          </a:p>
          <a:p>
            <a:pPr>
              <a:lnSpc>
                <a:spcPct val="150000"/>
              </a:lnSpc>
              <a:buNone/>
            </a:pPr>
            <a:r>
              <a:rPr lang="en-AU" sz="2600" dirty="0">
                <a:latin typeface="+mj-lt"/>
              </a:rPr>
              <a:t>Discussion: Why might a /28 subnet be unsuitable for Finance?</a:t>
            </a:r>
          </a:p>
          <a:p>
            <a:pPr>
              <a:lnSpc>
                <a:spcPct val="150000"/>
              </a:lnSpc>
              <a:buNone/>
            </a:pPr>
            <a:r>
              <a:rPr lang="en-AU" sz="2600" dirty="0">
                <a:latin typeface="+mj-lt"/>
              </a:rPr>
              <a:t>Answer: It provides only 14 usable addresses, which is fewer than Finance's 16 listed end devices, even before allowing for a gateway or future growth.</a:t>
            </a:r>
          </a:p>
        </p:txBody>
      </p:sp>
    </p:spTree>
    <p:extLst>
      <p:ext uri="{BB962C8B-B14F-4D97-AF65-F5344CB8AC3E}">
        <p14:creationId xmlns:p14="http://schemas.microsoft.com/office/powerpoint/2010/main" val="218112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 calcmode="lin" valueType="num">
                                      <p:cBhvr additive="base">
                                        <p:cTn id="7"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DB3A5-4738-04C5-4141-1671262D8AAB}"/>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B23E4E8A-C198-EE74-DA67-F4222BA49005}"/>
              </a:ext>
            </a:extLst>
          </p:cNvPr>
          <p:cNvSpPr txBox="1">
            <a:spLocks noGrp="1"/>
          </p:cNvSpPr>
          <p:nvPr>
            <p:ph type="ctrTitle"/>
          </p:nvPr>
        </p:nvSpPr>
        <p:spPr>
          <a:xfrm>
            <a:off x="263448" y="62483"/>
            <a:ext cx="7356552" cy="905376"/>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Switches, Routers and Internet Connectivity</a:t>
            </a:r>
            <a:endParaRPr dirty="0">
              <a:solidFill>
                <a:schemeClr val="tx1"/>
              </a:solidFill>
            </a:endParaRPr>
          </a:p>
        </p:txBody>
      </p:sp>
      <p:sp>
        <p:nvSpPr>
          <p:cNvPr id="15" name="object 15">
            <a:extLst>
              <a:ext uri="{FF2B5EF4-FFF2-40B4-BE49-F238E27FC236}">
                <a16:creationId xmlns:a16="http://schemas.microsoft.com/office/drawing/2014/main" id="{D83A61D6-ABBA-34E1-C389-D0FDAD3589CA}"/>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92A12C98-AA72-2DAC-80F2-8251C197AF4E}"/>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094CEECB-3440-E84A-8DE2-F26BFA43871F}"/>
              </a:ext>
            </a:extLst>
          </p:cNvPr>
          <p:cNvSpPr txBox="1"/>
          <p:nvPr/>
        </p:nvSpPr>
        <p:spPr>
          <a:xfrm>
            <a:off x="0" y="1295401"/>
            <a:ext cx="9144000" cy="3903504"/>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AU" sz="2800" dirty="0">
                <a:latin typeface="+mj-lt"/>
              </a:rPr>
              <a:t>Switches connect devices within a local network.</a:t>
            </a:r>
          </a:p>
          <a:p>
            <a:pPr marL="342900" lvl="0" indent="-342900">
              <a:lnSpc>
                <a:spcPct val="150000"/>
              </a:lnSpc>
              <a:buFont typeface="Arial" panose="020B0604020202020204" pitchFamily="34" charset="0"/>
              <a:buChar char="•"/>
            </a:pPr>
            <a:r>
              <a:rPr lang="en-AU" sz="2800" dirty="0">
                <a:latin typeface="+mj-lt"/>
              </a:rPr>
              <a:t>Routers connect different IP networks.</a:t>
            </a:r>
          </a:p>
          <a:p>
            <a:pPr marL="342900" lvl="0" indent="-342900">
              <a:lnSpc>
                <a:spcPct val="150000"/>
              </a:lnSpc>
              <a:buFont typeface="Arial" panose="020B0604020202020204" pitchFamily="34" charset="0"/>
              <a:buChar char="•"/>
            </a:pPr>
            <a:r>
              <a:rPr lang="en-AU" sz="2800" dirty="0">
                <a:latin typeface="+mj-lt"/>
              </a:rPr>
              <a:t>A default gateway forwards traffic outside the local subnet.</a:t>
            </a:r>
          </a:p>
          <a:p>
            <a:pPr marL="342900" lvl="0" indent="-342900">
              <a:lnSpc>
                <a:spcPct val="150000"/>
              </a:lnSpc>
              <a:buFont typeface="Arial" panose="020B0604020202020204" pitchFamily="34" charset="0"/>
              <a:buChar char="•"/>
            </a:pPr>
            <a:r>
              <a:rPr lang="en-AU" sz="2800" dirty="0">
                <a:latin typeface="+mj-lt"/>
              </a:rPr>
              <a:t>An ISP connection provides a route towards the Internet.</a:t>
            </a:r>
          </a:p>
          <a:p>
            <a:pPr marL="342900" lvl="0" indent="-342900">
              <a:lnSpc>
                <a:spcPct val="150000"/>
              </a:lnSpc>
              <a:buFont typeface="Arial" panose="020B0604020202020204" pitchFamily="34" charset="0"/>
              <a:buChar char="•"/>
            </a:pPr>
            <a:r>
              <a:rPr lang="en-AU" sz="2800" dirty="0">
                <a:latin typeface="+mj-lt"/>
              </a:rPr>
              <a:t>NAT/PAT may allow multiple private IPv4 devices to share a public IPv4 address.</a:t>
            </a:r>
          </a:p>
        </p:txBody>
      </p:sp>
    </p:spTree>
    <p:extLst>
      <p:ext uri="{BB962C8B-B14F-4D97-AF65-F5344CB8AC3E}">
        <p14:creationId xmlns:p14="http://schemas.microsoft.com/office/powerpoint/2010/main" val="5220779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4866C-83CA-53DA-5AC6-F4F7A3318545}"/>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CE98EF22-8767-EBD2-1369-B7F411C0513C}"/>
              </a:ext>
            </a:extLst>
          </p:cNvPr>
          <p:cNvSpPr txBox="1">
            <a:spLocks noGrp="1"/>
          </p:cNvSpPr>
          <p:nvPr>
            <p:ph type="ctrTitle"/>
          </p:nvPr>
        </p:nvSpPr>
        <p:spPr>
          <a:xfrm>
            <a:off x="263448" y="62483"/>
            <a:ext cx="7356552" cy="905376"/>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Switches, Routers and Internet Connectivity</a:t>
            </a:r>
            <a:endParaRPr dirty="0">
              <a:solidFill>
                <a:schemeClr val="tx1"/>
              </a:solidFill>
            </a:endParaRPr>
          </a:p>
        </p:txBody>
      </p:sp>
      <p:sp>
        <p:nvSpPr>
          <p:cNvPr id="15" name="object 15">
            <a:extLst>
              <a:ext uri="{FF2B5EF4-FFF2-40B4-BE49-F238E27FC236}">
                <a16:creationId xmlns:a16="http://schemas.microsoft.com/office/drawing/2014/main" id="{8F177E1A-85FC-96F7-A702-7A08EE9BA661}"/>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469A97EA-CC7C-05B1-3F48-3693491CAAE8}"/>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6D96FA34-B431-323A-03C2-1341953BDBE8}"/>
              </a:ext>
            </a:extLst>
          </p:cNvPr>
          <p:cNvSpPr txBox="1"/>
          <p:nvPr/>
        </p:nvSpPr>
        <p:spPr>
          <a:xfrm>
            <a:off x="0" y="1524000"/>
            <a:ext cx="9144000" cy="3903504"/>
          </a:xfrm>
          <a:prstGeom prst="rect">
            <a:avLst/>
          </a:prstGeom>
          <a:noFill/>
        </p:spPr>
        <p:txBody>
          <a:bodyPr wrap="square">
            <a:spAutoFit/>
          </a:bodyPr>
          <a:lstStyle/>
          <a:p>
            <a:pPr>
              <a:lnSpc>
                <a:spcPct val="150000"/>
              </a:lnSpc>
              <a:buNone/>
            </a:pPr>
            <a:r>
              <a:rPr lang="en-AU" sz="2800" dirty="0">
                <a:latin typeface="+mj-lt"/>
              </a:rPr>
              <a:t>Australian example: A small Sydney business may connect its HR and Finance networks to one business Internet service.</a:t>
            </a:r>
          </a:p>
          <a:p>
            <a:pPr>
              <a:lnSpc>
                <a:spcPct val="150000"/>
              </a:lnSpc>
              <a:buNone/>
            </a:pPr>
            <a:r>
              <a:rPr lang="en-AU" sz="2800" dirty="0">
                <a:latin typeface="+mj-lt"/>
              </a:rPr>
              <a:t>Discussion: Does connecting a router to an ISP automatically give every PC Internet access?</a:t>
            </a:r>
          </a:p>
          <a:p>
            <a:pPr>
              <a:lnSpc>
                <a:spcPct val="150000"/>
              </a:lnSpc>
              <a:buNone/>
            </a:pPr>
            <a:r>
              <a:rPr lang="en-AU" sz="2800" dirty="0">
                <a:latin typeface="+mj-lt"/>
              </a:rPr>
              <a:t>Answer: No. Correct addressing, gateways, routing, ISP connectivity and often NAT and DNS are also required.</a:t>
            </a:r>
          </a:p>
        </p:txBody>
      </p:sp>
    </p:spTree>
    <p:extLst>
      <p:ext uri="{BB962C8B-B14F-4D97-AF65-F5344CB8AC3E}">
        <p14:creationId xmlns:p14="http://schemas.microsoft.com/office/powerpoint/2010/main" val="3608529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02A38-FE84-B9A7-A098-0FDD5D52B02C}"/>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A0616135-87A6-CE80-14D3-F847D8D625C1}"/>
              </a:ext>
            </a:extLst>
          </p:cNvPr>
          <p:cNvSpPr txBox="1">
            <a:spLocks noGrp="1"/>
          </p:cNvSpPr>
          <p:nvPr>
            <p:ph type="ctrTitle"/>
          </p:nvPr>
        </p:nvSpPr>
        <p:spPr>
          <a:xfrm>
            <a:off x="263448" y="62483"/>
            <a:ext cx="7356552" cy="905376"/>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Switches, Routers and Internet Connectivity</a:t>
            </a:r>
            <a:endParaRPr dirty="0">
              <a:solidFill>
                <a:schemeClr val="tx1"/>
              </a:solidFill>
            </a:endParaRPr>
          </a:p>
        </p:txBody>
      </p:sp>
      <p:sp>
        <p:nvSpPr>
          <p:cNvPr id="15" name="object 15">
            <a:extLst>
              <a:ext uri="{FF2B5EF4-FFF2-40B4-BE49-F238E27FC236}">
                <a16:creationId xmlns:a16="http://schemas.microsoft.com/office/drawing/2014/main" id="{88BD5401-8F44-E413-9628-3E8BBDD0AE04}"/>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059C79A5-AC30-89A6-428E-DA6ABC513DE0}"/>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pic>
        <p:nvPicPr>
          <p:cNvPr id="3" name="Picture 2" descr="The image depicts a network topology for a company, showcasing the connection between the HR and Finance departments, an Internet connection, and various devices like a wireless printer and scanner.&#10;&#10;AI-generated content may be incorrect.">
            <a:extLst>
              <a:ext uri="{FF2B5EF4-FFF2-40B4-BE49-F238E27FC236}">
                <a16:creationId xmlns:a16="http://schemas.microsoft.com/office/drawing/2014/main" id="{8F94635B-FECA-C66F-C0A1-2F869F692384}"/>
              </a:ext>
            </a:extLst>
          </p:cNvPr>
          <p:cNvPicPr>
            <a:picLocks noChangeAspect="1"/>
          </p:cNvPicPr>
          <p:nvPr/>
        </p:nvPicPr>
        <p:blipFill>
          <a:blip r:embed="rId2">
            <a:extLst>
              <a:ext uri="{28A0092B-C50C-407E-A947-70E740481C1C}">
                <a14:useLocalDpi xmlns:a14="http://schemas.microsoft.com/office/drawing/2010/main" val="0"/>
              </a:ext>
            </a:extLst>
          </a:blip>
          <a:srcRect l="33333" r="33333" b="75000"/>
          <a:stretch>
            <a:fillRect/>
          </a:stretch>
        </p:blipFill>
        <p:spPr>
          <a:xfrm>
            <a:off x="0" y="1143000"/>
            <a:ext cx="9144000" cy="4572000"/>
          </a:xfrm>
          <a:prstGeom prst="rect">
            <a:avLst/>
          </a:prstGeom>
        </p:spPr>
      </p:pic>
      <p:sp>
        <p:nvSpPr>
          <p:cNvPr id="4" name="TextBox 3">
            <a:extLst>
              <a:ext uri="{FF2B5EF4-FFF2-40B4-BE49-F238E27FC236}">
                <a16:creationId xmlns:a16="http://schemas.microsoft.com/office/drawing/2014/main" id="{36C845F8-5B2C-DFDD-30DD-D9DF104AB395}"/>
              </a:ext>
            </a:extLst>
          </p:cNvPr>
          <p:cNvSpPr txBox="1"/>
          <p:nvPr/>
        </p:nvSpPr>
        <p:spPr>
          <a:xfrm>
            <a:off x="9525" y="5708545"/>
            <a:ext cx="9144000" cy="1107996"/>
          </a:xfrm>
          <a:prstGeom prst="rect">
            <a:avLst/>
          </a:prstGeom>
          <a:noFill/>
        </p:spPr>
        <p:txBody>
          <a:bodyPr wrap="square">
            <a:spAutoFit/>
          </a:bodyPr>
          <a:lstStyle/>
          <a:p>
            <a:r>
              <a:rPr lang="en-AU" sz="2200" dirty="0">
                <a:latin typeface="+mj-lt"/>
              </a:rPr>
              <a:t>This diagram shows how the HR and Finance departments connect to the Internet through their network devices. Both departments can access the Internet while using separate local networks.</a:t>
            </a:r>
          </a:p>
        </p:txBody>
      </p:sp>
    </p:spTree>
    <p:extLst>
      <p:ext uri="{BB962C8B-B14F-4D97-AF65-F5344CB8AC3E}">
        <p14:creationId xmlns:p14="http://schemas.microsoft.com/office/powerpoint/2010/main" val="28778607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B8EFE-7266-A4AA-3EC6-D79249225FED}"/>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0E0547BD-4F6E-06EA-D54D-50C118C9BB1B}"/>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Cisco IOS Command Modes</a:t>
            </a:r>
            <a:endParaRPr dirty="0">
              <a:solidFill>
                <a:schemeClr val="tx1"/>
              </a:solidFill>
            </a:endParaRPr>
          </a:p>
        </p:txBody>
      </p:sp>
      <p:sp>
        <p:nvSpPr>
          <p:cNvPr id="15" name="object 15">
            <a:extLst>
              <a:ext uri="{FF2B5EF4-FFF2-40B4-BE49-F238E27FC236}">
                <a16:creationId xmlns:a16="http://schemas.microsoft.com/office/drawing/2014/main" id="{7D9E3AC9-F7CD-259D-6760-198C9482E3FC}"/>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406AE88F-1447-425C-8814-EEE593950C26}"/>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graphicFrame>
        <p:nvGraphicFramePr>
          <p:cNvPr id="2" name="Table 1">
            <a:extLst>
              <a:ext uri="{FF2B5EF4-FFF2-40B4-BE49-F238E27FC236}">
                <a16:creationId xmlns:a16="http://schemas.microsoft.com/office/drawing/2014/main" id="{72C6AD46-1200-B2E3-C0FD-6912ABBC8AF5}"/>
              </a:ext>
            </a:extLst>
          </p:cNvPr>
          <p:cNvGraphicFramePr>
            <a:graphicFrameLocks noGrp="1"/>
          </p:cNvGraphicFramePr>
          <p:nvPr>
            <p:extLst>
              <p:ext uri="{D42A27DB-BD31-4B8C-83A1-F6EECF244321}">
                <p14:modId xmlns:p14="http://schemas.microsoft.com/office/powerpoint/2010/main" val="4160705585"/>
              </p:ext>
            </p:extLst>
          </p:nvPr>
        </p:nvGraphicFramePr>
        <p:xfrm>
          <a:off x="407988" y="1752600"/>
          <a:ext cx="8328024" cy="3870960"/>
        </p:xfrm>
        <a:graphic>
          <a:graphicData uri="http://schemas.openxmlformats.org/drawingml/2006/table">
            <a:tbl>
              <a:tblPr>
                <a:tableStyleId>{00A15C55-8517-42AA-B614-E9B94910E393}</a:tableStyleId>
              </a:tblPr>
              <a:tblGrid>
                <a:gridCol w="2776008">
                  <a:extLst>
                    <a:ext uri="{9D8B030D-6E8A-4147-A177-3AD203B41FA5}">
                      <a16:colId xmlns:a16="http://schemas.microsoft.com/office/drawing/2014/main" val="2605034809"/>
                    </a:ext>
                  </a:extLst>
                </a:gridCol>
                <a:gridCol w="2776008">
                  <a:extLst>
                    <a:ext uri="{9D8B030D-6E8A-4147-A177-3AD203B41FA5}">
                      <a16:colId xmlns:a16="http://schemas.microsoft.com/office/drawing/2014/main" val="2427524530"/>
                    </a:ext>
                  </a:extLst>
                </a:gridCol>
                <a:gridCol w="2776008">
                  <a:extLst>
                    <a:ext uri="{9D8B030D-6E8A-4147-A177-3AD203B41FA5}">
                      <a16:colId xmlns:a16="http://schemas.microsoft.com/office/drawing/2014/main" val="3535657249"/>
                    </a:ext>
                  </a:extLst>
                </a:gridCol>
              </a:tblGrid>
              <a:tr h="0">
                <a:tc>
                  <a:txBody>
                    <a:bodyPr/>
                    <a:lstStyle/>
                    <a:p>
                      <a:pPr>
                        <a:buNone/>
                      </a:pPr>
                      <a:r>
                        <a:rPr lang="en-AU" sz="2800" b="1" dirty="0"/>
                        <a:t>Mode</a:t>
                      </a:r>
                      <a:endParaRPr lang="en-AU" sz="2800" b="1" dirty="0">
                        <a:latin typeface="+mj-lt"/>
                      </a:endParaRPr>
                    </a:p>
                  </a:txBody>
                  <a:tcPr anchor="ctr"/>
                </a:tc>
                <a:tc>
                  <a:txBody>
                    <a:bodyPr/>
                    <a:lstStyle/>
                    <a:p>
                      <a:pPr>
                        <a:buNone/>
                      </a:pPr>
                      <a:r>
                        <a:rPr lang="en-AU" sz="2800" b="1" dirty="0"/>
                        <a:t>Example prompt</a:t>
                      </a:r>
                      <a:endParaRPr lang="en-AU" sz="2800" b="1" dirty="0">
                        <a:latin typeface="+mj-lt"/>
                      </a:endParaRPr>
                    </a:p>
                  </a:txBody>
                  <a:tcPr anchor="ctr"/>
                </a:tc>
                <a:tc>
                  <a:txBody>
                    <a:bodyPr/>
                    <a:lstStyle/>
                    <a:p>
                      <a:pPr>
                        <a:buNone/>
                      </a:pPr>
                      <a:r>
                        <a:rPr lang="en-AU" sz="2800" b="1" dirty="0"/>
                        <a:t>Purpose</a:t>
                      </a:r>
                      <a:endParaRPr lang="en-AU" sz="2800" b="1" dirty="0">
                        <a:latin typeface="+mj-lt"/>
                      </a:endParaRPr>
                    </a:p>
                  </a:txBody>
                  <a:tcPr anchor="ctr"/>
                </a:tc>
                <a:extLst>
                  <a:ext uri="{0D108BD9-81ED-4DB2-BD59-A6C34878D82A}">
                    <a16:rowId xmlns:a16="http://schemas.microsoft.com/office/drawing/2014/main" val="1393679796"/>
                  </a:ext>
                </a:extLst>
              </a:tr>
              <a:tr h="0">
                <a:tc>
                  <a:txBody>
                    <a:bodyPr/>
                    <a:lstStyle/>
                    <a:p>
                      <a:pPr>
                        <a:buNone/>
                      </a:pPr>
                      <a:r>
                        <a:rPr lang="en-AU" sz="2800"/>
                        <a:t>User EXEC</a:t>
                      </a:r>
                      <a:endParaRPr lang="en-AU" sz="2800">
                        <a:latin typeface="+mj-lt"/>
                      </a:endParaRPr>
                    </a:p>
                  </a:txBody>
                  <a:tcPr anchor="ctr"/>
                </a:tc>
                <a:tc>
                  <a:txBody>
                    <a:bodyPr/>
                    <a:lstStyle/>
                    <a:p>
                      <a:pPr>
                        <a:buNone/>
                      </a:pPr>
                      <a:r>
                        <a:rPr lang="en-AU" sz="2800" dirty="0"/>
                        <a:t>Router&gt;</a:t>
                      </a:r>
                      <a:endParaRPr lang="en-AU" sz="2800" dirty="0">
                        <a:latin typeface="+mj-lt"/>
                      </a:endParaRPr>
                    </a:p>
                  </a:txBody>
                  <a:tcPr anchor="ctr"/>
                </a:tc>
                <a:tc>
                  <a:txBody>
                    <a:bodyPr/>
                    <a:lstStyle/>
                    <a:p>
                      <a:pPr>
                        <a:buNone/>
                      </a:pPr>
                      <a:r>
                        <a:rPr lang="en-AU" sz="2800"/>
                        <a:t>Basic monitoring</a:t>
                      </a:r>
                      <a:endParaRPr lang="en-AU" sz="2800">
                        <a:latin typeface="+mj-lt"/>
                      </a:endParaRPr>
                    </a:p>
                  </a:txBody>
                  <a:tcPr anchor="ctr"/>
                </a:tc>
                <a:extLst>
                  <a:ext uri="{0D108BD9-81ED-4DB2-BD59-A6C34878D82A}">
                    <a16:rowId xmlns:a16="http://schemas.microsoft.com/office/drawing/2014/main" val="2999750043"/>
                  </a:ext>
                </a:extLst>
              </a:tr>
              <a:tr h="0">
                <a:tc>
                  <a:txBody>
                    <a:bodyPr/>
                    <a:lstStyle/>
                    <a:p>
                      <a:pPr>
                        <a:buNone/>
                      </a:pPr>
                      <a:r>
                        <a:rPr lang="en-AU" sz="2800"/>
                        <a:t>Privileged EXEC</a:t>
                      </a:r>
                      <a:endParaRPr lang="en-AU" sz="2800">
                        <a:latin typeface="+mj-lt"/>
                      </a:endParaRPr>
                    </a:p>
                  </a:txBody>
                  <a:tcPr anchor="ctr"/>
                </a:tc>
                <a:tc>
                  <a:txBody>
                    <a:bodyPr/>
                    <a:lstStyle/>
                    <a:p>
                      <a:pPr>
                        <a:buNone/>
                      </a:pPr>
                      <a:r>
                        <a:rPr lang="en-AU" sz="2800" dirty="0"/>
                        <a:t>Router#</a:t>
                      </a:r>
                      <a:endParaRPr lang="en-AU" sz="2800" dirty="0">
                        <a:latin typeface="+mj-lt"/>
                      </a:endParaRPr>
                    </a:p>
                  </a:txBody>
                  <a:tcPr anchor="ctr"/>
                </a:tc>
                <a:tc>
                  <a:txBody>
                    <a:bodyPr/>
                    <a:lstStyle/>
                    <a:p>
                      <a:pPr>
                        <a:buNone/>
                      </a:pPr>
                      <a:r>
                        <a:rPr lang="en-AU" sz="2800"/>
                        <a:t>Advanced monitoring</a:t>
                      </a:r>
                      <a:endParaRPr lang="en-AU" sz="2800">
                        <a:latin typeface="+mj-lt"/>
                      </a:endParaRPr>
                    </a:p>
                  </a:txBody>
                  <a:tcPr anchor="ctr"/>
                </a:tc>
                <a:extLst>
                  <a:ext uri="{0D108BD9-81ED-4DB2-BD59-A6C34878D82A}">
                    <a16:rowId xmlns:a16="http://schemas.microsoft.com/office/drawing/2014/main" val="3475784577"/>
                  </a:ext>
                </a:extLst>
              </a:tr>
              <a:tr h="0">
                <a:tc>
                  <a:txBody>
                    <a:bodyPr/>
                    <a:lstStyle/>
                    <a:p>
                      <a:pPr>
                        <a:buNone/>
                      </a:pPr>
                      <a:r>
                        <a:rPr lang="en-AU" sz="2800"/>
                        <a:t>Global configuration</a:t>
                      </a:r>
                      <a:endParaRPr lang="en-AU" sz="2800">
                        <a:latin typeface="+mj-lt"/>
                      </a:endParaRPr>
                    </a:p>
                  </a:txBody>
                  <a:tcPr anchor="ctr"/>
                </a:tc>
                <a:tc>
                  <a:txBody>
                    <a:bodyPr/>
                    <a:lstStyle/>
                    <a:p>
                      <a:pPr>
                        <a:buNone/>
                      </a:pPr>
                      <a:r>
                        <a:rPr lang="en-AU" sz="2800" dirty="0"/>
                        <a:t>Router(config)#</a:t>
                      </a:r>
                      <a:endParaRPr lang="en-AU" sz="2800" dirty="0">
                        <a:latin typeface="+mj-lt"/>
                      </a:endParaRPr>
                    </a:p>
                  </a:txBody>
                  <a:tcPr anchor="ctr"/>
                </a:tc>
                <a:tc>
                  <a:txBody>
                    <a:bodyPr/>
                    <a:lstStyle/>
                    <a:p>
                      <a:pPr>
                        <a:buNone/>
                      </a:pPr>
                      <a:r>
                        <a:rPr lang="en-AU" sz="2800"/>
                        <a:t>Device-wide configuration</a:t>
                      </a:r>
                      <a:endParaRPr lang="en-AU" sz="2800">
                        <a:latin typeface="+mj-lt"/>
                      </a:endParaRPr>
                    </a:p>
                  </a:txBody>
                  <a:tcPr anchor="ctr"/>
                </a:tc>
                <a:extLst>
                  <a:ext uri="{0D108BD9-81ED-4DB2-BD59-A6C34878D82A}">
                    <a16:rowId xmlns:a16="http://schemas.microsoft.com/office/drawing/2014/main" val="4206910809"/>
                  </a:ext>
                </a:extLst>
              </a:tr>
              <a:tr h="0">
                <a:tc>
                  <a:txBody>
                    <a:bodyPr/>
                    <a:lstStyle/>
                    <a:p>
                      <a:pPr>
                        <a:buNone/>
                      </a:pPr>
                      <a:r>
                        <a:rPr lang="en-AU" sz="2800"/>
                        <a:t>Interface configuration</a:t>
                      </a:r>
                      <a:endParaRPr lang="en-AU" sz="2800">
                        <a:latin typeface="+mj-lt"/>
                      </a:endParaRPr>
                    </a:p>
                  </a:txBody>
                  <a:tcPr anchor="ctr"/>
                </a:tc>
                <a:tc>
                  <a:txBody>
                    <a:bodyPr/>
                    <a:lstStyle/>
                    <a:p>
                      <a:pPr>
                        <a:buNone/>
                      </a:pPr>
                      <a:r>
                        <a:rPr lang="en-AU" sz="2800" dirty="0"/>
                        <a:t>Router(config-if)#</a:t>
                      </a:r>
                      <a:endParaRPr lang="en-AU" sz="2800" dirty="0">
                        <a:latin typeface="+mj-lt"/>
                      </a:endParaRPr>
                    </a:p>
                  </a:txBody>
                  <a:tcPr anchor="ctr"/>
                </a:tc>
                <a:tc>
                  <a:txBody>
                    <a:bodyPr/>
                    <a:lstStyle/>
                    <a:p>
                      <a:pPr>
                        <a:buNone/>
                      </a:pPr>
                      <a:r>
                        <a:rPr lang="en-AU" sz="2800" dirty="0"/>
                        <a:t>Interface settings</a:t>
                      </a:r>
                      <a:endParaRPr lang="en-AU" sz="2800" dirty="0">
                        <a:latin typeface="+mj-lt"/>
                      </a:endParaRPr>
                    </a:p>
                  </a:txBody>
                  <a:tcPr anchor="ctr"/>
                </a:tc>
                <a:extLst>
                  <a:ext uri="{0D108BD9-81ED-4DB2-BD59-A6C34878D82A}">
                    <a16:rowId xmlns:a16="http://schemas.microsoft.com/office/drawing/2014/main" val="2787845941"/>
                  </a:ext>
                </a:extLst>
              </a:tr>
            </a:tbl>
          </a:graphicData>
        </a:graphic>
      </p:graphicFrame>
    </p:spTree>
    <p:extLst>
      <p:ext uri="{BB962C8B-B14F-4D97-AF65-F5344CB8AC3E}">
        <p14:creationId xmlns:p14="http://schemas.microsoft.com/office/powerpoint/2010/main" val="23669426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B3EB0-06A7-BADF-0266-06086BD4BF56}"/>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B27008F9-BB97-7A78-8F4B-70D412E79E2E}"/>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Cisco IOS Command Modes</a:t>
            </a:r>
            <a:endParaRPr dirty="0">
              <a:solidFill>
                <a:schemeClr val="tx1"/>
              </a:solidFill>
            </a:endParaRPr>
          </a:p>
        </p:txBody>
      </p:sp>
      <p:sp>
        <p:nvSpPr>
          <p:cNvPr id="15" name="object 15">
            <a:extLst>
              <a:ext uri="{FF2B5EF4-FFF2-40B4-BE49-F238E27FC236}">
                <a16:creationId xmlns:a16="http://schemas.microsoft.com/office/drawing/2014/main" id="{F491E755-49F3-A422-C611-9EE5F2B1A4AA}"/>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3D38972F-E136-E051-4D7C-B25BACC79A36}"/>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7336C00D-6117-8E97-C4F3-7D9AA82CA914}"/>
              </a:ext>
            </a:extLst>
          </p:cNvPr>
          <p:cNvSpPr txBox="1"/>
          <p:nvPr/>
        </p:nvSpPr>
        <p:spPr>
          <a:xfrm>
            <a:off x="0" y="402285"/>
            <a:ext cx="4572000" cy="3903504"/>
          </a:xfrm>
          <a:prstGeom prst="rect">
            <a:avLst/>
          </a:prstGeom>
          <a:noFill/>
        </p:spPr>
        <p:txBody>
          <a:bodyPr wrap="square">
            <a:spAutoFit/>
          </a:bodyPr>
          <a:lstStyle/>
          <a:p>
            <a:pPr>
              <a:lnSpc>
                <a:spcPct val="150000"/>
              </a:lnSpc>
            </a:pPr>
            <a:r>
              <a:rPr lang="en-AU" sz="2800" dirty="0">
                <a:latin typeface="+mj-lt"/>
              </a:rPr>
              <a:t>Example commands:</a:t>
            </a:r>
          </a:p>
          <a:p>
            <a:pPr>
              <a:lnSpc>
                <a:spcPct val="150000"/>
              </a:lnSpc>
            </a:pPr>
            <a:r>
              <a:rPr lang="en-AU" sz="2800" dirty="0">
                <a:highlight>
                  <a:srgbClr val="FFFF00"/>
                </a:highlight>
                <a:latin typeface="+mj-lt"/>
              </a:rPr>
              <a:t>enable</a:t>
            </a:r>
          </a:p>
          <a:p>
            <a:pPr>
              <a:lnSpc>
                <a:spcPct val="150000"/>
              </a:lnSpc>
            </a:pPr>
            <a:r>
              <a:rPr lang="en-AU" sz="2800" dirty="0">
                <a:highlight>
                  <a:srgbClr val="FFFF00"/>
                </a:highlight>
                <a:latin typeface="+mj-lt"/>
              </a:rPr>
              <a:t>configure terminal</a:t>
            </a:r>
          </a:p>
          <a:p>
            <a:pPr>
              <a:lnSpc>
                <a:spcPct val="150000"/>
              </a:lnSpc>
            </a:pPr>
            <a:r>
              <a:rPr lang="en-AU" sz="2800" dirty="0">
                <a:highlight>
                  <a:srgbClr val="FFFF00"/>
                </a:highlight>
                <a:latin typeface="+mj-lt"/>
              </a:rPr>
              <a:t>interface </a:t>
            </a:r>
            <a:r>
              <a:rPr lang="en-AU" sz="2800" dirty="0" err="1">
                <a:highlight>
                  <a:srgbClr val="FFFF00"/>
                </a:highlight>
                <a:latin typeface="+mj-lt"/>
              </a:rPr>
              <a:t>gigabitEthernet</a:t>
            </a:r>
            <a:r>
              <a:rPr lang="en-AU" sz="2800" dirty="0">
                <a:highlight>
                  <a:srgbClr val="FFFF00"/>
                </a:highlight>
                <a:latin typeface="+mj-lt"/>
              </a:rPr>
              <a:t> 0/0</a:t>
            </a:r>
          </a:p>
          <a:p>
            <a:pPr>
              <a:lnSpc>
                <a:spcPct val="150000"/>
              </a:lnSpc>
            </a:pPr>
            <a:r>
              <a:rPr lang="en-AU" sz="2800" dirty="0">
                <a:highlight>
                  <a:srgbClr val="FFFF00"/>
                </a:highlight>
                <a:latin typeface="+mj-lt"/>
              </a:rPr>
              <a:t>exit</a:t>
            </a:r>
          </a:p>
          <a:p>
            <a:pPr>
              <a:lnSpc>
                <a:spcPct val="150000"/>
              </a:lnSpc>
            </a:pPr>
            <a:r>
              <a:rPr lang="en-AU" sz="2800" dirty="0">
                <a:highlight>
                  <a:srgbClr val="FFFF00"/>
                </a:highlight>
                <a:latin typeface="+mj-lt"/>
              </a:rPr>
              <a:t>end</a:t>
            </a:r>
          </a:p>
        </p:txBody>
      </p:sp>
      <p:sp>
        <p:nvSpPr>
          <p:cNvPr id="6" name="TextBox 5">
            <a:extLst>
              <a:ext uri="{FF2B5EF4-FFF2-40B4-BE49-F238E27FC236}">
                <a16:creationId xmlns:a16="http://schemas.microsoft.com/office/drawing/2014/main" id="{3D63E3C3-329D-C371-E811-9191B52A62B8}"/>
              </a:ext>
            </a:extLst>
          </p:cNvPr>
          <p:cNvSpPr txBox="1"/>
          <p:nvPr/>
        </p:nvSpPr>
        <p:spPr>
          <a:xfrm>
            <a:off x="0" y="4115052"/>
            <a:ext cx="9144000" cy="2610843"/>
          </a:xfrm>
          <a:prstGeom prst="rect">
            <a:avLst/>
          </a:prstGeom>
          <a:noFill/>
        </p:spPr>
        <p:txBody>
          <a:bodyPr wrap="square">
            <a:spAutoFit/>
          </a:bodyPr>
          <a:lstStyle/>
          <a:p>
            <a:pPr>
              <a:lnSpc>
                <a:spcPct val="150000"/>
              </a:lnSpc>
              <a:buNone/>
            </a:pPr>
            <a:r>
              <a:rPr lang="en-AU" sz="2800" dirty="0">
                <a:latin typeface="+mj-lt"/>
              </a:rPr>
              <a:t>Discussion: Why does </a:t>
            </a:r>
            <a:r>
              <a:rPr lang="en-AU" sz="2800" dirty="0" err="1">
                <a:latin typeface="+mj-lt"/>
              </a:rPr>
              <a:t>ip</a:t>
            </a:r>
            <a:r>
              <a:rPr lang="en-AU" sz="2800" dirty="0">
                <a:latin typeface="+mj-lt"/>
              </a:rPr>
              <a:t> address not normally work at the Router# prompt?</a:t>
            </a:r>
          </a:p>
          <a:p>
            <a:pPr>
              <a:lnSpc>
                <a:spcPct val="150000"/>
              </a:lnSpc>
              <a:buNone/>
            </a:pPr>
            <a:r>
              <a:rPr lang="en-AU" sz="2800" dirty="0">
                <a:latin typeface="+mj-lt"/>
              </a:rPr>
              <a:t>Answer: Interface IP addresses are configured in interface configuration mode.</a:t>
            </a:r>
          </a:p>
        </p:txBody>
      </p:sp>
    </p:spTree>
    <p:extLst>
      <p:ext uri="{BB962C8B-B14F-4D97-AF65-F5344CB8AC3E}">
        <p14:creationId xmlns:p14="http://schemas.microsoft.com/office/powerpoint/2010/main" val="161819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A6DE5-7C28-A574-1532-5BD2D89B2ED9}"/>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82CBD000-B64F-9BBC-87C4-D3AA124C4C1A}"/>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Cisco IOS Command Modes</a:t>
            </a:r>
            <a:endParaRPr dirty="0">
              <a:solidFill>
                <a:schemeClr val="tx1"/>
              </a:solidFill>
            </a:endParaRPr>
          </a:p>
        </p:txBody>
      </p:sp>
      <p:sp>
        <p:nvSpPr>
          <p:cNvPr id="15" name="object 15">
            <a:extLst>
              <a:ext uri="{FF2B5EF4-FFF2-40B4-BE49-F238E27FC236}">
                <a16:creationId xmlns:a16="http://schemas.microsoft.com/office/drawing/2014/main" id="{45637B5B-22A9-BA4A-FCCA-301991A03D53}"/>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54B1317D-698D-396B-74C3-71270CC52AFC}"/>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pic>
        <p:nvPicPr>
          <p:cNvPr id="3" name="Picture 2" descr="The image depicts a network topology for a company, showcasing the connection between the HR and Finance departments, an Internet connection, and various devices like a wireless printer and scanner.&#10;&#10;AI-generated content may be incorrect.">
            <a:extLst>
              <a:ext uri="{FF2B5EF4-FFF2-40B4-BE49-F238E27FC236}">
                <a16:creationId xmlns:a16="http://schemas.microsoft.com/office/drawing/2014/main" id="{4B9B2C3E-1A75-E7E7-833D-50A6E57D6DED}"/>
              </a:ext>
            </a:extLst>
          </p:cNvPr>
          <p:cNvPicPr>
            <a:picLocks noChangeAspect="1"/>
          </p:cNvPicPr>
          <p:nvPr/>
        </p:nvPicPr>
        <p:blipFill>
          <a:blip r:embed="rId2">
            <a:extLst>
              <a:ext uri="{28A0092B-C50C-407E-A947-70E740481C1C}">
                <a14:useLocalDpi xmlns:a14="http://schemas.microsoft.com/office/drawing/2010/main" val="0"/>
              </a:ext>
            </a:extLst>
          </a:blip>
          <a:srcRect l="66641" b="74258"/>
          <a:stretch>
            <a:fillRect/>
          </a:stretch>
        </p:blipFill>
        <p:spPr>
          <a:xfrm>
            <a:off x="-9525" y="762000"/>
            <a:ext cx="9143999" cy="4704057"/>
          </a:xfrm>
          <a:prstGeom prst="rect">
            <a:avLst/>
          </a:prstGeom>
        </p:spPr>
      </p:pic>
      <p:sp>
        <p:nvSpPr>
          <p:cNvPr id="4" name="TextBox 3">
            <a:extLst>
              <a:ext uri="{FF2B5EF4-FFF2-40B4-BE49-F238E27FC236}">
                <a16:creationId xmlns:a16="http://schemas.microsoft.com/office/drawing/2014/main" id="{229C9318-7A48-5D03-581E-057AFC7FB623}"/>
              </a:ext>
            </a:extLst>
          </p:cNvPr>
          <p:cNvSpPr txBox="1"/>
          <p:nvPr/>
        </p:nvSpPr>
        <p:spPr>
          <a:xfrm>
            <a:off x="9526" y="5397032"/>
            <a:ext cx="9136856" cy="1446550"/>
          </a:xfrm>
          <a:prstGeom prst="rect">
            <a:avLst/>
          </a:prstGeom>
          <a:noFill/>
        </p:spPr>
        <p:txBody>
          <a:bodyPr wrap="square">
            <a:spAutoFit/>
          </a:bodyPr>
          <a:lstStyle/>
          <a:p>
            <a:r>
              <a:rPr lang="en-AU" sz="2200" dirty="0">
                <a:latin typeface="+mj-lt"/>
              </a:rPr>
              <a:t>Cisco routers have different command modes for viewing information and changing settings. To configure an IP address, we must enter interface configuration mode using commands such as configure terminal and interface g0/0.</a:t>
            </a:r>
          </a:p>
        </p:txBody>
      </p:sp>
    </p:spTree>
    <p:extLst>
      <p:ext uri="{BB962C8B-B14F-4D97-AF65-F5344CB8AC3E}">
        <p14:creationId xmlns:p14="http://schemas.microsoft.com/office/powerpoint/2010/main" val="42507520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F2F10-30DC-BA07-0EE6-518FBE505D3C}"/>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836CA421-E070-DBB9-04F8-6032AA99D37C}"/>
              </a:ext>
            </a:extLst>
          </p:cNvPr>
          <p:cNvSpPr txBox="1">
            <a:spLocks noGrp="1"/>
          </p:cNvSpPr>
          <p:nvPr>
            <p:ph type="ctrTitle"/>
          </p:nvPr>
        </p:nvSpPr>
        <p:spPr>
          <a:xfrm>
            <a:off x="263448" y="62483"/>
            <a:ext cx="7356552" cy="905376"/>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Scenario 1 – Troubleshooting and Diagnostic Reasoning</a:t>
            </a:r>
            <a:endParaRPr dirty="0">
              <a:solidFill>
                <a:schemeClr val="tx1"/>
              </a:solidFill>
            </a:endParaRPr>
          </a:p>
        </p:txBody>
      </p:sp>
      <p:sp>
        <p:nvSpPr>
          <p:cNvPr id="15" name="object 15">
            <a:extLst>
              <a:ext uri="{FF2B5EF4-FFF2-40B4-BE49-F238E27FC236}">
                <a16:creationId xmlns:a16="http://schemas.microsoft.com/office/drawing/2014/main" id="{FC1176B1-288F-FEED-BE78-B0C1DE45ECEE}"/>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FEC8D2C3-72D0-0931-5553-E7A565CD2CED}"/>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6" name="TextBox 5">
            <a:extLst>
              <a:ext uri="{FF2B5EF4-FFF2-40B4-BE49-F238E27FC236}">
                <a16:creationId xmlns:a16="http://schemas.microsoft.com/office/drawing/2014/main" id="{3C5425E0-4ADB-EFF3-2EC7-E262EA98DFDB}"/>
              </a:ext>
            </a:extLst>
          </p:cNvPr>
          <p:cNvSpPr txBox="1"/>
          <p:nvPr/>
        </p:nvSpPr>
        <p:spPr>
          <a:xfrm>
            <a:off x="0" y="1219200"/>
            <a:ext cx="9144000" cy="4877746"/>
          </a:xfrm>
          <a:prstGeom prst="rect">
            <a:avLst/>
          </a:prstGeom>
          <a:noFill/>
        </p:spPr>
        <p:txBody>
          <a:bodyPr wrap="square">
            <a:spAutoFit/>
          </a:bodyPr>
          <a:lstStyle/>
          <a:p>
            <a:pPr>
              <a:lnSpc>
                <a:spcPct val="150000"/>
              </a:lnSpc>
              <a:buNone/>
            </a:pPr>
            <a:r>
              <a:rPr lang="en-AU" sz="2800" b="1" dirty="0">
                <a:latin typeface="+mj-lt"/>
              </a:rPr>
              <a:t>Scenario 1: Understand the Existing Network</a:t>
            </a:r>
          </a:p>
          <a:p>
            <a:pPr>
              <a:lnSpc>
                <a:spcPct val="150000"/>
              </a:lnSpc>
              <a:buNone/>
            </a:pPr>
            <a:r>
              <a:rPr lang="en-AU" sz="2600" dirty="0">
                <a:latin typeface="+mj-lt"/>
              </a:rPr>
              <a:t>The supplied topology includes:</a:t>
            </a:r>
          </a:p>
          <a:p>
            <a:pPr marL="342900" lvl="0" indent="-342900">
              <a:lnSpc>
                <a:spcPct val="150000"/>
              </a:lnSpc>
              <a:buFont typeface="Arial" panose="020B0604020202020204" pitchFamily="34" charset="0"/>
              <a:buChar char="•"/>
            </a:pPr>
            <a:r>
              <a:rPr lang="en-AU" sz="2600" dirty="0">
                <a:latin typeface="+mj-lt"/>
              </a:rPr>
              <a:t>Routers R1, R2 and R3.</a:t>
            </a:r>
          </a:p>
          <a:p>
            <a:pPr marL="342900" lvl="0" indent="-342900">
              <a:lnSpc>
                <a:spcPct val="150000"/>
              </a:lnSpc>
              <a:buFont typeface="Arial" panose="020B0604020202020204" pitchFamily="34" charset="0"/>
              <a:buChar char="•"/>
            </a:pPr>
            <a:r>
              <a:rPr lang="en-AU" sz="2600" dirty="0">
                <a:latin typeface="+mj-lt"/>
              </a:rPr>
              <a:t>Switches SW0, SW1, SW2 and MGT-SW.</a:t>
            </a:r>
          </a:p>
          <a:p>
            <a:pPr marL="342900" lvl="0" indent="-342900">
              <a:lnSpc>
                <a:spcPct val="150000"/>
              </a:lnSpc>
              <a:buFont typeface="Arial" panose="020B0604020202020204" pitchFamily="34" charset="0"/>
              <a:buChar char="•"/>
            </a:pPr>
            <a:r>
              <a:rPr lang="en-AU" sz="2600" dirty="0">
                <a:latin typeface="+mj-lt"/>
              </a:rPr>
              <a:t>PC-A as the illustrated management PC.</a:t>
            </a:r>
          </a:p>
          <a:p>
            <a:pPr marL="342900" lvl="0" indent="-342900">
              <a:lnSpc>
                <a:spcPct val="150000"/>
              </a:lnSpc>
              <a:buFont typeface="Arial" panose="020B0604020202020204" pitchFamily="34" charset="0"/>
              <a:buChar char="•"/>
            </a:pPr>
            <a:r>
              <a:rPr lang="en-AU" sz="2600" dirty="0">
                <a:latin typeface="+mj-lt"/>
              </a:rPr>
              <a:t>Ethernet connections between network devices.</a:t>
            </a:r>
          </a:p>
          <a:p>
            <a:pPr marL="342900" lvl="0" indent="-342900">
              <a:lnSpc>
                <a:spcPct val="150000"/>
              </a:lnSpc>
              <a:buFont typeface="Arial" panose="020B0604020202020204" pitchFamily="34" charset="0"/>
              <a:buChar char="•"/>
            </a:pPr>
            <a:r>
              <a:rPr lang="en-AU" sz="2600" dirty="0">
                <a:latin typeface="+mj-lt"/>
              </a:rPr>
              <a:t>Serial connections between routers.</a:t>
            </a:r>
          </a:p>
          <a:p>
            <a:pPr marL="342900" lvl="0" indent="-342900">
              <a:lnSpc>
                <a:spcPct val="150000"/>
              </a:lnSpc>
              <a:buFont typeface="Arial" panose="020B0604020202020204" pitchFamily="34" charset="0"/>
              <a:buChar char="•"/>
            </a:pPr>
            <a:r>
              <a:rPr lang="en-AU" sz="2600" dirty="0">
                <a:latin typeface="+mj-lt"/>
              </a:rPr>
              <a:t>VLAN interfaces and router loopback interfaces.</a:t>
            </a:r>
          </a:p>
        </p:txBody>
      </p:sp>
    </p:spTree>
    <p:extLst>
      <p:ext uri="{BB962C8B-B14F-4D97-AF65-F5344CB8AC3E}">
        <p14:creationId xmlns:p14="http://schemas.microsoft.com/office/powerpoint/2010/main" val="3269974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D5F01-7949-2DB9-22A0-919BF2CB933D}"/>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898A17CE-0974-3975-FFE4-B5276DF2C0C5}"/>
              </a:ext>
            </a:extLst>
          </p:cNvPr>
          <p:cNvSpPr txBox="1">
            <a:spLocks noGrp="1"/>
          </p:cNvSpPr>
          <p:nvPr>
            <p:ph type="ctrTitle"/>
          </p:nvPr>
        </p:nvSpPr>
        <p:spPr>
          <a:xfrm>
            <a:off x="263448" y="62483"/>
            <a:ext cx="7356552" cy="905376"/>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Scenario 1 – Troubleshooting and Diagnostic Reasoning</a:t>
            </a:r>
            <a:endParaRPr dirty="0">
              <a:solidFill>
                <a:schemeClr val="tx1"/>
              </a:solidFill>
            </a:endParaRPr>
          </a:p>
        </p:txBody>
      </p:sp>
      <p:sp>
        <p:nvSpPr>
          <p:cNvPr id="15" name="object 15">
            <a:extLst>
              <a:ext uri="{FF2B5EF4-FFF2-40B4-BE49-F238E27FC236}">
                <a16:creationId xmlns:a16="http://schemas.microsoft.com/office/drawing/2014/main" id="{DCA81E22-AA7D-CE83-829C-488AF50B573B}"/>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1A9081E6-8D0A-1287-9550-49963AE2A29C}"/>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4587ED97-D27F-F3E3-0E18-618563C8E68E}"/>
              </a:ext>
            </a:extLst>
          </p:cNvPr>
          <p:cNvSpPr txBox="1"/>
          <p:nvPr/>
        </p:nvSpPr>
        <p:spPr>
          <a:xfrm>
            <a:off x="0" y="1219200"/>
            <a:ext cx="9144000" cy="4549835"/>
          </a:xfrm>
          <a:prstGeom prst="rect">
            <a:avLst/>
          </a:prstGeom>
          <a:noFill/>
        </p:spPr>
        <p:txBody>
          <a:bodyPr wrap="square">
            <a:spAutoFit/>
          </a:bodyPr>
          <a:lstStyle/>
          <a:p>
            <a:pPr>
              <a:lnSpc>
                <a:spcPct val="150000"/>
              </a:lnSpc>
              <a:buNone/>
            </a:pPr>
            <a:r>
              <a:rPr lang="en-AU" sz="2800" dirty="0">
                <a:latin typeface="+mj-lt"/>
              </a:rPr>
              <a:t>The task sheet also identifies a correctly configured USER-PC at 5.5.5.101/24.</a:t>
            </a:r>
          </a:p>
          <a:p>
            <a:pPr>
              <a:lnSpc>
                <a:spcPct val="150000"/>
              </a:lnSpc>
              <a:buNone/>
            </a:pPr>
            <a:r>
              <a:rPr lang="en-AU" sz="2800" dirty="0">
                <a:latin typeface="+mj-lt"/>
              </a:rPr>
              <a:t>Discussion: Why should you avoid changing USER-PC settings?</a:t>
            </a:r>
          </a:p>
          <a:p>
            <a:pPr>
              <a:lnSpc>
                <a:spcPct val="150000"/>
              </a:lnSpc>
              <a:buNone/>
            </a:pPr>
            <a:r>
              <a:rPr lang="en-AU" sz="2800" dirty="0">
                <a:latin typeface="+mj-lt"/>
              </a:rPr>
              <a:t>Answer: The task states that USER-PC is already correctly configured. Troubleshooting should focus on the affected network devices.</a:t>
            </a:r>
          </a:p>
        </p:txBody>
      </p:sp>
    </p:spTree>
    <p:extLst>
      <p:ext uri="{BB962C8B-B14F-4D97-AF65-F5344CB8AC3E}">
        <p14:creationId xmlns:p14="http://schemas.microsoft.com/office/powerpoint/2010/main" val="1003537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A6043-0182-BCBD-0A58-52BD20E151C3}"/>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DC30D07A-0E97-674F-8372-408B69AD5DA6}"/>
              </a:ext>
            </a:extLst>
          </p:cNvPr>
          <p:cNvSpPr txBox="1">
            <a:spLocks noGrp="1"/>
          </p:cNvSpPr>
          <p:nvPr>
            <p:ph type="ctrTitle"/>
          </p:nvPr>
        </p:nvSpPr>
        <p:spPr>
          <a:xfrm>
            <a:off x="263448" y="62483"/>
            <a:ext cx="7356552" cy="905376"/>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Scenario 1 – Troubleshooting and Diagnostic Reasoning</a:t>
            </a:r>
            <a:endParaRPr dirty="0">
              <a:solidFill>
                <a:schemeClr val="tx1"/>
              </a:solidFill>
            </a:endParaRPr>
          </a:p>
        </p:txBody>
      </p:sp>
      <p:sp>
        <p:nvSpPr>
          <p:cNvPr id="15" name="object 15">
            <a:extLst>
              <a:ext uri="{FF2B5EF4-FFF2-40B4-BE49-F238E27FC236}">
                <a16:creationId xmlns:a16="http://schemas.microsoft.com/office/drawing/2014/main" id="{E2DF1B36-62B2-AB8B-DFBF-4FC583C5D3FB}"/>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CC81FA06-66CA-161D-893C-2F705FF54079}"/>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pic>
        <p:nvPicPr>
          <p:cNvPr id="3" name="Picture 2" descr="The image depicts a network topology for a company, showcasing the connection between the HR and Finance departments, an Internet connection, and various devices like a wireless printer and scanner.&#10;&#10;AI-generated content may be incorrect.">
            <a:extLst>
              <a:ext uri="{FF2B5EF4-FFF2-40B4-BE49-F238E27FC236}">
                <a16:creationId xmlns:a16="http://schemas.microsoft.com/office/drawing/2014/main" id="{9BD8E8E3-9C1A-9A60-FAA7-CDF3E4AD7BF1}"/>
              </a:ext>
            </a:extLst>
          </p:cNvPr>
          <p:cNvPicPr>
            <a:picLocks noChangeAspect="1"/>
          </p:cNvPicPr>
          <p:nvPr/>
        </p:nvPicPr>
        <p:blipFill>
          <a:blip r:embed="rId2">
            <a:extLst>
              <a:ext uri="{28A0092B-C50C-407E-A947-70E740481C1C}">
                <a14:useLocalDpi xmlns:a14="http://schemas.microsoft.com/office/drawing/2010/main" val="0"/>
              </a:ext>
            </a:extLst>
          </a:blip>
          <a:srcRect t="26250" r="66667" b="43789"/>
          <a:stretch>
            <a:fillRect/>
          </a:stretch>
        </p:blipFill>
        <p:spPr>
          <a:xfrm>
            <a:off x="585722" y="990600"/>
            <a:ext cx="7755734" cy="4647380"/>
          </a:xfrm>
          <a:prstGeom prst="rect">
            <a:avLst/>
          </a:prstGeom>
        </p:spPr>
      </p:pic>
      <p:sp>
        <p:nvSpPr>
          <p:cNvPr id="4" name="TextBox 3">
            <a:extLst>
              <a:ext uri="{FF2B5EF4-FFF2-40B4-BE49-F238E27FC236}">
                <a16:creationId xmlns:a16="http://schemas.microsoft.com/office/drawing/2014/main" id="{6CAFE6B7-E09D-9178-F78C-BE352EE5BA8D}"/>
              </a:ext>
            </a:extLst>
          </p:cNvPr>
          <p:cNvSpPr txBox="1"/>
          <p:nvPr/>
        </p:nvSpPr>
        <p:spPr>
          <a:xfrm>
            <a:off x="0" y="5630216"/>
            <a:ext cx="9144000" cy="1107996"/>
          </a:xfrm>
          <a:prstGeom prst="rect">
            <a:avLst/>
          </a:prstGeom>
          <a:noFill/>
        </p:spPr>
        <p:txBody>
          <a:bodyPr wrap="square">
            <a:spAutoFit/>
          </a:bodyPr>
          <a:lstStyle/>
          <a:p>
            <a:pPr>
              <a:buNone/>
            </a:pPr>
            <a:r>
              <a:rPr lang="en-AU" sz="2200" dirty="0">
                <a:latin typeface="+mj-lt"/>
              </a:rPr>
              <a:t>This diagram shows the existing network that students need to troubleshoot in Assessment 3. Students should examine the connections between devices and identify possible causes of communication problems.</a:t>
            </a:r>
          </a:p>
        </p:txBody>
      </p:sp>
    </p:spTree>
    <p:extLst>
      <p:ext uri="{BB962C8B-B14F-4D97-AF65-F5344CB8AC3E}">
        <p14:creationId xmlns:p14="http://schemas.microsoft.com/office/powerpoint/2010/main" val="35119741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B5506-A8BD-4348-D20C-83DED16F775B}"/>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807EB71F-32D0-768F-A13D-0A2630FDE396}"/>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Troubleshooting: Identify, Test and Fix</a:t>
            </a:r>
            <a:endParaRPr dirty="0">
              <a:solidFill>
                <a:schemeClr val="tx1"/>
              </a:solidFill>
            </a:endParaRPr>
          </a:p>
        </p:txBody>
      </p:sp>
      <p:sp>
        <p:nvSpPr>
          <p:cNvPr id="15" name="object 15">
            <a:extLst>
              <a:ext uri="{FF2B5EF4-FFF2-40B4-BE49-F238E27FC236}">
                <a16:creationId xmlns:a16="http://schemas.microsoft.com/office/drawing/2014/main" id="{D6FF66C3-0A45-4E52-18DF-98FE25E8E2FF}"/>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84924C84-DE54-A4E4-61A7-02CD0F379A5B}"/>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729C47A0-D639-A69E-AB77-E64621CA0A78}"/>
              </a:ext>
            </a:extLst>
          </p:cNvPr>
          <p:cNvSpPr txBox="1"/>
          <p:nvPr/>
        </p:nvSpPr>
        <p:spPr>
          <a:xfrm>
            <a:off x="0" y="914400"/>
            <a:ext cx="9144000" cy="5196166"/>
          </a:xfrm>
          <a:prstGeom prst="rect">
            <a:avLst/>
          </a:prstGeom>
          <a:noFill/>
        </p:spPr>
        <p:txBody>
          <a:bodyPr wrap="square">
            <a:spAutoFit/>
          </a:bodyPr>
          <a:lstStyle/>
          <a:p>
            <a:pPr>
              <a:lnSpc>
                <a:spcPct val="150000"/>
              </a:lnSpc>
              <a:buNone/>
            </a:pPr>
            <a:r>
              <a:rPr lang="en-AU" sz="2800" dirty="0">
                <a:latin typeface="+mj-lt"/>
              </a:rPr>
              <a:t>Use a systematic process:</a:t>
            </a:r>
          </a:p>
          <a:p>
            <a:pPr marL="342900" lvl="0" indent="-342900">
              <a:lnSpc>
                <a:spcPct val="150000"/>
              </a:lnSpc>
              <a:buFont typeface="+mj-lt"/>
              <a:buAutoNum type="arabicPeriod"/>
            </a:pPr>
            <a:r>
              <a:rPr lang="en-AU" sz="2800" dirty="0">
                <a:latin typeface="+mj-lt"/>
              </a:rPr>
              <a:t>Read the reported problem.</a:t>
            </a:r>
          </a:p>
          <a:p>
            <a:pPr marL="342900" lvl="0" indent="-342900">
              <a:lnSpc>
                <a:spcPct val="150000"/>
              </a:lnSpc>
              <a:buFont typeface="+mj-lt"/>
              <a:buAutoNum type="arabicPeriod"/>
            </a:pPr>
            <a:r>
              <a:rPr lang="en-AU" sz="2800" dirty="0">
                <a:latin typeface="+mj-lt"/>
              </a:rPr>
              <a:t>Identify the affected source and destination.</a:t>
            </a:r>
          </a:p>
          <a:p>
            <a:pPr marL="342900" lvl="0" indent="-342900">
              <a:lnSpc>
                <a:spcPct val="150000"/>
              </a:lnSpc>
              <a:buFont typeface="+mj-lt"/>
              <a:buAutoNum type="arabicPeriod"/>
            </a:pPr>
            <a:r>
              <a:rPr lang="en-AU" sz="2800" dirty="0">
                <a:latin typeface="+mj-lt"/>
              </a:rPr>
              <a:t>Check the relevant interface status and addressing.</a:t>
            </a:r>
          </a:p>
          <a:p>
            <a:pPr marL="342900" lvl="0" indent="-342900">
              <a:lnSpc>
                <a:spcPct val="150000"/>
              </a:lnSpc>
              <a:buFont typeface="+mj-lt"/>
              <a:buAutoNum type="arabicPeriod"/>
            </a:pPr>
            <a:r>
              <a:rPr lang="en-AU" sz="2800" dirty="0">
                <a:latin typeface="+mj-lt"/>
              </a:rPr>
              <a:t>Examine routing or protocol information.</a:t>
            </a:r>
          </a:p>
          <a:p>
            <a:pPr marL="342900" lvl="0" indent="-342900">
              <a:lnSpc>
                <a:spcPct val="150000"/>
              </a:lnSpc>
              <a:buFont typeface="+mj-lt"/>
              <a:buAutoNum type="arabicPeriod"/>
            </a:pPr>
            <a:r>
              <a:rPr lang="en-AU" sz="2800" dirty="0">
                <a:latin typeface="+mj-lt"/>
              </a:rPr>
              <a:t>Identify the likely cause.</a:t>
            </a:r>
          </a:p>
          <a:p>
            <a:pPr marL="342900" lvl="0" indent="-342900">
              <a:lnSpc>
                <a:spcPct val="150000"/>
              </a:lnSpc>
              <a:buFont typeface="+mj-lt"/>
              <a:buAutoNum type="arabicPeriod"/>
            </a:pPr>
            <a:r>
              <a:rPr lang="en-AU" sz="2800" dirty="0">
                <a:latin typeface="+mj-lt"/>
              </a:rPr>
              <a:t>Apply a targeted correction.</a:t>
            </a:r>
          </a:p>
          <a:p>
            <a:pPr marL="342900" lvl="0" indent="-342900">
              <a:lnSpc>
                <a:spcPct val="150000"/>
              </a:lnSpc>
              <a:buFont typeface="+mj-lt"/>
              <a:buAutoNum type="arabicPeriod"/>
            </a:pPr>
            <a:r>
              <a:rPr lang="en-AU" sz="2800" dirty="0">
                <a:latin typeface="+mj-lt"/>
              </a:rPr>
              <a:t>Test again and record the result.</a:t>
            </a:r>
          </a:p>
        </p:txBody>
      </p:sp>
    </p:spTree>
    <p:extLst>
      <p:ext uri="{BB962C8B-B14F-4D97-AF65-F5344CB8AC3E}">
        <p14:creationId xmlns:p14="http://schemas.microsoft.com/office/powerpoint/2010/main" val="13552430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6A5BB-0ED7-1A30-3303-209C8262CCCE}"/>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CE7AE326-8146-DB87-8530-9B22919A3180}"/>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Troubleshooting: Identify, Test and Fix</a:t>
            </a:r>
            <a:endParaRPr dirty="0">
              <a:solidFill>
                <a:schemeClr val="tx1"/>
              </a:solidFill>
            </a:endParaRPr>
          </a:p>
        </p:txBody>
      </p:sp>
      <p:sp>
        <p:nvSpPr>
          <p:cNvPr id="15" name="object 15">
            <a:extLst>
              <a:ext uri="{FF2B5EF4-FFF2-40B4-BE49-F238E27FC236}">
                <a16:creationId xmlns:a16="http://schemas.microsoft.com/office/drawing/2014/main" id="{BBAF2544-3BFE-E1BC-3603-D564878D8983}"/>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395D54CA-44E0-3A9A-0FBF-D19903AE787D}"/>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FCE9CAE0-B9A0-B771-3413-84EA6695B70B}"/>
              </a:ext>
            </a:extLst>
          </p:cNvPr>
          <p:cNvSpPr txBox="1"/>
          <p:nvPr/>
        </p:nvSpPr>
        <p:spPr>
          <a:xfrm>
            <a:off x="0" y="914400"/>
            <a:ext cx="9144000" cy="2610843"/>
          </a:xfrm>
          <a:prstGeom prst="rect">
            <a:avLst/>
          </a:prstGeom>
          <a:noFill/>
        </p:spPr>
        <p:txBody>
          <a:bodyPr wrap="square">
            <a:spAutoFit/>
          </a:bodyPr>
          <a:lstStyle/>
          <a:p>
            <a:pPr>
              <a:lnSpc>
                <a:spcPct val="150000"/>
              </a:lnSpc>
            </a:pPr>
            <a:r>
              <a:rPr lang="en-AU" sz="2800" dirty="0">
                <a:latin typeface="+mj-lt"/>
              </a:rPr>
              <a:t>Discussion: Why should you not immediately change several router settings when a ping fails?</a:t>
            </a:r>
          </a:p>
          <a:p>
            <a:pPr>
              <a:lnSpc>
                <a:spcPct val="150000"/>
              </a:lnSpc>
            </a:pPr>
            <a:r>
              <a:rPr lang="en-AU" sz="2800" dirty="0">
                <a:latin typeface="+mj-lt"/>
              </a:rPr>
              <a:t>Answer: Multiple changes make it difficult to identify the original cause and may introduce additional problems.</a:t>
            </a:r>
          </a:p>
        </p:txBody>
      </p:sp>
    </p:spTree>
    <p:extLst>
      <p:ext uri="{BB962C8B-B14F-4D97-AF65-F5344CB8AC3E}">
        <p14:creationId xmlns:p14="http://schemas.microsoft.com/office/powerpoint/2010/main" val="1834911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4E661-8292-979F-A2C8-1921D0464CAC}"/>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647EED9E-65E6-653C-1EC1-9B3BCC37E241}"/>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Troubleshooting: Identify, Test and Fix</a:t>
            </a:r>
            <a:endParaRPr dirty="0">
              <a:solidFill>
                <a:schemeClr val="tx1"/>
              </a:solidFill>
            </a:endParaRPr>
          </a:p>
        </p:txBody>
      </p:sp>
      <p:sp>
        <p:nvSpPr>
          <p:cNvPr id="15" name="object 15">
            <a:extLst>
              <a:ext uri="{FF2B5EF4-FFF2-40B4-BE49-F238E27FC236}">
                <a16:creationId xmlns:a16="http://schemas.microsoft.com/office/drawing/2014/main" id="{5907322A-0E59-53AE-2C7C-FAB9E3B56AE2}"/>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951087AB-76DE-0D9A-1616-252F94AD68CA}"/>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pic>
        <p:nvPicPr>
          <p:cNvPr id="3" name="Picture 2" descr="The image depicts a network topology for a company, showcasing the connection between the HR and Finance departments, an Internet connection, and various devices like a wireless printer and scanner.&#10;&#10;AI-generated content may be incorrect.">
            <a:extLst>
              <a:ext uri="{FF2B5EF4-FFF2-40B4-BE49-F238E27FC236}">
                <a16:creationId xmlns:a16="http://schemas.microsoft.com/office/drawing/2014/main" id="{5925CB71-F198-8AFB-50A3-140314FB7D4E}"/>
              </a:ext>
            </a:extLst>
          </p:cNvPr>
          <p:cNvPicPr>
            <a:picLocks noChangeAspect="1"/>
          </p:cNvPicPr>
          <p:nvPr/>
        </p:nvPicPr>
        <p:blipFill>
          <a:blip r:embed="rId2">
            <a:extLst>
              <a:ext uri="{28A0092B-C50C-407E-A947-70E740481C1C}">
                <a14:useLocalDpi xmlns:a14="http://schemas.microsoft.com/office/drawing/2010/main" val="0"/>
              </a:ext>
            </a:extLst>
          </a:blip>
          <a:srcRect l="41010" t="26250" r="34194" b="36996"/>
          <a:stretch>
            <a:fillRect/>
          </a:stretch>
        </p:blipFill>
        <p:spPr>
          <a:xfrm>
            <a:off x="3475702" y="736940"/>
            <a:ext cx="5668298" cy="5601248"/>
          </a:xfrm>
          <a:prstGeom prst="rect">
            <a:avLst/>
          </a:prstGeom>
        </p:spPr>
      </p:pic>
      <p:sp>
        <p:nvSpPr>
          <p:cNvPr id="4" name="TextBox 3">
            <a:extLst>
              <a:ext uri="{FF2B5EF4-FFF2-40B4-BE49-F238E27FC236}">
                <a16:creationId xmlns:a16="http://schemas.microsoft.com/office/drawing/2014/main" id="{5F37BB69-EF93-0A81-82A2-48923C538AC0}"/>
              </a:ext>
            </a:extLst>
          </p:cNvPr>
          <p:cNvSpPr txBox="1"/>
          <p:nvPr/>
        </p:nvSpPr>
        <p:spPr>
          <a:xfrm>
            <a:off x="177323" y="739321"/>
            <a:ext cx="3298379" cy="5021055"/>
          </a:xfrm>
          <a:prstGeom prst="rect">
            <a:avLst/>
          </a:prstGeom>
          <a:noFill/>
        </p:spPr>
        <p:txBody>
          <a:bodyPr wrap="square">
            <a:spAutoFit/>
          </a:bodyPr>
          <a:lstStyle/>
          <a:p>
            <a:pPr>
              <a:lnSpc>
                <a:spcPct val="150000"/>
              </a:lnSpc>
            </a:pPr>
            <a:r>
              <a:rPr lang="en-AU" sz="2400" dirty="0">
                <a:latin typeface="+mj-lt"/>
              </a:rPr>
              <a:t>Troubleshooting involves identifying the problem, checking network settings, testing possible causes and applying a solution. After fixing the problem, we must test the network again to confirm that it works.</a:t>
            </a:r>
          </a:p>
        </p:txBody>
      </p:sp>
    </p:spTree>
    <p:extLst>
      <p:ext uri="{BB962C8B-B14F-4D97-AF65-F5344CB8AC3E}">
        <p14:creationId xmlns:p14="http://schemas.microsoft.com/office/powerpoint/2010/main" val="14679809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926D3-AFE0-81BE-CF6D-F0D28B2AF1A2}"/>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8662AB82-1CA0-7295-61D3-0CACDB2DE386}"/>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Checking Interface Status</a:t>
            </a:r>
            <a:endParaRPr dirty="0">
              <a:solidFill>
                <a:schemeClr val="tx1"/>
              </a:solidFill>
            </a:endParaRPr>
          </a:p>
        </p:txBody>
      </p:sp>
      <p:sp>
        <p:nvSpPr>
          <p:cNvPr id="15" name="object 15">
            <a:extLst>
              <a:ext uri="{FF2B5EF4-FFF2-40B4-BE49-F238E27FC236}">
                <a16:creationId xmlns:a16="http://schemas.microsoft.com/office/drawing/2014/main" id="{8EADAFC5-18F6-E66A-6A44-E0A838CD793A}"/>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4491C55E-F552-7D61-4FDB-353FC65E2C21}"/>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3A7CC650-FE91-5041-8F7C-E1FD84BF43BF}"/>
              </a:ext>
            </a:extLst>
          </p:cNvPr>
          <p:cNvSpPr txBox="1"/>
          <p:nvPr/>
        </p:nvSpPr>
        <p:spPr>
          <a:xfrm>
            <a:off x="210661" y="685800"/>
            <a:ext cx="4572000" cy="1964512"/>
          </a:xfrm>
          <a:prstGeom prst="rect">
            <a:avLst/>
          </a:prstGeom>
          <a:noFill/>
        </p:spPr>
        <p:txBody>
          <a:bodyPr wrap="square">
            <a:spAutoFit/>
          </a:bodyPr>
          <a:lstStyle/>
          <a:p>
            <a:pPr>
              <a:lnSpc>
                <a:spcPct val="150000"/>
              </a:lnSpc>
              <a:buNone/>
            </a:pPr>
            <a:r>
              <a:rPr lang="en-AU" sz="2800" dirty="0">
                <a:latin typeface="+mj-lt"/>
              </a:rPr>
              <a:t>Use:</a:t>
            </a:r>
          </a:p>
          <a:p>
            <a:pPr rtl="0">
              <a:lnSpc>
                <a:spcPct val="150000"/>
              </a:lnSpc>
              <a:buNone/>
            </a:pPr>
            <a:r>
              <a:rPr lang="en-AU" sz="2800" dirty="0">
                <a:highlight>
                  <a:srgbClr val="FFFF00"/>
                </a:highlight>
                <a:latin typeface="+mj-lt"/>
              </a:rPr>
              <a:t>show </a:t>
            </a:r>
            <a:r>
              <a:rPr lang="en-AU" sz="2800" dirty="0" err="1">
                <a:highlight>
                  <a:srgbClr val="FFFF00"/>
                </a:highlight>
                <a:latin typeface="+mj-lt"/>
              </a:rPr>
              <a:t>ip</a:t>
            </a:r>
            <a:r>
              <a:rPr lang="en-AU" sz="2800" dirty="0">
                <a:highlight>
                  <a:srgbClr val="FFFF00"/>
                </a:highlight>
                <a:latin typeface="+mj-lt"/>
              </a:rPr>
              <a:t> interface brief</a:t>
            </a:r>
          </a:p>
          <a:p>
            <a:pPr rtl="0">
              <a:lnSpc>
                <a:spcPct val="150000"/>
              </a:lnSpc>
              <a:buNone/>
            </a:pPr>
            <a:r>
              <a:rPr lang="en-AU" sz="2800" dirty="0">
                <a:highlight>
                  <a:srgbClr val="FFFF00"/>
                </a:highlight>
                <a:latin typeface="+mj-lt"/>
              </a:rPr>
              <a:t>show interfaces</a:t>
            </a:r>
          </a:p>
        </p:txBody>
      </p:sp>
      <p:sp>
        <p:nvSpPr>
          <p:cNvPr id="5" name="TextBox 4">
            <a:extLst>
              <a:ext uri="{FF2B5EF4-FFF2-40B4-BE49-F238E27FC236}">
                <a16:creationId xmlns:a16="http://schemas.microsoft.com/office/drawing/2014/main" id="{E9AD6131-1B93-5288-B39C-09F269086A6E}"/>
              </a:ext>
            </a:extLst>
          </p:cNvPr>
          <p:cNvSpPr txBox="1"/>
          <p:nvPr/>
        </p:nvSpPr>
        <p:spPr>
          <a:xfrm>
            <a:off x="0" y="2814530"/>
            <a:ext cx="9144000" cy="3903504"/>
          </a:xfrm>
          <a:prstGeom prst="rect">
            <a:avLst/>
          </a:prstGeom>
          <a:noFill/>
        </p:spPr>
        <p:txBody>
          <a:bodyPr wrap="square">
            <a:spAutoFit/>
          </a:bodyPr>
          <a:lstStyle/>
          <a:p>
            <a:pPr>
              <a:lnSpc>
                <a:spcPct val="150000"/>
              </a:lnSpc>
              <a:buNone/>
            </a:pPr>
            <a:r>
              <a:rPr lang="en-AU" sz="2800" dirty="0">
                <a:latin typeface="+mj-lt"/>
              </a:rPr>
              <a:t>Interpret common results:</a:t>
            </a:r>
          </a:p>
          <a:p>
            <a:pPr marL="342900" lvl="0" indent="-342900">
              <a:lnSpc>
                <a:spcPct val="150000"/>
              </a:lnSpc>
              <a:buFont typeface="Arial" panose="020B0604020202020204" pitchFamily="34" charset="0"/>
              <a:buChar char="•"/>
            </a:pPr>
            <a:r>
              <a:rPr lang="en-AU" sz="2800" dirty="0">
                <a:latin typeface="+mj-lt"/>
              </a:rPr>
              <a:t>up/up: interface and line protocol are operational.</a:t>
            </a:r>
          </a:p>
          <a:p>
            <a:pPr marL="342900" lvl="0" indent="-342900">
              <a:lnSpc>
                <a:spcPct val="150000"/>
              </a:lnSpc>
              <a:buFont typeface="Arial" panose="020B0604020202020204" pitchFamily="34" charset="0"/>
              <a:buChar char="•"/>
            </a:pPr>
            <a:r>
              <a:rPr lang="en-AU" sz="2800" dirty="0">
                <a:latin typeface="+mj-lt"/>
              </a:rPr>
              <a:t>administratively down/down: interface is disabled.</a:t>
            </a:r>
          </a:p>
          <a:p>
            <a:pPr marL="342900" lvl="0" indent="-342900">
              <a:lnSpc>
                <a:spcPct val="150000"/>
              </a:lnSpc>
              <a:buFont typeface="Arial" panose="020B0604020202020204" pitchFamily="34" charset="0"/>
              <a:buChar char="•"/>
            </a:pPr>
            <a:r>
              <a:rPr lang="en-AU" sz="2800" dirty="0">
                <a:latin typeface="+mj-lt"/>
              </a:rPr>
              <a:t>down/down: possible physical or connection problem.</a:t>
            </a:r>
          </a:p>
          <a:p>
            <a:pPr marL="342900" lvl="0" indent="-342900">
              <a:lnSpc>
                <a:spcPct val="150000"/>
              </a:lnSpc>
              <a:buFont typeface="Arial" panose="020B0604020202020204" pitchFamily="34" charset="0"/>
              <a:buChar char="•"/>
            </a:pPr>
            <a:r>
              <a:rPr lang="en-AU" sz="2800" dirty="0">
                <a:latin typeface="+mj-lt"/>
              </a:rPr>
              <a:t>up/down: interface is active but the line protocol is not operational.</a:t>
            </a:r>
          </a:p>
        </p:txBody>
      </p:sp>
    </p:spTree>
    <p:extLst>
      <p:ext uri="{BB962C8B-B14F-4D97-AF65-F5344CB8AC3E}">
        <p14:creationId xmlns:p14="http://schemas.microsoft.com/office/powerpoint/2010/main" val="37593025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FB19E-5AC5-7CB3-0888-30EFE82590A5}"/>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9782287D-50E6-980D-EF17-685F96EB1B92}"/>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Checking Interface Status</a:t>
            </a:r>
            <a:endParaRPr dirty="0">
              <a:solidFill>
                <a:schemeClr val="tx1"/>
              </a:solidFill>
            </a:endParaRPr>
          </a:p>
        </p:txBody>
      </p:sp>
      <p:sp>
        <p:nvSpPr>
          <p:cNvPr id="15" name="object 15">
            <a:extLst>
              <a:ext uri="{FF2B5EF4-FFF2-40B4-BE49-F238E27FC236}">
                <a16:creationId xmlns:a16="http://schemas.microsoft.com/office/drawing/2014/main" id="{88940725-2E59-A5A2-5B77-B5F232A33391}"/>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B68EA4F3-4446-2BF3-C594-4A13B20232F4}"/>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92AC9D1B-6C8D-5582-4196-49E41D3F6913}"/>
              </a:ext>
            </a:extLst>
          </p:cNvPr>
          <p:cNvSpPr txBox="1"/>
          <p:nvPr/>
        </p:nvSpPr>
        <p:spPr>
          <a:xfrm>
            <a:off x="0" y="1828801"/>
            <a:ext cx="9144000" cy="2610843"/>
          </a:xfrm>
          <a:prstGeom prst="rect">
            <a:avLst/>
          </a:prstGeom>
          <a:noFill/>
        </p:spPr>
        <p:txBody>
          <a:bodyPr wrap="square">
            <a:spAutoFit/>
          </a:bodyPr>
          <a:lstStyle/>
          <a:p>
            <a:pPr>
              <a:lnSpc>
                <a:spcPct val="150000"/>
              </a:lnSpc>
              <a:buNone/>
            </a:pPr>
            <a:r>
              <a:rPr lang="en-AU" sz="2800" dirty="0">
                <a:latin typeface="+mj-lt"/>
              </a:rPr>
              <a:t>Discussion: What would you investigate if an interface is administratively down?</a:t>
            </a:r>
          </a:p>
          <a:p>
            <a:pPr>
              <a:lnSpc>
                <a:spcPct val="150000"/>
              </a:lnSpc>
              <a:buNone/>
            </a:pPr>
            <a:r>
              <a:rPr lang="en-AU" sz="2800" dirty="0">
                <a:latin typeface="+mj-lt"/>
              </a:rPr>
              <a:t>Answer: Whether it should be enabled using no shutdown, after confirming that it is the correct interface.</a:t>
            </a:r>
          </a:p>
        </p:txBody>
      </p:sp>
    </p:spTree>
    <p:extLst>
      <p:ext uri="{BB962C8B-B14F-4D97-AF65-F5344CB8AC3E}">
        <p14:creationId xmlns:p14="http://schemas.microsoft.com/office/powerpoint/2010/main" val="1444250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EDD2A-B885-7994-DACB-93DB50851D51}"/>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10003639-7EEB-A08A-9CBB-0EAF69EE0454}"/>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Checking Interface Status</a:t>
            </a:r>
            <a:endParaRPr dirty="0">
              <a:solidFill>
                <a:schemeClr val="tx1"/>
              </a:solidFill>
            </a:endParaRPr>
          </a:p>
        </p:txBody>
      </p:sp>
      <p:sp>
        <p:nvSpPr>
          <p:cNvPr id="15" name="object 15">
            <a:extLst>
              <a:ext uri="{FF2B5EF4-FFF2-40B4-BE49-F238E27FC236}">
                <a16:creationId xmlns:a16="http://schemas.microsoft.com/office/drawing/2014/main" id="{CE490BD9-25D0-F3E9-8DE7-2930715F93F6}"/>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9BC6E391-8AB7-1683-36C9-2B3BE4C6BC98}"/>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pic>
        <p:nvPicPr>
          <p:cNvPr id="3" name="Picture 2" descr="The image depicts a network topology for a company, showcasing the connection between the HR and Finance departments, an Internet connection, and various devices like a wireless printer and scanner.&#10;&#10;AI-generated content may be incorrect.">
            <a:extLst>
              <a:ext uri="{FF2B5EF4-FFF2-40B4-BE49-F238E27FC236}">
                <a16:creationId xmlns:a16="http://schemas.microsoft.com/office/drawing/2014/main" id="{5A75D829-0A3E-8611-7FAE-B09C7F29DD4D}"/>
              </a:ext>
            </a:extLst>
          </p:cNvPr>
          <p:cNvPicPr>
            <a:picLocks noChangeAspect="1"/>
          </p:cNvPicPr>
          <p:nvPr/>
        </p:nvPicPr>
        <p:blipFill>
          <a:blip r:embed="rId2">
            <a:extLst>
              <a:ext uri="{28A0092B-C50C-407E-A947-70E740481C1C}">
                <a14:useLocalDpi xmlns:a14="http://schemas.microsoft.com/office/drawing/2010/main" val="0"/>
              </a:ext>
            </a:extLst>
          </a:blip>
          <a:srcRect l="66953" t="26211" b="43750"/>
          <a:stretch>
            <a:fillRect/>
          </a:stretch>
        </p:blipFill>
        <p:spPr>
          <a:xfrm>
            <a:off x="381000" y="557302"/>
            <a:ext cx="7848600" cy="4756167"/>
          </a:xfrm>
          <a:prstGeom prst="rect">
            <a:avLst/>
          </a:prstGeom>
        </p:spPr>
      </p:pic>
      <p:sp>
        <p:nvSpPr>
          <p:cNvPr id="4" name="TextBox 3">
            <a:extLst>
              <a:ext uri="{FF2B5EF4-FFF2-40B4-BE49-F238E27FC236}">
                <a16:creationId xmlns:a16="http://schemas.microsoft.com/office/drawing/2014/main" id="{2C43EF27-4390-6B87-0A51-2CCBEB1EAAEF}"/>
              </a:ext>
            </a:extLst>
          </p:cNvPr>
          <p:cNvSpPr txBox="1"/>
          <p:nvPr/>
        </p:nvSpPr>
        <p:spPr>
          <a:xfrm>
            <a:off x="0" y="5349188"/>
            <a:ext cx="9144000" cy="1107996"/>
          </a:xfrm>
          <a:prstGeom prst="rect">
            <a:avLst/>
          </a:prstGeom>
          <a:noFill/>
        </p:spPr>
        <p:txBody>
          <a:bodyPr wrap="square">
            <a:spAutoFit/>
          </a:bodyPr>
          <a:lstStyle/>
          <a:p>
            <a:r>
              <a:rPr lang="en-AU" sz="2200" dirty="0">
                <a:latin typeface="+mj-lt"/>
              </a:rPr>
              <a:t>The command show </a:t>
            </a:r>
            <a:r>
              <a:rPr lang="en-AU" sz="2200" dirty="0" err="1">
                <a:latin typeface="+mj-lt"/>
              </a:rPr>
              <a:t>ip</a:t>
            </a:r>
            <a:r>
              <a:rPr lang="en-AU" sz="2200" dirty="0">
                <a:latin typeface="+mj-lt"/>
              </a:rPr>
              <a:t> interface brief displays the IP addresses and status of router interfaces. An interface that is administratively down can be enabled using no shutdown, provided there are no other connection problems.</a:t>
            </a:r>
          </a:p>
        </p:txBody>
      </p:sp>
    </p:spTree>
    <p:extLst>
      <p:ext uri="{BB962C8B-B14F-4D97-AF65-F5344CB8AC3E}">
        <p14:creationId xmlns:p14="http://schemas.microsoft.com/office/powerpoint/2010/main" val="17968764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995B3-31E7-7B7A-2712-12A229E82B3D}"/>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6531F646-5C03-03F6-6D38-B32B01A08C39}"/>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Troubleshooting Switch VLAN Interfaces</a:t>
            </a:r>
            <a:endParaRPr dirty="0">
              <a:solidFill>
                <a:schemeClr val="tx1"/>
              </a:solidFill>
            </a:endParaRPr>
          </a:p>
        </p:txBody>
      </p:sp>
      <p:sp>
        <p:nvSpPr>
          <p:cNvPr id="15" name="object 15">
            <a:extLst>
              <a:ext uri="{FF2B5EF4-FFF2-40B4-BE49-F238E27FC236}">
                <a16:creationId xmlns:a16="http://schemas.microsoft.com/office/drawing/2014/main" id="{D0EA34E6-E775-ECA9-9756-0F38CAF4C49D}"/>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806A1E4E-0833-2632-BF3E-9F208001C6C0}"/>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EABAA987-959E-EB59-7C6A-869638C81D26}"/>
              </a:ext>
            </a:extLst>
          </p:cNvPr>
          <p:cNvSpPr txBox="1"/>
          <p:nvPr/>
        </p:nvSpPr>
        <p:spPr>
          <a:xfrm>
            <a:off x="0" y="1295400"/>
            <a:ext cx="9220200" cy="3979705"/>
          </a:xfrm>
          <a:prstGeom prst="rect">
            <a:avLst/>
          </a:prstGeom>
          <a:noFill/>
        </p:spPr>
        <p:txBody>
          <a:bodyPr wrap="square">
            <a:spAutoFit/>
          </a:bodyPr>
          <a:lstStyle/>
          <a:p>
            <a:pPr>
              <a:lnSpc>
                <a:spcPct val="150000"/>
              </a:lnSpc>
              <a:buNone/>
            </a:pPr>
            <a:r>
              <a:rPr lang="en-AU" sz="2800" dirty="0">
                <a:latin typeface="+mj-lt"/>
              </a:rPr>
              <a:t>A switch virtual interface (SVI) can provide an IP address for switch management.</a:t>
            </a:r>
          </a:p>
          <a:p>
            <a:pPr>
              <a:lnSpc>
                <a:spcPct val="150000"/>
              </a:lnSpc>
              <a:buNone/>
            </a:pPr>
            <a:r>
              <a:rPr lang="en-AU" sz="2800" dirty="0">
                <a:latin typeface="+mj-lt"/>
              </a:rPr>
              <a:t>Useful commands:</a:t>
            </a:r>
          </a:p>
          <a:p>
            <a:pPr rtl="0">
              <a:lnSpc>
                <a:spcPct val="150000"/>
              </a:lnSpc>
              <a:buNone/>
            </a:pPr>
            <a:r>
              <a:rPr lang="en-AU" sz="2800" dirty="0">
                <a:highlight>
                  <a:srgbClr val="FFFF00"/>
                </a:highlight>
                <a:latin typeface="+mj-lt"/>
              </a:rPr>
              <a:t>show </a:t>
            </a:r>
            <a:r>
              <a:rPr lang="en-AU" sz="2800" dirty="0" err="1">
                <a:highlight>
                  <a:srgbClr val="FFFF00"/>
                </a:highlight>
                <a:latin typeface="+mj-lt"/>
              </a:rPr>
              <a:t>ip</a:t>
            </a:r>
            <a:r>
              <a:rPr lang="en-AU" sz="2800" dirty="0">
                <a:highlight>
                  <a:srgbClr val="FFFF00"/>
                </a:highlight>
                <a:latin typeface="+mj-lt"/>
              </a:rPr>
              <a:t> interface brief</a:t>
            </a:r>
          </a:p>
          <a:p>
            <a:pPr rtl="0">
              <a:lnSpc>
                <a:spcPct val="150000"/>
              </a:lnSpc>
              <a:buNone/>
            </a:pPr>
            <a:r>
              <a:rPr lang="en-AU" sz="2800" dirty="0">
                <a:highlight>
                  <a:srgbClr val="FFFF00"/>
                </a:highlight>
                <a:latin typeface="+mj-lt"/>
              </a:rPr>
              <a:t>show interface </a:t>
            </a:r>
            <a:r>
              <a:rPr lang="en-AU" sz="2800" dirty="0" err="1">
                <a:highlight>
                  <a:srgbClr val="FFFF00"/>
                </a:highlight>
                <a:latin typeface="+mj-lt"/>
              </a:rPr>
              <a:t>vlan</a:t>
            </a:r>
            <a:r>
              <a:rPr lang="en-AU" sz="2800" dirty="0">
                <a:highlight>
                  <a:srgbClr val="FFFF00"/>
                </a:highlight>
                <a:latin typeface="+mj-lt"/>
              </a:rPr>
              <a:t> 1</a:t>
            </a:r>
          </a:p>
          <a:p>
            <a:pPr rtl="0">
              <a:lnSpc>
                <a:spcPct val="150000"/>
              </a:lnSpc>
              <a:buNone/>
            </a:pPr>
            <a:r>
              <a:rPr lang="en-AU" sz="2800" dirty="0">
                <a:highlight>
                  <a:srgbClr val="FFFF00"/>
                </a:highlight>
                <a:latin typeface="+mj-lt"/>
              </a:rPr>
              <a:t>show </a:t>
            </a:r>
            <a:r>
              <a:rPr lang="en-AU" sz="2800" dirty="0" err="1">
                <a:highlight>
                  <a:srgbClr val="FFFF00"/>
                </a:highlight>
                <a:latin typeface="+mj-lt"/>
              </a:rPr>
              <a:t>vlan</a:t>
            </a:r>
            <a:r>
              <a:rPr lang="en-AU" sz="2800" dirty="0">
                <a:highlight>
                  <a:srgbClr val="FFFF00"/>
                </a:highlight>
                <a:latin typeface="+mj-lt"/>
              </a:rPr>
              <a:t> brief</a:t>
            </a:r>
          </a:p>
        </p:txBody>
      </p:sp>
    </p:spTree>
    <p:extLst>
      <p:ext uri="{BB962C8B-B14F-4D97-AF65-F5344CB8AC3E}">
        <p14:creationId xmlns:p14="http://schemas.microsoft.com/office/powerpoint/2010/main" val="42126469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7DDA0-CD36-62BF-8F44-6E1A1EDE06E5}"/>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C0FA152B-5386-47A0-0CE8-03237B34AB34}"/>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Troubleshooting Switch VLAN Interfaces</a:t>
            </a:r>
            <a:endParaRPr dirty="0">
              <a:solidFill>
                <a:schemeClr val="tx1"/>
              </a:solidFill>
            </a:endParaRPr>
          </a:p>
        </p:txBody>
      </p:sp>
      <p:sp>
        <p:nvSpPr>
          <p:cNvPr id="15" name="object 15">
            <a:extLst>
              <a:ext uri="{FF2B5EF4-FFF2-40B4-BE49-F238E27FC236}">
                <a16:creationId xmlns:a16="http://schemas.microsoft.com/office/drawing/2014/main" id="{FF786832-A292-1746-1999-DB4B05220362}"/>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78E3B883-0F73-D5A5-E65C-57ECE8A5E2C0}"/>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A0CBF7F9-BEC4-930D-FD3B-E76F3894A8CF}"/>
              </a:ext>
            </a:extLst>
          </p:cNvPr>
          <p:cNvSpPr txBox="1"/>
          <p:nvPr/>
        </p:nvSpPr>
        <p:spPr>
          <a:xfrm>
            <a:off x="0" y="1219200"/>
            <a:ext cx="9144000" cy="3903504"/>
          </a:xfrm>
          <a:prstGeom prst="rect">
            <a:avLst/>
          </a:prstGeom>
          <a:noFill/>
        </p:spPr>
        <p:txBody>
          <a:bodyPr wrap="square">
            <a:spAutoFit/>
          </a:bodyPr>
          <a:lstStyle/>
          <a:p>
            <a:pPr>
              <a:lnSpc>
                <a:spcPct val="150000"/>
              </a:lnSpc>
              <a:buNone/>
            </a:pPr>
            <a:r>
              <a:rPr lang="en-AU" sz="2800" dirty="0">
                <a:latin typeface="+mj-lt"/>
              </a:rPr>
              <a:t>Check:</a:t>
            </a:r>
          </a:p>
          <a:p>
            <a:pPr marL="342900" lvl="0" indent="-342900">
              <a:lnSpc>
                <a:spcPct val="150000"/>
              </a:lnSpc>
              <a:buFont typeface="Arial" panose="020B0604020202020204" pitchFamily="34" charset="0"/>
              <a:buChar char="•"/>
            </a:pPr>
            <a:r>
              <a:rPr lang="en-AU" sz="2800" dirty="0">
                <a:latin typeface="+mj-lt"/>
              </a:rPr>
              <a:t>VLAN interface IP address and mask.</a:t>
            </a:r>
          </a:p>
          <a:p>
            <a:pPr marL="342900" lvl="0" indent="-342900">
              <a:lnSpc>
                <a:spcPct val="150000"/>
              </a:lnSpc>
              <a:buFont typeface="Arial" panose="020B0604020202020204" pitchFamily="34" charset="0"/>
              <a:buChar char="•"/>
            </a:pPr>
            <a:r>
              <a:rPr lang="en-AU" sz="2800" dirty="0">
                <a:latin typeface="+mj-lt"/>
              </a:rPr>
              <a:t>SVI operational status.</a:t>
            </a:r>
          </a:p>
          <a:p>
            <a:pPr marL="342900" lvl="0" indent="-342900">
              <a:lnSpc>
                <a:spcPct val="150000"/>
              </a:lnSpc>
              <a:buFont typeface="Arial" panose="020B0604020202020204" pitchFamily="34" charset="0"/>
              <a:buChar char="•"/>
            </a:pPr>
            <a:r>
              <a:rPr lang="en-AU" sz="2800" dirty="0">
                <a:latin typeface="+mj-lt"/>
              </a:rPr>
              <a:t>Whether the VLAN exists and has an active associated port.</a:t>
            </a:r>
          </a:p>
          <a:p>
            <a:pPr marL="342900" lvl="0" indent="-342900">
              <a:lnSpc>
                <a:spcPct val="150000"/>
              </a:lnSpc>
              <a:buFont typeface="Arial" panose="020B0604020202020204" pitchFamily="34" charset="0"/>
              <a:buChar char="•"/>
            </a:pPr>
            <a:r>
              <a:rPr lang="en-AU" sz="2800" dirty="0">
                <a:latin typeface="+mj-lt"/>
              </a:rPr>
              <a:t>Default gateway for management traffic outside the subnet.</a:t>
            </a:r>
          </a:p>
        </p:txBody>
      </p:sp>
    </p:spTree>
    <p:extLst>
      <p:ext uri="{BB962C8B-B14F-4D97-AF65-F5344CB8AC3E}">
        <p14:creationId xmlns:p14="http://schemas.microsoft.com/office/powerpoint/2010/main" val="21949279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16FB1-741E-A09C-FD62-1971D91F2C93}"/>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6A55ED73-D2C7-D46C-954B-6EA3BFD16646}"/>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Troubleshooting Switch VLAN Interfaces</a:t>
            </a:r>
            <a:endParaRPr dirty="0">
              <a:solidFill>
                <a:schemeClr val="tx1"/>
              </a:solidFill>
            </a:endParaRPr>
          </a:p>
        </p:txBody>
      </p:sp>
      <p:sp>
        <p:nvSpPr>
          <p:cNvPr id="15" name="object 15">
            <a:extLst>
              <a:ext uri="{FF2B5EF4-FFF2-40B4-BE49-F238E27FC236}">
                <a16:creationId xmlns:a16="http://schemas.microsoft.com/office/drawing/2014/main" id="{1384DCD7-CC85-9762-8813-D5A2AB5C1DC8}"/>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7FAD4EA0-D136-AA89-3D7B-DE1B37579699}"/>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6D787D27-9ECC-EE77-76F5-D71031A805F4}"/>
              </a:ext>
            </a:extLst>
          </p:cNvPr>
          <p:cNvSpPr txBox="1"/>
          <p:nvPr/>
        </p:nvSpPr>
        <p:spPr>
          <a:xfrm>
            <a:off x="0" y="1524000"/>
            <a:ext cx="9144000" cy="3257174"/>
          </a:xfrm>
          <a:prstGeom prst="rect">
            <a:avLst/>
          </a:prstGeom>
          <a:noFill/>
        </p:spPr>
        <p:txBody>
          <a:bodyPr wrap="square">
            <a:spAutoFit/>
          </a:bodyPr>
          <a:lstStyle/>
          <a:p>
            <a:pPr>
              <a:lnSpc>
                <a:spcPct val="150000"/>
              </a:lnSpc>
              <a:buNone/>
            </a:pPr>
            <a:r>
              <a:rPr lang="en-AU" sz="2800" dirty="0">
                <a:latin typeface="+mj-lt"/>
              </a:rPr>
              <a:t>Discussion: Why might a switch management VLAN be unreachable even when its IP address is correct?</a:t>
            </a:r>
          </a:p>
          <a:p>
            <a:pPr>
              <a:lnSpc>
                <a:spcPct val="150000"/>
              </a:lnSpc>
              <a:buNone/>
            </a:pPr>
            <a:r>
              <a:rPr lang="en-AU" sz="2800" dirty="0">
                <a:latin typeface="+mj-lt"/>
              </a:rPr>
              <a:t>Answer: The SVI may be down, the VLAN may not have an active port, or the switch may lack the correct management default gateway.</a:t>
            </a:r>
          </a:p>
        </p:txBody>
      </p:sp>
    </p:spTree>
    <p:extLst>
      <p:ext uri="{BB962C8B-B14F-4D97-AF65-F5344CB8AC3E}">
        <p14:creationId xmlns:p14="http://schemas.microsoft.com/office/powerpoint/2010/main" val="1638488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969D4-2CF9-062A-BF10-E1D3766D4931}"/>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74C0660B-2EED-2A39-51A2-78C0BF49CA96}"/>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Understanding Routing Tables</a:t>
            </a:r>
            <a:endParaRPr dirty="0">
              <a:solidFill>
                <a:schemeClr val="tx1"/>
              </a:solidFill>
            </a:endParaRPr>
          </a:p>
        </p:txBody>
      </p:sp>
      <p:sp>
        <p:nvSpPr>
          <p:cNvPr id="15" name="object 15">
            <a:extLst>
              <a:ext uri="{FF2B5EF4-FFF2-40B4-BE49-F238E27FC236}">
                <a16:creationId xmlns:a16="http://schemas.microsoft.com/office/drawing/2014/main" id="{8B487F0C-B681-999B-A2D1-A949DCA9196C}"/>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79E44A80-6FC7-E6D7-AC7F-88B36322E11B}"/>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9B009867-CFBD-C148-6B2B-40B40475B0C0}"/>
              </a:ext>
            </a:extLst>
          </p:cNvPr>
          <p:cNvSpPr txBox="1"/>
          <p:nvPr/>
        </p:nvSpPr>
        <p:spPr>
          <a:xfrm>
            <a:off x="0" y="933813"/>
            <a:ext cx="9144000" cy="4549835"/>
          </a:xfrm>
          <a:prstGeom prst="rect">
            <a:avLst/>
          </a:prstGeom>
          <a:noFill/>
        </p:spPr>
        <p:txBody>
          <a:bodyPr wrap="square">
            <a:spAutoFit/>
          </a:bodyPr>
          <a:lstStyle/>
          <a:p>
            <a:pPr>
              <a:lnSpc>
                <a:spcPct val="150000"/>
              </a:lnSpc>
              <a:buNone/>
            </a:pPr>
            <a:r>
              <a:rPr lang="en-AU" sz="2800" dirty="0">
                <a:latin typeface="+mj-lt"/>
              </a:rPr>
              <a:t>Use:</a:t>
            </a:r>
          </a:p>
          <a:p>
            <a:pPr rtl="0">
              <a:lnSpc>
                <a:spcPct val="150000"/>
              </a:lnSpc>
              <a:buNone/>
            </a:pPr>
            <a:r>
              <a:rPr lang="en-AU" sz="2800" dirty="0">
                <a:highlight>
                  <a:srgbClr val="FFFF00"/>
                </a:highlight>
                <a:latin typeface="+mj-lt"/>
              </a:rPr>
              <a:t>show </a:t>
            </a:r>
            <a:r>
              <a:rPr lang="en-AU" sz="2800" dirty="0" err="1">
                <a:highlight>
                  <a:srgbClr val="FFFF00"/>
                </a:highlight>
                <a:latin typeface="+mj-lt"/>
              </a:rPr>
              <a:t>ip</a:t>
            </a:r>
            <a:r>
              <a:rPr lang="en-AU" sz="2800" dirty="0">
                <a:highlight>
                  <a:srgbClr val="FFFF00"/>
                </a:highlight>
                <a:latin typeface="+mj-lt"/>
              </a:rPr>
              <a:t> route</a:t>
            </a:r>
          </a:p>
          <a:p>
            <a:pPr>
              <a:lnSpc>
                <a:spcPct val="150000"/>
              </a:lnSpc>
              <a:buNone/>
            </a:pPr>
            <a:r>
              <a:rPr lang="en-AU" sz="2800" dirty="0">
                <a:latin typeface="+mj-lt"/>
              </a:rPr>
              <a:t>Common route codes:</a:t>
            </a:r>
          </a:p>
          <a:p>
            <a:pPr marL="342900" lvl="0" indent="-342900">
              <a:lnSpc>
                <a:spcPct val="150000"/>
              </a:lnSpc>
              <a:buFont typeface="Arial" panose="020B0604020202020204" pitchFamily="34" charset="0"/>
              <a:buChar char="•"/>
            </a:pPr>
            <a:r>
              <a:rPr lang="en-AU" sz="2800" dirty="0">
                <a:latin typeface="+mj-lt"/>
              </a:rPr>
              <a:t>C – directly connected network.</a:t>
            </a:r>
          </a:p>
          <a:p>
            <a:pPr marL="342900" lvl="0" indent="-342900">
              <a:lnSpc>
                <a:spcPct val="150000"/>
              </a:lnSpc>
              <a:buFont typeface="Arial" panose="020B0604020202020204" pitchFamily="34" charset="0"/>
              <a:buChar char="•"/>
            </a:pPr>
            <a:r>
              <a:rPr lang="en-AU" sz="2800" dirty="0">
                <a:latin typeface="+mj-lt"/>
              </a:rPr>
              <a:t>L – local interface address.</a:t>
            </a:r>
          </a:p>
          <a:p>
            <a:pPr marL="342900" lvl="0" indent="-342900">
              <a:lnSpc>
                <a:spcPct val="150000"/>
              </a:lnSpc>
              <a:buFont typeface="Arial" panose="020B0604020202020204" pitchFamily="34" charset="0"/>
              <a:buChar char="•"/>
            </a:pPr>
            <a:r>
              <a:rPr lang="en-AU" sz="2800" dirty="0">
                <a:latin typeface="+mj-lt"/>
              </a:rPr>
              <a:t>S – static route.</a:t>
            </a:r>
          </a:p>
          <a:p>
            <a:pPr marL="342900" lvl="0" indent="-342900">
              <a:lnSpc>
                <a:spcPct val="150000"/>
              </a:lnSpc>
              <a:buFont typeface="Arial" panose="020B0604020202020204" pitchFamily="34" charset="0"/>
              <a:buChar char="•"/>
            </a:pPr>
            <a:r>
              <a:rPr lang="en-AU" sz="2800" dirty="0">
                <a:latin typeface="+mj-lt"/>
              </a:rPr>
              <a:t>D – EIGRP-learned route, where supported and configured.</a:t>
            </a:r>
          </a:p>
        </p:txBody>
      </p:sp>
      <p:sp>
        <p:nvSpPr>
          <p:cNvPr id="6" name="TextBox 5">
            <a:extLst>
              <a:ext uri="{FF2B5EF4-FFF2-40B4-BE49-F238E27FC236}">
                <a16:creationId xmlns:a16="http://schemas.microsoft.com/office/drawing/2014/main" id="{1E3663AC-CA8D-2DEE-0DFA-54DB97F73B71}"/>
              </a:ext>
            </a:extLst>
          </p:cNvPr>
          <p:cNvSpPr txBox="1"/>
          <p:nvPr/>
        </p:nvSpPr>
        <p:spPr>
          <a:xfrm>
            <a:off x="25400" y="5530794"/>
            <a:ext cx="9056914" cy="1318181"/>
          </a:xfrm>
          <a:prstGeom prst="rect">
            <a:avLst/>
          </a:prstGeom>
          <a:noFill/>
        </p:spPr>
        <p:txBody>
          <a:bodyPr wrap="square">
            <a:spAutoFit/>
          </a:bodyPr>
          <a:lstStyle/>
          <a:p>
            <a:pPr>
              <a:lnSpc>
                <a:spcPct val="150000"/>
              </a:lnSpc>
            </a:pPr>
            <a:r>
              <a:rPr lang="en-AU" sz="2800" dirty="0">
                <a:latin typeface="+mj-lt"/>
              </a:rPr>
              <a:t>Check whether the destination network appears in the routing table.</a:t>
            </a:r>
          </a:p>
        </p:txBody>
      </p:sp>
    </p:spTree>
    <p:extLst>
      <p:ext uri="{BB962C8B-B14F-4D97-AF65-F5344CB8AC3E}">
        <p14:creationId xmlns:p14="http://schemas.microsoft.com/office/powerpoint/2010/main" val="28274266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3DDA9-B628-CE84-F541-C49F7AD6281A}"/>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230F8587-6F65-800C-3F03-33739E59C514}"/>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Understanding Routing Tables</a:t>
            </a:r>
            <a:endParaRPr dirty="0">
              <a:solidFill>
                <a:schemeClr val="tx1"/>
              </a:solidFill>
            </a:endParaRPr>
          </a:p>
        </p:txBody>
      </p:sp>
      <p:sp>
        <p:nvSpPr>
          <p:cNvPr id="15" name="object 15">
            <a:extLst>
              <a:ext uri="{FF2B5EF4-FFF2-40B4-BE49-F238E27FC236}">
                <a16:creationId xmlns:a16="http://schemas.microsoft.com/office/drawing/2014/main" id="{C645AEAF-2AD2-6EA2-6407-CB6145119858}"/>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4421FE62-D828-393C-F5B4-1DDF5644816D}"/>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38F60EA8-7742-15B3-4C88-9B4103AA3163}"/>
              </a:ext>
            </a:extLst>
          </p:cNvPr>
          <p:cNvSpPr txBox="1"/>
          <p:nvPr/>
        </p:nvSpPr>
        <p:spPr>
          <a:xfrm>
            <a:off x="0" y="1676400"/>
            <a:ext cx="9144000" cy="3257174"/>
          </a:xfrm>
          <a:prstGeom prst="rect">
            <a:avLst/>
          </a:prstGeom>
          <a:noFill/>
        </p:spPr>
        <p:txBody>
          <a:bodyPr wrap="square">
            <a:spAutoFit/>
          </a:bodyPr>
          <a:lstStyle/>
          <a:p>
            <a:pPr>
              <a:lnSpc>
                <a:spcPct val="150000"/>
              </a:lnSpc>
              <a:buNone/>
            </a:pPr>
            <a:r>
              <a:rPr lang="en-AU" sz="2800" dirty="0">
                <a:latin typeface="+mj-lt"/>
              </a:rPr>
              <a:t>Discussion: A router can ping its directly connected network but cannot reach a remote loopback. What should you inspect?</a:t>
            </a:r>
          </a:p>
          <a:p>
            <a:pPr>
              <a:lnSpc>
                <a:spcPct val="150000"/>
              </a:lnSpc>
              <a:buNone/>
            </a:pPr>
            <a:r>
              <a:rPr lang="en-AU" sz="2800" dirty="0">
                <a:latin typeface="+mj-lt"/>
              </a:rPr>
              <a:t>Answer: Its routing table and the return route from the destination.</a:t>
            </a:r>
          </a:p>
        </p:txBody>
      </p:sp>
    </p:spTree>
    <p:extLst>
      <p:ext uri="{BB962C8B-B14F-4D97-AF65-F5344CB8AC3E}">
        <p14:creationId xmlns:p14="http://schemas.microsoft.com/office/powerpoint/2010/main" val="1184205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C0E8B-90F7-D4E5-7F9D-521A29EA0137}"/>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AEE6A7D1-1F6C-4894-0C9C-682A49DB6B9C}"/>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Understanding EIGRP </a:t>
            </a:r>
            <a:r>
              <a:rPr lang="en-US" dirty="0" err="1">
                <a:solidFill>
                  <a:schemeClr val="tx1"/>
                </a:solidFill>
              </a:rPr>
              <a:t>Neighbours</a:t>
            </a:r>
            <a:endParaRPr dirty="0">
              <a:solidFill>
                <a:schemeClr val="tx1"/>
              </a:solidFill>
            </a:endParaRPr>
          </a:p>
        </p:txBody>
      </p:sp>
      <p:sp>
        <p:nvSpPr>
          <p:cNvPr id="15" name="object 15">
            <a:extLst>
              <a:ext uri="{FF2B5EF4-FFF2-40B4-BE49-F238E27FC236}">
                <a16:creationId xmlns:a16="http://schemas.microsoft.com/office/drawing/2014/main" id="{5D68FB9E-D9A0-D826-A720-AA5D6EE20CB8}"/>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B06B37F0-788F-5DD1-AB40-9FC0526E3D0D}"/>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AB6FF44A-09FA-F5F1-B6AD-11E3B9FAEFB9}"/>
              </a:ext>
            </a:extLst>
          </p:cNvPr>
          <p:cNvSpPr txBox="1"/>
          <p:nvPr/>
        </p:nvSpPr>
        <p:spPr>
          <a:xfrm>
            <a:off x="0" y="1447801"/>
            <a:ext cx="9144000" cy="3903504"/>
          </a:xfrm>
          <a:prstGeom prst="rect">
            <a:avLst/>
          </a:prstGeom>
          <a:noFill/>
        </p:spPr>
        <p:txBody>
          <a:bodyPr wrap="square">
            <a:spAutoFit/>
          </a:bodyPr>
          <a:lstStyle/>
          <a:p>
            <a:pPr>
              <a:lnSpc>
                <a:spcPct val="150000"/>
              </a:lnSpc>
              <a:buNone/>
            </a:pPr>
            <a:r>
              <a:rPr lang="en-AU" sz="2800" dirty="0">
                <a:latin typeface="+mj-lt"/>
              </a:rPr>
              <a:t>The Scenario 1 appendix identifies EIGRP diagnostic commands.</a:t>
            </a:r>
          </a:p>
          <a:p>
            <a:pPr>
              <a:lnSpc>
                <a:spcPct val="150000"/>
              </a:lnSpc>
              <a:buNone/>
            </a:pPr>
            <a:r>
              <a:rPr lang="en-AU" sz="2800" dirty="0">
                <a:latin typeface="+mj-lt"/>
              </a:rPr>
              <a:t>Examples:</a:t>
            </a:r>
          </a:p>
          <a:p>
            <a:pPr rtl="0">
              <a:lnSpc>
                <a:spcPct val="150000"/>
              </a:lnSpc>
              <a:buNone/>
            </a:pPr>
            <a:r>
              <a:rPr lang="en-AU" sz="2800" dirty="0">
                <a:highlight>
                  <a:srgbClr val="FFFF00"/>
                </a:highlight>
                <a:latin typeface="+mj-lt"/>
              </a:rPr>
              <a:t>show </a:t>
            </a:r>
            <a:r>
              <a:rPr lang="en-AU" sz="2800" dirty="0" err="1">
                <a:highlight>
                  <a:srgbClr val="FFFF00"/>
                </a:highlight>
                <a:latin typeface="+mj-lt"/>
              </a:rPr>
              <a:t>ip</a:t>
            </a:r>
            <a:r>
              <a:rPr lang="en-AU" sz="2800" dirty="0">
                <a:highlight>
                  <a:srgbClr val="FFFF00"/>
                </a:highlight>
                <a:latin typeface="+mj-lt"/>
              </a:rPr>
              <a:t> </a:t>
            </a:r>
            <a:r>
              <a:rPr lang="en-AU" sz="2800" dirty="0" err="1">
                <a:highlight>
                  <a:srgbClr val="FFFF00"/>
                </a:highlight>
                <a:latin typeface="+mj-lt"/>
              </a:rPr>
              <a:t>eigrp</a:t>
            </a:r>
            <a:r>
              <a:rPr lang="en-AU" sz="2800" dirty="0">
                <a:highlight>
                  <a:srgbClr val="FFFF00"/>
                </a:highlight>
                <a:latin typeface="+mj-lt"/>
              </a:rPr>
              <a:t> </a:t>
            </a:r>
            <a:r>
              <a:rPr lang="en-AU" sz="2800" dirty="0" err="1">
                <a:highlight>
                  <a:srgbClr val="FFFF00"/>
                </a:highlight>
                <a:latin typeface="+mj-lt"/>
              </a:rPr>
              <a:t>neighbors</a:t>
            </a:r>
            <a:endParaRPr lang="en-AU" sz="2800" dirty="0">
              <a:highlight>
                <a:srgbClr val="FFFF00"/>
              </a:highlight>
              <a:latin typeface="+mj-lt"/>
            </a:endParaRPr>
          </a:p>
          <a:p>
            <a:pPr rtl="0">
              <a:lnSpc>
                <a:spcPct val="150000"/>
              </a:lnSpc>
              <a:buNone/>
            </a:pPr>
            <a:r>
              <a:rPr lang="en-AU" sz="2800" dirty="0">
                <a:highlight>
                  <a:srgbClr val="FFFF00"/>
                </a:highlight>
                <a:latin typeface="+mj-lt"/>
              </a:rPr>
              <a:t>show </a:t>
            </a:r>
            <a:r>
              <a:rPr lang="en-AU" sz="2800" dirty="0" err="1">
                <a:highlight>
                  <a:srgbClr val="FFFF00"/>
                </a:highlight>
                <a:latin typeface="+mj-lt"/>
              </a:rPr>
              <a:t>ip</a:t>
            </a:r>
            <a:r>
              <a:rPr lang="en-AU" sz="2800" dirty="0">
                <a:highlight>
                  <a:srgbClr val="FFFF00"/>
                </a:highlight>
                <a:latin typeface="+mj-lt"/>
              </a:rPr>
              <a:t> </a:t>
            </a:r>
            <a:r>
              <a:rPr lang="en-AU" sz="2800" dirty="0" err="1">
                <a:highlight>
                  <a:srgbClr val="FFFF00"/>
                </a:highlight>
                <a:latin typeface="+mj-lt"/>
              </a:rPr>
              <a:t>eigrp</a:t>
            </a:r>
            <a:r>
              <a:rPr lang="en-AU" sz="2800" dirty="0">
                <a:highlight>
                  <a:srgbClr val="FFFF00"/>
                </a:highlight>
                <a:latin typeface="+mj-lt"/>
              </a:rPr>
              <a:t> traffic</a:t>
            </a:r>
          </a:p>
          <a:p>
            <a:pPr rtl="0">
              <a:lnSpc>
                <a:spcPct val="150000"/>
              </a:lnSpc>
              <a:buNone/>
            </a:pPr>
            <a:r>
              <a:rPr lang="en-AU" sz="2800" dirty="0">
                <a:highlight>
                  <a:srgbClr val="FFFF00"/>
                </a:highlight>
                <a:latin typeface="+mj-lt"/>
              </a:rPr>
              <a:t>show </a:t>
            </a:r>
            <a:r>
              <a:rPr lang="en-AU" sz="2800" dirty="0" err="1">
                <a:highlight>
                  <a:srgbClr val="FFFF00"/>
                </a:highlight>
                <a:latin typeface="+mj-lt"/>
              </a:rPr>
              <a:t>ip</a:t>
            </a:r>
            <a:r>
              <a:rPr lang="en-AU" sz="2800" dirty="0">
                <a:highlight>
                  <a:srgbClr val="FFFF00"/>
                </a:highlight>
                <a:latin typeface="+mj-lt"/>
              </a:rPr>
              <a:t> route</a:t>
            </a:r>
          </a:p>
        </p:txBody>
      </p:sp>
    </p:spTree>
    <p:extLst>
      <p:ext uri="{BB962C8B-B14F-4D97-AF65-F5344CB8AC3E}">
        <p14:creationId xmlns:p14="http://schemas.microsoft.com/office/powerpoint/2010/main" val="34168985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370D2-F1FC-AD4C-C51D-8F993A6A421C}"/>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A19BA4B9-885B-BE43-1367-8F93FF005A01}"/>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Understanding EIGRP </a:t>
            </a:r>
            <a:r>
              <a:rPr lang="en-US" dirty="0" err="1">
                <a:solidFill>
                  <a:schemeClr val="tx1"/>
                </a:solidFill>
              </a:rPr>
              <a:t>Neighbours</a:t>
            </a:r>
            <a:endParaRPr dirty="0">
              <a:solidFill>
                <a:schemeClr val="tx1"/>
              </a:solidFill>
            </a:endParaRPr>
          </a:p>
        </p:txBody>
      </p:sp>
      <p:sp>
        <p:nvSpPr>
          <p:cNvPr id="15" name="object 15">
            <a:extLst>
              <a:ext uri="{FF2B5EF4-FFF2-40B4-BE49-F238E27FC236}">
                <a16:creationId xmlns:a16="http://schemas.microsoft.com/office/drawing/2014/main" id="{BB1F3563-F7E7-056D-D131-89E44B3615D1}"/>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3CD92E84-9E89-EC64-1B24-4EE55310DC37}"/>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F3C0127C-B4A2-238E-D199-426D047253E7}"/>
              </a:ext>
            </a:extLst>
          </p:cNvPr>
          <p:cNvSpPr txBox="1"/>
          <p:nvPr/>
        </p:nvSpPr>
        <p:spPr>
          <a:xfrm>
            <a:off x="0" y="1371601"/>
            <a:ext cx="9144000" cy="4549835"/>
          </a:xfrm>
          <a:prstGeom prst="rect">
            <a:avLst/>
          </a:prstGeom>
          <a:noFill/>
        </p:spPr>
        <p:txBody>
          <a:bodyPr wrap="square">
            <a:spAutoFit/>
          </a:bodyPr>
          <a:lstStyle/>
          <a:p>
            <a:pPr>
              <a:lnSpc>
                <a:spcPct val="150000"/>
              </a:lnSpc>
              <a:buNone/>
            </a:pPr>
            <a:r>
              <a:rPr lang="en-AU" sz="2800" dirty="0">
                <a:latin typeface="+mj-lt"/>
              </a:rPr>
              <a:t>EIGRP can exchange routing information between configured neighbouring routers.</a:t>
            </a:r>
          </a:p>
          <a:p>
            <a:pPr>
              <a:lnSpc>
                <a:spcPct val="150000"/>
              </a:lnSpc>
              <a:buNone/>
            </a:pPr>
            <a:r>
              <a:rPr lang="en-AU" sz="2800" dirty="0">
                <a:latin typeface="+mj-lt"/>
              </a:rPr>
              <a:t>Possible problems include:</a:t>
            </a:r>
          </a:p>
          <a:p>
            <a:pPr marL="342900" lvl="0" indent="-342900">
              <a:lnSpc>
                <a:spcPct val="150000"/>
              </a:lnSpc>
              <a:buFont typeface="Arial" panose="020B0604020202020204" pitchFamily="34" charset="0"/>
              <a:buChar char="•"/>
            </a:pPr>
            <a:r>
              <a:rPr lang="en-AU" sz="2800" dirty="0">
                <a:latin typeface="+mj-lt"/>
              </a:rPr>
              <a:t>Incorrect interface addressing.</a:t>
            </a:r>
          </a:p>
          <a:p>
            <a:pPr marL="342900" lvl="0" indent="-342900">
              <a:lnSpc>
                <a:spcPct val="150000"/>
              </a:lnSpc>
              <a:buFont typeface="Arial" panose="020B0604020202020204" pitchFamily="34" charset="0"/>
              <a:buChar char="•"/>
            </a:pPr>
            <a:r>
              <a:rPr lang="en-AU" sz="2800" dirty="0">
                <a:latin typeface="+mj-lt"/>
              </a:rPr>
              <a:t>Inactive interfaces.</a:t>
            </a:r>
          </a:p>
          <a:p>
            <a:pPr marL="342900" lvl="0" indent="-342900">
              <a:lnSpc>
                <a:spcPct val="150000"/>
              </a:lnSpc>
              <a:buFont typeface="Arial" panose="020B0604020202020204" pitchFamily="34" charset="0"/>
              <a:buChar char="•"/>
            </a:pPr>
            <a:r>
              <a:rPr lang="en-AU" sz="2800" dirty="0">
                <a:latin typeface="+mj-lt"/>
              </a:rPr>
              <a:t>Incompatible EIGRP settings.</a:t>
            </a:r>
          </a:p>
          <a:p>
            <a:pPr marL="342900" lvl="0" indent="-342900">
              <a:lnSpc>
                <a:spcPct val="150000"/>
              </a:lnSpc>
              <a:buFont typeface="Arial" panose="020B0604020202020204" pitchFamily="34" charset="0"/>
              <a:buChar char="•"/>
            </a:pPr>
            <a:r>
              <a:rPr lang="en-AU" sz="2800" dirty="0">
                <a:latin typeface="+mj-lt"/>
              </a:rPr>
              <a:t>Missing network participation or filtering.</a:t>
            </a:r>
          </a:p>
        </p:txBody>
      </p:sp>
    </p:spTree>
    <p:extLst>
      <p:ext uri="{BB962C8B-B14F-4D97-AF65-F5344CB8AC3E}">
        <p14:creationId xmlns:p14="http://schemas.microsoft.com/office/powerpoint/2010/main" val="16324848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6268A-CDB7-0527-521C-1697047856FD}"/>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75B23CF9-48C2-0770-D8A5-3B92074B8516}"/>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Understanding EIGRP </a:t>
            </a:r>
            <a:r>
              <a:rPr lang="en-US" dirty="0" err="1">
                <a:solidFill>
                  <a:schemeClr val="tx1"/>
                </a:solidFill>
              </a:rPr>
              <a:t>Neighbours</a:t>
            </a:r>
            <a:endParaRPr dirty="0">
              <a:solidFill>
                <a:schemeClr val="tx1"/>
              </a:solidFill>
            </a:endParaRPr>
          </a:p>
        </p:txBody>
      </p:sp>
      <p:sp>
        <p:nvSpPr>
          <p:cNvPr id="15" name="object 15">
            <a:extLst>
              <a:ext uri="{FF2B5EF4-FFF2-40B4-BE49-F238E27FC236}">
                <a16:creationId xmlns:a16="http://schemas.microsoft.com/office/drawing/2014/main" id="{1A2BB463-ADC4-06B3-840A-B9447391D942}"/>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9685E2A8-2559-52A9-8F65-6DEDD7B67983}"/>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D2BB533C-0AD5-0DEC-A863-A307A4367F96}"/>
              </a:ext>
            </a:extLst>
          </p:cNvPr>
          <p:cNvSpPr txBox="1"/>
          <p:nvPr/>
        </p:nvSpPr>
        <p:spPr>
          <a:xfrm>
            <a:off x="0" y="1371601"/>
            <a:ext cx="9144000" cy="2610843"/>
          </a:xfrm>
          <a:prstGeom prst="rect">
            <a:avLst/>
          </a:prstGeom>
          <a:noFill/>
        </p:spPr>
        <p:txBody>
          <a:bodyPr wrap="square">
            <a:spAutoFit/>
          </a:bodyPr>
          <a:lstStyle/>
          <a:p>
            <a:pPr>
              <a:lnSpc>
                <a:spcPct val="150000"/>
              </a:lnSpc>
              <a:buNone/>
            </a:pPr>
            <a:r>
              <a:rPr lang="en-AU" sz="2800" dirty="0">
                <a:latin typeface="+mj-lt"/>
              </a:rPr>
              <a:t>Discussion: Why can two routers have an operational link but fail to exchange EIGRP routes?</a:t>
            </a:r>
          </a:p>
          <a:p>
            <a:pPr>
              <a:lnSpc>
                <a:spcPct val="150000"/>
              </a:lnSpc>
              <a:buNone/>
            </a:pPr>
            <a:r>
              <a:rPr lang="en-AU" sz="2800" dirty="0">
                <a:latin typeface="+mj-lt"/>
              </a:rPr>
              <a:t>Answer: Their routing protocol configurations may not allow them to form an EIGRP neighbour relationship.</a:t>
            </a:r>
          </a:p>
        </p:txBody>
      </p:sp>
    </p:spTree>
    <p:extLst>
      <p:ext uri="{BB962C8B-B14F-4D97-AF65-F5344CB8AC3E}">
        <p14:creationId xmlns:p14="http://schemas.microsoft.com/office/powerpoint/2010/main" val="2120582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E38A6-7107-BF2D-52E3-4B62442834A5}"/>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87AA406F-5FE2-A52C-B76F-20AA36AB256E}"/>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Understanding EIGRP </a:t>
            </a:r>
            <a:r>
              <a:rPr lang="en-US" dirty="0" err="1">
                <a:solidFill>
                  <a:schemeClr val="tx1"/>
                </a:solidFill>
              </a:rPr>
              <a:t>Neighbours</a:t>
            </a:r>
            <a:endParaRPr dirty="0">
              <a:solidFill>
                <a:schemeClr val="tx1"/>
              </a:solidFill>
            </a:endParaRPr>
          </a:p>
        </p:txBody>
      </p:sp>
      <p:sp>
        <p:nvSpPr>
          <p:cNvPr id="15" name="object 15">
            <a:extLst>
              <a:ext uri="{FF2B5EF4-FFF2-40B4-BE49-F238E27FC236}">
                <a16:creationId xmlns:a16="http://schemas.microsoft.com/office/drawing/2014/main" id="{DB38CFC6-8E6D-2C2D-FC3B-3A8D977536C0}"/>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7A00F411-ADB7-EFCC-91FD-860A6F3B473D}"/>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pic>
        <p:nvPicPr>
          <p:cNvPr id="3" name="Picture 2" descr="The image depicts a network topology for a company, showcasing the connection between the HR and Finance departments, an Internet connection, and various devices like a wireless printer and scanner.&#10;&#10;AI-generated content may be incorrect.">
            <a:extLst>
              <a:ext uri="{FF2B5EF4-FFF2-40B4-BE49-F238E27FC236}">
                <a16:creationId xmlns:a16="http://schemas.microsoft.com/office/drawing/2014/main" id="{F515ADC8-5409-B064-584E-B9A0D875D943}"/>
              </a:ext>
            </a:extLst>
          </p:cNvPr>
          <p:cNvPicPr>
            <a:picLocks noChangeAspect="1"/>
          </p:cNvPicPr>
          <p:nvPr/>
        </p:nvPicPr>
        <p:blipFill>
          <a:blip r:embed="rId2">
            <a:extLst>
              <a:ext uri="{28A0092B-C50C-407E-A947-70E740481C1C}">
                <a14:useLocalDpi xmlns:a14="http://schemas.microsoft.com/office/drawing/2010/main" val="0"/>
              </a:ext>
            </a:extLst>
          </a:blip>
          <a:srcRect t="55742" r="66884" b="17500"/>
          <a:stretch>
            <a:fillRect/>
          </a:stretch>
        </p:blipFill>
        <p:spPr>
          <a:xfrm>
            <a:off x="26194" y="609600"/>
            <a:ext cx="9067800" cy="4884638"/>
          </a:xfrm>
          <a:prstGeom prst="rect">
            <a:avLst/>
          </a:prstGeom>
        </p:spPr>
      </p:pic>
      <p:sp>
        <p:nvSpPr>
          <p:cNvPr id="4" name="TextBox 3">
            <a:extLst>
              <a:ext uri="{FF2B5EF4-FFF2-40B4-BE49-F238E27FC236}">
                <a16:creationId xmlns:a16="http://schemas.microsoft.com/office/drawing/2014/main" id="{D89CA633-1E5D-2321-5A52-9C59EEDA41F6}"/>
              </a:ext>
            </a:extLst>
          </p:cNvPr>
          <p:cNvSpPr txBox="1"/>
          <p:nvPr/>
        </p:nvSpPr>
        <p:spPr>
          <a:xfrm>
            <a:off x="0" y="5555123"/>
            <a:ext cx="9144000" cy="1107996"/>
          </a:xfrm>
          <a:prstGeom prst="rect">
            <a:avLst/>
          </a:prstGeom>
          <a:solidFill>
            <a:schemeClr val="bg1"/>
          </a:solidFill>
        </p:spPr>
        <p:txBody>
          <a:bodyPr wrap="square">
            <a:spAutoFit/>
          </a:bodyPr>
          <a:lstStyle/>
          <a:p>
            <a:r>
              <a:rPr lang="en-AU" sz="2200" dirty="0">
                <a:latin typeface="+mj-lt"/>
              </a:rPr>
              <a:t>EIGRP allows routers to exchange routing information and learn how to reach other networks. The commands show </a:t>
            </a:r>
            <a:r>
              <a:rPr lang="en-AU" sz="2200" dirty="0" err="1">
                <a:latin typeface="+mj-lt"/>
              </a:rPr>
              <a:t>ip</a:t>
            </a:r>
            <a:r>
              <a:rPr lang="en-AU" sz="2200" dirty="0">
                <a:latin typeface="+mj-lt"/>
              </a:rPr>
              <a:t> </a:t>
            </a:r>
            <a:r>
              <a:rPr lang="en-AU" sz="2200" dirty="0" err="1">
                <a:latin typeface="+mj-lt"/>
              </a:rPr>
              <a:t>eigrp</a:t>
            </a:r>
            <a:r>
              <a:rPr lang="en-AU" sz="2200" dirty="0">
                <a:latin typeface="+mj-lt"/>
              </a:rPr>
              <a:t> </a:t>
            </a:r>
            <a:r>
              <a:rPr lang="en-AU" sz="2200" dirty="0" err="1">
                <a:latin typeface="+mj-lt"/>
              </a:rPr>
              <a:t>neighbors</a:t>
            </a:r>
            <a:r>
              <a:rPr lang="en-AU" sz="2200" dirty="0">
                <a:latin typeface="+mj-lt"/>
              </a:rPr>
              <a:t> and show </a:t>
            </a:r>
            <a:r>
              <a:rPr lang="en-AU" sz="2200" dirty="0" err="1">
                <a:latin typeface="+mj-lt"/>
              </a:rPr>
              <a:t>ip</a:t>
            </a:r>
            <a:r>
              <a:rPr lang="en-AU" sz="2200" dirty="0">
                <a:latin typeface="+mj-lt"/>
              </a:rPr>
              <a:t> route </a:t>
            </a:r>
            <a:r>
              <a:rPr lang="en-AU" sz="2200" dirty="0" err="1">
                <a:latin typeface="+mj-lt"/>
              </a:rPr>
              <a:t>eigrp</a:t>
            </a:r>
            <a:r>
              <a:rPr lang="en-AU" sz="2200" dirty="0">
                <a:latin typeface="+mj-lt"/>
              </a:rPr>
              <a:t> help us check neighbouring routers and routes learned through EIGRP.</a:t>
            </a:r>
          </a:p>
        </p:txBody>
      </p:sp>
    </p:spTree>
    <p:extLst>
      <p:ext uri="{BB962C8B-B14F-4D97-AF65-F5344CB8AC3E}">
        <p14:creationId xmlns:p14="http://schemas.microsoft.com/office/powerpoint/2010/main" val="14271939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D0413-2D7F-D600-B9D4-FCF11B474958}"/>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D43CA84F-F033-0D99-A065-2CDEB0A7E0A7}"/>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Testing Connectivity with Ping</a:t>
            </a:r>
            <a:endParaRPr dirty="0">
              <a:solidFill>
                <a:schemeClr val="tx1"/>
              </a:solidFill>
            </a:endParaRPr>
          </a:p>
        </p:txBody>
      </p:sp>
      <p:sp>
        <p:nvSpPr>
          <p:cNvPr id="15" name="object 15">
            <a:extLst>
              <a:ext uri="{FF2B5EF4-FFF2-40B4-BE49-F238E27FC236}">
                <a16:creationId xmlns:a16="http://schemas.microsoft.com/office/drawing/2014/main" id="{83036856-81B7-FB3C-6318-8597D361F41C}"/>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CC3F45AD-D1AB-4680-0446-6BC4C9FDEAA0}"/>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B28FDBD4-EB4B-8A94-944A-3BA9A7B0517C}"/>
              </a:ext>
            </a:extLst>
          </p:cNvPr>
          <p:cNvSpPr txBox="1"/>
          <p:nvPr/>
        </p:nvSpPr>
        <p:spPr>
          <a:xfrm>
            <a:off x="0" y="762001"/>
            <a:ext cx="9144000" cy="5196166"/>
          </a:xfrm>
          <a:prstGeom prst="rect">
            <a:avLst/>
          </a:prstGeom>
          <a:noFill/>
        </p:spPr>
        <p:txBody>
          <a:bodyPr wrap="square">
            <a:spAutoFit/>
          </a:bodyPr>
          <a:lstStyle/>
          <a:p>
            <a:pPr>
              <a:lnSpc>
                <a:spcPct val="150000"/>
              </a:lnSpc>
              <a:buNone/>
            </a:pPr>
            <a:r>
              <a:rPr lang="en-AU" sz="2800" dirty="0">
                <a:latin typeface="+mj-lt"/>
              </a:rPr>
              <a:t>Use:</a:t>
            </a:r>
          </a:p>
          <a:p>
            <a:pPr rtl="0">
              <a:lnSpc>
                <a:spcPct val="150000"/>
              </a:lnSpc>
              <a:buNone/>
            </a:pPr>
            <a:r>
              <a:rPr lang="en-AU" sz="2800" dirty="0">
                <a:highlight>
                  <a:srgbClr val="FFFF00"/>
                </a:highlight>
                <a:latin typeface="+mj-lt"/>
              </a:rPr>
              <a:t>ping 192.168.1.1</a:t>
            </a:r>
          </a:p>
          <a:p>
            <a:pPr>
              <a:lnSpc>
                <a:spcPct val="150000"/>
              </a:lnSpc>
              <a:buNone/>
            </a:pPr>
            <a:r>
              <a:rPr lang="en-AU" sz="2800" dirty="0">
                <a:latin typeface="+mj-lt"/>
              </a:rPr>
              <a:t>Ping uses ICMP Echo Request and Echo Reply messages.</a:t>
            </a:r>
          </a:p>
          <a:p>
            <a:pPr>
              <a:lnSpc>
                <a:spcPct val="150000"/>
              </a:lnSpc>
              <a:buNone/>
            </a:pPr>
            <a:r>
              <a:rPr lang="en-AU" sz="2800" dirty="0">
                <a:latin typeface="+mj-lt"/>
              </a:rPr>
              <a:t>It helps test whether a destination responds and may report round-trip time.</a:t>
            </a:r>
          </a:p>
          <a:p>
            <a:pPr>
              <a:lnSpc>
                <a:spcPct val="150000"/>
              </a:lnSpc>
              <a:buNone/>
            </a:pPr>
            <a:r>
              <a:rPr lang="en-AU" sz="2800" dirty="0">
                <a:latin typeface="+mj-lt"/>
              </a:rPr>
              <a:t>A failed ping can have several causes, including incorrect addressing, missing routes, interface problems or traffic filtering.</a:t>
            </a:r>
          </a:p>
        </p:txBody>
      </p:sp>
    </p:spTree>
    <p:extLst>
      <p:ext uri="{BB962C8B-B14F-4D97-AF65-F5344CB8AC3E}">
        <p14:creationId xmlns:p14="http://schemas.microsoft.com/office/powerpoint/2010/main" val="25056189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F1A4A-B71A-5D67-6DED-A56431F56DC6}"/>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313A0B5C-B41A-C714-6A80-A9ABEF5886A3}"/>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Testing Connectivity with Ping</a:t>
            </a:r>
            <a:endParaRPr dirty="0">
              <a:solidFill>
                <a:schemeClr val="tx1"/>
              </a:solidFill>
            </a:endParaRPr>
          </a:p>
        </p:txBody>
      </p:sp>
      <p:sp>
        <p:nvSpPr>
          <p:cNvPr id="15" name="object 15">
            <a:extLst>
              <a:ext uri="{FF2B5EF4-FFF2-40B4-BE49-F238E27FC236}">
                <a16:creationId xmlns:a16="http://schemas.microsoft.com/office/drawing/2014/main" id="{622EB21D-B46F-747D-C46E-4E65EF9C1C5B}"/>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E9648195-969A-428B-2720-FFF488126FAD}"/>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44CB1F2E-EDD5-6E46-AA49-509BA5AB8B38}"/>
              </a:ext>
            </a:extLst>
          </p:cNvPr>
          <p:cNvSpPr txBox="1"/>
          <p:nvPr/>
        </p:nvSpPr>
        <p:spPr>
          <a:xfrm>
            <a:off x="-28575" y="2123578"/>
            <a:ext cx="9144000" cy="2610843"/>
          </a:xfrm>
          <a:prstGeom prst="rect">
            <a:avLst/>
          </a:prstGeom>
          <a:noFill/>
        </p:spPr>
        <p:txBody>
          <a:bodyPr wrap="square">
            <a:spAutoFit/>
          </a:bodyPr>
          <a:lstStyle/>
          <a:p>
            <a:pPr>
              <a:lnSpc>
                <a:spcPct val="150000"/>
              </a:lnSpc>
              <a:buNone/>
            </a:pPr>
            <a:r>
              <a:rPr lang="en-AU" sz="2800" dirty="0">
                <a:latin typeface="+mj-lt"/>
              </a:rPr>
              <a:t>Discussion: Does a failed ping always mean the destination device is switched off?</a:t>
            </a:r>
          </a:p>
          <a:p>
            <a:pPr>
              <a:lnSpc>
                <a:spcPct val="150000"/>
              </a:lnSpc>
              <a:buNone/>
            </a:pPr>
            <a:r>
              <a:rPr lang="en-AU" sz="2800" dirty="0">
                <a:latin typeface="+mj-lt"/>
              </a:rPr>
              <a:t>Answer: No. The problem may be elsewhere in the network, or ICMP (Internet Control Message Protocol) may be blocked.</a:t>
            </a:r>
          </a:p>
        </p:txBody>
      </p:sp>
    </p:spTree>
    <p:extLst>
      <p:ext uri="{BB962C8B-B14F-4D97-AF65-F5344CB8AC3E}">
        <p14:creationId xmlns:p14="http://schemas.microsoft.com/office/powerpoint/2010/main" val="542805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6FAF2-3F98-25C8-17D1-846F94FBDD77}"/>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5EFC470F-7CC4-B117-0FC9-CAF1DDE2C5A8}"/>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Testing Connectivity with Ping</a:t>
            </a:r>
            <a:endParaRPr dirty="0">
              <a:solidFill>
                <a:schemeClr val="tx1"/>
              </a:solidFill>
            </a:endParaRPr>
          </a:p>
        </p:txBody>
      </p:sp>
      <p:sp>
        <p:nvSpPr>
          <p:cNvPr id="15" name="object 15">
            <a:extLst>
              <a:ext uri="{FF2B5EF4-FFF2-40B4-BE49-F238E27FC236}">
                <a16:creationId xmlns:a16="http://schemas.microsoft.com/office/drawing/2014/main" id="{39718D67-8C90-A300-80EF-D81717CF6BF2}"/>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94E046B6-9CCC-8B0D-F021-03BF91D8711C}"/>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ADAB0225-19D9-4879-E241-5ED6DC06DB7E}"/>
              </a:ext>
            </a:extLst>
          </p:cNvPr>
          <p:cNvSpPr txBox="1"/>
          <p:nvPr/>
        </p:nvSpPr>
        <p:spPr>
          <a:xfrm>
            <a:off x="-28575" y="2123578"/>
            <a:ext cx="9144000" cy="3903504"/>
          </a:xfrm>
          <a:prstGeom prst="rect">
            <a:avLst/>
          </a:prstGeom>
          <a:noFill/>
        </p:spPr>
        <p:txBody>
          <a:bodyPr wrap="square">
            <a:spAutoFit/>
          </a:bodyPr>
          <a:lstStyle/>
          <a:p>
            <a:pPr>
              <a:lnSpc>
                <a:spcPct val="150000"/>
              </a:lnSpc>
            </a:pPr>
            <a:r>
              <a:rPr lang="en-AU" sz="2800" dirty="0">
                <a:latin typeface="+mj-lt"/>
              </a:rPr>
              <a:t>Question: You can open a website hosted on a server, but when you ping the server, you receive "Request timed out." Does this mean the server is offline?</a:t>
            </a:r>
          </a:p>
          <a:p>
            <a:pPr>
              <a:lnSpc>
                <a:spcPct val="150000"/>
              </a:lnSpc>
            </a:pPr>
            <a:r>
              <a:rPr lang="en-AU" sz="2800" dirty="0">
                <a:latin typeface="+mj-lt"/>
              </a:rPr>
              <a:t>Answer: No. The server may be working correctly, but its firewall could be blocking ICMP Echo Requests or Replies while allowing web traffic (HTTP/HTTPS).</a:t>
            </a:r>
          </a:p>
        </p:txBody>
      </p:sp>
    </p:spTree>
    <p:extLst>
      <p:ext uri="{BB962C8B-B14F-4D97-AF65-F5344CB8AC3E}">
        <p14:creationId xmlns:p14="http://schemas.microsoft.com/office/powerpoint/2010/main" val="2009966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65AD9-9BD5-3C35-CD85-A631D06DF648}"/>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F8EF035B-4420-314B-7531-176636780BE5}"/>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Finding the Route with Traceroute</a:t>
            </a:r>
            <a:endParaRPr dirty="0">
              <a:solidFill>
                <a:schemeClr val="tx1"/>
              </a:solidFill>
            </a:endParaRPr>
          </a:p>
        </p:txBody>
      </p:sp>
      <p:sp>
        <p:nvSpPr>
          <p:cNvPr id="15" name="object 15">
            <a:extLst>
              <a:ext uri="{FF2B5EF4-FFF2-40B4-BE49-F238E27FC236}">
                <a16:creationId xmlns:a16="http://schemas.microsoft.com/office/drawing/2014/main" id="{621347C1-1B0F-3F54-FC95-06101ED626CD}"/>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54AF29FE-5807-AC37-B8BB-B34C20B0D6DA}"/>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DC10AF64-C8A2-88D7-FCD5-6A4C18A2A68F}"/>
              </a:ext>
            </a:extLst>
          </p:cNvPr>
          <p:cNvSpPr txBox="1"/>
          <p:nvPr/>
        </p:nvSpPr>
        <p:spPr>
          <a:xfrm>
            <a:off x="0" y="838200"/>
            <a:ext cx="9220200" cy="4549835"/>
          </a:xfrm>
          <a:prstGeom prst="rect">
            <a:avLst/>
          </a:prstGeom>
          <a:noFill/>
        </p:spPr>
        <p:txBody>
          <a:bodyPr wrap="square">
            <a:spAutoFit/>
          </a:bodyPr>
          <a:lstStyle/>
          <a:p>
            <a:pPr>
              <a:lnSpc>
                <a:spcPct val="150000"/>
              </a:lnSpc>
              <a:buNone/>
            </a:pPr>
            <a:r>
              <a:rPr lang="en-AU" sz="2800" dirty="0">
                <a:latin typeface="+mj-lt"/>
              </a:rPr>
              <a:t>On Cisco IOS:</a:t>
            </a:r>
          </a:p>
          <a:p>
            <a:pPr rtl="0">
              <a:lnSpc>
                <a:spcPct val="150000"/>
              </a:lnSpc>
              <a:buNone/>
            </a:pPr>
            <a:r>
              <a:rPr lang="en-AU" sz="2800" dirty="0">
                <a:highlight>
                  <a:srgbClr val="FFFF00"/>
                </a:highlight>
                <a:latin typeface="+mj-lt"/>
              </a:rPr>
              <a:t>traceroute 192.168.10.10</a:t>
            </a:r>
          </a:p>
          <a:p>
            <a:pPr>
              <a:lnSpc>
                <a:spcPct val="150000"/>
              </a:lnSpc>
              <a:buNone/>
            </a:pPr>
            <a:r>
              <a:rPr lang="en-AU" sz="2800" dirty="0">
                <a:latin typeface="+mj-lt"/>
              </a:rPr>
              <a:t>Traceroute helps identify Layer 3 hops along a path.</a:t>
            </a:r>
          </a:p>
          <a:p>
            <a:pPr>
              <a:lnSpc>
                <a:spcPct val="150000"/>
              </a:lnSpc>
              <a:buNone/>
            </a:pPr>
            <a:r>
              <a:rPr lang="en-AU" sz="2800" dirty="0">
                <a:latin typeface="+mj-lt"/>
              </a:rPr>
              <a:t>It can assist with:</a:t>
            </a:r>
          </a:p>
          <a:p>
            <a:pPr marL="342900" lvl="0" indent="-342900">
              <a:lnSpc>
                <a:spcPct val="150000"/>
              </a:lnSpc>
              <a:buFont typeface="Arial" panose="020B0604020202020204" pitchFamily="34" charset="0"/>
              <a:buChar char="•"/>
            </a:pPr>
            <a:r>
              <a:rPr lang="en-AU" sz="2800" dirty="0">
                <a:latin typeface="+mj-lt"/>
              </a:rPr>
              <a:t>Investigating unexpected routes.</a:t>
            </a:r>
          </a:p>
          <a:p>
            <a:pPr marL="342900" lvl="0" indent="-342900">
              <a:lnSpc>
                <a:spcPct val="150000"/>
              </a:lnSpc>
              <a:buFont typeface="Arial" panose="020B0604020202020204" pitchFamily="34" charset="0"/>
              <a:buChar char="•"/>
            </a:pPr>
            <a:r>
              <a:rPr lang="en-AU" sz="2800" dirty="0">
                <a:latin typeface="+mj-lt"/>
              </a:rPr>
              <a:t>Identifying where responses stop.</a:t>
            </a:r>
          </a:p>
          <a:p>
            <a:pPr marL="342900" lvl="0" indent="-342900">
              <a:lnSpc>
                <a:spcPct val="150000"/>
              </a:lnSpc>
              <a:buFont typeface="Arial" panose="020B0604020202020204" pitchFamily="34" charset="0"/>
              <a:buChar char="•"/>
            </a:pPr>
            <a:r>
              <a:rPr lang="en-AU" sz="2800" dirty="0">
                <a:latin typeface="+mj-lt"/>
              </a:rPr>
              <a:t>Comparing the observed route with the network design.</a:t>
            </a:r>
          </a:p>
        </p:txBody>
      </p:sp>
    </p:spTree>
    <p:extLst>
      <p:ext uri="{BB962C8B-B14F-4D97-AF65-F5344CB8AC3E}">
        <p14:creationId xmlns:p14="http://schemas.microsoft.com/office/powerpoint/2010/main" val="350956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9FCC7-E4B3-CC06-8C60-C97B4C210C93}"/>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8830A662-B4C3-D4A0-9667-B0CFA7969DA2}"/>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Finding the Route with Traceroute</a:t>
            </a:r>
            <a:endParaRPr dirty="0">
              <a:solidFill>
                <a:schemeClr val="tx1"/>
              </a:solidFill>
            </a:endParaRPr>
          </a:p>
        </p:txBody>
      </p:sp>
      <p:sp>
        <p:nvSpPr>
          <p:cNvPr id="15" name="object 15">
            <a:extLst>
              <a:ext uri="{FF2B5EF4-FFF2-40B4-BE49-F238E27FC236}">
                <a16:creationId xmlns:a16="http://schemas.microsoft.com/office/drawing/2014/main" id="{F084050B-1E54-B5C1-5F77-1BCFF8785080}"/>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336C27F7-3FEC-F1A4-193F-6F0AB589FFD8}"/>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06DF6A95-523B-2DF9-749D-1AA530320198}"/>
              </a:ext>
            </a:extLst>
          </p:cNvPr>
          <p:cNvSpPr txBox="1"/>
          <p:nvPr/>
        </p:nvSpPr>
        <p:spPr>
          <a:xfrm>
            <a:off x="76200" y="1219200"/>
            <a:ext cx="8946991" cy="4549835"/>
          </a:xfrm>
          <a:prstGeom prst="rect">
            <a:avLst/>
          </a:prstGeom>
          <a:noFill/>
        </p:spPr>
        <p:txBody>
          <a:bodyPr wrap="square">
            <a:spAutoFit/>
          </a:bodyPr>
          <a:lstStyle/>
          <a:p>
            <a:pPr>
              <a:lnSpc>
                <a:spcPct val="150000"/>
              </a:lnSpc>
              <a:buNone/>
            </a:pPr>
            <a:r>
              <a:rPr lang="en-AU" sz="2800" dirty="0">
                <a:latin typeface="+mj-lt"/>
              </a:rPr>
              <a:t>Some hops may not respond, even when traffic can continue.</a:t>
            </a:r>
          </a:p>
          <a:p>
            <a:pPr>
              <a:lnSpc>
                <a:spcPct val="150000"/>
              </a:lnSpc>
              <a:buNone/>
            </a:pPr>
            <a:r>
              <a:rPr lang="en-AU" sz="2800" dirty="0">
                <a:latin typeface="+mj-lt"/>
              </a:rPr>
              <a:t>Discussion: Why does traceroute normally show routers rather than ordinary Layer 2 switches?</a:t>
            </a:r>
          </a:p>
          <a:p>
            <a:pPr>
              <a:lnSpc>
                <a:spcPct val="150000"/>
              </a:lnSpc>
              <a:buNone/>
            </a:pPr>
            <a:r>
              <a:rPr lang="en-AU" sz="2800" dirty="0">
                <a:latin typeface="+mj-lt"/>
              </a:rPr>
              <a:t>Answer: Routers decrement the IP TTL and can generate the responses used by traceroute. Ordinary Layer 2 switches do not act as IP routing hops.</a:t>
            </a:r>
          </a:p>
        </p:txBody>
      </p:sp>
    </p:spTree>
    <p:extLst>
      <p:ext uri="{BB962C8B-B14F-4D97-AF65-F5344CB8AC3E}">
        <p14:creationId xmlns:p14="http://schemas.microsoft.com/office/powerpoint/2010/main" val="41599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74EA2-2545-3AC2-75C1-0F4F057BC20A}"/>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A6857967-C732-DA19-E225-CFEF56AEB453}"/>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Measuring Round-Trip Time</a:t>
            </a:r>
            <a:endParaRPr dirty="0">
              <a:solidFill>
                <a:schemeClr val="tx1"/>
              </a:solidFill>
            </a:endParaRPr>
          </a:p>
        </p:txBody>
      </p:sp>
      <p:sp>
        <p:nvSpPr>
          <p:cNvPr id="15" name="object 15">
            <a:extLst>
              <a:ext uri="{FF2B5EF4-FFF2-40B4-BE49-F238E27FC236}">
                <a16:creationId xmlns:a16="http://schemas.microsoft.com/office/drawing/2014/main" id="{1CF4F357-859E-418B-6569-F67C86145C5F}"/>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6C33FD90-0FA6-F1FB-7FF6-D52F4050C59D}"/>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53E601D-A80C-EDB0-019E-9C6315D18A65}"/>
                  </a:ext>
                </a:extLst>
              </p:cNvPr>
              <p:cNvSpPr txBox="1"/>
              <p:nvPr/>
            </p:nvSpPr>
            <p:spPr>
              <a:xfrm>
                <a:off x="0" y="838201"/>
                <a:ext cx="9144000" cy="5262979"/>
              </a:xfrm>
              <a:prstGeom prst="rect">
                <a:avLst/>
              </a:prstGeom>
              <a:noFill/>
            </p:spPr>
            <p:txBody>
              <a:bodyPr wrap="square">
                <a:spAutoFit/>
              </a:bodyPr>
              <a:lstStyle/>
              <a:p>
                <a:pPr>
                  <a:lnSpc>
                    <a:spcPct val="150000"/>
                  </a:lnSpc>
                  <a:buNone/>
                </a:pPr>
                <a:r>
                  <a:rPr lang="en-AU" sz="2800" dirty="0">
                    <a:latin typeface="+mj-lt"/>
                  </a:rPr>
                  <a:t>Round-trip time (RTT) is the time taken for a request to reach its destination and for the response to return.</a:t>
                </a:r>
              </a:p>
              <a:p>
                <a:pPr>
                  <a:lnSpc>
                    <a:spcPct val="150000"/>
                  </a:lnSpc>
                  <a:buNone/>
                </a:pPr>
                <a:r>
                  <a:rPr lang="en-AU" sz="2800" dirty="0">
                    <a:latin typeface="+mj-lt"/>
                  </a:rPr>
                  <a:t>Example ping results:</a:t>
                </a:r>
              </a:p>
              <a:p>
                <a:pPr marL="342900" lvl="0" indent="-342900">
                  <a:lnSpc>
                    <a:spcPct val="150000"/>
                  </a:lnSpc>
                  <a:buFont typeface="Arial" panose="020B0604020202020204" pitchFamily="34" charset="0"/>
                  <a:buChar char="•"/>
                </a:pPr>
                <a:r>
                  <a:rPr lang="en-AU" sz="2800" dirty="0">
                    <a:latin typeface="+mj-lt"/>
                  </a:rPr>
                  <a:t>First reply: 4 </a:t>
                </a:r>
                <a:r>
                  <a:rPr lang="en-AU" sz="2800" dirty="0" err="1">
                    <a:latin typeface="+mj-lt"/>
                  </a:rPr>
                  <a:t>ms</a:t>
                </a:r>
                <a:r>
                  <a:rPr lang="en-AU" sz="2800" dirty="0">
                    <a:latin typeface="+mj-lt"/>
                  </a:rPr>
                  <a:t>.</a:t>
                </a:r>
              </a:p>
              <a:p>
                <a:pPr marL="342900" lvl="0" indent="-342900">
                  <a:lnSpc>
                    <a:spcPct val="150000"/>
                  </a:lnSpc>
                  <a:buFont typeface="Arial" panose="020B0604020202020204" pitchFamily="34" charset="0"/>
                  <a:buChar char="•"/>
                </a:pPr>
                <a:r>
                  <a:rPr lang="en-AU" sz="2800" dirty="0">
                    <a:latin typeface="+mj-lt"/>
                  </a:rPr>
                  <a:t>Second reply: 6 </a:t>
                </a:r>
                <a:r>
                  <a:rPr lang="en-AU" sz="2800" dirty="0" err="1">
                    <a:latin typeface="+mj-lt"/>
                  </a:rPr>
                  <a:t>ms</a:t>
                </a:r>
                <a:r>
                  <a:rPr lang="en-AU" sz="2800" dirty="0">
                    <a:latin typeface="+mj-lt"/>
                  </a:rPr>
                  <a:t>.</a:t>
                </a:r>
              </a:p>
              <a:p>
                <a:pPr marL="342900" lvl="0" indent="-342900">
                  <a:lnSpc>
                    <a:spcPct val="150000"/>
                  </a:lnSpc>
                  <a:buFont typeface="Arial" panose="020B0604020202020204" pitchFamily="34" charset="0"/>
                  <a:buChar char="•"/>
                </a:pPr>
                <a:r>
                  <a:rPr lang="en-AU" sz="2800" dirty="0">
                    <a:latin typeface="+mj-lt"/>
                  </a:rPr>
                  <a:t>Third reply: 5 </a:t>
                </a:r>
                <a:r>
                  <a:rPr lang="en-AU" sz="2800" dirty="0" err="1">
                    <a:latin typeface="+mj-lt"/>
                  </a:rPr>
                  <a:t>ms</a:t>
                </a:r>
                <a:r>
                  <a:rPr lang="en-AU" sz="2800" dirty="0">
                    <a:latin typeface="+mj-lt"/>
                  </a:rPr>
                  <a:t>.</a:t>
                </a:r>
              </a:p>
              <a:p>
                <a:pPr>
                  <a:lnSpc>
                    <a:spcPct val="150000"/>
                  </a:lnSpc>
                  <a:buNone/>
                </a:pPr>
                <a:r>
                  <a:rPr lang="en-AU" sz="2800" dirty="0">
                    <a:latin typeface="+mj-lt"/>
                  </a:rPr>
                  <a:t>Average RTT:</a:t>
                </a:r>
              </a:p>
              <a:p>
                <a:pPr>
                  <a:lnSpc>
                    <a:spcPct val="150000"/>
                  </a:lnSpc>
                  <a:buNone/>
                </a:pPr>
                <a14:m>
                  <m:oMathPara xmlns:m="http://schemas.openxmlformats.org/officeDocument/2006/math">
                    <m:oMath>
                      <m:r>
                        <a:rPr lang="en-AU" sz="2800" i="1" dirty="0">
                          <a:latin typeface="Cambria Math" panose="02040503050406030204" pitchFamily="18" charset="0"/>
                        </a:rPr>
                        <m:t>(4+6+5)/3=5</m:t>
                      </m:r>
                    </m:oMath>
                  </m:oMathPara>
                </a14:m>
                <a:endParaRPr lang="en-AU" sz="2800" dirty="0">
                  <a:latin typeface="+mj-lt"/>
                </a:endParaRPr>
              </a:p>
            </p:txBody>
          </p:sp>
        </mc:Choice>
        <mc:Fallback xmlns="">
          <p:sp>
            <p:nvSpPr>
              <p:cNvPr id="4" name="TextBox 3">
                <a:extLst>
                  <a:ext uri="{FF2B5EF4-FFF2-40B4-BE49-F238E27FC236}">
                    <a16:creationId xmlns:a16="http://schemas.microsoft.com/office/drawing/2014/main" id="{B53E601D-A80C-EDB0-019E-9C6315D18A65}"/>
                  </a:ext>
                </a:extLst>
              </p:cNvPr>
              <p:cNvSpPr txBox="1">
                <a:spLocks noRot="1" noChangeAspect="1" noMove="1" noResize="1" noEditPoints="1" noAdjustHandles="1" noChangeArrowheads="1" noChangeShapeType="1" noTextEdit="1"/>
              </p:cNvSpPr>
              <p:nvPr/>
            </p:nvSpPr>
            <p:spPr>
              <a:xfrm>
                <a:off x="0" y="838201"/>
                <a:ext cx="9144000" cy="5262979"/>
              </a:xfrm>
              <a:prstGeom prst="rect">
                <a:avLst/>
              </a:prstGeom>
              <a:blipFill>
                <a:blip r:embed="rId2"/>
                <a:stretch>
                  <a:fillRect l="-1333" r="-1133"/>
                </a:stretch>
              </a:blipFill>
            </p:spPr>
            <p:txBody>
              <a:bodyPr/>
              <a:lstStyle/>
              <a:p>
                <a:r>
                  <a:rPr lang="en-AU">
                    <a:noFill/>
                  </a:rPr>
                  <a:t> </a:t>
                </a:r>
              </a:p>
            </p:txBody>
          </p:sp>
        </mc:Fallback>
      </mc:AlternateContent>
    </p:spTree>
    <p:extLst>
      <p:ext uri="{BB962C8B-B14F-4D97-AF65-F5344CB8AC3E}">
        <p14:creationId xmlns:p14="http://schemas.microsoft.com/office/powerpoint/2010/main" val="2053228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86ADF-5E67-658D-4EF9-86B713A57F6A}"/>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1A55ABEE-2057-61A3-93E9-83D00B6BC2BD}"/>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Measuring Round-Trip Time</a:t>
            </a:r>
            <a:endParaRPr dirty="0">
              <a:solidFill>
                <a:schemeClr val="tx1"/>
              </a:solidFill>
            </a:endParaRPr>
          </a:p>
        </p:txBody>
      </p:sp>
      <p:sp>
        <p:nvSpPr>
          <p:cNvPr id="15" name="object 15">
            <a:extLst>
              <a:ext uri="{FF2B5EF4-FFF2-40B4-BE49-F238E27FC236}">
                <a16:creationId xmlns:a16="http://schemas.microsoft.com/office/drawing/2014/main" id="{2EDD1660-F2BD-1312-06AD-F670DC9365CE}"/>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58C580AE-10E2-A3BC-CD9B-21A1ECAB6E49}"/>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D2D0017B-2299-184B-D079-B8CBC78BFCBF}"/>
              </a:ext>
            </a:extLst>
          </p:cNvPr>
          <p:cNvSpPr txBox="1"/>
          <p:nvPr/>
        </p:nvSpPr>
        <p:spPr>
          <a:xfrm>
            <a:off x="0" y="1676401"/>
            <a:ext cx="9144000" cy="2610843"/>
          </a:xfrm>
          <a:prstGeom prst="rect">
            <a:avLst/>
          </a:prstGeom>
          <a:noFill/>
        </p:spPr>
        <p:txBody>
          <a:bodyPr wrap="square">
            <a:spAutoFit/>
          </a:bodyPr>
          <a:lstStyle/>
          <a:p>
            <a:pPr>
              <a:lnSpc>
                <a:spcPct val="150000"/>
              </a:lnSpc>
              <a:buNone/>
            </a:pPr>
            <a:r>
              <a:rPr lang="en-AU" sz="2800" dirty="0">
                <a:latin typeface="+mj-lt"/>
              </a:rPr>
              <a:t>Discussion: Does a lower RTT always mean that a network has higher bandwidth?</a:t>
            </a:r>
          </a:p>
          <a:p>
            <a:pPr>
              <a:lnSpc>
                <a:spcPct val="150000"/>
              </a:lnSpc>
              <a:buNone/>
            </a:pPr>
            <a:r>
              <a:rPr lang="en-AU" sz="2800" dirty="0">
                <a:latin typeface="+mj-lt"/>
              </a:rPr>
              <a:t>Answer: No. RTT measures delay, while bandwidth describes data-carrying capacity.</a:t>
            </a:r>
          </a:p>
        </p:txBody>
      </p:sp>
    </p:spTree>
    <p:extLst>
      <p:ext uri="{BB962C8B-B14F-4D97-AF65-F5344CB8AC3E}">
        <p14:creationId xmlns:p14="http://schemas.microsoft.com/office/powerpoint/2010/main" val="425786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BE864-A7A5-B7F2-9953-13CDFB64EBAB}"/>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AB22D419-BB7A-C116-C73E-EC9509EAA7C4}"/>
              </a:ext>
            </a:extLst>
          </p:cNvPr>
          <p:cNvSpPr txBox="1">
            <a:spLocks noGrp="1"/>
          </p:cNvSpPr>
          <p:nvPr>
            <p:ph type="ctrTitle"/>
          </p:nvPr>
        </p:nvSpPr>
        <p:spPr>
          <a:xfrm>
            <a:off x="263448" y="62483"/>
            <a:ext cx="7356552" cy="905376"/>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Reading Router Hardware and Software Information</a:t>
            </a:r>
            <a:endParaRPr dirty="0">
              <a:solidFill>
                <a:schemeClr val="tx1"/>
              </a:solidFill>
            </a:endParaRPr>
          </a:p>
        </p:txBody>
      </p:sp>
      <p:sp>
        <p:nvSpPr>
          <p:cNvPr id="15" name="object 15">
            <a:extLst>
              <a:ext uri="{FF2B5EF4-FFF2-40B4-BE49-F238E27FC236}">
                <a16:creationId xmlns:a16="http://schemas.microsoft.com/office/drawing/2014/main" id="{31C3AE04-F215-A05C-2F6A-5CBF495BECD1}"/>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C8B5EFA4-059E-E588-E595-0DD30DA81BB1}"/>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B0091135-75F4-D530-0F0F-555B86C26D8D}"/>
              </a:ext>
            </a:extLst>
          </p:cNvPr>
          <p:cNvSpPr txBox="1"/>
          <p:nvPr/>
        </p:nvSpPr>
        <p:spPr>
          <a:xfrm>
            <a:off x="0" y="1143001"/>
            <a:ext cx="9144000" cy="5842497"/>
          </a:xfrm>
          <a:prstGeom prst="rect">
            <a:avLst/>
          </a:prstGeom>
          <a:noFill/>
        </p:spPr>
        <p:txBody>
          <a:bodyPr wrap="square">
            <a:spAutoFit/>
          </a:bodyPr>
          <a:lstStyle/>
          <a:p>
            <a:pPr>
              <a:lnSpc>
                <a:spcPct val="150000"/>
              </a:lnSpc>
              <a:buNone/>
            </a:pPr>
            <a:r>
              <a:rPr lang="en-AU" sz="2800" dirty="0">
                <a:latin typeface="+mj-lt"/>
              </a:rPr>
              <a:t>Use:</a:t>
            </a:r>
          </a:p>
          <a:p>
            <a:pPr rtl="0">
              <a:lnSpc>
                <a:spcPct val="150000"/>
              </a:lnSpc>
              <a:buNone/>
            </a:pPr>
            <a:r>
              <a:rPr lang="en-AU" sz="2800" dirty="0">
                <a:highlight>
                  <a:srgbClr val="FFFF00"/>
                </a:highlight>
                <a:latin typeface="+mj-lt"/>
              </a:rPr>
              <a:t>show version</a:t>
            </a:r>
          </a:p>
          <a:p>
            <a:pPr>
              <a:lnSpc>
                <a:spcPct val="150000"/>
              </a:lnSpc>
              <a:buNone/>
            </a:pPr>
            <a:r>
              <a:rPr lang="en-AU" sz="2800" dirty="0">
                <a:latin typeface="+mj-lt"/>
              </a:rPr>
              <a:t>Depending on the device and IOS output, this may show:</a:t>
            </a:r>
          </a:p>
          <a:p>
            <a:pPr marL="342900" lvl="0" indent="-342900">
              <a:lnSpc>
                <a:spcPct val="150000"/>
              </a:lnSpc>
              <a:buFont typeface="Arial" panose="020B0604020202020204" pitchFamily="34" charset="0"/>
              <a:buChar char="•"/>
            </a:pPr>
            <a:r>
              <a:rPr lang="en-AU" sz="2800" dirty="0">
                <a:latin typeface="+mj-lt"/>
              </a:rPr>
              <a:t>Cisco IOS version.</a:t>
            </a:r>
          </a:p>
          <a:p>
            <a:pPr marL="342900" lvl="0" indent="-342900">
              <a:lnSpc>
                <a:spcPct val="150000"/>
              </a:lnSpc>
              <a:buFont typeface="Arial" panose="020B0604020202020204" pitchFamily="34" charset="0"/>
              <a:buChar char="•"/>
            </a:pPr>
            <a:r>
              <a:rPr lang="en-AU" sz="2800" dirty="0">
                <a:latin typeface="+mj-lt"/>
              </a:rPr>
              <a:t>Router model.</a:t>
            </a:r>
          </a:p>
          <a:p>
            <a:pPr marL="342900" lvl="0" indent="-342900">
              <a:lnSpc>
                <a:spcPct val="150000"/>
              </a:lnSpc>
              <a:buFont typeface="Arial" panose="020B0604020202020204" pitchFamily="34" charset="0"/>
              <a:buChar char="•"/>
            </a:pPr>
            <a:r>
              <a:rPr lang="en-AU" sz="2800" dirty="0">
                <a:latin typeface="+mj-lt"/>
              </a:rPr>
              <a:t>System image.</a:t>
            </a:r>
          </a:p>
          <a:p>
            <a:pPr marL="342900" lvl="0" indent="-342900">
              <a:lnSpc>
                <a:spcPct val="150000"/>
              </a:lnSpc>
              <a:buFont typeface="Arial" panose="020B0604020202020204" pitchFamily="34" charset="0"/>
              <a:buChar char="•"/>
            </a:pPr>
            <a:r>
              <a:rPr lang="en-AU" sz="2800" dirty="0">
                <a:latin typeface="+mj-lt"/>
              </a:rPr>
              <a:t>Memory information.</a:t>
            </a:r>
          </a:p>
          <a:p>
            <a:pPr marL="342900" lvl="0" indent="-342900">
              <a:lnSpc>
                <a:spcPct val="150000"/>
              </a:lnSpc>
              <a:buFont typeface="Arial" panose="020B0604020202020204" pitchFamily="34" charset="0"/>
              <a:buChar char="•"/>
            </a:pPr>
            <a:r>
              <a:rPr lang="en-AU" sz="2800" dirty="0">
                <a:latin typeface="+mj-lt"/>
              </a:rPr>
              <a:t>Configuration register.</a:t>
            </a:r>
          </a:p>
          <a:p>
            <a:pPr marL="342900" lvl="0" indent="-342900">
              <a:lnSpc>
                <a:spcPct val="150000"/>
              </a:lnSpc>
              <a:buFont typeface="Arial" panose="020B0604020202020204" pitchFamily="34" charset="0"/>
              <a:buChar char="•"/>
            </a:pPr>
            <a:r>
              <a:rPr lang="en-AU" sz="2800" dirty="0">
                <a:latin typeface="+mj-lt"/>
              </a:rPr>
              <a:t>Hardware information.</a:t>
            </a:r>
          </a:p>
        </p:txBody>
      </p:sp>
    </p:spTree>
    <p:extLst>
      <p:ext uri="{BB962C8B-B14F-4D97-AF65-F5344CB8AC3E}">
        <p14:creationId xmlns:p14="http://schemas.microsoft.com/office/powerpoint/2010/main" val="35267395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3B92C-22D8-9455-D138-14307E5CFE57}"/>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E81EC73B-9D5B-C46F-80AA-6E4EAB6589B3}"/>
              </a:ext>
            </a:extLst>
          </p:cNvPr>
          <p:cNvSpPr txBox="1">
            <a:spLocks noGrp="1"/>
          </p:cNvSpPr>
          <p:nvPr>
            <p:ph type="ctrTitle"/>
          </p:nvPr>
        </p:nvSpPr>
        <p:spPr>
          <a:xfrm>
            <a:off x="263448" y="62483"/>
            <a:ext cx="7356552" cy="905376"/>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Reading Router Hardware and Software Information</a:t>
            </a:r>
            <a:endParaRPr dirty="0">
              <a:solidFill>
                <a:schemeClr val="tx1"/>
              </a:solidFill>
            </a:endParaRPr>
          </a:p>
        </p:txBody>
      </p:sp>
      <p:sp>
        <p:nvSpPr>
          <p:cNvPr id="15" name="object 15">
            <a:extLst>
              <a:ext uri="{FF2B5EF4-FFF2-40B4-BE49-F238E27FC236}">
                <a16:creationId xmlns:a16="http://schemas.microsoft.com/office/drawing/2014/main" id="{C7217503-CC98-412C-9BB4-B090DECE1F12}"/>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8AD437D0-C3F1-4EC3-DA62-024F34D0E6E4}"/>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0595E036-3F4E-7A6D-D4FD-9471A5D66D76}"/>
              </a:ext>
            </a:extLst>
          </p:cNvPr>
          <p:cNvSpPr txBox="1"/>
          <p:nvPr/>
        </p:nvSpPr>
        <p:spPr>
          <a:xfrm>
            <a:off x="0" y="1143001"/>
            <a:ext cx="9144000" cy="1318181"/>
          </a:xfrm>
          <a:prstGeom prst="rect">
            <a:avLst/>
          </a:prstGeom>
          <a:noFill/>
        </p:spPr>
        <p:txBody>
          <a:bodyPr wrap="square">
            <a:spAutoFit/>
          </a:bodyPr>
          <a:lstStyle/>
          <a:p>
            <a:pPr>
              <a:lnSpc>
                <a:spcPct val="150000"/>
              </a:lnSpc>
              <a:buNone/>
            </a:pPr>
            <a:r>
              <a:rPr lang="en-AU" sz="2800" dirty="0">
                <a:latin typeface="+mj-lt"/>
              </a:rPr>
              <a:t>The Scenario 1 task specifically asks students to identify the IOS version, NVRAM and ROM size for R2.</a:t>
            </a:r>
          </a:p>
        </p:txBody>
      </p:sp>
      <p:sp>
        <p:nvSpPr>
          <p:cNvPr id="3" name="TextBox 2">
            <a:extLst>
              <a:ext uri="{FF2B5EF4-FFF2-40B4-BE49-F238E27FC236}">
                <a16:creationId xmlns:a16="http://schemas.microsoft.com/office/drawing/2014/main" id="{AF7A3A29-A37A-4887-900B-984FC7BF0C36}"/>
              </a:ext>
            </a:extLst>
          </p:cNvPr>
          <p:cNvSpPr txBox="1"/>
          <p:nvPr/>
        </p:nvSpPr>
        <p:spPr>
          <a:xfrm>
            <a:off x="0" y="2971801"/>
            <a:ext cx="9020174" cy="2610843"/>
          </a:xfrm>
          <a:prstGeom prst="rect">
            <a:avLst/>
          </a:prstGeom>
          <a:noFill/>
        </p:spPr>
        <p:txBody>
          <a:bodyPr wrap="square">
            <a:spAutoFit/>
          </a:bodyPr>
          <a:lstStyle/>
          <a:p>
            <a:pPr>
              <a:lnSpc>
                <a:spcPct val="150000"/>
              </a:lnSpc>
              <a:buNone/>
            </a:pPr>
            <a:r>
              <a:rPr lang="en-AU" sz="2800" dirty="0">
                <a:latin typeface="+mj-lt"/>
              </a:rPr>
              <a:t>Discussion: Why should you report the values from R2 rather than another router?</a:t>
            </a:r>
          </a:p>
          <a:p>
            <a:pPr>
              <a:lnSpc>
                <a:spcPct val="150000"/>
              </a:lnSpc>
              <a:buNone/>
            </a:pPr>
            <a:r>
              <a:rPr lang="en-AU" sz="2800" dirty="0">
                <a:latin typeface="+mj-lt"/>
              </a:rPr>
              <a:t>Answer: Different devices may have different hardware, software and memory information.</a:t>
            </a:r>
          </a:p>
        </p:txBody>
      </p:sp>
    </p:spTree>
    <p:extLst>
      <p:ext uri="{BB962C8B-B14F-4D97-AF65-F5344CB8AC3E}">
        <p14:creationId xmlns:p14="http://schemas.microsoft.com/office/powerpoint/2010/main" val="2173363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7CD8E-D7CC-F422-1D43-9ECFFAB9A835}"/>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CA991219-75B5-1F70-E74A-B7D2B33B0809}"/>
              </a:ext>
            </a:extLst>
          </p:cNvPr>
          <p:cNvSpPr txBox="1">
            <a:spLocks noGrp="1"/>
          </p:cNvSpPr>
          <p:nvPr>
            <p:ph type="ctrTitle"/>
          </p:nvPr>
        </p:nvSpPr>
        <p:spPr>
          <a:xfrm>
            <a:off x="263448" y="62483"/>
            <a:ext cx="7356552" cy="905376"/>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Reading Router Hardware and Software Information</a:t>
            </a:r>
            <a:endParaRPr dirty="0">
              <a:solidFill>
                <a:schemeClr val="tx1"/>
              </a:solidFill>
            </a:endParaRPr>
          </a:p>
        </p:txBody>
      </p:sp>
      <p:sp>
        <p:nvSpPr>
          <p:cNvPr id="15" name="object 15">
            <a:extLst>
              <a:ext uri="{FF2B5EF4-FFF2-40B4-BE49-F238E27FC236}">
                <a16:creationId xmlns:a16="http://schemas.microsoft.com/office/drawing/2014/main" id="{C35D3955-693C-BF82-F0F5-F3AB6057D831}"/>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B3E456E3-F73E-A215-09E8-EE30EF157925}"/>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pic>
        <p:nvPicPr>
          <p:cNvPr id="3" name="Picture 2" descr="The image depicts a network topology for a company, showcasing the connection between the HR and Finance departments, an Internet connection, and various devices like a wireless printer and scanner.&#10;&#10;AI-generated content may be incorrect.">
            <a:extLst>
              <a:ext uri="{FF2B5EF4-FFF2-40B4-BE49-F238E27FC236}">
                <a16:creationId xmlns:a16="http://schemas.microsoft.com/office/drawing/2014/main" id="{036C32B4-132A-3B2B-977B-ACE7D405D8A4}"/>
              </a:ext>
            </a:extLst>
          </p:cNvPr>
          <p:cNvPicPr>
            <a:picLocks noChangeAspect="1"/>
          </p:cNvPicPr>
          <p:nvPr/>
        </p:nvPicPr>
        <p:blipFill>
          <a:blip r:embed="rId2">
            <a:extLst>
              <a:ext uri="{28A0092B-C50C-407E-A947-70E740481C1C}">
                <a14:useLocalDpi xmlns:a14="http://schemas.microsoft.com/office/drawing/2010/main" val="0"/>
              </a:ext>
            </a:extLst>
          </a:blip>
          <a:srcRect l="33333" t="63750" r="33333" b="16250"/>
          <a:stretch>
            <a:fillRect/>
          </a:stretch>
        </p:blipFill>
        <p:spPr>
          <a:xfrm>
            <a:off x="35719" y="967859"/>
            <a:ext cx="9144000" cy="3657600"/>
          </a:xfrm>
          <a:prstGeom prst="rect">
            <a:avLst/>
          </a:prstGeom>
        </p:spPr>
      </p:pic>
      <p:sp>
        <p:nvSpPr>
          <p:cNvPr id="4" name="TextBox 3">
            <a:extLst>
              <a:ext uri="{FF2B5EF4-FFF2-40B4-BE49-F238E27FC236}">
                <a16:creationId xmlns:a16="http://schemas.microsoft.com/office/drawing/2014/main" id="{D4348AF4-195D-F17B-2FF1-B230C094557A}"/>
              </a:ext>
            </a:extLst>
          </p:cNvPr>
          <p:cNvSpPr txBox="1"/>
          <p:nvPr/>
        </p:nvSpPr>
        <p:spPr>
          <a:xfrm>
            <a:off x="71439" y="4876800"/>
            <a:ext cx="9108280" cy="1446550"/>
          </a:xfrm>
          <a:prstGeom prst="rect">
            <a:avLst/>
          </a:prstGeom>
          <a:noFill/>
        </p:spPr>
        <p:txBody>
          <a:bodyPr wrap="square">
            <a:spAutoFit/>
          </a:bodyPr>
          <a:lstStyle/>
          <a:p>
            <a:r>
              <a:rPr lang="en-AU" sz="2200" dirty="0">
                <a:latin typeface="+mj-lt"/>
              </a:rPr>
              <a:t>The command show version displays important information about a Cisco router, including its IOS version, hardware and memory. Network administrators use this information when checking device specifications or troubleshooting software problems.</a:t>
            </a:r>
          </a:p>
        </p:txBody>
      </p:sp>
    </p:spTree>
    <p:extLst>
      <p:ext uri="{BB962C8B-B14F-4D97-AF65-F5344CB8AC3E}">
        <p14:creationId xmlns:p14="http://schemas.microsoft.com/office/powerpoint/2010/main" val="36324126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53269-4B10-E170-035A-80A58746320E}"/>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456911A6-E603-D6B8-8C3B-49209F2371C5}"/>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Scenario 2: ABC Company Requirements</a:t>
            </a:r>
            <a:endParaRPr dirty="0">
              <a:solidFill>
                <a:schemeClr val="tx1"/>
              </a:solidFill>
            </a:endParaRPr>
          </a:p>
        </p:txBody>
      </p:sp>
      <p:sp>
        <p:nvSpPr>
          <p:cNvPr id="15" name="object 15">
            <a:extLst>
              <a:ext uri="{FF2B5EF4-FFF2-40B4-BE49-F238E27FC236}">
                <a16:creationId xmlns:a16="http://schemas.microsoft.com/office/drawing/2014/main" id="{320ECC19-EDD6-40B4-2D1D-33E0B5028E21}"/>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62B76C59-2458-E98D-FB5B-AFD9D967B6D0}"/>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graphicFrame>
        <p:nvGraphicFramePr>
          <p:cNvPr id="2" name="Table 1">
            <a:extLst>
              <a:ext uri="{FF2B5EF4-FFF2-40B4-BE49-F238E27FC236}">
                <a16:creationId xmlns:a16="http://schemas.microsoft.com/office/drawing/2014/main" id="{F350A391-A510-D056-A503-00E65B810399}"/>
              </a:ext>
            </a:extLst>
          </p:cNvPr>
          <p:cNvGraphicFramePr>
            <a:graphicFrameLocks noGrp="1"/>
          </p:cNvGraphicFramePr>
          <p:nvPr>
            <p:extLst>
              <p:ext uri="{D42A27DB-BD31-4B8C-83A1-F6EECF244321}">
                <p14:modId xmlns:p14="http://schemas.microsoft.com/office/powerpoint/2010/main" val="499918481"/>
              </p:ext>
            </p:extLst>
          </p:nvPr>
        </p:nvGraphicFramePr>
        <p:xfrm>
          <a:off x="585722" y="1629549"/>
          <a:ext cx="8328024" cy="3535680"/>
        </p:xfrm>
        <a:graphic>
          <a:graphicData uri="http://schemas.openxmlformats.org/drawingml/2006/table">
            <a:tbl>
              <a:tblPr>
                <a:tableStyleId>{00A15C55-8517-42AA-B614-E9B94910E393}</a:tableStyleId>
              </a:tblPr>
              <a:tblGrid>
                <a:gridCol w="2776008">
                  <a:extLst>
                    <a:ext uri="{9D8B030D-6E8A-4147-A177-3AD203B41FA5}">
                      <a16:colId xmlns:a16="http://schemas.microsoft.com/office/drawing/2014/main" val="1050777213"/>
                    </a:ext>
                  </a:extLst>
                </a:gridCol>
                <a:gridCol w="2776008">
                  <a:extLst>
                    <a:ext uri="{9D8B030D-6E8A-4147-A177-3AD203B41FA5}">
                      <a16:colId xmlns:a16="http://schemas.microsoft.com/office/drawing/2014/main" val="8859958"/>
                    </a:ext>
                  </a:extLst>
                </a:gridCol>
                <a:gridCol w="2776008">
                  <a:extLst>
                    <a:ext uri="{9D8B030D-6E8A-4147-A177-3AD203B41FA5}">
                      <a16:colId xmlns:a16="http://schemas.microsoft.com/office/drawing/2014/main" val="2405198189"/>
                    </a:ext>
                  </a:extLst>
                </a:gridCol>
              </a:tblGrid>
              <a:tr h="0">
                <a:tc>
                  <a:txBody>
                    <a:bodyPr/>
                    <a:lstStyle/>
                    <a:p>
                      <a:pPr>
                        <a:buNone/>
                      </a:pPr>
                      <a:r>
                        <a:rPr lang="en-AU" sz="2800" b="1" dirty="0">
                          <a:latin typeface="+mj-lt"/>
                        </a:rPr>
                        <a:t>Requirement</a:t>
                      </a:r>
                    </a:p>
                  </a:txBody>
                  <a:tcPr anchor="ctr"/>
                </a:tc>
                <a:tc>
                  <a:txBody>
                    <a:bodyPr/>
                    <a:lstStyle/>
                    <a:p>
                      <a:pPr>
                        <a:buNone/>
                      </a:pPr>
                      <a:r>
                        <a:rPr lang="en-AU" sz="2800" b="1" dirty="0">
                          <a:latin typeface="+mj-lt"/>
                        </a:rPr>
                        <a:t>HR</a:t>
                      </a:r>
                    </a:p>
                  </a:txBody>
                  <a:tcPr anchor="ctr"/>
                </a:tc>
                <a:tc>
                  <a:txBody>
                    <a:bodyPr/>
                    <a:lstStyle/>
                    <a:p>
                      <a:pPr>
                        <a:buNone/>
                      </a:pPr>
                      <a:r>
                        <a:rPr lang="en-AU" sz="2800" b="1" dirty="0">
                          <a:latin typeface="+mj-lt"/>
                        </a:rPr>
                        <a:t>Finance</a:t>
                      </a:r>
                    </a:p>
                  </a:txBody>
                  <a:tcPr anchor="ctr"/>
                </a:tc>
                <a:extLst>
                  <a:ext uri="{0D108BD9-81ED-4DB2-BD59-A6C34878D82A}">
                    <a16:rowId xmlns:a16="http://schemas.microsoft.com/office/drawing/2014/main" val="1866261127"/>
                  </a:ext>
                </a:extLst>
              </a:tr>
              <a:tr h="0">
                <a:tc>
                  <a:txBody>
                    <a:bodyPr/>
                    <a:lstStyle/>
                    <a:p>
                      <a:pPr>
                        <a:buNone/>
                      </a:pPr>
                      <a:r>
                        <a:rPr lang="en-AU" sz="2800">
                          <a:latin typeface="+mj-lt"/>
                        </a:rPr>
                        <a:t>PCs</a:t>
                      </a:r>
                    </a:p>
                  </a:txBody>
                  <a:tcPr anchor="ctr"/>
                </a:tc>
                <a:tc>
                  <a:txBody>
                    <a:bodyPr/>
                    <a:lstStyle/>
                    <a:p>
                      <a:pPr>
                        <a:buNone/>
                      </a:pPr>
                      <a:r>
                        <a:rPr lang="en-AU" sz="2800">
                          <a:latin typeface="+mj-lt"/>
                        </a:rPr>
                        <a:t>10</a:t>
                      </a:r>
                    </a:p>
                  </a:txBody>
                  <a:tcPr anchor="ctr"/>
                </a:tc>
                <a:tc>
                  <a:txBody>
                    <a:bodyPr/>
                    <a:lstStyle/>
                    <a:p>
                      <a:pPr>
                        <a:buNone/>
                      </a:pPr>
                      <a:r>
                        <a:rPr lang="en-AU" sz="2800">
                          <a:latin typeface="+mj-lt"/>
                        </a:rPr>
                        <a:t>12</a:t>
                      </a:r>
                    </a:p>
                  </a:txBody>
                  <a:tcPr anchor="ctr"/>
                </a:tc>
                <a:extLst>
                  <a:ext uri="{0D108BD9-81ED-4DB2-BD59-A6C34878D82A}">
                    <a16:rowId xmlns:a16="http://schemas.microsoft.com/office/drawing/2014/main" val="3065145062"/>
                  </a:ext>
                </a:extLst>
              </a:tr>
              <a:tr h="0">
                <a:tc>
                  <a:txBody>
                    <a:bodyPr/>
                    <a:lstStyle/>
                    <a:p>
                      <a:pPr>
                        <a:buNone/>
                      </a:pPr>
                      <a:r>
                        <a:rPr lang="en-AU" sz="2800">
                          <a:latin typeface="+mj-lt"/>
                        </a:rPr>
                        <a:t>IP phones</a:t>
                      </a:r>
                    </a:p>
                  </a:txBody>
                  <a:tcPr anchor="ctr"/>
                </a:tc>
                <a:tc>
                  <a:txBody>
                    <a:bodyPr/>
                    <a:lstStyle/>
                    <a:p>
                      <a:pPr>
                        <a:buNone/>
                      </a:pPr>
                      <a:r>
                        <a:rPr lang="en-AU" sz="2800">
                          <a:latin typeface="+mj-lt"/>
                        </a:rPr>
                        <a:t>1</a:t>
                      </a:r>
                    </a:p>
                  </a:txBody>
                  <a:tcPr anchor="ctr"/>
                </a:tc>
                <a:tc>
                  <a:txBody>
                    <a:bodyPr/>
                    <a:lstStyle/>
                    <a:p>
                      <a:pPr>
                        <a:buNone/>
                      </a:pPr>
                      <a:r>
                        <a:rPr lang="en-AU" sz="2800">
                          <a:latin typeface="+mj-lt"/>
                        </a:rPr>
                        <a:t>2</a:t>
                      </a:r>
                    </a:p>
                  </a:txBody>
                  <a:tcPr anchor="ctr"/>
                </a:tc>
                <a:extLst>
                  <a:ext uri="{0D108BD9-81ED-4DB2-BD59-A6C34878D82A}">
                    <a16:rowId xmlns:a16="http://schemas.microsoft.com/office/drawing/2014/main" val="3604389138"/>
                  </a:ext>
                </a:extLst>
              </a:tr>
              <a:tr h="0">
                <a:tc>
                  <a:txBody>
                    <a:bodyPr/>
                    <a:lstStyle/>
                    <a:p>
                      <a:pPr>
                        <a:buNone/>
                      </a:pPr>
                      <a:r>
                        <a:rPr lang="en-AU" sz="2800">
                          <a:latin typeface="+mj-lt"/>
                        </a:rPr>
                        <a:t>Wireless printers</a:t>
                      </a:r>
                    </a:p>
                  </a:txBody>
                  <a:tcPr anchor="ctr"/>
                </a:tc>
                <a:tc>
                  <a:txBody>
                    <a:bodyPr/>
                    <a:lstStyle/>
                    <a:p>
                      <a:pPr>
                        <a:buNone/>
                      </a:pPr>
                      <a:r>
                        <a:rPr lang="en-AU" sz="2800">
                          <a:latin typeface="+mj-lt"/>
                        </a:rPr>
                        <a:t>1</a:t>
                      </a:r>
                    </a:p>
                  </a:txBody>
                  <a:tcPr anchor="ctr"/>
                </a:tc>
                <a:tc>
                  <a:txBody>
                    <a:bodyPr/>
                    <a:lstStyle/>
                    <a:p>
                      <a:pPr>
                        <a:buNone/>
                      </a:pPr>
                      <a:r>
                        <a:rPr lang="en-AU" sz="2800">
                          <a:latin typeface="+mj-lt"/>
                        </a:rPr>
                        <a:t>1</a:t>
                      </a:r>
                    </a:p>
                  </a:txBody>
                  <a:tcPr anchor="ctr"/>
                </a:tc>
                <a:extLst>
                  <a:ext uri="{0D108BD9-81ED-4DB2-BD59-A6C34878D82A}">
                    <a16:rowId xmlns:a16="http://schemas.microsoft.com/office/drawing/2014/main" val="821852328"/>
                  </a:ext>
                </a:extLst>
              </a:tr>
              <a:tr h="0">
                <a:tc>
                  <a:txBody>
                    <a:bodyPr/>
                    <a:lstStyle/>
                    <a:p>
                      <a:pPr>
                        <a:buNone/>
                      </a:pPr>
                      <a:r>
                        <a:rPr lang="en-AU" sz="2800">
                          <a:latin typeface="+mj-lt"/>
                        </a:rPr>
                        <a:t>Scanners</a:t>
                      </a:r>
                    </a:p>
                  </a:txBody>
                  <a:tcPr anchor="ctr"/>
                </a:tc>
                <a:tc>
                  <a:txBody>
                    <a:bodyPr/>
                    <a:lstStyle/>
                    <a:p>
                      <a:pPr>
                        <a:buNone/>
                      </a:pPr>
                      <a:r>
                        <a:rPr lang="en-AU" sz="2800">
                          <a:latin typeface="+mj-lt"/>
                        </a:rPr>
                        <a:t>0</a:t>
                      </a:r>
                    </a:p>
                  </a:txBody>
                  <a:tcPr anchor="ctr"/>
                </a:tc>
                <a:tc>
                  <a:txBody>
                    <a:bodyPr/>
                    <a:lstStyle/>
                    <a:p>
                      <a:pPr>
                        <a:buNone/>
                      </a:pPr>
                      <a:r>
                        <a:rPr lang="en-AU" sz="2800">
                          <a:latin typeface="+mj-lt"/>
                        </a:rPr>
                        <a:t>1</a:t>
                      </a:r>
                    </a:p>
                  </a:txBody>
                  <a:tcPr anchor="ctr"/>
                </a:tc>
                <a:extLst>
                  <a:ext uri="{0D108BD9-81ED-4DB2-BD59-A6C34878D82A}">
                    <a16:rowId xmlns:a16="http://schemas.microsoft.com/office/drawing/2014/main" val="3604310162"/>
                  </a:ext>
                </a:extLst>
              </a:tr>
              <a:tr h="0">
                <a:tc>
                  <a:txBody>
                    <a:bodyPr/>
                    <a:lstStyle/>
                    <a:p>
                      <a:pPr>
                        <a:buNone/>
                      </a:pPr>
                      <a:r>
                        <a:rPr lang="en-AU" sz="2800">
                          <a:latin typeface="+mj-lt"/>
                        </a:rPr>
                        <a:t>Current end devices</a:t>
                      </a:r>
                    </a:p>
                  </a:txBody>
                  <a:tcPr anchor="ctr"/>
                </a:tc>
                <a:tc>
                  <a:txBody>
                    <a:bodyPr/>
                    <a:lstStyle/>
                    <a:p>
                      <a:pPr>
                        <a:buNone/>
                      </a:pPr>
                      <a:r>
                        <a:rPr lang="en-AU" sz="2800">
                          <a:latin typeface="+mj-lt"/>
                        </a:rPr>
                        <a:t>12</a:t>
                      </a:r>
                    </a:p>
                  </a:txBody>
                  <a:tcPr anchor="ctr"/>
                </a:tc>
                <a:tc>
                  <a:txBody>
                    <a:bodyPr/>
                    <a:lstStyle/>
                    <a:p>
                      <a:pPr>
                        <a:buNone/>
                      </a:pPr>
                      <a:r>
                        <a:rPr lang="en-AU" sz="2800" dirty="0">
                          <a:latin typeface="+mj-lt"/>
                        </a:rPr>
                        <a:t>16</a:t>
                      </a:r>
                    </a:p>
                  </a:txBody>
                  <a:tcPr anchor="ctr"/>
                </a:tc>
                <a:extLst>
                  <a:ext uri="{0D108BD9-81ED-4DB2-BD59-A6C34878D82A}">
                    <a16:rowId xmlns:a16="http://schemas.microsoft.com/office/drawing/2014/main" val="3711959229"/>
                  </a:ext>
                </a:extLst>
              </a:tr>
            </a:tbl>
          </a:graphicData>
        </a:graphic>
      </p:graphicFrame>
      <p:sp>
        <p:nvSpPr>
          <p:cNvPr id="4" name="TextBox 3">
            <a:extLst>
              <a:ext uri="{FF2B5EF4-FFF2-40B4-BE49-F238E27FC236}">
                <a16:creationId xmlns:a16="http://schemas.microsoft.com/office/drawing/2014/main" id="{92AA2627-4EBE-9DA8-2141-E5680F04FFD3}"/>
              </a:ext>
            </a:extLst>
          </p:cNvPr>
          <p:cNvSpPr txBox="1"/>
          <p:nvPr/>
        </p:nvSpPr>
        <p:spPr>
          <a:xfrm>
            <a:off x="152400" y="813956"/>
            <a:ext cx="6510403" cy="523220"/>
          </a:xfrm>
          <a:prstGeom prst="rect">
            <a:avLst/>
          </a:prstGeom>
          <a:noFill/>
        </p:spPr>
        <p:txBody>
          <a:bodyPr wrap="square">
            <a:spAutoFit/>
          </a:bodyPr>
          <a:lstStyle/>
          <a:p>
            <a:pPr>
              <a:buNone/>
            </a:pPr>
            <a:r>
              <a:rPr lang="en-AU" sz="2800" dirty="0">
                <a:latin typeface="+mj-lt"/>
              </a:rPr>
              <a:t>ABC Company has two departments.</a:t>
            </a:r>
          </a:p>
        </p:txBody>
      </p:sp>
    </p:spTree>
    <p:extLst>
      <p:ext uri="{BB962C8B-B14F-4D97-AF65-F5344CB8AC3E}">
        <p14:creationId xmlns:p14="http://schemas.microsoft.com/office/powerpoint/2010/main" val="39168962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EA37B-7C37-2C18-1570-37B64D995A72}"/>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5B12B0E6-1713-B94F-AC4A-46743D0705B6}"/>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Scenario 2: ABC Company Requirements</a:t>
            </a:r>
            <a:endParaRPr dirty="0">
              <a:solidFill>
                <a:schemeClr val="tx1"/>
              </a:solidFill>
            </a:endParaRPr>
          </a:p>
        </p:txBody>
      </p:sp>
      <p:sp>
        <p:nvSpPr>
          <p:cNvPr id="15" name="object 15">
            <a:extLst>
              <a:ext uri="{FF2B5EF4-FFF2-40B4-BE49-F238E27FC236}">
                <a16:creationId xmlns:a16="http://schemas.microsoft.com/office/drawing/2014/main" id="{EC7C004C-DF34-2AD5-84FF-9C28F8E60D2A}"/>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05401B7E-D7A8-F216-01FF-3B712A48AB07}"/>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5" name="TextBox 4">
            <a:extLst>
              <a:ext uri="{FF2B5EF4-FFF2-40B4-BE49-F238E27FC236}">
                <a16:creationId xmlns:a16="http://schemas.microsoft.com/office/drawing/2014/main" id="{D5E37C84-C93B-0D57-002E-DA5843C2F679}"/>
              </a:ext>
            </a:extLst>
          </p:cNvPr>
          <p:cNvSpPr txBox="1"/>
          <p:nvPr/>
        </p:nvSpPr>
        <p:spPr>
          <a:xfrm>
            <a:off x="0" y="609600"/>
            <a:ext cx="9144000" cy="5754909"/>
          </a:xfrm>
          <a:prstGeom prst="rect">
            <a:avLst/>
          </a:prstGeom>
          <a:noFill/>
        </p:spPr>
        <p:txBody>
          <a:bodyPr wrap="square">
            <a:spAutoFit/>
          </a:bodyPr>
          <a:lstStyle/>
          <a:p>
            <a:pPr>
              <a:lnSpc>
                <a:spcPct val="150000"/>
              </a:lnSpc>
              <a:buNone/>
            </a:pPr>
            <a:r>
              <a:rPr lang="en-AU" sz="2800" dirty="0">
                <a:latin typeface="+mj-lt"/>
              </a:rPr>
              <a:t>Both departments require:</a:t>
            </a:r>
          </a:p>
          <a:p>
            <a:pPr marL="342900" lvl="0" indent="-342900">
              <a:lnSpc>
                <a:spcPct val="150000"/>
              </a:lnSpc>
              <a:buFont typeface="Arial" panose="020B0604020202020204" pitchFamily="34" charset="0"/>
              <a:buChar char="•"/>
            </a:pPr>
            <a:r>
              <a:rPr lang="en-AU" sz="2800" dirty="0">
                <a:latin typeface="+mj-lt"/>
              </a:rPr>
              <a:t>Internet connectivity through a shared ISP connection.</a:t>
            </a:r>
          </a:p>
          <a:p>
            <a:pPr marL="342900" lvl="0" indent="-342900">
              <a:lnSpc>
                <a:spcPct val="150000"/>
              </a:lnSpc>
              <a:buFont typeface="Arial" panose="020B0604020202020204" pitchFamily="34" charset="0"/>
              <a:buChar char="•"/>
            </a:pPr>
            <a:r>
              <a:rPr lang="en-AU" sz="2800" dirty="0">
                <a:latin typeface="+mj-lt"/>
              </a:rPr>
              <a:t>Capacity for future expansion.</a:t>
            </a:r>
          </a:p>
          <a:p>
            <a:pPr marL="342900" lvl="0" indent="-342900">
              <a:lnSpc>
                <a:spcPct val="150000"/>
              </a:lnSpc>
              <a:buFont typeface="Arial" panose="020B0604020202020204" pitchFamily="34" charset="0"/>
              <a:buChar char="•"/>
            </a:pPr>
            <a:r>
              <a:rPr lang="en-AU" sz="2800" dirty="0">
                <a:latin typeface="+mj-lt"/>
              </a:rPr>
              <a:t>Reliable communication.</a:t>
            </a:r>
          </a:p>
          <a:p>
            <a:pPr>
              <a:lnSpc>
                <a:spcPct val="150000"/>
              </a:lnSpc>
              <a:buNone/>
            </a:pPr>
            <a:r>
              <a:rPr lang="en-AU" sz="2800" dirty="0">
                <a:latin typeface="+mj-lt"/>
              </a:rPr>
              <a:t>Finance specifically requires secure and reliable systems.</a:t>
            </a:r>
          </a:p>
          <a:p>
            <a:pPr>
              <a:lnSpc>
                <a:spcPct val="150000"/>
              </a:lnSpc>
              <a:buNone/>
            </a:pPr>
            <a:r>
              <a:rPr lang="en-AU" sz="2800" dirty="0">
                <a:latin typeface="+mj-lt"/>
              </a:rPr>
              <a:t>Discussion: Why should Finance receive particular attention during network design?</a:t>
            </a:r>
          </a:p>
          <a:p>
            <a:pPr>
              <a:lnSpc>
                <a:spcPct val="150000"/>
              </a:lnSpc>
              <a:buNone/>
            </a:pPr>
            <a:r>
              <a:rPr lang="en-AU" sz="2600" dirty="0">
                <a:latin typeface="+mj-lt"/>
              </a:rPr>
              <a:t>Answer: It handles business information that may be sensitive and requires appropriate access controls, reliability and protection.</a:t>
            </a:r>
          </a:p>
        </p:txBody>
      </p:sp>
    </p:spTree>
    <p:extLst>
      <p:ext uri="{BB962C8B-B14F-4D97-AF65-F5344CB8AC3E}">
        <p14:creationId xmlns:p14="http://schemas.microsoft.com/office/powerpoint/2010/main" val="1919030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6" end="6"/>
                                            </p:txEl>
                                          </p:spTgt>
                                        </p:tgtEl>
                                        <p:attrNameLst>
                                          <p:attrName>style.visibility</p:attrName>
                                        </p:attrNameLst>
                                      </p:cBhvr>
                                      <p:to>
                                        <p:strVal val="visible"/>
                                      </p:to>
                                    </p:set>
                                    <p:animEffect transition="in" filter="fade">
                                      <p:cBhvr>
                                        <p:cTn id="7" dur="1000"/>
                                        <p:tgtEl>
                                          <p:spTgt spid="5">
                                            <p:txEl>
                                              <p:pRg st="6" end="6"/>
                                            </p:txEl>
                                          </p:spTgt>
                                        </p:tgtEl>
                                      </p:cBhvr>
                                    </p:animEffect>
                                    <p:anim calcmode="lin" valueType="num">
                                      <p:cBhvr>
                                        <p:cTn id="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989C3-36EF-8B14-14E8-641435DE8A1C}"/>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3962CC09-9481-9331-9AD0-1B129F67208E}"/>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Designing a Suitable Network Topology</a:t>
            </a:r>
            <a:endParaRPr dirty="0">
              <a:solidFill>
                <a:schemeClr val="tx1"/>
              </a:solidFill>
            </a:endParaRPr>
          </a:p>
        </p:txBody>
      </p:sp>
      <p:sp>
        <p:nvSpPr>
          <p:cNvPr id="15" name="object 15">
            <a:extLst>
              <a:ext uri="{FF2B5EF4-FFF2-40B4-BE49-F238E27FC236}">
                <a16:creationId xmlns:a16="http://schemas.microsoft.com/office/drawing/2014/main" id="{825F1AAB-3CE0-7CD0-CAD2-7D53A3434604}"/>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D2F73529-95C9-AA05-F873-64B2FC2E432B}"/>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A7418388-A9C7-078A-139F-F9D8C55E6B3E}"/>
              </a:ext>
            </a:extLst>
          </p:cNvPr>
          <p:cNvSpPr txBox="1"/>
          <p:nvPr/>
        </p:nvSpPr>
        <p:spPr>
          <a:xfrm>
            <a:off x="0" y="838201"/>
            <a:ext cx="9144000" cy="5196166"/>
          </a:xfrm>
          <a:prstGeom prst="rect">
            <a:avLst/>
          </a:prstGeom>
          <a:noFill/>
        </p:spPr>
        <p:txBody>
          <a:bodyPr wrap="square">
            <a:spAutoFit/>
          </a:bodyPr>
          <a:lstStyle/>
          <a:p>
            <a:pPr>
              <a:lnSpc>
                <a:spcPct val="150000"/>
              </a:lnSpc>
              <a:buNone/>
            </a:pPr>
            <a:r>
              <a:rPr lang="en-AU" sz="2800" dirty="0">
                <a:latin typeface="+mj-lt"/>
              </a:rPr>
              <a:t>A suitable design should consider:</a:t>
            </a:r>
          </a:p>
          <a:p>
            <a:pPr marL="342900" lvl="0" indent="-342900">
              <a:lnSpc>
                <a:spcPct val="150000"/>
              </a:lnSpc>
              <a:buFont typeface="Arial" panose="020B0604020202020204" pitchFamily="34" charset="0"/>
              <a:buChar char="•"/>
            </a:pPr>
            <a:r>
              <a:rPr lang="en-AU" sz="2800" dirty="0">
                <a:latin typeface="+mj-lt"/>
              </a:rPr>
              <a:t>Separate logical networks for HR and Finance.</a:t>
            </a:r>
          </a:p>
          <a:p>
            <a:pPr marL="342900" lvl="0" indent="-342900">
              <a:lnSpc>
                <a:spcPct val="150000"/>
              </a:lnSpc>
              <a:buFont typeface="Arial" panose="020B0604020202020204" pitchFamily="34" charset="0"/>
              <a:buChar char="•"/>
            </a:pPr>
            <a:r>
              <a:rPr lang="en-AU" sz="2800" dirty="0">
                <a:latin typeface="+mj-lt"/>
              </a:rPr>
              <a:t>Enough wired and wireless connectivity.</a:t>
            </a:r>
          </a:p>
          <a:p>
            <a:pPr marL="342900" lvl="0" indent="-342900">
              <a:lnSpc>
                <a:spcPct val="150000"/>
              </a:lnSpc>
              <a:buFont typeface="Arial" panose="020B0604020202020204" pitchFamily="34" charset="0"/>
              <a:buChar char="•"/>
            </a:pPr>
            <a:r>
              <a:rPr lang="en-AU" sz="2800" dirty="0">
                <a:latin typeface="+mj-lt"/>
              </a:rPr>
              <a:t>A router or Layer 3 device for inter-network communication.</a:t>
            </a:r>
          </a:p>
          <a:p>
            <a:pPr marL="342900" lvl="0" indent="-342900">
              <a:lnSpc>
                <a:spcPct val="150000"/>
              </a:lnSpc>
              <a:buFont typeface="Arial" panose="020B0604020202020204" pitchFamily="34" charset="0"/>
              <a:buChar char="•"/>
            </a:pPr>
            <a:r>
              <a:rPr lang="en-AU" sz="2800" dirty="0">
                <a:latin typeface="+mj-lt"/>
              </a:rPr>
              <a:t>A shared path towards the ISP.</a:t>
            </a:r>
          </a:p>
          <a:p>
            <a:pPr marL="342900" lvl="0" indent="-342900">
              <a:lnSpc>
                <a:spcPct val="150000"/>
              </a:lnSpc>
              <a:buFont typeface="Arial" panose="020B0604020202020204" pitchFamily="34" charset="0"/>
              <a:buChar char="•"/>
            </a:pPr>
            <a:r>
              <a:rPr lang="en-AU" sz="2800" dirty="0">
                <a:latin typeface="+mj-lt"/>
              </a:rPr>
              <a:t>Additional ports and address capacity for future growth.</a:t>
            </a:r>
          </a:p>
          <a:p>
            <a:pPr marL="342900" lvl="0" indent="-342900">
              <a:lnSpc>
                <a:spcPct val="150000"/>
              </a:lnSpc>
              <a:buFont typeface="Arial" panose="020B0604020202020204" pitchFamily="34" charset="0"/>
              <a:buChar char="•"/>
            </a:pPr>
            <a:r>
              <a:rPr lang="en-AU" sz="2800" dirty="0">
                <a:latin typeface="+mj-lt"/>
              </a:rPr>
              <a:t>Appropriate access controls between departments.</a:t>
            </a:r>
          </a:p>
        </p:txBody>
      </p:sp>
    </p:spTree>
    <p:extLst>
      <p:ext uri="{BB962C8B-B14F-4D97-AF65-F5344CB8AC3E}">
        <p14:creationId xmlns:p14="http://schemas.microsoft.com/office/powerpoint/2010/main" val="7013259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78E25-73C5-82DF-908E-102CD311FB1C}"/>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99F5CC00-9874-75F2-295A-980CBB58D41A}"/>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Designing a Suitable Network Topology</a:t>
            </a:r>
            <a:endParaRPr dirty="0">
              <a:solidFill>
                <a:schemeClr val="tx1"/>
              </a:solidFill>
            </a:endParaRPr>
          </a:p>
        </p:txBody>
      </p:sp>
      <p:sp>
        <p:nvSpPr>
          <p:cNvPr id="15" name="object 15">
            <a:extLst>
              <a:ext uri="{FF2B5EF4-FFF2-40B4-BE49-F238E27FC236}">
                <a16:creationId xmlns:a16="http://schemas.microsoft.com/office/drawing/2014/main" id="{6328F2DF-243D-53A9-199F-55D44E6A772B}"/>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92EE7DCF-CDEA-CBDD-BA31-B7FCB0736C4D}"/>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745D0D62-6961-D345-7C5B-BD755AFB1482}"/>
              </a:ext>
            </a:extLst>
          </p:cNvPr>
          <p:cNvSpPr txBox="1"/>
          <p:nvPr/>
        </p:nvSpPr>
        <p:spPr>
          <a:xfrm>
            <a:off x="0" y="1066800"/>
            <a:ext cx="9144000" cy="3903504"/>
          </a:xfrm>
          <a:prstGeom prst="rect">
            <a:avLst/>
          </a:prstGeom>
          <a:noFill/>
        </p:spPr>
        <p:txBody>
          <a:bodyPr wrap="square">
            <a:spAutoFit/>
          </a:bodyPr>
          <a:lstStyle/>
          <a:p>
            <a:pPr>
              <a:lnSpc>
                <a:spcPct val="150000"/>
              </a:lnSpc>
              <a:buNone/>
            </a:pPr>
            <a:r>
              <a:rPr lang="en-AU" sz="2800" dirty="0">
                <a:latin typeface="+mj-lt"/>
              </a:rPr>
              <a:t>Discussion: Why might separate VLANs be useful for HR and Finance?</a:t>
            </a:r>
          </a:p>
          <a:p>
            <a:pPr>
              <a:lnSpc>
                <a:spcPct val="150000"/>
              </a:lnSpc>
              <a:buNone/>
            </a:pPr>
            <a:r>
              <a:rPr lang="en-AU" sz="2800" dirty="0">
                <a:latin typeface="+mj-lt"/>
              </a:rPr>
              <a:t>Answer: VLANs create separate Layer 2 broadcast domains and can support more organised and controlled network access when combined with appropriate routing and security policies.</a:t>
            </a:r>
          </a:p>
        </p:txBody>
      </p:sp>
    </p:spTree>
    <p:extLst>
      <p:ext uri="{BB962C8B-B14F-4D97-AF65-F5344CB8AC3E}">
        <p14:creationId xmlns:p14="http://schemas.microsoft.com/office/powerpoint/2010/main" val="805801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EBB16-311B-7DAA-3F28-A7D844FAAC46}"/>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F8747204-30F9-A480-C4D7-575D45A78055}"/>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Designing a Suitable Network Topology</a:t>
            </a:r>
            <a:endParaRPr dirty="0">
              <a:solidFill>
                <a:schemeClr val="tx1"/>
              </a:solidFill>
            </a:endParaRPr>
          </a:p>
        </p:txBody>
      </p:sp>
      <p:sp>
        <p:nvSpPr>
          <p:cNvPr id="15" name="object 15">
            <a:extLst>
              <a:ext uri="{FF2B5EF4-FFF2-40B4-BE49-F238E27FC236}">
                <a16:creationId xmlns:a16="http://schemas.microsoft.com/office/drawing/2014/main" id="{2325C68E-18B7-687D-64AB-A6158E80CCA2}"/>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6997BBC0-7A50-9DD9-7463-DEBEF784788C}"/>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pic>
        <p:nvPicPr>
          <p:cNvPr id="3" name="Picture 2" descr="The image depicts a network topology for a company, showcasing the connection between the HR and Finance departments, an Internet connection, and various devices like a wireless printer and scanner.&#10;&#10;AI-generated content may be incorrect.">
            <a:extLst>
              <a:ext uri="{FF2B5EF4-FFF2-40B4-BE49-F238E27FC236}">
                <a16:creationId xmlns:a16="http://schemas.microsoft.com/office/drawing/2014/main" id="{5D62C336-21F1-3896-1760-B84EB837E3C8}"/>
              </a:ext>
            </a:extLst>
          </p:cNvPr>
          <p:cNvPicPr>
            <a:picLocks noChangeAspect="1"/>
          </p:cNvPicPr>
          <p:nvPr/>
        </p:nvPicPr>
        <p:blipFill>
          <a:blip r:embed="rId2">
            <a:extLst>
              <a:ext uri="{28A0092B-C50C-407E-A947-70E740481C1C}">
                <a14:useLocalDpi xmlns:a14="http://schemas.microsoft.com/office/drawing/2010/main" val="0"/>
              </a:ext>
            </a:extLst>
          </a:blip>
          <a:srcRect l="66667" t="56815" b="18750"/>
          <a:stretch>
            <a:fillRect/>
          </a:stretch>
        </p:blipFill>
        <p:spPr>
          <a:xfrm>
            <a:off x="0" y="951651"/>
            <a:ext cx="9144000" cy="4468568"/>
          </a:xfrm>
          <a:prstGeom prst="rect">
            <a:avLst/>
          </a:prstGeom>
        </p:spPr>
      </p:pic>
      <p:sp>
        <p:nvSpPr>
          <p:cNvPr id="4" name="TextBox 3">
            <a:extLst>
              <a:ext uri="{FF2B5EF4-FFF2-40B4-BE49-F238E27FC236}">
                <a16:creationId xmlns:a16="http://schemas.microsoft.com/office/drawing/2014/main" id="{CEC2EBE5-43AC-1A8A-8F61-60A658D60D3C}"/>
              </a:ext>
            </a:extLst>
          </p:cNvPr>
          <p:cNvSpPr txBox="1"/>
          <p:nvPr/>
        </p:nvSpPr>
        <p:spPr>
          <a:xfrm>
            <a:off x="0" y="5421737"/>
            <a:ext cx="9144000" cy="1107996"/>
          </a:xfrm>
          <a:prstGeom prst="rect">
            <a:avLst/>
          </a:prstGeom>
          <a:noFill/>
        </p:spPr>
        <p:txBody>
          <a:bodyPr wrap="square">
            <a:spAutoFit/>
          </a:bodyPr>
          <a:lstStyle/>
          <a:p>
            <a:r>
              <a:rPr lang="en-AU" sz="2200" dirty="0">
                <a:latin typeface="+mj-lt"/>
              </a:rPr>
              <a:t>This diagram shows a possible network design for ABC Company, with separate HR and Finance networks. Both departments connect through a shared router to access the Internet using one ISP connection.</a:t>
            </a:r>
          </a:p>
        </p:txBody>
      </p:sp>
    </p:spTree>
    <p:extLst>
      <p:ext uri="{BB962C8B-B14F-4D97-AF65-F5344CB8AC3E}">
        <p14:creationId xmlns:p14="http://schemas.microsoft.com/office/powerpoint/2010/main" val="22851209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CE98A-00AD-552F-7842-84DAF970763B}"/>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D87083DE-CA89-DB16-6189-5C3C24BB3686}"/>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Configuring Router Interfaces</a:t>
            </a:r>
            <a:endParaRPr dirty="0">
              <a:solidFill>
                <a:schemeClr val="tx1"/>
              </a:solidFill>
            </a:endParaRPr>
          </a:p>
        </p:txBody>
      </p:sp>
      <p:sp>
        <p:nvSpPr>
          <p:cNvPr id="15" name="object 15">
            <a:extLst>
              <a:ext uri="{FF2B5EF4-FFF2-40B4-BE49-F238E27FC236}">
                <a16:creationId xmlns:a16="http://schemas.microsoft.com/office/drawing/2014/main" id="{3DB730E3-DACE-F810-3888-584378A91D70}"/>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370B9FB4-9BBD-074F-C28C-6203B62CCC6C}"/>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0EB20A7A-BBFC-608B-7722-91959FBFC25E}"/>
              </a:ext>
            </a:extLst>
          </p:cNvPr>
          <p:cNvSpPr txBox="1"/>
          <p:nvPr/>
        </p:nvSpPr>
        <p:spPr>
          <a:xfrm>
            <a:off x="0" y="762000"/>
            <a:ext cx="9144000" cy="6031908"/>
          </a:xfrm>
          <a:prstGeom prst="rect">
            <a:avLst/>
          </a:prstGeom>
          <a:noFill/>
        </p:spPr>
        <p:txBody>
          <a:bodyPr wrap="square">
            <a:spAutoFit/>
          </a:bodyPr>
          <a:lstStyle/>
          <a:p>
            <a:pPr>
              <a:lnSpc>
                <a:spcPct val="150000"/>
              </a:lnSpc>
              <a:buNone/>
            </a:pPr>
            <a:r>
              <a:rPr lang="en-AU" sz="2600" dirty="0">
                <a:latin typeface="+mj-lt"/>
              </a:rPr>
              <a:t>Illustrative Cisco IOS configuration:</a:t>
            </a:r>
          </a:p>
          <a:p>
            <a:pPr rtl="0">
              <a:lnSpc>
                <a:spcPct val="150000"/>
              </a:lnSpc>
              <a:buNone/>
            </a:pPr>
            <a:r>
              <a:rPr lang="en-AU" sz="2600" dirty="0">
                <a:highlight>
                  <a:srgbClr val="FFFF00"/>
                </a:highlight>
                <a:latin typeface="+mj-lt"/>
              </a:rPr>
              <a:t>enable</a:t>
            </a:r>
          </a:p>
          <a:p>
            <a:pPr rtl="0">
              <a:lnSpc>
                <a:spcPct val="150000"/>
              </a:lnSpc>
              <a:buNone/>
            </a:pPr>
            <a:r>
              <a:rPr lang="en-AU" sz="2600" dirty="0">
                <a:highlight>
                  <a:srgbClr val="FFFF00"/>
                </a:highlight>
                <a:latin typeface="+mj-lt"/>
              </a:rPr>
              <a:t>configure terminal</a:t>
            </a:r>
          </a:p>
          <a:p>
            <a:pPr rtl="0">
              <a:lnSpc>
                <a:spcPct val="150000"/>
              </a:lnSpc>
              <a:buNone/>
            </a:pPr>
            <a:r>
              <a:rPr lang="en-AU" sz="2600" dirty="0">
                <a:highlight>
                  <a:srgbClr val="FFFF00"/>
                </a:highlight>
                <a:latin typeface="+mj-lt"/>
              </a:rPr>
              <a:t>interface </a:t>
            </a:r>
            <a:r>
              <a:rPr lang="en-AU" sz="2600" dirty="0" err="1">
                <a:highlight>
                  <a:srgbClr val="FFFF00"/>
                </a:highlight>
                <a:latin typeface="+mj-lt"/>
              </a:rPr>
              <a:t>gigabitEthernet</a:t>
            </a:r>
            <a:r>
              <a:rPr lang="en-AU" sz="2600" dirty="0">
                <a:highlight>
                  <a:srgbClr val="FFFF00"/>
                </a:highlight>
                <a:latin typeface="+mj-lt"/>
              </a:rPr>
              <a:t> 0/0</a:t>
            </a:r>
          </a:p>
          <a:p>
            <a:pPr rtl="0">
              <a:lnSpc>
                <a:spcPct val="150000"/>
              </a:lnSpc>
              <a:buNone/>
            </a:pPr>
            <a:r>
              <a:rPr lang="en-AU" sz="2600" dirty="0">
                <a:highlight>
                  <a:srgbClr val="FFFF00"/>
                </a:highlight>
                <a:latin typeface="+mj-lt"/>
              </a:rPr>
              <a:t>description HR LAN</a:t>
            </a:r>
          </a:p>
          <a:p>
            <a:pPr rtl="0">
              <a:lnSpc>
                <a:spcPct val="150000"/>
              </a:lnSpc>
              <a:buNone/>
            </a:pPr>
            <a:r>
              <a:rPr lang="en-AU" sz="2600" dirty="0" err="1">
                <a:highlight>
                  <a:srgbClr val="FFFF00"/>
                </a:highlight>
                <a:latin typeface="+mj-lt"/>
              </a:rPr>
              <a:t>ip</a:t>
            </a:r>
            <a:r>
              <a:rPr lang="en-AU" sz="2600" dirty="0">
                <a:highlight>
                  <a:srgbClr val="FFFF00"/>
                </a:highlight>
                <a:latin typeface="+mj-lt"/>
              </a:rPr>
              <a:t> address 192.168.10.1 255.255.255.224</a:t>
            </a:r>
          </a:p>
          <a:p>
            <a:pPr rtl="0">
              <a:lnSpc>
                <a:spcPct val="150000"/>
              </a:lnSpc>
              <a:buNone/>
            </a:pPr>
            <a:r>
              <a:rPr lang="en-AU" sz="2600" dirty="0">
                <a:highlight>
                  <a:srgbClr val="FFFF00"/>
                </a:highlight>
                <a:latin typeface="+mj-lt"/>
              </a:rPr>
              <a:t>no shutdown</a:t>
            </a:r>
          </a:p>
          <a:p>
            <a:pPr rtl="0">
              <a:lnSpc>
                <a:spcPct val="150000"/>
              </a:lnSpc>
              <a:buNone/>
            </a:pPr>
            <a:r>
              <a:rPr lang="en-AU" sz="2600" dirty="0">
                <a:highlight>
                  <a:srgbClr val="FFFF00"/>
                </a:highlight>
                <a:latin typeface="+mj-lt"/>
              </a:rPr>
              <a:t>exit</a:t>
            </a:r>
          </a:p>
          <a:p>
            <a:pPr>
              <a:lnSpc>
                <a:spcPct val="150000"/>
              </a:lnSpc>
              <a:buNone/>
            </a:pPr>
            <a:r>
              <a:rPr lang="en-AU" sz="2600" dirty="0">
                <a:latin typeface="+mj-lt"/>
              </a:rPr>
              <a:t>Check using:</a:t>
            </a:r>
          </a:p>
          <a:p>
            <a:pPr rtl="0">
              <a:lnSpc>
                <a:spcPct val="150000"/>
              </a:lnSpc>
              <a:buNone/>
            </a:pPr>
            <a:r>
              <a:rPr lang="en-AU" sz="2600" dirty="0">
                <a:highlight>
                  <a:srgbClr val="FFFF00"/>
                </a:highlight>
                <a:latin typeface="+mj-lt"/>
              </a:rPr>
              <a:t>show </a:t>
            </a:r>
            <a:r>
              <a:rPr lang="en-AU" sz="2600" dirty="0" err="1">
                <a:highlight>
                  <a:srgbClr val="FFFF00"/>
                </a:highlight>
                <a:latin typeface="+mj-lt"/>
              </a:rPr>
              <a:t>ip</a:t>
            </a:r>
            <a:r>
              <a:rPr lang="en-AU" sz="2600" dirty="0">
                <a:highlight>
                  <a:srgbClr val="FFFF00"/>
                </a:highlight>
                <a:latin typeface="+mj-lt"/>
              </a:rPr>
              <a:t> interface brief</a:t>
            </a:r>
          </a:p>
        </p:txBody>
      </p:sp>
    </p:spTree>
    <p:extLst>
      <p:ext uri="{BB962C8B-B14F-4D97-AF65-F5344CB8AC3E}">
        <p14:creationId xmlns:p14="http://schemas.microsoft.com/office/powerpoint/2010/main" val="9144710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ED800-2FF3-ABB7-A585-E9EC70B15F79}"/>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9650D0E4-2D9B-481D-C091-E3E136E1DBE0}"/>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Configuring Router Interfaces</a:t>
            </a:r>
            <a:endParaRPr dirty="0">
              <a:solidFill>
                <a:schemeClr val="tx1"/>
              </a:solidFill>
            </a:endParaRPr>
          </a:p>
        </p:txBody>
      </p:sp>
      <p:sp>
        <p:nvSpPr>
          <p:cNvPr id="15" name="object 15">
            <a:extLst>
              <a:ext uri="{FF2B5EF4-FFF2-40B4-BE49-F238E27FC236}">
                <a16:creationId xmlns:a16="http://schemas.microsoft.com/office/drawing/2014/main" id="{C1BDFCF0-1E4D-8E55-EED9-DA7746262D3D}"/>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36ED6994-92BF-5252-70D4-C0144D8C0DE4}"/>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BB179050-9E30-C876-F5A1-7F1B641B4B2E}"/>
              </a:ext>
            </a:extLst>
          </p:cNvPr>
          <p:cNvSpPr txBox="1"/>
          <p:nvPr/>
        </p:nvSpPr>
        <p:spPr>
          <a:xfrm>
            <a:off x="0" y="990600"/>
            <a:ext cx="9144000" cy="3257174"/>
          </a:xfrm>
          <a:prstGeom prst="rect">
            <a:avLst/>
          </a:prstGeom>
          <a:noFill/>
        </p:spPr>
        <p:txBody>
          <a:bodyPr wrap="square">
            <a:spAutoFit/>
          </a:bodyPr>
          <a:lstStyle/>
          <a:p>
            <a:pPr>
              <a:lnSpc>
                <a:spcPct val="150000"/>
              </a:lnSpc>
              <a:buNone/>
            </a:pPr>
            <a:r>
              <a:rPr lang="en-AU" sz="2800" dirty="0">
                <a:latin typeface="+mj-lt"/>
              </a:rPr>
              <a:t>Discussion: What happens if the router interface and HR computers use different, non-overlapping IP subnets?</a:t>
            </a:r>
          </a:p>
          <a:p>
            <a:pPr>
              <a:lnSpc>
                <a:spcPct val="150000"/>
              </a:lnSpc>
              <a:buNone/>
            </a:pPr>
            <a:r>
              <a:rPr lang="en-AU" sz="2800" dirty="0">
                <a:latin typeface="+mj-lt"/>
              </a:rPr>
              <a:t>Answer: The computers will not be able to use that interface as a directly reachable default gateway without correcting the addressing.</a:t>
            </a:r>
          </a:p>
        </p:txBody>
      </p:sp>
    </p:spTree>
    <p:extLst>
      <p:ext uri="{BB962C8B-B14F-4D97-AF65-F5344CB8AC3E}">
        <p14:creationId xmlns:p14="http://schemas.microsoft.com/office/powerpoint/2010/main" val="3931510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59D00-9526-0C21-4784-75C08BDF0844}"/>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ADE3D12B-7F93-B0F0-79C9-0871E732062A}"/>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Configuring Router Interfaces</a:t>
            </a:r>
            <a:endParaRPr dirty="0">
              <a:solidFill>
                <a:schemeClr val="tx1"/>
              </a:solidFill>
            </a:endParaRPr>
          </a:p>
        </p:txBody>
      </p:sp>
      <p:sp>
        <p:nvSpPr>
          <p:cNvPr id="15" name="object 15">
            <a:extLst>
              <a:ext uri="{FF2B5EF4-FFF2-40B4-BE49-F238E27FC236}">
                <a16:creationId xmlns:a16="http://schemas.microsoft.com/office/drawing/2014/main" id="{670A7D8A-7CBE-F84D-9083-217C075A14D9}"/>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92E7CC68-1BE9-10CD-2D1A-A2DE244A4456}"/>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pic>
        <p:nvPicPr>
          <p:cNvPr id="3" name="Picture 2" descr="The image depicts a network topology for a company, showcasing the connection between the HR and Finance departments, an Internet connection, and various devices like a wireless printer and scanner.&#10;&#10;AI-generated content may be incorrect.">
            <a:extLst>
              <a:ext uri="{FF2B5EF4-FFF2-40B4-BE49-F238E27FC236}">
                <a16:creationId xmlns:a16="http://schemas.microsoft.com/office/drawing/2014/main" id="{95AF63C1-421B-D780-7310-E1050D060AA9}"/>
              </a:ext>
            </a:extLst>
          </p:cNvPr>
          <p:cNvPicPr>
            <a:picLocks noChangeAspect="1"/>
          </p:cNvPicPr>
          <p:nvPr/>
        </p:nvPicPr>
        <p:blipFill>
          <a:blip r:embed="rId2">
            <a:extLst>
              <a:ext uri="{28A0092B-C50C-407E-A947-70E740481C1C}">
                <a14:useLocalDpi xmlns:a14="http://schemas.microsoft.com/office/drawing/2010/main" val="0"/>
              </a:ext>
            </a:extLst>
          </a:blip>
          <a:srcRect t="82500" r="67107"/>
          <a:stretch>
            <a:fillRect/>
          </a:stretch>
        </p:blipFill>
        <p:spPr>
          <a:xfrm>
            <a:off x="0" y="685800"/>
            <a:ext cx="9144000" cy="3243249"/>
          </a:xfrm>
          <a:prstGeom prst="rect">
            <a:avLst/>
          </a:prstGeom>
        </p:spPr>
      </p:pic>
      <p:sp>
        <p:nvSpPr>
          <p:cNvPr id="4" name="TextBox 3">
            <a:extLst>
              <a:ext uri="{FF2B5EF4-FFF2-40B4-BE49-F238E27FC236}">
                <a16:creationId xmlns:a16="http://schemas.microsoft.com/office/drawing/2014/main" id="{06E1C85A-203E-B918-FD57-EF6EC11DB798}"/>
              </a:ext>
            </a:extLst>
          </p:cNvPr>
          <p:cNvSpPr txBox="1"/>
          <p:nvPr/>
        </p:nvSpPr>
        <p:spPr>
          <a:xfrm>
            <a:off x="0" y="4138434"/>
            <a:ext cx="9144000" cy="1830758"/>
          </a:xfrm>
          <a:prstGeom prst="rect">
            <a:avLst/>
          </a:prstGeom>
          <a:noFill/>
        </p:spPr>
        <p:txBody>
          <a:bodyPr wrap="square">
            <a:spAutoFit/>
          </a:bodyPr>
          <a:lstStyle/>
          <a:p>
            <a:pPr>
              <a:lnSpc>
                <a:spcPct val="150000"/>
              </a:lnSpc>
            </a:pPr>
            <a:r>
              <a:rPr lang="en-AU" sz="2600" dirty="0">
                <a:latin typeface="+mj-lt"/>
              </a:rPr>
              <a:t>Router interfaces need correct IP addresses and must be enabled before they can communicate. After configuring an interface, use show </a:t>
            </a:r>
            <a:r>
              <a:rPr lang="en-AU" sz="2600" dirty="0" err="1">
                <a:latin typeface="+mj-lt"/>
              </a:rPr>
              <a:t>ip</a:t>
            </a:r>
            <a:r>
              <a:rPr lang="en-AU" sz="2600" dirty="0">
                <a:latin typeface="+mj-lt"/>
              </a:rPr>
              <a:t> interface brief to check whether its status is up/up.</a:t>
            </a:r>
          </a:p>
        </p:txBody>
      </p:sp>
    </p:spTree>
    <p:extLst>
      <p:ext uri="{BB962C8B-B14F-4D97-AF65-F5344CB8AC3E}">
        <p14:creationId xmlns:p14="http://schemas.microsoft.com/office/powerpoint/2010/main" val="337136355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69F14-0DBB-FFDD-7488-8E159318DC78}"/>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254EED22-2EC5-3DE4-BC7D-072C1FB3A4EE}"/>
              </a:ext>
            </a:extLst>
          </p:cNvPr>
          <p:cNvSpPr txBox="1">
            <a:spLocks noGrp="1"/>
          </p:cNvSpPr>
          <p:nvPr>
            <p:ph type="ctrTitle"/>
          </p:nvPr>
        </p:nvSpPr>
        <p:spPr>
          <a:xfrm>
            <a:off x="263448" y="62483"/>
            <a:ext cx="7356552" cy="905376"/>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Configuring End Devices and Default Gateways</a:t>
            </a:r>
            <a:endParaRPr dirty="0">
              <a:solidFill>
                <a:schemeClr val="tx1"/>
              </a:solidFill>
            </a:endParaRPr>
          </a:p>
        </p:txBody>
      </p:sp>
      <p:sp>
        <p:nvSpPr>
          <p:cNvPr id="15" name="object 15">
            <a:extLst>
              <a:ext uri="{FF2B5EF4-FFF2-40B4-BE49-F238E27FC236}">
                <a16:creationId xmlns:a16="http://schemas.microsoft.com/office/drawing/2014/main" id="{6E15D107-3562-7AD9-D6E2-770EAA77F956}"/>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8BD24826-9F81-E271-FDFD-2F4C5AFB7DD8}"/>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DA173537-F769-6D16-5C5F-C3812231E86D}"/>
              </a:ext>
            </a:extLst>
          </p:cNvPr>
          <p:cNvSpPr txBox="1"/>
          <p:nvPr/>
        </p:nvSpPr>
        <p:spPr>
          <a:xfrm>
            <a:off x="228600" y="1295400"/>
            <a:ext cx="8686800" cy="3257174"/>
          </a:xfrm>
          <a:prstGeom prst="rect">
            <a:avLst/>
          </a:prstGeom>
          <a:noFill/>
        </p:spPr>
        <p:txBody>
          <a:bodyPr wrap="square">
            <a:spAutoFit/>
          </a:bodyPr>
          <a:lstStyle/>
          <a:p>
            <a:pPr>
              <a:lnSpc>
                <a:spcPct val="150000"/>
              </a:lnSpc>
              <a:buNone/>
            </a:pPr>
            <a:r>
              <a:rPr lang="en-AU" sz="2800" dirty="0">
                <a:latin typeface="+mj-lt"/>
              </a:rPr>
              <a:t>Each end device needs appropriate settings:</a:t>
            </a:r>
          </a:p>
          <a:p>
            <a:pPr marL="342900" lvl="0" indent="-342900">
              <a:lnSpc>
                <a:spcPct val="150000"/>
              </a:lnSpc>
              <a:buFont typeface="Arial" panose="020B0604020202020204" pitchFamily="34" charset="0"/>
              <a:buChar char="•"/>
            </a:pPr>
            <a:r>
              <a:rPr lang="en-AU" sz="2800" dirty="0">
                <a:latin typeface="+mj-lt"/>
              </a:rPr>
              <a:t>IP address.</a:t>
            </a:r>
          </a:p>
          <a:p>
            <a:pPr marL="342900" lvl="0" indent="-342900">
              <a:lnSpc>
                <a:spcPct val="150000"/>
              </a:lnSpc>
              <a:buFont typeface="Arial" panose="020B0604020202020204" pitchFamily="34" charset="0"/>
              <a:buChar char="•"/>
            </a:pPr>
            <a:r>
              <a:rPr lang="en-AU" sz="2800" dirty="0">
                <a:latin typeface="+mj-lt"/>
              </a:rPr>
              <a:t>Subnet mask.</a:t>
            </a:r>
          </a:p>
          <a:p>
            <a:pPr marL="342900" lvl="0" indent="-342900">
              <a:lnSpc>
                <a:spcPct val="150000"/>
              </a:lnSpc>
              <a:buFont typeface="Arial" panose="020B0604020202020204" pitchFamily="34" charset="0"/>
              <a:buChar char="•"/>
            </a:pPr>
            <a:r>
              <a:rPr lang="en-AU" sz="2800" dirty="0">
                <a:latin typeface="+mj-lt"/>
              </a:rPr>
              <a:t>Default gateway.</a:t>
            </a:r>
          </a:p>
          <a:p>
            <a:pPr marL="342900" lvl="0" indent="-342900">
              <a:lnSpc>
                <a:spcPct val="150000"/>
              </a:lnSpc>
              <a:buFont typeface="Arial" panose="020B0604020202020204" pitchFamily="34" charset="0"/>
              <a:buChar char="•"/>
            </a:pPr>
            <a:r>
              <a:rPr lang="en-AU" sz="2800" dirty="0">
                <a:latin typeface="+mj-lt"/>
              </a:rPr>
              <a:t>DNS server, where name resolution is required.</a:t>
            </a:r>
          </a:p>
        </p:txBody>
      </p:sp>
    </p:spTree>
    <p:extLst>
      <p:ext uri="{BB962C8B-B14F-4D97-AF65-F5344CB8AC3E}">
        <p14:creationId xmlns:p14="http://schemas.microsoft.com/office/powerpoint/2010/main" val="12863155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4D1D7-AFC1-462C-1376-8FAC4A38A738}"/>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81DF7E0B-7AB3-95CB-9105-884152543CDE}"/>
              </a:ext>
            </a:extLst>
          </p:cNvPr>
          <p:cNvSpPr txBox="1">
            <a:spLocks noGrp="1"/>
          </p:cNvSpPr>
          <p:nvPr>
            <p:ph type="ctrTitle"/>
          </p:nvPr>
        </p:nvSpPr>
        <p:spPr>
          <a:xfrm>
            <a:off x="263448" y="62483"/>
            <a:ext cx="7356552" cy="905376"/>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Configuring End Devices and Default Gateways</a:t>
            </a:r>
            <a:endParaRPr dirty="0">
              <a:solidFill>
                <a:schemeClr val="tx1"/>
              </a:solidFill>
            </a:endParaRPr>
          </a:p>
        </p:txBody>
      </p:sp>
      <p:sp>
        <p:nvSpPr>
          <p:cNvPr id="15" name="object 15">
            <a:extLst>
              <a:ext uri="{FF2B5EF4-FFF2-40B4-BE49-F238E27FC236}">
                <a16:creationId xmlns:a16="http://schemas.microsoft.com/office/drawing/2014/main" id="{BB9C8A71-D13A-8464-FBC7-D6B85465A6AC}"/>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AFE11351-248D-BAB3-3C30-F763AA56A7C1}"/>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AD1DC9A2-7A27-BA5E-17ED-1D8C81B00367}"/>
              </a:ext>
            </a:extLst>
          </p:cNvPr>
          <p:cNvSpPr txBox="1"/>
          <p:nvPr/>
        </p:nvSpPr>
        <p:spPr>
          <a:xfrm>
            <a:off x="262836" y="967859"/>
            <a:ext cx="8617716" cy="3903504"/>
          </a:xfrm>
          <a:prstGeom prst="rect">
            <a:avLst/>
          </a:prstGeom>
          <a:noFill/>
        </p:spPr>
        <p:txBody>
          <a:bodyPr wrap="square">
            <a:spAutoFit/>
          </a:bodyPr>
          <a:lstStyle/>
          <a:p>
            <a:pPr>
              <a:lnSpc>
                <a:spcPct val="150000"/>
              </a:lnSpc>
              <a:buNone/>
            </a:pPr>
            <a:r>
              <a:rPr lang="en-AU" sz="2800" dirty="0">
                <a:latin typeface="+mj-lt"/>
              </a:rPr>
              <a:t>Example HR PC:</a:t>
            </a:r>
          </a:p>
          <a:p>
            <a:pPr rtl="0">
              <a:lnSpc>
                <a:spcPct val="150000"/>
              </a:lnSpc>
              <a:buNone/>
            </a:pPr>
            <a:r>
              <a:rPr lang="en-AU" sz="2800" dirty="0">
                <a:highlight>
                  <a:srgbClr val="FFFF00"/>
                </a:highlight>
                <a:latin typeface="+mj-lt"/>
              </a:rPr>
              <a:t>IP address:       192.168.10.10</a:t>
            </a:r>
          </a:p>
          <a:p>
            <a:pPr rtl="0">
              <a:lnSpc>
                <a:spcPct val="150000"/>
              </a:lnSpc>
              <a:buNone/>
            </a:pPr>
            <a:r>
              <a:rPr lang="en-AU" sz="2800" dirty="0">
                <a:highlight>
                  <a:srgbClr val="FFFF00"/>
                </a:highlight>
                <a:latin typeface="+mj-lt"/>
              </a:rPr>
              <a:t>Subnet mask:      255.255.255.224</a:t>
            </a:r>
          </a:p>
          <a:p>
            <a:pPr rtl="0">
              <a:lnSpc>
                <a:spcPct val="150000"/>
              </a:lnSpc>
              <a:buNone/>
            </a:pPr>
            <a:r>
              <a:rPr lang="en-AU" sz="2800" dirty="0">
                <a:highlight>
                  <a:srgbClr val="FFFF00"/>
                </a:highlight>
                <a:latin typeface="+mj-lt"/>
              </a:rPr>
              <a:t>Default gateway:  192.168.10.1</a:t>
            </a:r>
          </a:p>
          <a:p>
            <a:pPr>
              <a:lnSpc>
                <a:spcPct val="150000"/>
              </a:lnSpc>
              <a:buNone/>
            </a:pPr>
            <a:r>
              <a:rPr lang="en-AU" sz="2800" dirty="0">
                <a:latin typeface="+mj-lt"/>
              </a:rPr>
              <a:t>Discussion: A PC can ping another PC in the same subnet but cannot reach Finance. What should you check first?</a:t>
            </a:r>
          </a:p>
        </p:txBody>
      </p:sp>
      <p:sp>
        <p:nvSpPr>
          <p:cNvPr id="6" name="TextBox 5">
            <a:extLst>
              <a:ext uri="{FF2B5EF4-FFF2-40B4-BE49-F238E27FC236}">
                <a16:creationId xmlns:a16="http://schemas.microsoft.com/office/drawing/2014/main" id="{F0347327-4A4C-A54B-407C-38CA09F2EFEE}"/>
              </a:ext>
            </a:extLst>
          </p:cNvPr>
          <p:cNvSpPr txBox="1"/>
          <p:nvPr/>
        </p:nvSpPr>
        <p:spPr>
          <a:xfrm>
            <a:off x="262836" y="4904998"/>
            <a:ext cx="8382000" cy="1318181"/>
          </a:xfrm>
          <a:prstGeom prst="rect">
            <a:avLst/>
          </a:prstGeom>
          <a:noFill/>
        </p:spPr>
        <p:txBody>
          <a:bodyPr wrap="square">
            <a:spAutoFit/>
          </a:bodyPr>
          <a:lstStyle/>
          <a:p>
            <a:pPr>
              <a:lnSpc>
                <a:spcPct val="150000"/>
              </a:lnSpc>
              <a:buNone/>
            </a:pPr>
            <a:r>
              <a:rPr lang="en-AU" sz="2800" dirty="0">
                <a:latin typeface="+mj-lt"/>
              </a:rPr>
              <a:t>Answer: The PC's default gateway and the routing between the two departmental networks.</a:t>
            </a:r>
          </a:p>
        </p:txBody>
      </p:sp>
    </p:spTree>
    <p:extLst>
      <p:ext uri="{BB962C8B-B14F-4D97-AF65-F5344CB8AC3E}">
        <p14:creationId xmlns:p14="http://schemas.microsoft.com/office/powerpoint/2010/main" val="1889598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76B90-17A4-3BB2-C345-3CBA94F381FD}"/>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F8014784-5456-8762-EB65-5B33630BCE61}"/>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Remote Access: SSH and Telnet</a:t>
            </a:r>
            <a:endParaRPr dirty="0">
              <a:solidFill>
                <a:schemeClr val="tx1"/>
              </a:solidFill>
            </a:endParaRPr>
          </a:p>
        </p:txBody>
      </p:sp>
      <p:sp>
        <p:nvSpPr>
          <p:cNvPr id="15" name="object 15">
            <a:extLst>
              <a:ext uri="{FF2B5EF4-FFF2-40B4-BE49-F238E27FC236}">
                <a16:creationId xmlns:a16="http://schemas.microsoft.com/office/drawing/2014/main" id="{61126273-0A5B-69B9-2227-BFF251B91D3B}"/>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8CFCC10A-60AF-E301-09B1-501ABE78BAEB}"/>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5" name="TextBox 4">
            <a:extLst>
              <a:ext uri="{FF2B5EF4-FFF2-40B4-BE49-F238E27FC236}">
                <a16:creationId xmlns:a16="http://schemas.microsoft.com/office/drawing/2014/main" id="{AF1E6FC4-48B8-4116-771C-17C89DF74EDC}"/>
              </a:ext>
            </a:extLst>
          </p:cNvPr>
          <p:cNvSpPr txBox="1"/>
          <p:nvPr/>
        </p:nvSpPr>
        <p:spPr>
          <a:xfrm>
            <a:off x="263142" y="1295400"/>
            <a:ext cx="8617716" cy="3903504"/>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AU" sz="2800" dirty="0">
                <a:latin typeface="+mj-lt"/>
              </a:rPr>
              <a:t>Telnet provides remote command-line access but does not encrypt the session.</a:t>
            </a:r>
          </a:p>
          <a:p>
            <a:pPr marL="342900" lvl="0" indent="-342900">
              <a:lnSpc>
                <a:spcPct val="150000"/>
              </a:lnSpc>
              <a:buFont typeface="Arial" panose="020B0604020202020204" pitchFamily="34" charset="0"/>
              <a:buChar char="•"/>
            </a:pPr>
            <a:r>
              <a:rPr lang="en-AU" sz="2800" dirty="0">
                <a:latin typeface="+mj-lt"/>
              </a:rPr>
              <a:t>SSH encrypts remote management traffic.</a:t>
            </a:r>
          </a:p>
          <a:p>
            <a:pPr marL="342900" lvl="0" indent="-342900">
              <a:lnSpc>
                <a:spcPct val="150000"/>
              </a:lnSpc>
              <a:buFont typeface="Arial" panose="020B0604020202020204" pitchFamily="34" charset="0"/>
              <a:buChar char="•"/>
            </a:pPr>
            <a:r>
              <a:rPr lang="en-AU" sz="2800" dirty="0">
                <a:latin typeface="+mj-lt"/>
              </a:rPr>
              <a:t>SSH is preferred for secure administration.</a:t>
            </a:r>
          </a:p>
          <a:p>
            <a:pPr marL="342900" lvl="0" indent="-342900">
              <a:lnSpc>
                <a:spcPct val="150000"/>
              </a:lnSpc>
              <a:buFont typeface="Arial" panose="020B0604020202020204" pitchFamily="34" charset="0"/>
              <a:buChar char="•"/>
            </a:pPr>
            <a:r>
              <a:rPr lang="en-AU" sz="2800" dirty="0">
                <a:latin typeface="+mj-lt"/>
              </a:rPr>
              <a:t>Router and switch remote access should be restricted to authorised users.</a:t>
            </a:r>
          </a:p>
        </p:txBody>
      </p:sp>
    </p:spTree>
    <p:extLst>
      <p:ext uri="{BB962C8B-B14F-4D97-AF65-F5344CB8AC3E}">
        <p14:creationId xmlns:p14="http://schemas.microsoft.com/office/powerpoint/2010/main" val="139446954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ACB00-DA37-5C6A-A6E7-C61C08DC78A2}"/>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8A849CBA-401F-5CAB-8D33-2788B23FB72A}"/>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Remote Access: SSH and Telnet</a:t>
            </a:r>
            <a:endParaRPr dirty="0">
              <a:solidFill>
                <a:schemeClr val="tx1"/>
              </a:solidFill>
            </a:endParaRPr>
          </a:p>
        </p:txBody>
      </p:sp>
      <p:sp>
        <p:nvSpPr>
          <p:cNvPr id="15" name="object 15">
            <a:extLst>
              <a:ext uri="{FF2B5EF4-FFF2-40B4-BE49-F238E27FC236}">
                <a16:creationId xmlns:a16="http://schemas.microsoft.com/office/drawing/2014/main" id="{D334FF5B-A62C-06AE-41CA-2C2DE190AF1A}"/>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4D3AA92B-84A2-53FF-9D35-3E33464B1BF7}"/>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2EA9B45B-BA9F-0CD9-1194-56DD14C9A062}"/>
              </a:ext>
            </a:extLst>
          </p:cNvPr>
          <p:cNvSpPr txBox="1"/>
          <p:nvPr/>
        </p:nvSpPr>
        <p:spPr>
          <a:xfrm>
            <a:off x="263142" y="838200"/>
            <a:ext cx="8617716" cy="5842497"/>
          </a:xfrm>
          <a:prstGeom prst="rect">
            <a:avLst/>
          </a:prstGeom>
          <a:noFill/>
        </p:spPr>
        <p:txBody>
          <a:bodyPr wrap="square">
            <a:spAutoFit/>
          </a:bodyPr>
          <a:lstStyle/>
          <a:p>
            <a:pPr>
              <a:lnSpc>
                <a:spcPct val="150000"/>
              </a:lnSpc>
              <a:buNone/>
            </a:pPr>
            <a:r>
              <a:rPr lang="en-AU" sz="2800" dirty="0">
                <a:latin typeface="+mj-lt"/>
              </a:rPr>
              <a:t>Illustrative SSH configuration:</a:t>
            </a:r>
          </a:p>
          <a:p>
            <a:pPr rtl="0">
              <a:lnSpc>
                <a:spcPct val="150000"/>
              </a:lnSpc>
              <a:buNone/>
            </a:pPr>
            <a:r>
              <a:rPr lang="en-AU" sz="2800" dirty="0">
                <a:highlight>
                  <a:srgbClr val="FFFF00"/>
                </a:highlight>
                <a:latin typeface="+mj-lt"/>
              </a:rPr>
              <a:t>hostname HR-Router</a:t>
            </a:r>
          </a:p>
          <a:p>
            <a:pPr rtl="0">
              <a:lnSpc>
                <a:spcPct val="150000"/>
              </a:lnSpc>
              <a:buNone/>
            </a:pPr>
            <a:r>
              <a:rPr lang="en-AU" sz="2800" dirty="0" err="1">
                <a:highlight>
                  <a:srgbClr val="FFFF00"/>
                </a:highlight>
                <a:latin typeface="+mj-lt"/>
              </a:rPr>
              <a:t>ip</a:t>
            </a:r>
            <a:r>
              <a:rPr lang="en-AU" sz="2800" dirty="0">
                <a:highlight>
                  <a:srgbClr val="FFFF00"/>
                </a:highlight>
                <a:latin typeface="+mj-lt"/>
              </a:rPr>
              <a:t> domain-name </a:t>
            </a:r>
            <a:r>
              <a:rPr lang="en-AU" sz="2800" dirty="0" err="1">
                <a:highlight>
                  <a:srgbClr val="FFFF00"/>
                </a:highlight>
                <a:latin typeface="+mj-lt"/>
              </a:rPr>
              <a:t>abc.example</a:t>
            </a:r>
            <a:endParaRPr lang="en-AU" sz="2800" dirty="0">
              <a:highlight>
                <a:srgbClr val="FFFF00"/>
              </a:highlight>
              <a:latin typeface="+mj-lt"/>
            </a:endParaRPr>
          </a:p>
          <a:p>
            <a:pPr rtl="0">
              <a:lnSpc>
                <a:spcPct val="150000"/>
              </a:lnSpc>
              <a:buNone/>
            </a:pPr>
            <a:r>
              <a:rPr lang="en-AU" sz="2800" dirty="0">
                <a:highlight>
                  <a:srgbClr val="FFFF00"/>
                </a:highlight>
                <a:latin typeface="+mj-lt"/>
              </a:rPr>
              <a:t>username admin privilege 15 secret ExampleOnly123!</a:t>
            </a:r>
          </a:p>
          <a:p>
            <a:pPr rtl="0">
              <a:lnSpc>
                <a:spcPct val="150000"/>
              </a:lnSpc>
              <a:buNone/>
            </a:pPr>
            <a:r>
              <a:rPr lang="en-AU" sz="2800" dirty="0">
                <a:highlight>
                  <a:srgbClr val="FFFF00"/>
                </a:highlight>
                <a:latin typeface="+mj-lt"/>
              </a:rPr>
              <a:t>crypto key generate </a:t>
            </a:r>
            <a:r>
              <a:rPr lang="en-AU" sz="2800" dirty="0" err="1">
                <a:highlight>
                  <a:srgbClr val="FFFF00"/>
                </a:highlight>
                <a:latin typeface="+mj-lt"/>
              </a:rPr>
              <a:t>rsa</a:t>
            </a:r>
            <a:endParaRPr lang="en-AU" sz="2800" dirty="0">
              <a:highlight>
                <a:srgbClr val="FFFF00"/>
              </a:highlight>
              <a:latin typeface="+mj-lt"/>
            </a:endParaRPr>
          </a:p>
          <a:p>
            <a:pPr rtl="0">
              <a:lnSpc>
                <a:spcPct val="150000"/>
              </a:lnSpc>
              <a:buNone/>
            </a:pPr>
            <a:r>
              <a:rPr lang="en-AU" sz="2800" dirty="0" err="1">
                <a:highlight>
                  <a:srgbClr val="FFFF00"/>
                </a:highlight>
                <a:latin typeface="+mj-lt"/>
              </a:rPr>
              <a:t>ip</a:t>
            </a:r>
            <a:r>
              <a:rPr lang="en-AU" sz="2800" dirty="0">
                <a:highlight>
                  <a:srgbClr val="FFFF00"/>
                </a:highlight>
                <a:latin typeface="+mj-lt"/>
              </a:rPr>
              <a:t> ssh version 2</a:t>
            </a:r>
          </a:p>
          <a:p>
            <a:pPr rtl="0">
              <a:lnSpc>
                <a:spcPct val="150000"/>
              </a:lnSpc>
              <a:buNone/>
            </a:pPr>
            <a:r>
              <a:rPr lang="en-AU" sz="2800" dirty="0">
                <a:highlight>
                  <a:srgbClr val="FFFF00"/>
                </a:highlight>
                <a:latin typeface="+mj-lt"/>
              </a:rPr>
              <a:t>line </a:t>
            </a:r>
            <a:r>
              <a:rPr lang="en-AU" sz="2800" dirty="0" err="1">
                <a:highlight>
                  <a:srgbClr val="FFFF00"/>
                </a:highlight>
                <a:latin typeface="+mj-lt"/>
              </a:rPr>
              <a:t>vty</a:t>
            </a:r>
            <a:r>
              <a:rPr lang="en-AU" sz="2800" dirty="0">
                <a:highlight>
                  <a:srgbClr val="FFFF00"/>
                </a:highlight>
                <a:latin typeface="+mj-lt"/>
              </a:rPr>
              <a:t> 0 4</a:t>
            </a:r>
          </a:p>
          <a:p>
            <a:pPr rtl="0">
              <a:lnSpc>
                <a:spcPct val="150000"/>
              </a:lnSpc>
              <a:buNone/>
            </a:pPr>
            <a:r>
              <a:rPr lang="en-AU" sz="2800" dirty="0">
                <a:highlight>
                  <a:srgbClr val="FFFF00"/>
                </a:highlight>
                <a:latin typeface="+mj-lt"/>
              </a:rPr>
              <a:t>login local</a:t>
            </a:r>
          </a:p>
          <a:p>
            <a:pPr rtl="0">
              <a:lnSpc>
                <a:spcPct val="150000"/>
              </a:lnSpc>
              <a:buNone/>
            </a:pPr>
            <a:r>
              <a:rPr lang="en-AU" sz="2800" dirty="0">
                <a:highlight>
                  <a:srgbClr val="FFFF00"/>
                </a:highlight>
                <a:latin typeface="+mj-lt"/>
              </a:rPr>
              <a:t>transport input ssh</a:t>
            </a:r>
          </a:p>
        </p:txBody>
      </p:sp>
    </p:spTree>
    <p:extLst>
      <p:ext uri="{BB962C8B-B14F-4D97-AF65-F5344CB8AC3E}">
        <p14:creationId xmlns:p14="http://schemas.microsoft.com/office/powerpoint/2010/main" val="134767783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6C86D-B768-B846-8F35-CC6FA9523566}"/>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366489E1-BA73-A022-2BE5-3B9907AFA54E}"/>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Remote Access: SSH and Telnet</a:t>
            </a:r>
            <a:endParaRPr dirty="0">
              <a:solidFill>
                <a:schemeClr val="tx1"/>
              </a:solidFill>
            </a:endParaRPr>
          </a:p>
        </p:txBody>
      </p:sp>
      <p:sp>
        <p:nvSpPr>
          <p:cNvPr id="15" name="object 15">
            <a:extLst>
              <a:ext uri="{FF2B5EF4-FFF2-40B4-BE49-F238E27FC236}">
                <a16:creationId xmlns:a16="http://schemas.microsoft.com/office/drawing/2014/main" id="{47377E71-C410-C950-8B8D-2E6540D55B57}"/>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23B4E25F-233C-21D0-E3DD-758F132071E2}"/>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88EC9773-E60D-305F-D864-005705C46E1A}"/>
              </a:ext>
            </a:extLst>
          </p:cNvPr>
          <p:cNvSpPr txBox="1"/>
          <p:nvPr/>
        </p:nvSpPr>
        <p:spPr>
          <a:xfrm>
            <a:off x="263142" y="838200"/>
            <a:ext cx="8617716" cy="4549835"/>
          </a:xfrm>
          <a:prstGeom prst="rect">
            <a:avLst/>
          </a:prstGeom>
          <a:noFill/>
        </p:spPr>
        <p:txBody>
          <a:bodyPr wrap="square">
            <a:spAutoFit/>
          </a:bodyPr>
          <a:lstStyle/>
          <a:p>
            <a:pPr>
              <a:lnSpc>
                <a:spcPct val="150000"/>
              </a:lnSpc>
              <a:buNone/>
            </a:pPr>
            <a:r>
              <a:rPr lang="en-AU" sz="2800" dirty="0">
                <a:latin typeface="+mj-lt"/>
              </a:rPr>
              <a:t>The example credentials are for classroom practice only and must not be reused as real passwords. RSA key generation may require a key-size selection, depending on IOS.</a:t>
            </a:r>
          </a:p>
          <a:p>
            <a:pPr>
              <a:lnSpc>
                <a:spcPct val="150000"/>
              </a:lnSpc>
              <a:buNone/>
            </a:pPr>
            <a:r>
              <a:rPr lang="en-AU" sz="2800" dirty="0">
                <a:latin typeface="+mj-lt"/>
              </a:rPr>
              <a:t>Discussion: Why is SSH generally safer than Telnet?</a:t>
            </a:r>
          </a:p>
          <a:p>
            <a:pPr>
              <a:lnSpc>
                <a:spcPct val="150000"/>
              </a:lnSpc>
              <a:buNone/>
            </a:pPr>
            <a:r>
              <a:rPr lang="en-AU" sz="2800" dirty="0">
                <a:latin typeface="+mj-lt"/>
              </a:rPr>
              <a:t>Answer: SSH encrypts the management session, reducing the risk of exposing credentials and commands.</a:t>
            </a:r>
          </a:p>
        </p:txBody>
      </p:sp>
    </p:spTree>
    <p:extLst>
      <p:ext uri="{BB962C8B-B14F-4D97-AF65-F5344CB8AC3E}">
        <p14:creationId xmlns:p14="http://schemas.microsoft.com/office/powerpoint/2010/main" val="732132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1000"/>
                                        <p:tgtEl>
                                          <p:spTgt spid="4">
                                            <p:txEl>
                                              <p:pRg st="2" end="2"/>
                                            </p:txEl>
                                          </p:spTgt>
                                        </p:tgtEl>
                                      </p:cBhvr>
                                    </p:animEffect>
                                    <p:anim calcmode="lin" valueType="num">
                                      <p:cBhvr>
                                        <p:cTn id="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62740-D01C-C3B4-8AA8-210BB0DC6751}"/>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86BEF3CF-0355-AD10-23DB-B6F7834753A3}"/>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Remote Access: SSH and Telnet</a:t>
            </a:r>
            <a:endParaRPr dirty="0">
              <a:solidFill>
                <a:schemeClr val="tx1"/>
              </a:solidFill>
            </a:endParaRPr>
          </a:p>
        </p:txBody>
      </p:sp>
      <p:sp>
        <p:nvSpPr>
          <p:cNvPr id="15" name="object 15">
            <a:extLst>
              <a:ext uri="{FF2B5EF4-FFF2-40B4-BE49-F238E27FC236}">
                <a16:creationId xmlns:a16="http://schemas.microsoft.com/office/drawing/2014/main" id="{3A4D0CF2-4EFE-9C42-B13A-98E4590C7479}"/>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901A444A-30FE-6919-02F1-357537497BA7}"/>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pic>
        <p:nvPicPr>
          <p:cNvPr id="3" name="Picture 2" descr="The image depicts a network topology for a company, showcasing the connection between the HR and Finance departments, an Internet connection, and various devices like a wireless printer and scanner.&#10;&#10;AI-generated content may be incorrect.">
            <a:extLst>
              <a:ext uri="{FF2B5EF4-FFF2-40B4-BE49-F238E27FC236}">
                <a16:creationId xmlns:a16="http://schemas.microsoft.com/office/drawing/2014/main" id="{F227F9F3-2061-6043-21FC-7E5B7917EAD8}"/>
              </a:ext>
            </a:extLst>
          </p:cNvPr>
          <p:cNvPicPr>
            <a:picLocks noChangeAspect="1"/>
          </p:cNvPicPr>
          <p:nvPr/>
        </p:nvPicPr>
        <p:blipFill>
          <a:blip r:embed="rId2">
            <a:extLst>
              <a:ext uri="{28A0092B-C50C-407E-A947-70E740481C1C}">
                <a14:useLocalDpi xmlns:a14="http://schemas.microsoft.com/office/drawing/2010/main" val="0"/>
              </a:ext>
            </a:extLst>
          </a:blip>
          <a:srcRect l="33466" t="83750" r="33748"/>
          <a:stretch>
            <a:fillRect/>
          </a:stretch>
        </p:blipFill>
        <p:spPr>
          <a:xfrm>
            <a:off x="-14288" y="685800"/>
            <a:ext cx="9141798" cy="3020768"/>
          </a:xfrm>
          <a:prstGeom prst="rect">
            <a:avLst/>
          </a:prstGeom>
        </p:spPr>
      </p:pic>
      <p:sp>
        <p:nvSpPr>
          <p:cNvPr id="4" name="TextBox 3">
            <a:extLst>
              <a:ext uri="{FF2B5EF4-FFF2-40B4-BE49-F238E27FC236}">
                <a16:creationId xmlns:a16="http://schemas.microsoft.com/office/drawing/2014/main" id="{626E07AE-DD5D-648C-9AFC-D3C25B12B5AE}"/>
              </a:ext>
            </a:extLst>
          </p:cNvPr>
          <p:cNvSpPr txBox="1"/>
          <p:nvPr/>
        </p:nvSpPr>
        <p:spPr>
          <a:xfrm>
            <a:off x="-14288" y="3870785"/>
            <a:ext cx="9158288" cy="1697068"/>
          </a:xfrm>
          <a:prstGeom prst="rect">
            <a:avLst/>
          </a:prstGeom>
          <a:noFill/>
        </p:spPr>
        <p:txBody>
          <a:bodyPr wrap="square">
            <a:spAutoFit/>
          </a:bodyPr>
          <a:lstStyle/>
          <a:p>
            <a:pPr>
              <a:lnSpc>
                <a:spcPct val="150000"/>
              </a:lnSpc>
              <a:buNone/>
            </a:pPr>
            <a:r>
              <a:rPr lang="en-AU" sz="2400" dirty="0">
                <a:latin typeface="+mj-lt"/>
              </a:rPr>
              <a:t>SSH allows an authorised network administrator to connect securely to a router from another computer. Unlike Telnet, SSH encrypts the communication, helping protect usernames, passwords and commands.</a:t>
            </a:r>
          </a:p>
        </p:txBody>
      </p:sp>
    </p:spTree>
    <p:extLst>
      <p:ext uri="{BB962C8B-B14F-4D97-AF65-F5344CB8AC3E}">
        <p14:creationId xmlns:p14="http://schemas.microsoft.com/office/powerpoint/2010/main" val="290698485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EBE30-F752-219C-5C69-64DB2B952615}"/>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70EE7518-DA29-E0BA-D132-6614AC112A58}"/>
              </a:ext>
            </a:extLst>
          </p:cNvPr>
          <p:cNvSpPr txBox="1">
            <a:spLocks noGrp="1"/>
          </p:cNvSpPr>
          <p:nvPr>
            <p:ph type="ctrTitle"/>
          </p:nvPr>
        </p:nvSpPr>
        <p:spPr>
          <a:xfrm>
            <a:off x="263448" y="62483"/>
            <a:ext cx="7356552" cy="905376"/>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Connecting Both Departments to the Internet</a:t>
            </a:r>
            <a:endParaRPr dirty="0">
              <a:solidFill>
                <a:schemeClr val="tx1"/>
              </a:solidFill>
            </a:endParaRPr>
          </a:p>
        </p:txBody>
      </p:sp>
      <p:sp>
        <p:nvSpPr>
          <p:cNvPr id="15" name="object 15">
            <a:extLst>
              <a:ext uri="{FF2B5EF4-FFF2-40B4-BE49-F238E27FC236}">
                <a16:creationId xmlns:a16="http://schemas.microsoft.com/office/drawing/2014/main" id="{0B83933E-C63E-44DC-581F-EEBAAB50925C}"/>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90895EFF-1C89-2D32-D155-4BC354290EAD}"/>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1EBC4A42-BF80-6CE5-4D66-FFB1D3FC4FDD}"/>
              </a:ext>
            </a:extLst>
          </p:cNvPr>
          <p:cNvSpPr txBox="1"/>
          <p:nvPr/>
        </p:nvSpPr>
        <p:spPr>
          <a:xfrm>
            <a:off x="0" y="1066801"/>
            <a:ext cx="9144000" cy="5196166"/>
          </a:xfrm>
          <a:prstGeom prst="rect">
            <a:avLst/>
          </a:prstGeom>
          <a:noFill/>
        </p:spPr>
        <p:txBody>
          <a:bodyPr wrap="square">
            <a:spAutoFit/>
          </a:bodyPr>
          <a:lstStyle/>
          <a:p>
            <a:pPr>
              <a:lnSpc>
                <a:spcPct val="150000"/>
              </a:lnSpc>
              <a:buNone/>
            </a:pPr>
            <a:r>
              <a:rPr lang="en-AU" sz="2800" dirty="0">
                <a:latin typeface="+mj-lt"/>
              </a:rPr>
              <a:t>A shared ISP connection requires an end-to-end design.</a:t>
            </a:r>
          </a:p>
          <a:p>
            <a:pPr>
              <a:lnSpc>
                <a:spcPct val="150000"/>
              </a:lnSpc>
              <a:buNone/>
            </a:pPr>
            <a:r>
              <a:rPr lang="en-AU" sz="2800" dirty="0">
                <a:latin typeface="+mj-lt"/>
              </a:rPr>
              <a:t>Consider:</a:t>
            </a:r>
          </a:p>
          <a:p>
            <a:pPr marL="342900" lvl="0" indent="-342900">
              <a:lnSpc>
                <a:spcPct val="150000"/>
              </a:lnSpc>
              <a:buFont typeface="Arial" panose="020B0604020202020204" pitchFamily="34" charset="0"/>
              <a:buChar char="•"/>
            </a:pPr>
            <a:r>
              <a:rPr lang="en-AU" sz="2800" dirty="0">
                <a:latin typeface="+mj-lt"/>
              </a:rPr>
              <a:t>Correct department IP addressing.</a:t>
            </a:r>
          </a:p>
          <a:p>
            <a:pPr marL="342900" lvl="0" indent="-342900">
              <a:lnSpc>
                <a:spcPct val="150000"/>
              </a:lnSpc>
              <a:buFont typeface="Arial" panose="020B0604020202020204" pitchFamily="34" charset="0"/>
              <a:buChar char="•"/>
            </a:pPr>
            <a:r>
              <a:rPr lang="en-AU" sz="2800" dirty="0">
                <a:latin typeface="+mj-lt"/>
              </a:rPr>
              <a:t>Appropriate routing between networks.</a:t>
            </a:r>
          </a:p>
          <a:p>
            <a:pPr marL="342900" lvl="0" indent="-342900">
              <a:lnSpc>
                <a:spcPct val="150000"/>
              </a:lnSpc>
              <a:buFont typeface="Arial" panose="020B0604020202020204" pitchFamily="34" charset="0"/>
              <a:buChar char="•"/>
            </a:pPr>
            <a:r>
              <a:rPr lang="en-AU" sz="2800" dirty="0">
                <a:latin typeface="+mj-lt"/>
              </a:rPr>
              <a:t>A default route towards the ISP.</a:t>
            </a:r>
          </a:p>
          <a:p>
            <a:pPr marL="342900" lvl="0" indent="-342900">
              <a:lnSpc>
                <a:spcPct val="150000"/>
              </a:lnSpc>
              <a:buFont typeface="Arial" panose="020B0604020202020204" pitchFamily="34" charset="0"/>
              <a:buChar char="•"/>
            </a:pPr>
            <a:r>
              <a:rPr lang="en-AU" sz="2800" dirty="0">
                <a:latin typeface="+mj-lt"/>
              </a:rPr>
              <a:t>NAT/PAT where private IPv4 addresses are used.</a:t>
            </a:r>
          </a:p>
          <a:p>
            <a:pPr marL="342900" lvl="0" indent="-342900">
              <a:lnSpc>
                <a:spcPct val="150000"/>
              </a:lnSpc>
              <a:buFont typeface="Arial" panose="020B0604020202020204" pitchFamily="34" charset="0"/>
              <a:buChar char="•"/>
            </a:pPr>
            <a:r>
              <a:rPr lang="en-AU" sz="2800" dirty="0">
                <a:latin typeface="+mj-lt"/>
              </a:rPr>
              <a:t>DNS and any required ISP-side settings.</a:t>
            </a:r>
          </a:p>
          <a:p>
            <a:pPr marL="342900" lvl="0" indent="-342900">
              <a:lnSpc>
                <a:spcPct val="150000"/>
              </a:lnSpc>
              <a:buFont typeface="Arial" panose="020B0604020202020204" pitchFamily="34" charset="0"/>
              <a:buChar char="•"/>
            </a:pPr>
            <a:r>
              <a:rPr lang="en-AU" sz="2800" dirty="0">
                <a:latin typeface="+mj-lt"/>
              </a:rPr>
              <a:t>Appropriate security rules.</a:t>
            </a:r>
          </a:p>
        </p:txBody>
      </p:sp>
    </p:spTree>
    <p:extLst>
      <p:ext uri="{BB962C8B-B14F-4D97-AF65-F5344CB8AC3E}">
        <p14:creationId xmlns:p14="http://schemas.microsoft.com/office/powerpoint/2010/main" val="397325563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CB729-9D51-60FD-08AF-07092834E5CE}"/>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E5DC52F8-4F75-F678-1680-226742C6D032}"/>
              </a:ext>
            </a:extLst>
          </p:cNvPr>
          <p:cNvSpPr txBox="1">
            <a:spLocks noGrp="1"/>
          </p:cNvSpPr>
          <p:nvPr>
            <p:ph type="ctrTitle"/>
          </p:nvPr>
        </p:nvSpPr>
        <p:spPr>
          <a:xfrm>
            <a:off x="263448" y="62483"/>
            <a:ext cx="7356552" cy="905376"/>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Connecting Both Departments to the Internet</a:t>
            </a:r>
            <a:endParaRPr dirty="0">
              <a:solidFill>
                <a:schemeClr val="tx1"/>
              </a:solidFill>
            </a:endParaRPr>
          </a:p>
        </p:txBody>
      </p:sp>
      <p:sp>
        <p:nvSpPr>
          <p:cNvPr id="15" name="object 15">
            <a:extLst>
              <a:ext uri="{FF2B5EF4-FFF2-40B4-BE49-F238E27FC236}">
                <a16:creationId xmlns:a16="http://schemas.microsoft.com/office/drawing/2014/main" id="{3F9112BE-9E52-F90D-5AF2-1DB4FA8F8BD3}"/>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1A54739D-7483-E74B-84CD-AAD7897F0185}"/>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6911C3E3-BD93-F84D-0259-A7684C19722C}"/>
              </a:ext>
            </a:extLst>
          </p:cNvPr>
          <p:cNvSpPr txBox="1"/>
          <p:nvPr/>
        </p:nvSpPr>
        <p:spPr>
          <a:xfrm>
            <a:off x="0" y="1295401"/>
            <a:ext cx="9144000" cy="1318181"/>
          </a:xfrm>
          <a:prstGeom prst="rect">
            <a:avLst/>
          </a:prstGeom>
          <a:noFill/>
        </p:spPr>
        <p:txBody>
          <a:bodyPr wrap="square">
            <a:spAutoFit/>
          </a:bodyPr>
          <a:lstStyle/>
          <a:p>
            <a:pPr>
              <a:lnSpc>
                <a:spcPct val="150000"/>
              </a:lnSpc>
              <a:buNone/>
            </a:pPr>
            <a:r>
              <a:rPr lang="en-AU" sz="2800" dirty="0">
                <a:latin typeface="+mj-lt"/>
              </a:rPr>
              <a:t>Discussion: Why might two private departmental networks need NAT/PAT to access the public Internet?</a:t>
            </a:r>
          </a:p>
        </p:txBody>
      </p:sp>
      <p:sp>
        <p:nvSpPr>
          <p:cNvPr id="6" name="TextBox 5">
            <a:extLst>
              <a:ext uri="{FF2B5EF4-FFF2-40B4-BE49-F238E27FC236}">
                <a16:creationId xmlns:a16="http://schemas.microsoft.com/office/drawing/2014/main" id="{A53CC2E6-EBFB-E90C-6A16-333279C608E0}"/>
              </a:ext>
            </a:extLst>
          </p:cNvPr>
          <p:cNvSpPr txBox="1"/>
          <p:nvPr/>
        </p:nvSpPr>
        <p:spPr>
          <a:xfrm>
            <a:off x="0" y="2847886"/>
            <a:ext cx="9020174" cy="1964512"/>
          </a:xfrm>
          <a:prstGeom prst="rect">
            <a:avLst/>
          </a:prstGeom>
          <a:noFill/>
        </p:spPr>
        <p:txBody>
          <a:bodyPr wrap="square">
            <a:spAutoFit/>
          </a:bodyPr>
          <a:lstStyle/>
          <a:p>
            <a:pPr>
              <a:lnSpc>
                <a:spcPct val="150000"/>
              </a:lnSpc>
              <a:buNone/>
            </a:pPr>
            <a:r>
              <a:rPr lang="en-AU" sz="2800" dirty="0">
                <a:latin typeface="+mj-lt"/>
              </a:rPr>
              <a:t>Answer: Private IPv4 addresses are not globally routed on the public Internet. NAT/PAT can translate internal addresses to a suitable public address.</a:t>
            </a:r>
          </a:p>
        </p:txBody>
      </p:sp>
    </p:spTree>
    <p:extLst>
      <p:ext uri="{BB962C8B-B14F-4D97-AF65-F5344CB8AC3E}">
        <p14:creationId xmlns:p14="http://schemas.microsoft.com/office/powerpoint/2010/main" val="3212690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A731F-8668-B7BF-E480-D82C6F2AFABF}"/>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AD07835F-81F9-8F7C-1F79-FD866AEB1740}"/>
              </a:ext>
            </a:extLst>
          </p:cNvPr>
          <p:cNvSpPr txBox="1">
            <a:spLocks noGrp="1"/>
          </p:cNvSpPr>
          <p:nvPr>
            <p:ph type="ctrTitle"/>
          </p:nvPr>
        </p:nvSpPr>
        <p:spPr>
          <a:xfrm>
            <a:off x="263448" y="62483"/>
            <a:ext cx="7356552" cy="905376"/>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Connecting Both Departments to the Internet</a:t>
            </a:r>
            <a:endParaRPr dirty="0">
              <a:solidFill>
                <a:schemeClr val="tx1"/>
              </a:solidFill>
            </a:endParaRPr>
          </a:p>
        </p:txBody>
      </p:sp>
      <p:sp>
        <p:nvSpPr>
          <p:cNvPr id="15" name="object 15">
            <a:extLst>
              <a:ext uri="{FF2B5EF4-FFF2-40B4-BE49-F238E27FC236}">
                <a16:creationId xmlns:a16="http://schemas.microsoft.com/office/drawing/2014/main" id="{B3B40C62-CB73-42AF-0565-DFE468ADEB6E}"/>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E01461D6-52E0-5A2F-2C3A-2DB020458544}"/>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pic>
        <p:nvPicPr>
          <p:cNvPr id="3" name="Picture 2" descr="The image depicts a network topology for a company, showcasing the connection between the HR and Finance departments, an Internet connection, and various devices like a wireless printer and scanner.&#10;&#10;AI-generated content may be incorrect.">
            <a:extLst>
              <a:ext uri="{FF2B5EF4-FFF2-40B4-BE49-F238E27FC236}">
                <a16:creationId xmlns:a16="http://schemas.microsoft.com/office/drawing/2014/main" id="{DEC0EE14-09C1-E153-21FF-68D28E47EEB7}"/>
              </a:ext>
            </a:extLst>
          </p:cNvPr>
          <p:cNvPicPr>
            <a:picLocks noChangeAspect="1"/>
          </p:cNvPicPr>
          <p:nvPr/>
        </p:nvPicPr>
        <p:blipFill>
          <a:blip r:embed="rId2">
            <a:extLst>
              <a:ext uri="{28A0092B-C50C-407E-A947-70E740481C1C}">
                <a14:useLocalDpi xmlns:a14="http://schemas.microsoft.com/office/drawing/2010/main" val="0"/>
              </a:ext>
            </a:extLst>
          </a:blip>
          <a:srcRect l="67500" t="82500"/>
          <a:stretch>
            <a:fillRect/>
          </a:stretch>
        </p:blipFill>
        <p:spPr>
          <a:xfrm>
            <a:off x="0" y="1066800"/>
            <a:ext cx="9144000" cy="3282461"/>
          </a:xfrm>
          <a:prstGeom prst="rect">
            <a:avLst/>
          </a:prstGeom>
        </p:spPr>
      </p:pic>
      <p:sp>
        <p:nvSpPr>
          <p:cNvPr id="4" name="TextBox 3">
            <a:extLst>
              <a:ext uri="{FF2B5EF4-FFF2-40B4-BE49-F238E27FC236}">
                <a16:creationId xmlns:a16="http://schemas.microsoft.com/office/drawing/2014/main" id="{A22BA3AA-07CF-FE54-9CB3-20BE5262BE85}"/>
              </a:ext>
            </a:extLst>
          </p:cNvPr>
          <p:cNvSpPr txBox="1"/>
          <p:nvPr/>
        </p:nvSpPr>
        <p:spPr>
          <a:xfrm>
            <a:off x="14287" y="4376586"/>
            <a:ext cx="9144000" cy="2092881"/>
          </a:xfrm>
          <a:prstGeom prst="rect">
            <a:avLst/>
          </a:prstGeom>
          <a:noFill/>
        </p:spPr>
        <p:txBody>
          <a:bodyPr wrap="square">
            <a:spAutoFit/>
          </a:bodyPr>
          <a:lstStyle/>
          <a:p>
            <a:pPr>
              <a:buNone/>
            </a:pPr>
            <a:r>
              <a:rPr lang="en-AU" sz="2600" dirty="0">
                <a:latin typeface="+mj-lt"/>
              </a:rPr>
              <a:t>NAT/PAT allows multiple computers with private IP addresses to access the Internet through a shared public IP address. In this example, both HR and Finance can use the same Internet connection without requiring a separate public IP address for every computer.</a:t>
            </a:r>
          </a:p>
        </p:txBody>
      </p:sp>
    </p:spTree>
    <p:extLst>
      <p:ext uri="{BB962C8B-B14F-4D97-AF65-F5344CB8AC3E}">
        <p14:creationId xmlns:p14="http://schemas.microsoft.com/office/powerpoint/2010/main" val="13477277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9BFB6-F370-69E7-5FB1-FE1859BAAC98}"/>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2139F742-9DD3-CF6C-8EE1-B48574EDBDCE}"/>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Network Testing and Evidence</a:t>
            </a:r>
            <a:endParaRPr dirty="0">
              <a:solidFill>
                <a:schemeClr val="tx1"/>
              </a:solidFill>
            </a:endParaRPr>
          </a:p>
        </p:txBody>
      </p:sp>
      <p:sp>
        <p:nvSpPr>
          <p:cNvPr id="15" name="object 15">
            <a:extLst>
              <a:ext uri="{FF2B5EF4-FFF2-40B4-BE49-F238E27FC236}">
                <a16:creationId xmlns:a16="http://schemas.microsoft.com/office/drawing/2014/main" id="{E5F390CD-3AF3-46A3-2C6E-392059B0E04C}"/>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D940C91E-215B-FA76-6178-7C57EC13E9C1}"/>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6CE4BC01-38FB-A9C2-BAAA-E0C93A47C78E}"/>
              </a:ext>
            </a:extLst>
          </p:cNvPr>
          <p:cNvSpPr txBox="1"/>
          <p:nvPr/>
        </p:nvSpPr>
        <p:spPr>
          <a:xfrm>
            <a:off x="263142" y="838200"/>
            <a:ext cx="8617716" cy="5196166"/>
          </a:xfrm>
          <a:prstGeom prst="rect">
            <a:avLst/>
          </a:prstGeom>
          <a:noFill/>
        </p:spPr>
        <p:txBody>
          <a:bodyPr wrap="square">
            <a:spAutoFit/>
          </a:bodyPr>
          <a:lstStyle/>
          <a:p>
            <a:pPr>
              <a:lnSpc>
                <a:spcPct val="150000"/>
              </a:lnSpc>
              <a:buNone/>
            </a:pPr>
            <a:r>
              <a:rPr lang="en-AU" sz="2800" dirty="0">
                <a:latin typeface="+mj-lt"/>
              </a:rPr>
              <a:t>Test the network systematically:</a:t>
            </a:r>
          </a:p>
          <a:p>
            <a:pPr marL="342900" lvl="0" indent="-342900">
              <a:lnSpc>
                <a:spcPct val="150000"/>
              </a:lnSpc>
              <a:buFont typeface="+mj-lt"/>
              <a:buAutoNum type="arabicPeriod"/>
            </a:pPr>
            <a:r>
              <a:rPr lang="en-AU" sz="2800" dirty="0">
                <a:latin typeface="+mj-lt"/>
              </a:rPr>
              <a:t>Check interface status.</a:t>
            </a:r>
          </a:p>
          <a:p>
            <a:pPr marL="342900" lvl="0" indent="-342900">
              <a:lnSpc>
                <a:spcPct val="150000"/>
              </a:lnSpc>
              <a:buFont typeface="+mj-lt"/>
              <a:buAutoNum type="arabicPeriod"/>
            </a:pPr>
            <a:r>
              <a:rPr lang="en-AU" sz="2800" dirty="0">
                <a:latin typeface="+mj-lt"/>
              </a:rPr>
              <a:t>Verify device IP addresses.</a:t>
            </a:r>
          </a:p>
          <a:p>
            <a:pPr marL="342900" lvl="0" indent="-342900">
              <a:lnSpc>
                <a:spcPct val="150000"/>
              </a:lnSpc>
              <a:buFont typeface="+mj-lt"/>
              <a:buAutoNum type="arabicPeriod"/>
            </a:pPr>
            <a:r>
              <a:rPr lang="en-AU" sz="2800" dirty="0">
                <a:latin typeface="+mj-lt"/>
              </a:rPr>
              <a:t>Ping the local default gateway.</a:t>
            </a:r>
          </a:p>
          <a:p>
            <a:pPr marL="342900" lvl="0" indent="-342900">
              <a:lnSpc>
                <a:spcPct val="150000"/>
              </a:lnSpc>
              <a:buFont typeface="+mj-lt"/>
              <a:buAutoNum type="arabicPeriod"/>
            </a:pPr>
            <a:r>
              <a:rPr lang="en-AU" sz="2800" dirty="0">
                <a:latin typeface="+mj-lt"/>
              </a:rPr>
              <a:t>Test communication between authorised departments.</a:t>
            </a:r>
          </a:p>
          <a:p>
            <a:pPr marL="342900" lvl="0" indent="-342900">
              <a:lnSpc>
                <a:spcPct val="150000"/>
              </a:lnSpc>
              <a:buFont typeface="+mj-lt"/>
              <a:buAutoNum type="arabicPeriod"/>
            </a:pPr>
            <a:r>
              <a:rPr lang="en-AU" sz="2800" dirty="0">
                <a:latin typeface="+mj-lt"/>
              </a:rPr>
              <a:t>Test access towards the simulated ISP.</a:t>
            </a:r>
          </a:p>
          <a:p>
            <a:pPr marL="342900" lvl="0" indent="-342900">
              <a:lnSpc>
                <a:spcPct val="150000"/>
              </a:lnSpc>
              <a:buFont typeface="+mj-lt"/>
              <a:buAutoNum type="arabicPeriod"/>
            </a:pPr>
            <a:r>
              <a:rPr lang="en-AU" sz="2800" dirty="0">
                <a:latin typeface="+mj-lt"/>
              </a:rPr>
              <a:t>Test SSH remote access.</a:t>
            </a:r>
          </a:p>
          <a:p>
            <a:pPr marL="342900" lvl="0" indent="-342900">
              <a:lnSpc>
                <a:spcPct val="150000"/>
              </a:lnSpc>
              <a:buFont typeface="+mj-lt"/>
              <a:buAutoNum type="arabicPeriod"/>
            </a:pPr>
            <a:r>
              <a:rPr lang="en-AU" sz="2800" dirty="0">
                <a:latin typeface="+mj-lt"/>
              </a:rPr>
              <a:t>Verify routes and save configurations.</a:t>
            </a:r>
          </a:p>
        </p:txBody>
      </p:sp>
    </p:spTree>
    <p:extLst>
      <p:ext uri="{BB962C8B-B14F-4D97-AF65-F5344CB8AC3E}">
        <p14:creationId xmlns:p14="http://schemas.microsoft.com/office/powerpoint/2010/main" val="426033614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D2473-CBAF-BBC0-5DA1-D598C948A6F4}"/>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29CB07B3-729D-9343-1986-590976D0F508}"/>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Network Testing and Evidence</a:t>
            </a:r>
            <a:endParaRPr dirty="0">
              <a:solidFill>
                <a:schemeClr val="tx1"/>
              </a:solidFill>
            </a:endParaRPr>
          </a:p>
        </p:txBody>
      </p:sp>
      <p:sp>
        <p:nvSpPr>
          <p:cNvPr id="15" name="object 15">
            <a:extLst>
              <a:ext uri="{FF2B5EF4-FFF2-40B4-BE49-F238E27FC236}">
                <a16:creationId xmlns:a16="http://schemas.microsoft.com/office/drawing/2014/main" id="{9B98D60A-073A-0A08-5276-A16BE55A6CED}"/>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5336DE3E-98D6-4135-AC7C-315CE83EFF4A}"/>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5E33AFA0-C66D-6EEE-A973-1805E46CCF26}"/>
              </a:ext>
            </a:extLst>
          </p:cNvPr>
          <p:cNvSpPr txBox="1"/>
          <p:nvPr/>
        </p:nvSpPr>
        <p:spPr>
          <a:xfrm>
            <a:off x="304800" y="1143000"/>
            <a:ext cx="8534400" cy="4549835"/>
          </a:xfrm>
          <a:prstGeom prst="rect">
            <a:avLst/>
          </a:prstGeom>
          <a:noFill/>
        </p:spPr>
        <p:txBody>
          <a:bodyPr wrap="square">
            <a:spAutoFit/>
          </a:bodyPr>
          <a:lstStyle/>
          <a:p>
            <a:pPr>
              <a:lnSpc>
                <a:spcPct val="150000"/>
              </a:lnSpc>
              <a:buNone/>
            </a:pPr>
            <a:r>
              <a:rPr lang="en-AU" sz="2800" dirty="0">
                <a:latin typeface="+mj-lt"/>
              </a:rPr>
              <a:t>Useful commands:</a:t>
            </a:r>
          </a:p>
          <a:p>
            <a:pPr rtl="0">
              <a:lnSpc>
                <a:spcPct val="150000"/>
              </a:lnSpc>
              <a:buNone/>
            </a:pPr>
            <a:r>
              <a:rPr lang="en-AU" sz="2800" dirty="0">
                <a:highlight>
                  <a:srgbClr val="FFFF00"/>
                </a:highlight>
                <a:latin typeface="+mj-lt"/>
              </a:rPr>
              <a:t>show </a:t>
            </a:r>
            <a:r>
              <a:rPr lang="en-AU" sz="2800" dirty="0" err="1">
                <a:highlight>
                  <a:srgbClr val="FFFF00"/>
                </a:highlight>
                <a:latin typeface="+mj-lt"/>
              </a:rPr>
              <a:t>ip</a:t>
            </a:r>
            <a:r>
              <a:rPr lang="en-AU" sz="2800" dirty="0">
                <a:highlight>
                  <a:srgbClr val="FFFF00"/>
                </a:highlight>
                <a:latin typeface="+mj-lt"/>
              </a:rPr>
              <a:t> interface brief</a:t>
            </a:r>
          </a:p>
          <a:p>
            <a:pPr rtl="0">
              <a:lnSpc>
                <a:spcPct val="150000"/>
              </a:lnSpc>
              <a:buNone/>
            </a:pPr>
            <a:r>
              <a:rPr lang="en-AU" sz="2800" dirty="0">
                <a:highlight>
                  <a:srgbClr val="FFFF00"/>
                </a:highlight>
                <a:latin typeface="+mj-lt"/>
              </a:rPr>
              <a:t>show </a:t>
            </a:r>
            <a:r>
              <a:rPr lang="en-AU" sz="2800" dirty="0" err="1">
                <a:highlight>
                  <a:srgbClr val="FFFF00"/>
                </a:highlight>
                <a:latin typeface="+mj-lt"/>
              </a:rPr>
              <a:t>ip</a:t>
            </a:r>
            <a:r>
              <a:rPr lang="en-AU" sz="2800" dirty="0">
                <a:highlight>
                  <a:srgbClr val="FFFF00"/>
                </a:highlight>
                <a:latin typeface="+mj-lt"/>
              </a:rPr>
              <a:t> route</a:t>
            </a:r>
          </a:p>
          <a:p>
            <a:pPr rtl="0">
              <a:lnSpc>
                <a:spcPct val="150000"/>
              </a:lnSpc>
              <a:buNone/>
            </a:pPr>
            <a:r>
              <a:rPr lang="en-AU" sz="2800" dirty="0">
                <a:highlight>
                  <a:srgbClr val="FFFF00"/>
                </a:highlight>
                <a:latin typeface="+mj-lt"/>
              </a:rPr>
              <a:t>ping &lt;destination-IP&gt;</a:t>
            </a:r>
          </a:p>
          <a:p>
            <a:pPr rtl="0">
              <a:lnSpc>
                <a:spcPct val="150000"/>
              </a:lnSpc>
              <a:buNone/>
            </a:pPr>
            <a:r>
              <a:rPr lang="en-AU" sz="2800" dirty="0">
                <a:highlight>
                  <a:srgbClr val="FFFF00"/>
                </a:highlight>
                <a:latin typeface="+mj-lt"/>
              </a:rPr>
              <a:t>traceroute &lt;destination-IP&gt;</a:t>
            </a:r>
          </a:p>
          <a:p>
            <a:pPr rtl="0">
              <a:lnSpc>
                <a:spcPct val="150000"/>
              </a:lnSpc>
              <a:buNone/>
            </a:pPr>
            <a:r>
              <a:rPr lang="en-AU" sz="2800" dirty="0">
                <a:highlight>
                  <a:srgbClr val="FFFF00"/>
                </a:highlight>
                <a:latin typeface="+mj-lt"/>
              </a:rPr>
              <a:t>show running-config</a:t>
            </a:r>
          </a:p>
          <a:p>
            <a:pPr rtl="0">
              <a:lnSpc>
                <a:spcPct val="150000"/>
              </a:lnSpc>
              <a:buNone/>
            </a:pPr>
            <a:r>
              <a:rPr lang="en-AU" sz="2800" dirty="0">
                <a:highlight>
                  <a:srgbClr val="FFFF00"/>
                </a:highlight>
                <a:latin typeface="+mj-lt"/>
              </a:rPr>
              <a:t>copy running-config startup-config</a:t>
            </a:r>
          </a:p>
        </p:txBody>
      </p:sp>
    </p:spTree>
    <p:extLst>
      <p:ext uri="{BB962C8B-B14F-4D97-AF65-F5344CB8AC3E}">
        <p14:creationId xmlns:p14="http://schemas.microsoft.com/office/powerpoint/2010/main" val="220138040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7D261-4AAF-01B8-9B36-630DC7A18CEF}"/>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7D2C7F3E-C690-B17C-0434-DEB439F09505}"/>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Network Testing and Evidence</a:t>
            </a:r>
            <a:endParaRPr dirty="0">
              <a:solidFill>
                <a:schemeClr val="tx1"/>
              </a:solidFill>
            </a:endParaRPr>
          </a:p>
        </p:txBody>
      </p:sp>
      <p:sp>
        <p:nvSpPr>
          <p:cNvPr id="15" name="object 15">
            <a:extLst>
              <a:ext uri="{FF2B5EF4-FFF2-40B4-BE49-F238E27FC236}">
                <a16:creationId xmlns:a16="http://schemas.microsoft.com/office/drawing/2014/main" id="{1BCACD97-F8D8-680E-A1BD-EA95B6867634}"/>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4E2A84D6-DBD7-F11E-DE2D-E9E6EF44DD36}"/>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75846941-8F51-DCD3-D5F4-7092D27BE8D3}"/>
              </a:ext>
            </a:extLst>
          </p:cNvPr>
          <p:cNvSpPr txBox="1"/>
          <p:nvPr/>
        </p:nvSpPr>
        <p:spPr>
          <a:xfrm>
            <a:off x="304800" y="1143000"/>
            <a:ext cx="8534400" cy="3257174"/>
          </a:xfrm>
          <a:prstGeom prst="rect">
            <a:avLst/>
          </a:prstGeom>
          <a:noFill/>
        </p:spPr>
        <p:txBody>
          <a:bodyPr wrap="square">
            <a:spAutoFit/>
          </a:bodyPr>
          <a:lstStyle/>
          <a:p>
            <a:pPr>
              <a:lnSpc>
                <a:spcPct val="150000"/>
              </a:lnSpc>
            </a:pPr>
            <a:r>
              <a:rPr lang="en-AU" sz="2800" dirty="0">
                <a:latin typeface="+mj-lt"/>
              </a:rPr>
              <a:t>Discussion: Why should screenshots show actual command results rather than just the topology?</a:t>
            </a:r>
          </a:p>
          <a:p>
            <a:pPr>
              <a:lnSpc>
                <a:spcPct val="150000"/>
              </a:lnSpc>
            </a:pPr>
            <a:r>
              <a:rPr lang="en-AU" sz="2800" dirty="0">
                <a:latin typeface="+mj-lt"/>
              </a:rPr>
              <a:t>Answer: A topology shows the intended connections, while command outputs provide evidence that the configuration and tests were performed.</a:t>
            </a:r>
          </a:p>
        </p:txBody>
      </p:sp>
    </p:spTree>
    <p:extLst>
      <p:ext uri="{BB962C8B-B14F-4D97-AF65-F5344CB8AC3E}">
        <p14:creationId xmlns:p14="http://schemas.microsoft.com/office/powerpoint/2010/main" val="423745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3C10C-6773-6A00-9607-AF25CEA9FC3F}"/>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C9C57F9F-6E48-003A-3AA1-4C26A340889E}"/>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What to Do and What to Avoid</a:t>
            </a:r>
            <a:endParaRPr dirty="0">
              <a:solidFill>
                <a:schemeClr val="tx1"/>
              </a:solidFill>
            </a:endParaRPr>
          </a:p>
        </p:txBody>
      </p:sp>
      <p:sp>
        <p:nvSpPr>
          <p:cNvPr id="15" name="object 15">
            <a:extLst>
              <a:ext uri="{FF2B5EF4-FFF2-40B4-BE49-F238E27FC236}">
                <a16:creationId xmlns:a16="http://schemas.microsoft.com/office/drawing/2014/main" id="{141DF6D8-2D25-7FC3-4889-DB9383FD75C4}"/>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70506368-1517-64A4-2703-A787119AED41}"/>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9CE28501-C95F-3804-897E-E67749D7E51F}"/>
              </a:ext>
            </a:extLst>
          </p:cNvPr>
          <p:cNvSpPr txBox="1"/>
          <p:nvPr/>
        </p:nvSpPr>
        <p:spPr>
          <a:xfrm>
            <a:off x="0" y="783169"/>
            <a:ext cx="9144000" cy="5842497"/>
          </a:xfrm>
          <a:prstGeom prst="rect">
            <a:avLst/>
          </a:prstGeom>
          <a:noFill/>
        </p:spPr>
        <p:txBody>
          <a:bodyPr wrap="square">
            <a:spAutoFit/>
          </a:bodyPr>
          <a:lstStyle/>
          <a:p>
            <a:pPr>
              <a:lnSpc>
                <a:spcPct val="150000"/>
              </a:lnSpc>
              <a:buNone/>
            </a:pPr>
            <a:r>
              <a:rPr lang="en-AU" sz="2800" b="1" dirty="0">
                <a:latin typeface="+mj-lt"/>
              </a:rPr>
              <a:t>What to do</a:t>
            </a:r>
          </a:p>
          <a:p>
            <a:pPr marL="342900" lvl="0" indent="-342900">
              <a:lnSpc>
                <a:spcPct val="150000"/>
              </a:lnSpc>
              <a:buFont typeface="Arial" panose="020B0604020202020204" pitchFamily="34" charset="0"/>
              <a:buChar char="•"/>
            </a:pPr>
            <a:r>
              <a:rPr lang="en-AU" sz="2800" dirty="0">
                <a:latin typeface="+mj-lt"/>
              </a:rPr>
              <a:t>Read both scenarios carefully.</a:t>
            </a:r>
          </a:p>
          <a:p>
            <a:pPr marL="342900" lvl="0" indent="-342900">
              <a:lnSpc>
                <a:spcPct val="150000"/>
              </a:lnSpc>
              <a:buFont typeface="Arial" panose="020B0604020202020204" pitchFamily="34" charset="0"/>
              <a:buChar char="•"/>
            </a:pPr>
            <a:r>
              <a:rPr lang="en-AU" sz="2800" dirty="0">
                <a:latin typeface="+mj-lt"/>
              </a:rPr>
              <a:t>Keep a record of original faults.</a:t>
            </a:r>
          </a:p>
          <a:p>
            <a:pPr marL="342900" lvl="0" indent="-342900">
              <a:lnSpc>
                <a:spcPct val="150000"/>
              </a:lnSpc>
              <a:buFont typeface="Arial" panose="020B0604020202020204" pitchFamily="34" charset="0"/>
              <a:buChar char="•"/>
            </a:pPr>
            <a:r>
              <a:rPr lang="en-AU" sz="2800" dirty="0">
                <a:latin typeface="+mj-lt"/>
              </a:rPr>
              <a:t>Test one correction at a time.</a:t>
            </a:r>
          </a:p>
          <a:p>
            <a:pPr marL="342900" lvl="0" indent="-342900">
              <a:lnSpc>
                <a:spcPct val="150000"/>
              </a:lnSpc>
              <a:buFont typeface="Arial" panose="020B0604020202020204" pitchFamily="34" charset="0"/>
              <a:buChar char="•"/>
            </a:pPr>
            <a:r>
              <a:rPr lang="en-AU" sz="2800" dirty="0">
                <a:latin typeface="+mj-lt"/>
              </a:rPr>
              <a:t>Use accurate subnet masks and gateways.</a:t>
            </a:r>
          </a:p>
          <a:p>
            <a:pPr marL="342900" lvl="0" indent="-342900">
              <a:lnSpc>
                <a:spcPct val="150000"/>
              </a:lnSpc>
              <a:buFont typeface="Arial" panose="020B0604020202020204" pitchFamily="34" charset="0"/>
              <a:buChar char="•"/>
            </a:pPr>
            <a:r>
              <a:rPr lang="en-AU" sz="2800" dirty="0">
                <a:latin typeface="+mj-lt"/>
              </a:rPr>
              <a:t>Configure the required security controls.</a:t>
            </a:r>
          </a:p>
          <a:p>
            <a:pPr marL="342900" lvl="0" indent="-342900">
              <a:lnSpc>
                <a:spcPct val="150000"/>
              </a:lnSpc>
              <a:buFont typeface="Arial" panose="020B0604020202020204" pitchFamily="34" charset="0"/>
              <a:buChar char="•"/>
            </a:pPr>
            <a:r>
              <a:rPr lang="en-AU" sz="2800" dirty="0">
                <a:latin typeface="+mj-lt"/>
              </a:rPr>
              <a:t>Save configurations and Packet Tracer files.</a:t>
            </a:r>
          </a:p>
          <a:p>
            <a:pPr marL="342900" lvl="0" indent="-342900">
              <a:lnSpc>
                <a:spcPct val="150000"/>
              </a:lnSpc>
              <a:buFont typeface="Arial" panose="020B0604020202020204" pitchFamily="34" charset="0"/>
              <a:buChar char="•"/>
            </a:pPr>
            <a:r>
              <a:rPr lang="en-AU" sz="2800" dirty="0">
                <a:latin typeface="+mj-lt"/>
              </a:rPr>
              <a:t>Provide genuine screenshots and command evidence.</a:t>
            </a:r>
          </a:p>
          <a:p>
            <a:pPr marL="342900" lvl="0" indent="-342900">
              <a:lnSpc>
                <a:spcPct val="150000"/>
              </a:lnSpc>
              <a:buFont typeface="Arial" panose="020B0604020202020204" pitchFamily="34" charset="0"/>
              <a:buChar char="•"/>
            </a:pPr>
            <a:r>
              <a:rPr lang="en-AU" sz="2800" dirty="0">
                <a:latin typeface="+mj-lt"/>
              </a:rPr>
              <a:t>Explain your design decisions.</a:t>
            </a:r>
          </a:p>
        </p:txBody>
      </p:sp>
    </p:spTree>
    <p:extLst>
      <p:ext uri="{BB962C8B-B14F-4D97-AF65-F5344CB8AC3E}">
        <p14:creationId xmlns:p14="http://schemas.microsoft.com/office/powerpoint/2010/main" val="426363377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EB58B-2B05-2BAF-0749-61F69C5AD7A3}"/>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7099D4E1-FDE8-A8D7-9542-D1298EB50410}"/>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What to Do and What to Avoid</a:t>
            </a:r>
            <a:endParaRPr dirty="0">
              <a:solidFill>
                <a:schemeClr val="tx1"/>
              </a:solidFill>
            </a:endParaRPr>
          </a:p>
        </p:txBody>
      </p:sp>
      <p:sp>
        <p:nvSpPr>
          <p:cNvPr id="15" name="object 15">
            <a:extLst>
              <a:ext uri="{FF2B5EF4-FFF2-40B4-BE49-F238E27FC236}">
                <a16:creationId xmlns:a16="http://schemas.microsoft.com/office/drawing/2014/main" id="{55149DD9-2F33-EA75-EA2F-D055E5DE44B7}"/>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EBAA16D9-30B7-8326-010E-B15F874AA1CE}"/>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AAFBF9D5-55B9-C89C-AB20-38F06F359A79}"/>
              </a:ext>
            </a:extLst>
          </p:cNvPr>
          <p:cNvSpPr txBox="1"/>
          <p:nvPr/>
        </p:nvSpPr>
        <p:spPr>
          <a:xfrm>
            <a:off x="0" y="783169"/>
            <a:ext cx="9144000" cy="5842497"/>
          </a:xfrm>
          <a:prstGeom prst="rect">
            <a:avLst/>
          </a:prstGeom>
          <a:noFill/>
        </p:spPr>
        <p:txBody>
          <a:bodyPr wrap="square">
            <a:spAutoFit/>
          </a:bodyPr>
          <a:lstStyle/>
          <a:p>
            <a:pPr>
              <a:lnSpc>
                <a:spcPct val="150000"/>
              </a:lnSpc>
              <a:buNone/>
            </a:pPr>
            <a:r>
              <a:rPr lang="en-AU" sz="2800" b="1" dirty="0">
                <a:latin typeface="+mj-lt"/>
              </a:rPr>
              <a:t>What to avoid</a:t>
            </a:r>
          </a:p>
          <a:p>
            <a:pPr marL="342900" indent="-342900">
              <a:lnSpc>
                <a:spcPct val="150000"/>
              </a:lnSpc>
              <a:buFont typeface="Arial" panose="020B0604020202020204" pitchFamily="34" charset="0"/>
              <a:buChar char="•"/>
            </a:pPr>
            <a:r>
              <a:rPr lang="en-AU" sz="2800" dirty="0">
                <a:latin typeface="+mj-lt"/>
              </a:rPr>
              <a:t>Guessing fault causes without evidence.</a:t>
            </a:r>
          </a:p>
          <a:p>
            <a:pPr marL="342900" indent="-342900">
              <a:lnSpc>
                <a:spcPct val="150000"/>
              </a:lnSpc>
              <a:buFont typeface="Arial" panose="020B0604020202020204" pitchFamily="34" charset="0"/>
              <a:buChar char="•"/>
            </a:pPr>
            <a:r>
              <a:rPr lang="en-AU" sz="2800" dirty="0">
                <a:latin typeface="+mj-lt"/>
              </a:rPr>
              <a:t>Changing unrelated configurations.</a:t>
            </a:r>
          </a:p>
          <a:p>
            <a:pPr marL="342900" indent="-342900">
              <a:lnSpc>
                <a:spcPct val="150000"/>
              </a:lnSpc>
              <a:buFont typeface="Arial" panose="020B0604020202020204" pitchFamily="34" charset="0"/>
              <a:buChar char="•"/>
            </a:pPr>
            <a:r>
              <a:rPr lang="en-AU" sz="2800" dirty="0">
                <a:latin typeface="+mj-lt"/>
              </a:rPr>
              <a:t>Reusing a previous ticket's solution.</a:t>
            </a:r>
          </a:p>
          <a:p>
            <a:pPr marL="342900" indent="-342900">
              <a:lnSpc>
                <a:spcPct val="150000"/>
              </a:lnSpc>
              <a:buFont typeface="Arial" panose="020B0604020202020204" pitchFamily="34" charset="0"/>
              <a:buChar char="•"/>
            </a:pPr>
            <a:r>
              <a:rPr lang="en-AU" sz="2800" dirty="0">
                <a:latin typeface="+mj-lt"/>
              </a:rPr>
              <a:t>Assigning overlapping IP subnets.</a:t>
            </a:r>
          </a:p>
          <a:p>
            <a:pPr marL="342900" indent="-342900">
              <a:lnSpc>
                <a:spcPct val="150000"/>
              </a:lnSpc>
              <a:buFont typeface="Arial" panose="020B0604020202020204" pitchFamily="34" charset="0"/>
              <a:buChar char="•"/>
            </a:pPr>
            <a:r>
              <a:rPr lang="en-AU" sz="2800" dirty="0">
                <a:latin typeface="+mj-lt"/>
              </a:rPr>
              <a:t>Assuming an ISP connection works without testing.</a:t>
            </a:r>
          </a:p>
          <a:p>
            <a:pPr marL="342900" indent="-342900">
              <a:lnSpc>
                <a:spcPct val="150000"/>
              </a:lnSpc>
              <a:buFont typeface="Arial" panose="020B0604020202020204" pitchFamily="34" charset="0"/>
              <a:buChar char="•"/>
            </a:pPr>
            <a:r>
              <a:rPr lang="en-AU" sz="2800" dirty="0">
                <a:latin typeface="+mj-lt"/>
              </a:rPr>
              <a:t>Using Telnet as the preferred secure management method.</a:t>
            </a:r>
          </a:p>
          <a:p>
            <a:pPr marL="342900" indent="-342900">
              <a:lnSpc>
                <a:spcPct val="150000"/>
              </a:lnSpc>
              <a:buFont typeface="Arial" panose="020B0604020202020204" pitchFamily="34" charset="0"/>
              <a:buChar char="•"/>
            </a:pPr>
            <a:r>
              <a:rPr lang="en-AU" sz="2800" dirty="0">
                <a:latin typeface="+mj-lt"/>
              </a:rPr>
              <a:t>Submitting screenshots that do not match the final files.</a:t>
            </a:r>
          </a:p>
          <a:p>
            <a:pPr marL="342900" indent="-342900">
              <a:lnSpc>
                <a:spcPct val="150000"/>
              </a:lnSpc>
              <a:buFont typeface="Arial" panose="020B0604020202020204" pitchFamily="34" charset="0"/>
              <a:buChar char="•"/>
            </a:pPr>
            <a:r>
              <a:rPr lang="en-AU" sz="2800" dirty="0">
                <a:latin typeface="+mj-lt"/>
              </a:rPr>
              <a:t>Copying another student's work.</a:t>
            </a:r>
          </a:p>
        </p:txBody>
      </p:sp>
    </p:spTree>
    <p:extLst>
      <p:ext uri="{BB962C8B-B14F-4D97-AF65-F5344CB8AC3E}">
        <p14:creationId xmlns:p14="http://schemas.microsoft.com/office/powerpoint/2010/main" val="384645575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EF3CC-0559-AFF8-182C-727F01FDEA6A}"/>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7855EEF0-D727-B113-3770-421CD1496F1D}"/>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What to Do and What to Avoid</a:t>
            </a:r>
            <a:endParaRPr dirty="0">
              <a:solidFill>
                <a:schemeClr val="tx1"/>
              </a:solidFill>
            </a:endParaRPr>
          </a:p>
        </p:txBody>
      </p:sp>
      <p:sp>
        <p:nvSpPr>
          <p:cNvPr id="15" name="object 15">
            <a:extLst>
              <a:ext uri="{FF2B5EF4-FFF2-40B4-BE49-F238E27FC236}">
                <a16:creationId xmlns:a16="http://schemas.microsoft.com/office/drawing/2014/main" id="{196A224B-9F7F-4502-4060-85A71C85219F}"/>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9ADFB0B0-3409-6775-165A-398521A7FDF9}"/>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4F9A2AC8-4957-613E-D814-B7877C1429F9}"/>
              </a:ext>
            </a:extLst>
          </p:cNvPr>
          <p:cNvSpPr txBox="1"/>
          <p:nvPr/>
        </p:nvSpPr>
        <p:spPr>
          <a:xfrm>
            <a:off x="0" y="1524000"/>
            <a:ext cx="9144000" cy="3257174"/>
          </a:xfrm>
          <a:prstGeom prst="rect">
            <a:avLst/>
          </a:prstGeom>
          <a:noFill/>
        </p:spPr>
        <p:txBody>
          <a:bodyPr wrap="square">
            <a:spAutoFit/>
          </a:bodyPr>
          <a:lstStyle/>
          <a:p>
            <a:pPr>
              <a:lnSpc>
                <a:spcPct val="150000"/>
              </a:lnSpc>
              <a:buNone/>
            </a:pPr>
            <a:r>
              <a:rPr lang="en-AU" sz="2800" dirty="0">
                <a:latin typeface="+mj-lt"/>
              </a:rPr>
              <a:t>Discussion: Why should you save a copy of the original troubleshooting file?</a:t>
            </a:r>
          </a:p>
          <a:p>
            <a:pPr>
              <a:lnSpc>
                <a:spcPct val="150000"/>
              </a:lnSpc>
              <a:buNone/>
            </a:pPr>
            <a:r>
              <a:rPr lang="en-AU" sz="2800" dirty="0">
                <a:latin typeface="+mj-lt"/>
              </a:rPr>
              <a:t>Answer: It allows you to compare the original and corrected network and recover if an incorrect change causes additional problems.</a:t>
            </a:r>
          </a:p>
        </p:txBody>
      </p:sp>
    </p:spTree>
    <p:extLst>
      <p:ext uri="{BB962C8B-B14F-4D97-AF65-F5344CB8AC3E}">
        <p14:creationId xmlns:p14="http://schemas.microsoft.com/office/powerpoint/2010/main" val="321089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3FE71-15FD-B851-04BD-C738E5340C25}"/>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7F22707D-29C1-1418-AC4D-EA877BE5E1E6}"/>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Submission Checklist</a:t>
            </a:r>
            <a:endParaRPr dirty="0">
              <a:solidFill>
                <a:schemeClr val="tx1"/>
              </a:solidFill>
            </a:endParaRPr>
          </a:p>
        </p:txBody>
      </p:sp>
      <p:sp>
        <p:nvSpPr>
          <p:cNvPr id="15" name="object 15">
            <a:extLst>
              <a:ext uri="{FF2B5EF4-FFF2-40B4-BE49-F238E27FC236}">
                <a16:creationId xmlns:a16="http://schemas.microsoft.com/office/drawing/2014/main" id="{B281070C-CA10-F8E2-7233-F369AA3C30DF}"/>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3AFE080A-DD89-C33E-725F-E7151C838144}"/>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36D95725-C760-43EA-4E73-FBBC448B6D13}"/>
              </a:ext>
            </a:extLst>
          </p:cNvPr>
          <p:cNvSpPr txBox="1"/>
          <p:nvPr/>
        </p:nvSpPr>
        <p:spPr>
          <a:xfrm>
            <a:off x="0" y="914401"/>
            <a:ext cx="9144000" cy="5431743"/>
          </a:xfrm>
          <a:prstGeom prst="rect">
            <a:avLst/>
          </a:prstGeom>
          <a:noFill/>
        </p:spPr>
        <p:txBody>
          <a:bodyPr wrap="square">
            <a:spAutoFit/>
          </a:bodyPr>
          <a:lstStyle/>
          <a:p>
            <a:pPr marL="457200" indent="-457200">
              <a:lnSpc>
                <a:spcPct val="150000"/>
              </a:lnSpc>
              <a:buFont typeface="Wingdings" panose="05000000000000000000" pitchFamily="2" charset="2"/>
              <a:buChar char="q"/>
            </a:pPr>
            <a:r>
              <a:rPr lang="en-AU" sz="2600" dirty="0">
                <a:latin typeface="+mj-lt"/>
              </a:rPr>
              <a:t>Completed all four Scenario 1 tickets</a:t>
            </a:r>
          </a:p>
          <a:p>
            <a:pPr marL="457200" indent="-457200">
              <a:lnSpc>
                <a:spcPct val="150000"/>
              </a:lnSpc>
              <a:buFont typeface="Wingdings" panose="05000000000000000000" pitchFamily="2" charset="2"/>
              <a:buChar char="q"/>
            </a:pPr>
            <a:r>
              <a:rPr lang="en-AU" sz="2600" dirty="0">
                <a:latin typeface="+mj-lt"/>
              </a:rPr>
              <a:t>Answered the route and RTT questions</a:t>
            </a:r>
          </a:p>
          <a:p>
            <a:pPr marL="457200" indent="-457200">
              <a:lnSpc>
                <a:spcPct val="150000"/>
              </a:lnSpc>
              <a:buFont typeface="Wingdings" panose="05000000000000000000" pitchFamily="2" charset="2"/>
              <a:buChar char="q"/>
            </a:pPr>
            <a:r>
              <a:rPr lang="en-AU" sz="2600" dirty="0">
                <a:latin typeface="+mj-lt"/>
              </a:rPr>
              <a:t>Recorded diagnostic commands, findings and corrective commands</a:t>
            </a:r>
          </a:p>
          <a:p>
            <a:pPr marL="457200" indent="-457200">
              <a:lnSpc>
                <a:spcPct val="150000"/>
              </a:lnSpc>
              <a:buFont typeface="Wingdings" panose="05000000000000000000" pitchFamily="2" charset="2"/>
              <a:buChar char="q"/>
            </a:pPr>
            <a:r>
              <a:rPr lang="en-AU" sz="2600" dirty="0">
                <a:latin typeface="+mj-lt"/>
              </a:rPr>
              <a:t>Completed the Scenario 2 network design</a:t>
            </a:r>
          </a:p>
          <a:p>
            <a:pPr marL="457200" indent="-457200">
              <a:lnSpc>
                <a:spcPct val="150000"/>
              </a:lnSpc>
              <a:buFont typeface="Wingdings" panose="05000000000000000000" pitchFamily="2" charset="2"/>
              <a:buChar char="q"/>
            </a:pPr>
            <a:r>
              <a:rPr lang="en-AU" sz="2600" dirty="0">
                <a:latin typeface="+mj-lt"/>
              </a:rPr>
              <a:t>Included the required HR and Finance devices</a:t>
            </a:r>
          </a:p>
          <a:p>
            <a:pPr marL="457200" indent="-457200">
              <a:lnSpc>
                <a:spcPct val="150000"/>
              </a:lnSpc>
              <a:buFont typeface="Wingdings" panose="05000000000000000000" pitchFamily="2" charset="2"/>
              <a:buChar char="q"/>
            </a:pPr>
            <a:r>
              <a:rPr lang="en-AU" sz="2600" dirty="0">
                <a:latin typeface="+mj-lt"/>
              </a:rPr>
              <a:t>Checked subnet masks, IP addresses and gateways</a:t>
            </a:r>
          </a:p>
          <a:p>
            <a:pPr marL="457200" indent="-457200">
              <a:lnSpc>
                <a:spcPct val="150000"/>
              </a:lnSpc>
              <a:buFont typeface="Wingdings" panose="05000000000000000000" pitchFamily="2" charset="2"/>
              <a:buChar char="q"/>
            </a:pPr>
            <a:r>
              <a:rPr lang="en-AU" sz="2600" dirty="0">
                <a:latin typeface="+mj-lt"/>
              </a:rPr>
              <a:t>Configured and tested the required routing and remote-access services</a:t>
            </a:r>
          </a:p>
        </p:txBody>
      </p:sp>
    </p:spTree>
    <p:extLst>
      <p:ext uri="{BB962C8B-B14F-4D97-AF65-F5344CB8AC3E}">
        <p14:creationId xmlns:p14="http://schemas.microsoft.com/office/powerpoint/2010/main" val="104013056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00C0B-9DBF-74FE-5B03-831061B8EE30}"/>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D2ED3252-2A79-6256-1337-B0BAE04874CF}"/>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Submission Checklist</a:t>
            </a:r>
            <a:endParaRPr dirty="0">
              <a:solidFill>
                <a:schemeClr val="tx1"/>
              </a:solidFill>
            </a:endParaRPr>
          </a:p>
        </p:txBody>
      </p:sp>
      <p:sp>
        <p:nvSpPr>
          <p:cNvPr id="15" name="object 15">
            <a:extLst>
              <a:ext uri="{FF2B5EF4-FFF2-40B4-BE49-F238E27FC236}">
                <a16:creationId xmlns:a16="http://schemas.microsoft.com/office/drawing/2014/main" id="{3297A51D-8C00-B676-5AEC-DD879049BF70}"/>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B04B66FC-FB54-CE5F-604D-46FE368B5765}"/>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273361D2-4062-DF1A-3561-64FA1C8F9A8B}"/>
              </a:ext>
            </a:extLst>
          </p:cNvPr>
          <p:cNvSpPr txBox="1"/>
          <p:nvPr/>
        </p:nvSpPr>
        <p:spPr>
          <a:xfrm>
            <a:off x="0" y="685800"/>
            <a:ext cx="9144000" cy="5803512"/>
          </a:xfrm>
          <a:prstGeom prst="rect">
            <a:avLst/>
          </a:prstGeom>
          <a:noFill/>
        </p:spPr>
        <p:txBody>
          <a:bodyPr wrap="square">
            <a:spAutoFit/>
          </a:bodyPr>
          <a:lstStyle/>
          <a:p>
            <a:pPr marL="457200" indent="-457200">
              <a:lnSpc>
                <a:spcPct val="150000"/>
              </a:lnSpc>
              <a:buFont typeface="Wingdings" panose="05000000000000000000" pitchFamily="2" charset="2"/>
              <a:buChar char="q"/>
            </a:pPr>
            <a:r>
              <a:rPr lang="en-AU" sz="2500" dirty="0">
                <a:latin typeface="+mj-lt"/>
              </a:rPr>
              <a:t>Renamed one router with my first name, one with my last name and one switch with my student ID</a:t>
            </a:r>
          </a:p>
          <a:p>
            <a:pPr marL="457200" indent="-457200">
              <a:lnSpc>
                <a:spcPct val="150000"/>
              </a:lnSpc>
              <a:buFont typeface="Wingdings" panose="05000000000000000000" pitchFamily="2" charset="2"/>
              <a:buChar char="q"/>
            </a:pPr>
            <a:r>
              <a:rPr lang="en-AU" sz="2500" dirty="0">
                <a:latin typeface="+mj-lt"/>
              </a:rPr>
              <a:t>Saved and reopened both Packet Tracer files</a:t>
            </a:r>
          </a:p>
          <a:p>
            <a:pPr marL="457200" indent="-457200">
              <a:lnSpc>
                <a:spcPct val="150000"/>
              </a:lnSpc>
              <a:buFont typeface="Wingdings" panose="05000000000000000000" pitchFamily="2" charset="2"/>
              <a:buChar char="q"/>
            </a:pPr>
            <a:r>
              <a:rPr lang="en-AU" sz="2500" dirty="0">
                <a:latin typeface="+mj-lt"/>
              </a:rPr>
              <a:t>Prepared the technical report with screenshots and command evidence</a:t>
            </a:r>
          </a:p>
          <a:p>
            <a:pPr marL="457200" indent="-457200">
              <a:lnSpc>
                <a:spcPct val="150000"/>
              </a:lnSpc>
              <a:buFont typeface="Wingdings" panose="05000000000000000000" pitchFamily="2" charset="2"/>
              <a:buChar char="q"/>
            </a:pPr>
            <a:r>
              <a:rPr lang="en-AU" sz="2500" dirty="0">
                <a:latin typeface="+mj-lt"/>
              </a:rPr>
              <a:t>Explained design decisions, security, scalability and sustainability</a:t>
            </a:r>
          </a:p>
          <a:p>
            <a:pPr marL="457200" indent="-457200">
              <a:lnSpc>
                <a:spcPct val="150000"/>
              </a:lnSpc>
              <a:buFont typeface="Wingdings" panose="05000000000000000000" pitchFamily="2" charset="2"/>
              <a:buChar char="q"/>
            </a:pPr>
            <a:r>
              <a:rPr lang="en-AU" sz="2500" dirty="0">
                <a:latin typeface="+mj-lt"/>
              </a:rPr>
              <a:t>Prepared the required seven-minute presentation with face overlay</a:t>
            </a:r>
          </a:p>
          <a:p>
            <a:pPr marL="457200" indent="-457200">
              <a:lnSpc>
                <a:spcPct val="150000"/>
              </a:lnSpc>
              <a:buFont typeface="Wingdings" panose="05000000000000000000" pitchFamily="2" charset="2"/>
              <a:buChar char="q"/>
            </a:pPr>
            <a:r>
              <a:rPr lang="en-AU" sz="2500" dirty="0">
                <a:latin typeface="+mj-lt"/>
              </a:rPr>
              <a:t>Checked the online viva arrangements</a:t>
            </a:r>
          </a:p>
          <a:p>
            <a:pPr marL="457200" indent="-457200">
              <a:lnSpc>
                <a:spcPct val="150000"/>
              </a:lnSpc>
              <a:buFont typeface="Wingdings" panose="05000000000000000000" pitchFamily="2" charset="2"/>
              <a:buChar char="q"/>
            </a:pPr>
            <a:r>
              <a:rPr lang="en-AU" sz="2500" dirty="0">
                <a:latin typeface="+mj-lt"/>
              </a:rPr>
              <a:t>Reviewed the Canvas rubric and submission deadline</a:t>
            </a:r>
          </a:p>
        </p:txBody>
      </p:sp>
    </p:spTree>
    <p:extLst>
      <p:ext uri="{BB962C8B-B14F-4D97-AF65-F5344CB8AC3E}">
        <p14:creationId xmlns:p14="http://schemas.microsoft.com/office/powerpoint/2010/main" val="393287660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58164-0E65-4E0A-DC9B-A5F75F97C490}"/>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A3D03A88-DCBE-6C93-68E6-C341D5B196FB}"/>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Submission Checklist</a:t>
            </a:r>
            <a:endParaRPr dirty="0">
              <a:solidFill>
                <a:schemeClr val="tx1"/>
              </a:solidFill>
            </a:endParaRPr>
          </a:p>
        </p:txBody>
      </p:sp>
      <p:sp>
        <p:nvSpPr>
          <p:cNvPr id="15" name="object 15">
            <a:extLst>
              <a:ext uri="{FF2B5EF4-FFF2-40B4-BE49-F238E27FC236}">
                <a16:creationId xmlns:a16="http://schemas.microsoft.com/office/drawing/2014/main" id="{64D96068-84D6-1FAE-7B65-AFB14512138C}"/>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255E40CC-FAAB-161C-C1F4-42F2970A5375}"/>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94BF0914-D429-8256-BA6F-A1EFA94D79C9}"/>
              </a:ext>
            </a:extLst>
          </p:cNvPr>
          <p:cNvSpPr txBox="1"/>
          <p:nvPr/>
        </p:nvSpPr>
        <p:spPr>
          <a:xfrm>
            <a:off x="0" y="1914110"/>
            <a:ext cx="9144000" cy="1964512"/>
          </a:xfrm>
          <a:prstGeom prst="rect">
            <a:avLst/>
          </a:prstGeom>
          <a:noFill/>
        </p:spPr>
        <p:txBody>
          <a:bodyPr wrap="square">
            <a:spAutoFit/>
          </a:bodyPr>
          <a:lstStyle/>
          <a:p>
            <a:pPr>
              <a:lnSpc>
                <a:spcPct val="150000"/>
              </a:lnSpc>
            </a:pPr>
            <a:r>
              <a:rPr lang="en-AU" sz="2800" dirty="0">
                <a:latin typeface="+mj-lt"/>
              </a:rPr>
              <a:t>Submission reminder: Based on the A3 guide, the required artefacts include the two .pkt files, technical report PDF, configuration evidence and presentation.</a:t>
            </a:r>
            <a:endParaRPr lang="en-AU" sz="2500" dirty="0">
              <a:latin typeface="+mj-lt"/>
            </a:endParaRPr>
          </a:p>
        </p:txBody>
      </p:sp>
    </p:spTree>
    <p:extLst>
      <p:ext uri="{BB962C8B-B14F-4D97-AF65-F5344CB8AC3E}">
        <p14:creationId xmlns:p14="http://schemas.microsoft.com/office/powerpoint/2010/main" val="52916515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D11D8-19C5-9C73-DB56-38596E555FFB}"/>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C7464433-9BA5-EC43-ADAD-8F1C52CD0D4B}"/>
              </a:ext>
            </a:extLst>
          </p:cNvPr>
          <p:cNvSpPr txBox="1">
            <a:spLocks noGrp="1"/>
          </p:cNvSpPr>
          <p:nvPr>
            <p:ph type="ctrTitle"/>
          </p:nvPr>
        </p:nvSpPr>
        <p:spPr>
          <a:xfrm>
            <a:off x="263448" y="62483"/>
            <a:ext cx="7356552" cy="905376"/>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Final Revision: Think Like a Network Engineer</a:t>
            </a:r>
            <a:endParaRPr dirty="0">
              <a:solidFill>
                <a:schemeClr val="tx1"/>
              </a:solidFill>
            </a:endParaRPr>
          </a:p>
        </p:txBody>
      </p:sp>
      <p:sp>
        <p:nvSpPr>
          <p:cNvPr id="15" name="object 15">
            <a:extLst>
              <a:ext uri="{FF2B5EF4-FFF2-40B4-BE49-F238E27FC236}">
                <a16:creationId xmlns:a16="http://schemas.microsoft.com/office/drawing/2014/main" id="{69B82441-EBFD-4E97-2785-9C0F2EF00969}"/>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427A2C77-C1E0-19DB-F931-BAC68E36EDE8}"/>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FD4050AE-AF72-B7C8-7F69-D5F58026CC83}"/>
              </a:ext>
            </a:extLst>
          </p:cNvPr>
          <p:cNvSpPr txBox="1"/>
          <p:nvPr/>
        </p:nvSpPr>
        <p:spPr>
          <a:xfrm>
            <a:off x="0" y="1066800"/>
            <a:ext cx="9144000" cy="5842497"/>
          </a:xfrm>
          <a:prstGeom prst="rect">
            <a:avLst/>
          </a:prstGeom>
          <a:noFill/>
        </p:spPr>
        <p:txBody>
          <a:bodyPr wrap="square">
            <a:spAutoFit/>
          </a:bodyPr>
          <a:lstStyle/>
          <a:p>
            <a:pPr>
              <a:lnSpc>
                <a:spcPct val="150000"/>
              </a:lnSpc>
              <a:buNone/>
            </a:pPr>
            <a:r>
              <a:rPr lang="en-AU" sz="2800" dirty="0">
                <a:latin typeface="+mj-lt"/>
              </a:rPr>
              <a:t>Before your viva, be ready to answer:</a:t>
            </a:r>
          </a:p>
          <a:p>
            <a:pPr marL="342900" lvl="0" indent="-342900">
              <a:lnSpc>
                <a:spcPct val="150000"/>
              </a:lnSpc>
              <a:buFont typeface="Arial" panose="020B0604020202020204" pitchFamily="34" charset="0"/>
              <a:buChar char="•"/>
            </a:pPr>
            <a:r>
              <a:rPr lang="en-AU" sz="2800" dirty="0">
                <a:latin typeface="+mj-lt"/>
              </a:rPr>
              <a:t>What problem did you identify?</a:t>
            </a:r>
          </a:p>
          <a:p>
            <a:pPr marL="342900" lvl="0" indent="-342900">
              <a:lnSpc>
                <a:spcPct val="150000"/>
              </a:lnSpc>
              <a:buFont typeface="Arial" panose="020B0604020202020204" pitchFamily="34" charset="0"/>
              <a:buChar char="•"/>
            </a:pPr>
            <a:r>
              <a:rPr lang="en-AU" sz="2800" dirty="0">
                <a:latin typeface="+mj-lt"/>
              </a:rPr>
              <a:t>Which command helped you find it?</a:t>
            </a:r>
          </a:p>
          <a:p>
            <a:pPr marL="342900" lvl="0" indent="-342900">
              <a:lnSpc>
                <a:spcPct val="150000"/>
              </a:lnSpc>
              <a:buFont typeface="Arial" panose="020B0604020202020204" pitchFamily="34" charset="0"/>
              <a:buChar char="•"/>
            </a:pPr>
            <a:r>
              <a:rPr lang="en-AU" sz="2800" dirty="0">
                <a:latin typeface="+mj-lt"/>
              </a:rPr>
              <a:t>Why did you select that command?</a:t>
            </a:r>
          </a:p>
          <a:p>
            <a:pPr marL="342900" lvl="0" indent="-342900">
              <a:lnSpc>
                <a:spcPct val="150000"/>
              </a:lnSpc>
              <a:buFont typeface="Arial" panose="020B0604020202020204" pitchFamily="34" charset="0"/>
              <a:buChar char="•"/>
            </a:pPr>
            <a:r>
              <a:rPr lang="en-AU" sz="2800" dirty="0">
                <a:latin typeface="+mj-lt"/>
              </a:rPr>
              <a:t>What did you change?</a:t>
            </a:r>
          </a:p>
          <a:p>
            <a:pPr marL="342900" lvl="0" indent="-342900">
              <a:lnSpc>
                <a:spcPct val="150000"/>
              </a:lnSpc>
              <a:buFont typeface="Arial" panose="020B0604020202020204" pitchFamily="34" charset="0"/>
              <a:buChar char="•"/>
            </a:pPr>
            <a:r>
              <a:rPr lang="en-AU" sz="2800" dirty="0">
                <a:latin typeface="+mj-lt"/>
              </a:rPr>
              <a:t>How did you verify the correction?</a:t>
            </a:r>
          </a:p>
          <a:p>
            <a:pPr marL="342900" lvl="0" indent="-342900">
              <a:lnSpc>
                <a:spcPct val="150000"/>
              </a:lnSpc>
              <a:buFont typeface="Arial" panose="020B0604020202020204" pitchFamily="34" charset="0"/>
              <a:buChar char="•"/>
            </a:pPr>
            <a:r>
              <a:rPr lang="en-AU" sz="2800" dirty="0">
                <a:latin typeface="+mj-lt"/>
              </a:rPr>
              <a:t>Why did you select your network design?</a:t>
            </a:r>
          </a:p>
          <a:p>
            <a:pPr marL="342900" lvl="0" indent="-342900">
              <a:lnSpc>
                <a:spcPct val="150000"/>
              </a:lnSpc>
              <a:buFont typeface="Arial" panose="020B0604020202020204" pitchFamily="34" charset="0"/>
              <a:buChar char="•"/>
            </a:pPr>
            <a:r>
              <a:rPr lang="en-AU" sz="2800" dirty="0">
                <a:latin typeface="+mj-lt"/>
              </a:rPr>
              <a:t>How did you improve security and scalability?</a:t>
            </a:r>
          </a:p>
          <a:p>
            <a:pPr marL="342900" lvl="0" indent="-342900">
              <a:lnSpc>
                <a:spcPct val="150000"/>
              </a:lnSpc>
              <a:buFont typeface="Arial" panose="020B0604020202020204" pitchFamily="34" charset="0"/>
              <a:buChar char="•"/>
            </a:pPr>
            <a:r>
              <a:rPr lang="en-AU" sz="2800" dirty="0">
                <a:latin typeface="+mj-lt"/>
              </a:rPr>
              <a:t>What would you do differently in a real workplace?</a:t>
            </a:r>
          </a:p>
        </p:txBody>
      </p:sp>
    </p:spTree>
    <p:extLst>
      <p:ext uri="{BB962C8B-B14F-4D97-AF65-F5344CB8AC3E}">
        <p14:creationId xmlns:p14="http://schemas.microsoft.com/office/powerpoint/2010/main" val="292173404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324E6-7E27-AACF-9643-25798BC0FC45}"/>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965E609F-25A7-76F1-FA56-95C93EBC9DD0}"/>
              </a:ext>
            </a:extLst>
          </p:cNvPr>
          <p:cNvSpPr txBox="1">
            <a:spLocks noGrp="1"/>
          </p:cNvSpPr>
          <p:nvPr>
            <p:ph type="ctrTitle"/>
          </p:nvPr>
        </p:nvSpPr>
        <p:spPr>
          <a:xfrm>
            <a:off x="263448" y="62483"/>
            <a:ext cx="7356552" cy="905376"/>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Final Revision: Think Like a Network Engineer</a:t>
            </a:r>
            <a:endParaRPr dirty="0">
              <a:solidFill>
                <a:schemeClr val="tx1"/>
              </a:solidFill>
            </a:endParaRPr>
          </a:p>
        </p:txBody>
      </p:sp>
      <p:sp>
        <p:nvSpPr>
          <p:cNvPr id="15" name="object 15">
            <a:extLst>
              <a:ext uri="{FF2B5EF4-FFF2-40B4-BE49-F238E27FC236}">
                <a16:creationId xmlns:a16="http://schemas.microsoft.com/office/drawing/2014/main" id="{B900C0A0-7E77-9EBE-F4B3-6A5075BDA305}"/>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FCCA09FF-72F2-71B8-BEF5-66571E45AA2B}"/>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234BB6B1-6855-A980-6934-9D8F722C6FE0}"/>
              </a:ext>
            </a:extLst>
          </p:cNvPr>
          <p:cNvSpPr txBox="1"/>
          <p:nvPr/>
        </p:nvSpPr>
        <p:spPr>
          <a:xfrm>
            <a:off x="0" y="1219201"/>
            <a:ext cx="9144000" cy="3257174"/>
          </a:xfrm>
          <a:prstGeom prst="rect">
            <a:avLst/>
          </a:prstGeom>
          <a:noFill/>
        </p:spPr>
        <p:txBody>
          <a:bodyPr wrap="square">
            <a:spAutoFit/>
          </a:bodyPr>
          <a:lstStyle/>
          <a:p>
            <a:pPr>
              <a:lnSpc>
                <a:spcPct val="150000"/>
              </a:lnSpc>
              <a:buNone/>
            </a:pPr>
            <a:r>
              <a:rPr lang="en-AU" sz="2800" dirty="0">
                <a:latin typeface="+mj-lt"/>
              </a:rPr>
              <a:t>Discussion: What is the difference between memorising Cisco commands and understanding networking?</a:t>
            </a:r>
          </a:p>
          <a:p>
            <a:pPr>
              <a:lnSpc>
                <a:spcPct val="150000"/>
              </a:lnSpc>
              <a:buNone/>
            </a:pPr>
            <a:r>
              <a:rPr lang="en-AU" sz="2800" dirty="0">
                <a:latin typeface="+mj-lt"/>
              </a:rPr>
              <a:t>Answer: Memorising helps you recall commands. Understanding helps you select the right command, interpret the result, identify the problem and explain the solution.</a:t>
            </a:r>
          </a:p>
        </p:txBody>
      </p:sp>
    </p:spTree>
    <p:extLst>
      <p:ext uri="{BB962C8B-B14F-4D97-AF65-F5344CB8AC3E}">
        <p14:creationId xmlns:p14="http://schemas.microsoft.com/office/powerpoint/2010/main" val="126803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04397-6824-BE29-F6ED-F93F5B338712}"/>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BC8BBE07-1C89-DBAA-E8A7-C6C9A1CEE2F1}"/>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Additional Notes about Assessment 3</a:t>
            </a:r>
            <a:endParaRPr dirty="0">
              <a:solidFill>
                <a:schemeClr val="tx1"/>
              </a:solidFill>
            </a:endParaRPr>
          </a:p>
        </p:txBody>
      </p:sp>
      <p:sp>
        <p:nvSpPr>
          <p:cNvPr id="15" name="object 15">
            <a:extLst>
              <a:ext uri="{FF2B5EF4-FFF2-40B4-BE49-F238E27FC236}">
                <a16:creationId xmlns:a16="http://schemas.microsoft.com/office/drawing/2014/main" id="{046EA97D-61C0-C861-9C72-497D11885103}"/>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EE38D2CE-76DF-A85A-5CEB-BF0C9B8B2B2C}"/>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013C58D4-4C65-68C8-5697-8E570CDA6B42}"/>
              </a:ext>
            </a:extLst>
          </p:cNvPr>
          <p:cNvSpPr txBox="1"/>
          <p:nvPr/>
        </p:nvSpPr>
        <p:spPr>
          <a:xfrm>
            <a:off x="0" y="1219201"/>
            <a:ext cx="9144000" cy="5196166"/>
          </a:xfrm>
          <a:prstGeom prst="rect">
            <a:avLst/>
          </a:prstGeom>
          <a:noFill/>
        </p:spPr>
        <p:txBody>
          <a:bodyPr wrap="square">
            <a:spAutoFit/>
          </a:bodyPr>
          <a:lstStyle/>
          <a:p>
            <a:pPr>
              <a:lnSpc>
                <a:spcPct val="150000"/>
              </a:lnSpc>
              <a:buNone/>
            </a:pPr>
            <a:r>
              <a:rPr lang="en-AU" sz="2800" dirty="0">
                <a:latin typeface="+mj-lt"/>
              </a:rPr>
              <a:t>Students must submit the following:</a:t>
            </a:r>
          </a:p>
          <a:p>
            <a:pPr marL="342900" lvl="0" indent="-342900">
              <a:lnSpc>
                <a:spcPct val="150000"/>
              </a:lnSpc>
              <a:buFont typeface="+mj-lt"/>
              <a:buAutoNum type="arabicPeriod"/>
            </a:pPr>
            <a:r>
              <a:rPr lang="en-AU" sz="2800" dirty="0">
                <a:latin typeface="+mj-lt"/>
              </a:rPr>
              <a:t>Scenario 1 – Completed Cisco Packet Tracer .pkt file.</a:t>
            </a:r>
          </a:p>
          <a:p>
            <a:pPr marL="342900" lvl="0" indent="-342900">
              <a:lnSpc>
                <a:spcPct val="150000"/>
              </a:lnSpc>
              <a:buFont typeface="+mj-lt"/>
              <a:buAutoNum type="arabicPeriod"/>
            </a:pPr>
            <a:r>
              <a:rPr lang="en-AU" sz="2800" dirty="0">
                <a:latin typeface="+mj-lt"/>
              </a:rPr>
              <a:t>Scenario 2 – Completed Cisco Packet Tracer .pkt file.</a:t>
            </a:r>
          </a:p>
          <a:p>
            <a:pPr marL="342900" lvl="0" indent="-342900">
              <a:lnSpc>
                <a:spcPct val="150000"/>
              </a:lnSpc>
              <a:buFont typeface="+mj-lt"/>
              <a:buAutoNum type="arabicPeriod"/>
            </a:pPr>
            <a:r>
              <a:rPr lang="en-AU" sz="2800" dirty="0">
                <a:latin typeface="+mj-lt"/>
              </a:rPr>
              <a:t>Technical Design and Troubleshooting Report in PDF format.</a:t>
            </a:r>
          </a:p>
          <a:p>
            <a:pPr marL="342900" lvl="0" indent="-342900">
              <a:lnSpc>
                <a:spcPct val="150000"/>
              </a:lnSpc>
              <a:buFont typeface="+mj-lt"/>
              <a:buAutoNum type="arabicPeriod"/>
            </a:pPr>
            <a:r>
              <a:rPr lang="en-AU" sz="2800" dirty="0">
                <a:latin typeface="+mj-lt"/>
              </a:rPr>
              <a:t>Seven-minute recorded presentation with face overlay, or attend the scheduled live presentation as instructed.</a:t>
            </a:r>
          </a:p>
          <a:p>
            <a:pPr marL="342900" lvl="0" indent="-342900">
              <a:lnSpc>
                <a:spcPct val="150000"/>
              </a:lnSpc>
              <a:buFont typeface="+mj-lt"/>
              <a:buAutoNum type="arabicPeriod"/>
            </a:pPr>
            <a:r>
              <a:rPr lang="en-AU" sz="2800" dirty="0">
                <a:latin typeface="+mj-lt"/>
              </a:rPr>
              <a:t>Attend the compulsory online viva at the allocated time.</a:t>
            </a:r>
          </a:p>
        </p:txBody>
      </p:sp>
    </p:spTree>
    <p:extLst>
      <p:ext uri="{BB962C8B-B14F-4D97-AF65-F5344CB8AC3E}">
        <p14:creationId xmlns:p14="http://schemas.microsoft.com/office/powerpoint/2010/main" val="188480503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A01B4-A1F8-2A46-E483-61DA2F07EBF5}"/>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D7420BB5-2909-2B5A-DA5D-4D2BD6FF06AD}"/>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Additional Notes about Assessment 3</a:t>
            </a:r>
            <a:endParaRPr dirty="0">
              <a:solidFill>
                <a:schemeClr val="tx1"/>
              </a:solidFill>
            </a:endParaRPr>
          </a:p>
        </p:txBody>
      </p:sp>
      <p:sp>
        <p:nvSpPr>
          <p:cNvPr id="15" name="object 15">
            <a:extLst>
              <a:ext uri="{FF2B5EF4-FFF2-40B4-BE49-F238E27FC236}">
                <a16:creationId xmlns:a16="http://schemas.microsoft.com/office/drawing/2014/main" id="{C573DA71-27D9-44EA-66AD-F6FBC72A32BE}"/>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F3F87BB8-4C90-A57F-4C13-0F3D72E51195}"/>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84DC36C1-F9AA-2265-0E61-3F4DA70E52BB}"/>
              </a:ext>
            </a:extLst>
          </p:cNvPr>
          <p:cNvSpPr txBox="1"/>
          <p:nvPr/>
        </p:nvSpPr>
        <p:spPr>
          <a:xfrm>
            <a:off x="0" y="1066800"/>
            <a:ext cx="9144000" cy="3903504"/>
          </a:xfrm>
          <a:prstGeom prst="rect">
            <a:avLst/>
          </a:prstGeom>
          <a:noFill/>
        </p:spPr>
        <p:txBody>
          <a:bodyPr wrap="square">
            <a:spAutoFit/>
          </a:bodyPr>
          <a:lstStyle/>
          <a:p>
            <a:pPr>
              <a:lnSpc>
                <a:spcPct val="150000"/>
              </a:lnSpc>
              <a:buNone/>
            </a:pPr>
            <a:r>
              <a:rPr lang="en-AU" sz="2800" dirty="0">
                <a:latin typeface="+mj-lt"/>
              </a:rPr>
              <a:t>Important reminders:</a:t>
            </a:r>
          </a:p>
          <a:p>
            <a:pPr marL="342900" lvl="0" indent="-342900">
              <a:lnSpc>
                <a:spcPct val="150000"/>
              </a:lnSpc>
              <a:buFont typeface="Arial" panose="020B0604020202020204" pitchFamily="34" charset="0"/>
              <a:buChar char="•"/>
            </a:pPr>
            <a:r>
              <a:rPr lang="en-AU" sz="2800" dirty="0">
                <a:latin typeface="+mj-lt"/>
              </a:rPr>
              <a:t>Submit files individually through Canvas.</a:t>
            </a:r>
          </a:p>
          <a:p>
            <a:pPr marL="342900" lvl="0" indent="-342900">
              <a:lnSpc>
                <a:spcPct val="150000"/>
              </a:lnSpc>
              <a:buFont typeface="Arial" panose="020B0604020202020204" pitchFamily="34" charset="0"/>
              <a:buChar char="•"/>
            </a:pPr>
            <a:r>
              <a:rPr lang="en-AU" sz="2800" dirty="0">
                <a:latin typeface="+mj-lt"/>
              </a:rPr>
              <a:t>Do not submit ZIP or RAR files unless specifically instructed.</a:t>
            </a:r>
          </a:p>
          <a:p>
            <a:pPr marL="342900" lvl="0" indent="-342900">
              <a:lnSpc>
                <a:spcPct val="150000"/>
              </a:lnSpc>
              <a:buFont typeface="Arial" panose="020B0604020202020204" pitchFamily="34" charset="0"/>
              <a:buChar char="•"/>
            </a:pPr>
            <a:r>
              <a:rPr lang="en-AU" sz="2800" dirty="0">
                <a:latin typeface="+mj-lt"/>
              </a:rPr>
              <a:t>Ensure both Packet Tracer files open correctly.</a:t>
            </a:r>
          </a:p>
          <a:p>
            <a:pPr marL="342900" lvl="0" indent="-342900">
              <a:lnSpc>
                <a:spcPct val="150000"/>
              </a:lnSpc>
              <a:buFont typeface="Arial" panose="020B0604020202020204" pitchFamily="34" charset="0"/>
              <a:buChar char="•"/>
            </a:pPr>
            <a:r>
              <a:rPr lang="en-AU" sz="2800" dirty="0">
                <a:latin typeface="+mj-lt"/>
              </a:rPr>
              <a:t>Check that the report and presentation match the final configurations.</a:t>
            </a:r>
          </a:p>
        </p:txBody>
      </p:sp>
    </p:spTree>
    <p:extLst>
      <p:ext uri="{BB962C8B-B14F-4D97-AF65-F5344CB8AC3E}">
        <p14:creationId xmlns:p14="http://schemas.microsoft.com/office/powerpoint/2010/main" val="425254741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0ABD8-BD04-F861-789C-FEF2AE4857C1}"/>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1FDAE459-89C1-BF6C-64F3-7510DDE0F2DF}"/>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Additional Notes about Assessment 3</a:t>
            </a:r>
            <a:endParaRPr dirty="0">
              <a:solidFill>
                <a:schemeClr val="tx1"/>
              </a:solidFill>
            </a:endParaRPr>
          </a:p>
        </p:txBody>
      </p:sp>
      <p:sp>
        <p:nvSpPr>
          <p:cNvPr id="15" name="object 15">
            <a:extLst>
              <a:ext uri="{FF2B5EF4-FFF2-40B4-BE49-F238E27FC236}">
                <a16:creationId xmlns:a16="http://schemas.microsoft.com/office/drawing/2014/main" id="{8F321FC3-3BD8-9C4C-C67A-C29D81E7AE48}"/>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DFA4266E-7381-A3AB-6019-BA9133BD4297}"/>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A17D5C61-3CF2-D42F-012E-661D2B6521FB}"/>
              </a:ext>
            </a:extLst>
          </p:cNvPr>
          <p:cNvSpPr txBox="1"/>
          <p:nvPr/>
        </p:nvSpPr>
        <p:spPr>
          <a:xfrm>
            <a:off x="0" y="1066800"/>
            <a:ext cx="9144000" cy="1964512"/>
          </a:xfrm>
          <a:prstGeom prst="rect">
            <a:avLst/>
          </a:prstGeom>
          <a:noFill/>
        </p:spPr>
        <p:txBody>
          <a:bodyPr wrap="square">
            <a:spAutoFit/>
          </a:bodyPr>
          <a:lstStyle/>
          <a:p>
            <a:pPr>
              <a:lnSpc>
                <a:spcPct val="150000"/>
              </a:lnSpc>
            </a:pPr>
            <a:r>
              <a:rPr lang="en-AU" sz="2800" dirty="0">
                <a:latin typeface="+mj-lt"/>
              </a:rPr>
              <a:t>Discussion question: Can students submit only the PDF report and screenshots without their Packet Tracer files?</a:t>
            </a:r>
          </a:p>
          <a:p>
            <a:pPr>
              <a:lnSpc>
                <a:spcPct val="150000"/>
              </a:lnSpc>
            </a:pPr>
            <a:r>
              <a:rPr lang="en-AU" sz="2800" dirty="0">
                <a:latin typeface="+mj-lt"/>
              </a:rPr>
              <a:t>Answer: No. Both completed .pkt files are compulsory.</a:t>
            </a:r>
          </a:p>
        </p:txBody>
      </p:sp>
    </p:spTree>
    <p:extLst>
      <p:ext uri="{BB962C8B-B14F-4D97-AF65-F5344CB8AC3E}">
        <p14:creationId xmlns:p14="http://schemas.microsoft.com/office/powerpoint/2010/main" val="2723134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084D4-C434-3860-0740-CAA773BB4CF2}"/>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D570F973-9959-F7CB-5C60-38DC10FE53E6}"/>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Additional Notes about Assessment 3</a:t>
            </a:r>
            <a:endParaRPr dirty="0">
              <a:solidFill>
                <a:schemeClr val="tx1"/>
              </a:solidFill>
            </a:endParaRPr>
          </a:p>
        </p:txBody>
      </p:sp>
      <p:sp>
        <p:nvSpPr>
          <p:cNvPr id="15" name="object 15">
            <a:extLst>
              <a:ext uri="{FF2B5EF4-FFF2-40B4-BE49-F238E27FC236}">
                <a16:creationId xmlns:a16="http://schemas.microsoft.com/office/drawing/2014/main" id="{254ACE4A-D21A-2C5C-AD72-217F2F0D3311}"/>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36383108-447F-7F08-2045-583596332DAE}"/>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AE2C8D5A-494A-01AE-AEFF-61273FA9E0A8}"/>
              </a:ext>
            </a:extLst>
          </p:cNvPr>
          <p:cNvSpPr txBox="1"/>
          <p:nvPr/>
        </p:nvSpPr>
        <p:spPr>
          <a:xfrm>
            <a:off x="0" y="762000"/>
            <a:ext cx="9144000" cy="5626027"/>
          </a:xfrm>
          <a:prstGeom prst="rect">
            <a:avLst/>
          </a:prstGeom>
          <a:noFill/>
        </p:spPr>
        <p:txBody>
          <a:bodyPr wrap="square">
            <a:spAutoFit/>
          </a:bodyPr>
          <a:lstStyle/>
          <a:p>
            <a:pPr>
              <a:lnSpc>
                <a:spcPct val="150000"/>
              </a:lnSpc>
              <a:buNone/>
            </a:pPr>
            <a:r>
              <a:rPr lang="en-AU" sz="2200" b="1" dirty="0">
                <a:latin typeface="+mj-lt"/>
              </a:rPr>
              <a:t>How to Prepare Your Technical Report</a:t>
            </a:r>
          </a:p>
          <a:p>
            <a:pPr>
              <a:lnSpc>
                <a:spcPct val="150000"/>
              </a:lnSpc>
              <a:buNone/>
            </a:pPr>
            <a:r>
              <a:rPr lang="en-AU" sz="2200" dirty="0">
                <a:latin typeface="+mj-lt"/>
              </a:rPr>
              <a:t>Recommended report structure:</a:t>
            </a:r>
          </a:p>
          <a:p>
            <a:pPr marL="342900" lvl="0" indent="-342900">
              <a:lnSpc>
                <a:spcPct val="150000"/>
              </a:lnSpc>
              <a:buFont typeface="+mj-lt"/>
              <a:buAutoNum type="arabicPeriod"/>
            </a:pPr>
            <a:r>
              <a:rPr lang="en-AU" sz="2200" dirty="0">
                <a:latin typeface="+mj-lt"/>
              </a:rPr>
              <a:t>Student details and assessment overview.</a:t>
            </a:r>
          </a:p>
          <a:p>
            <a:pPr marL="342900" lvl="0" indent="-342900">
              <a:lnSpc>
                <a:spcPct val="150000"/>
              </a:lnSpc>
              <a:buFont typeface="+mj-lt"/>
              <a:buAutoNum type="arabicPeriod"/>
            </a:pPr>
            <a:r>
              <a:rPr lang="en-AU" sz="2200" dirty="0">
                <a:latin typeface="+mj-lt"/>
              </a:rPr>
              <a:t>Scenario 1 – Troubleshooting tickets, identified problems, diagnostic commands and corrections.</a:t>
            </a:r>
          </a:p>
          <a:p>
            <a:pPr marL="342900" lvl="0" indent="-342900">
              <a:lnSpc>
                <a:spcPct val="150000"/>
              </a:lnSpc>
              <a:buFont typeface="+mj-lt"/>
              <a:buAutoNum type="arabicPeriod"/>
            </a:pPr>
            <a:r>
              <a:rPr lang="en-AU" sz="2200" dirty="0">
                <a:latin typeface="+mj-lt"/>
              </a:rPr>
              <a:t>Scenario 1 – Route identification and RTT calculations.</a:t>
            </a:r>
          </a:p>
          <a:p>
            <a:pPr marL="342900" lvl="0" indent="-342900">
              <a:lnSpc>
                <a:spcPct val="150000"/>
              </a:lnSpc>
              <a:buFont typeface="+mj-lt"/>
              <a:buAutoNum type="arabicPeriod"/>
            </a:pPr>
            <a:r>
              <a:rPr lang="en-AU" sz="2200" dirty="0">
                <a:latin typeface="+mj-lt"/>
              </a:rPr>
              <a:t>Scenario 2 – Proposed network topology and addressing plan.</a:t>
            </a:r>
          </a:p>
          <a:p>
            <a:pPr marL="342900" lvl="0" indent="-342900">
              <a:lnSpc>
                <a:spcPct val="150000"/>
              </a:lnSpc>
              <a:buFont typeface="+mj-lt"/>
              <a:buAutoNum type="arabicPeriod"/>
            </a:pPr>
            <a:r>
              <a:rPr lang="en-AU" sz="2200" dirty="0">
                <a:latin typeface="+mj-lt"/>
              </a:rPr>
              <a:t>Scenario 2 – Device configurations, security and remote access.</a:t>
            </a:r>
          </a:p>
          <a:p>
            <a:pPr marL="342900" lvl="0" indent="-342900">
              <a:lnSpc>
                <a:spcPct val="150000"/>
              </a:lnSpc>
              <a:buFont typeface="+mj-lt"/>
              <a:buAutoNum type="arabicPeriod"/>
            </a:pPr>
            <a:r>
              <a:rPr lang="en-AU" sz="2200" dirty="0">
                <a:latin typeface="+mj-lt"/>
              </a:rPr>
              <a:t>Connectivity testing, screenshots and command outputs.</a:t>
            </a:r>
          </a:p>
          <a:p>
            <a:pPr marL="342900" lvl="0" indent="-342900">
              <a:lnSpc>
                <a:spcPct val="150000"/>
              </a:lnSpc>
              <a:buFont typeface="+mj-lt"/>
              <a:buAutoNum type="arabicPeriod"/>
            </a:pPr>
            <a:r>
              <a:rPr lang="en-AU" sz="2200" dirty="0">
                <a:latin typeface="+mj-lt"/>
              </a:rPr>
              <a:t>Technical explanations, design justification, scalability and sustainability.</a:t>
            </a:r>
          </a:p>
          <a:p>
            <a:pPr marL="342900" lvl="0" indent="-342900">
              <a:lnSpc>
                <a:spcPct val="150000"/>
              </a:lnSpc>
              <a:buFont typeface="+mj-lt"/>
              <a:buAutoNum type="arabicPeriod"/>
            </a:pPr>
            <a:r>
              <a:rPr lang="en-AU" sz="2200" dirty="0">
                <a:latin typeface="+mj-lt"/>
              </a:rPr>
              <a:t>Conclusion, references where applicable, and AI-use statement.</a:t>
            </a:r>
          </a:p>
        </p:txBody>
      </p:sp>
    </p:spTree>
    <p:extLst>
      <p:ext uri="{BB962C8B-B14F-4D97-AF65-F5344CB8AC3E}">
        <p14:creationId xmlns:p14="http://schemas.microsoft.com/office/powerpoint/2010/main" val="429222591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0D5B9-9B94-98C9-A111-45AA0EF1A64A}"/>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E9A5B59A-2B30-33CC-B2B1-40BE4C1D6A89}"/>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Additional Notes about Assessment 3</a:t>
            </a:r>
            <a:endParaRPr dirty="0">
              <a:solidFill>
                <a:schemeClr val="tx1"/>
              </a:solidFill>
            </a:endParaRPr>
          </a:p>
        </p:txBody>
      </p:sp>
      <p:sp>
        <p:nvSpPr>
          <p:cNvPr id="15" name="object 15">
            <a:extLst>
              <a:ext uri="{FF2B5EF4-FFF2-40B4-BE49-F238E27FC236}">
                <a16:creationId xmlns:a16="http://schemas.microsoft.com/office/drawing/2014/main" id="{B6F21C31-005B-F520-37CD-2A51FEF1689A}"/>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695FF258-9C85-04FD-5624-6B0A7F5A23F9}"/>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671CBE81-8F37-347D-8184-8C73813E4641}"/>
              </a:ext>
            </a:extLst>
          </p:cNvPr>
          <p:cNvSpPr txBox="1"/>
          <p:nvPr/>
        </p:nvSpPr>
        <p:spPr>
          <a:xfrm>
            <a:off x="0" y="1143001"/>
            <a:ext cx="9144000" cy="4549835"/>
          </a:xfrm>
          <a:prstGeom prst="rect">
            <a:avLst/>
          </a:prstGeom>
          <a:noFill/>
        </p:spPr>
        <p:txBody>
          <a:bodyPr wrap="square">
            <a:spAutoFit/>
          </a:bodyPr>
          <a:lstStyle/>
          <a:p>
            <a:pPr>
              <a:lnSpc>
                <a:spcPct val="150000"/>
              </a:lnSpc>
              <a:buNone/>
            </a:pPr>
            <a:r>
              <a:rPr lang="en-AU" sz="2800" dirty="0">
                <a:latin typeface="+mj-lt"/>
              </a:rPr>
              <a:t>Important: Screenshots should be readable, clearly labelled and consistent with the submitted Packet Tracer files.</a:t>
            </a:r>
          </a:p>
          <a:p>
            <a:pPr>
              <a:lnSpc>
                <a:spcPct val="150000"/>
              </a:lnSpc>
              <a:buNone/>
            </a:pPr>
            <a:r>
              <a:rPr lang="en-AU" sz="2800" dirty="0">
                <a:latin typeface="+mj-lt"/>
              </a:rPr>
              <a:t>Discussion question: Why should the report include both diagnostic commands and their outputs?</a:t>
            </a:r>
          </a:p>
          <a:p>
            <a:pPr>
              <a:lnSpc>
                <a:spcPct val="150000"/>
              </a:lnSpc>
              <a:buNone/>
            </a:pPr>
            <a:r>
              <a:rPr lang="en-AU" sz="2800" dirty="0">
                <a:latin typeface="+mj-lt"/>
              </a:rPr>
              <a:t>Answer: The commands explain how the network was investigated, while the outputs provide evidence supporting the findings.</a:t>
            </a:r>
          </a:p>
        </p:txBody>
      </p:sp>
    </p:spTree>
    <p:extLst>
      <p:ext uri="{BB962C8B-B14F-4D97-AF65-F5344CB8AC3E}">
        <p14:creationId xmlns:p14="http://schemas.microsoft.com/office/powerpoint/2010/main" val="4248206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D64C7-3A08-C04A-7369-1166306A2F76}"/>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19DD16C7-EFC7-71CA-B5CD-14AF12D4B95B}"/>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Additional Notes about Assessment 3</a:t>
            </a:r>
            <a:endParaRPr dirty="0">
              <a:solidFill>
                <a:schemeClr val="tx1"/>
              </a:solidFill>
            </a:endParaRPr>
          </a:p>
        </p:txBody>
      </p:sp>
      <p:sp>
        <p:nvSpPr>
          <p:cNvPr id="15" name="object 15">
            <a:extLst>
              <a:ext uri="{FF2B5EF4-FFF2-40B4-BE49-F238E27FC236}">
                <a16:creationId xmlns:a16="http://schemas.microsoft.com/office/drawing/2014/main" id="{E9F48EA4-18F6-F6B7-4A2F-4F40EDF21C05}"/>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124F8925-1B54-4E9F-6DF2-580965801559}"/>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graphicFrame>
        <p:nvGraphicFramePr>
          <p:cNvPr id="2" name="Table 1">
            <a:extLst>
              <a:ext uri="{FF2B5EF4-FFF2-40B4-BE49-F238E27FC236}">
                <a16:creationId xmlns:a16="http://schemas.microsoft.com/office/drawing/2014/main" id="{C4A431DC-E130-E328-A1BD-135CD34149A6}"/>
              </a:ext>
            </a:extLst>
          </p:cNvPr>
          <p:cNvGraphicFramePr>
            <a:graphicFrameLocks noGrp="1"/>
          </p:cNvGraphicFramePr>
          <p:nvPr>
            <p:extLst>
              <p:ext uri="{D42A27DB-BD31-4B8C-83A1-F6EECF244321}">
                <p14:modId xmlns:p14="http://schemas.microsoft.com/office/powerpoint/2010/main" val="2113161476"/>
              </p:ext>
            </p:extLst>
          </p:nvPr>
        </p:nvGraphicFramePr>
        <p:xfrm>
          <a:off x="76200" y="2590800"/>
          <a:ext cx="8837546" cy="3627120"/>
        </p:xfrm>
        <a:graphic>
          <a:graphicData uri="http://schemas.openxmlformats.org/drawingml/2006/table">
            <a:tbl>
              <a:tblPr>
                <a:tableStyleId>{00A15C55-8517-42AA-B614-E9B94910E393}</a:tableStyleId>
              </a:tblPr>
              <a:tblGrid>
                <a:gridCol w="6629400">
                  <a:extLst>
                    <a:ext uri="{9D8B030D-6E8A-4147-A177-3AD203B41FA5}">
                      <a16:colId xmlns:a16="http://schemas.microsoft.com/office/drawing/2014/main" val="1732266892"/>
                    </a:ext>
                  </a:extLst>
                </a:gridCol>
                <a:gridCol w="2208146">
                  <a:extLst>
                    <a:ext uri="{9D8B030D-6E8A-4147-A177-3AD203B41FA5}">
                      <a16:colId xmlns:a16="http://schemas.microsoft.com/office/drawing/2014/main" val="2487003298"/>
                    </a:ext>
                  </a:extLst>
                </a:gridCol>
              </a:tblGrid>
              <a:tr h="365760">
                <a:tc>
                  <a:txBody>
                    <a:bodyPr/>
                    <a:lstStyle/>
                    <a:p>
                      <a:pPr>
                        <a:buNone/>
                      </a:pPr>
                      <a:r>
                        <a:rPr lang="en-AU" sz="2200" b="1" dirty="0"/>
                        <a:t>Section</a:t>
                      </a:r>
                    </a:p>
                  </a:txBody>
                  <a:tcPr anchor="ctr"/>
                </a:tc>
                <a:tc>
                  <a:txBody>
                    <a:bodyPr/>
                    <a:lstStyle/>
                    <a:p>
                      <a:pPr>
                        <a:buNone/>
                      </a:pPr>
                      <a:r>
                        <a:rPr lang="en-AU" sz="2200" b="1" dirty="0"/>
                        <a:t>Time</a:t>
                      </a:r>
                    </a:p>
                  </a:txBody>
                  <a:tcPr anchor="ctr"/>
                </a:tc>
                <a:extLst>
                  <a:ext uri="{0D108BD9-81ED-4DB2-BD59-A6C34878D82A}">
                    <a16:rowId xmlns:a16="http://schemas.microsoft.com/office/drawing/2014/main" val="1967993003"/>
                  </a:ext>
                </a:extLst>
              </a:tr>
              <a:tr h="365760">
                <a:tc>
                  <a:txBody>
                    <a:bodyPr/>
                    <a:lstStyle/>
                    <a:p>
                      <a:pPr>
                        <a:buNone/>
                      </a:pPr>
                      <a:r>
                        <a:rPr lang="en-AU" sz="2200"/>
                        <a:t>Introduction and assessment objectives</a:t>
                      </a:r>
                    </a:p>
                  </a:txBody>
                  <a:tcPr anchor="ctr"/>
                </a:tc>
                <a:tc>
                  <a:txBody>
                    <a:bodyPr/>
                    <a:lstStyle/>
                    <a:p>
                      <a:pPr>
                        <a:buNone/>
                      </a:pPr>
                      <a:r>
                        <a:rPr lang="en-AU" sz="2200"/>
                        <a:t>30 seconds</a:t>
                      </a:r>
                    </a:p>
                  </a:txBody>
                  <a:tcPr anchor="ctr"/>
                </a:tc>
                <a:extLst>
                  <a:ext uri="{0D108BD9-81ED-4DB2-BD59-A6C34878D82A}">
                    <a16:rowId xmlns:a16="http://schemas.microsoft.com/office/drawing/2014/main" val="4045798609"/>
                  </a:ext>
                </a:extLst>
              </a:tr>
              <a:tr h="640080">
                <a:tc>
                  <a:txBody>
                    <a:bodyPr/>
                    <a:lstStyle/>
                    <a:p>
                      <a:pPr>
                        <a:buNone/>
                      </a:pPr>
                      <a:r>
                        <a:rPr lang="en-AU" sz="2200" dirty="0"/>
                        <a:t>Scenario 1 – Troubleshooting approach and results</a:t>
                      </a:r>
                    </a:p>
                  </a:txBody>
                  <a:tcPr anchor="ctr"/>
                </a:tc>
                <a:tc>
                  <a:txBody>
                    <a:bodyPr/>
                    <a:lstStyle/>
                    <a:p>
                      <a:pPr>
                        <a:buNone/>
                      </a:pPr>
                      <a:r>
                        <a:rPr lang="en-AU" sz="2200" dirty="0"/>
                        <a:t>2 minutes</a:t>
                      </a:r>
                    </a:p>
                  </a:txBody>
                  <a:tcPr anchor="ctr"/>
                </a:tc>
                <a:extLst>
                  <a:ext uri="{0D108BD9-81ED-4DB2-BD59-A6C34878D82A}">
                    <a16:rowId xmlns:a16="http://schemas.microsoft.com/office/drawing/2014/main" val="34800046"/>
                  </a:ext>
                </a:extLst>
              </a:tr>
              <a:tr h="640080">
                <a:tc>
                  <a:txBody>
                    <a:bodyPr/>
                    <a:lstStyle/>
                    <a:p>
                      <a:pPr>
                        <a:buNone/>
                      </a:pPr>
                      <a:r>
                        <a:rPr lang="en-AU" sz="2200"/>
                        <a:t>Scenario 2 – Network design and addressing</a:t>
                      </a:r>
                    </a:p>
                  </a:txBody>
                  <a:tcPr anchor="ctr"/>
                </a:tc>
                <a:tc>
                  <a:txBody>
                    <a:bodyPr/>
                    <a:lstStyle/>
                    <a:p>
                      <a:pPr>
                        <a:buNone/>
                      </a:pPr>
                      <a:r>
                        <a:rPr lang="en-AU" sz="2200" dirty="0"/>
                        <a:t>1.5 minutes</a:t>
                      </a:r>
                    </a:p>
                  </a:txBody>
                  <a:tcPr anchor="ctr"/>
                </a:tc>
                <a:extLst>
                  <a:ext uri="{0D108BD9-81ED-4DB2-BD59-A6C34878D82A}">
                    <a16:rowId xmlns:a16="http://schemas.microsoft.com/office/drawing/2014/main" val="3479357300"/>
                  </a:ext>
                </a:extLst>
              </a:tr>
              <a:tr h="640080">
                <a:tc>
                  <a:txBody>
                    <a:bodyPr/>
                    <a:lstStyle/>
                    <a:p>
                      <a:pPr>
                        <a:buNone/>
                      </a:pPr>
                      <a:r>
                        <a:rPr lang="en-AU" sz="2200"/>
                        <a:t>Configuration, security and connectivity testing</a:t>
                      </a:r>
                    </a:p>
                  </a:txBody>
                  <a:tcPr anchor="ctr"/>
                </a:tc>
                <a:tc>
                  <a:txBody>
                    <a:bodyPr/>
                    <a:lstStyle/>
                    <a:p>
                      <a:pPr>
                        <a:buNone/>
                      </a:pPr>
                      <a:r>
                        <a:rPr lang="en-AU" sz="2200" dirty="0"/>
                        <a:t>2 minutes</a:t>
                      </a:r>
                    </a:p>
                  </a:txBody>
                  <a:tcPr anchor="ctr"/>
                </a:tc>
                <a:extLst>
                  <a:ext uri="{0D108BD9-81ED-4DB2-BD59-A6C34878D82A}">
                    <a16:rowId xmlns:a16="http://schemas.microsoft.com/office/drawing/2014/main" val="1306219804"/>
                  </a:ext>
                </a:extLst>
              </a:tr>
              <a:tr h="365760">
                <a:tc>
                  <a:txBody>
                    <a:bodyPr/>
                    <a:lstStyle/>
                    <a:p>
                      <a:pPr>
                        <a:buNone/>
                      </a:pPr>
                      <a:r>
                        <a:rPr lang="en-AU" sz="2200"/>
                        <a:t>Conclusion and key learning outcomes</a:t>
                      </a:r>
                    </a:p>
                  </a:txBody>
                  <a:tcPr anchor="ctr"/>
                </a:tc>
                <a:tc>
                  <a:txBody>
                    <a:bodyPr/>
                    <a:lstStyle/>
                    <a:p>
                      <a:pPr>
                        <a:buNone/>
                      </a:pPr>
                      <a:r>
                        <a:rPr lang="en-AU" sz="2200" dirty="0"/>
                        <a:t>1 minute</a:t>
                      </a:r>
                    </a:p>
                  </a:txBody>
                  <a:tcPr anchor="ctr"/>
                </a:tc>
                <a:extLst>
                  <a:ext uri="{0D108BD9-81ED-4DB2-BD59-A6C34878D82A}">
                    <a16:rowId xmlns:a16="http://schemas.microsoft.com/office/drawing/2014/main" val="2433133071"/>
                  </a:ext>
                </a:extLst>
              </a:tr>
              <a:tr h="365760">
                <a:tc>
                  <a:txBody>
                    <a:bodyPr/>
                    <a:lstStyle/>
                    <a:p>
                      <a:pPr>
                        <a:buNone/>
                      </a:pPr>
                      <a:r>
                        <a:rPr lang="en-AU" sz="2200"/>
                        <a:t>Total</a:t>
                      </a:r>
                    </a:p>
                  </a:txBody>
                  <a:tcPr anchor="ctr"/>
                </a:tc>
                <a:tc>
                  <a:txBody>
                    <a:bodyPr/>
                    <a:lstStyle/>
                    <a:p>
                      <a:pPr>
                        <a:buNone/>
                      </a:pPr>
                      <a:r>
                        <a:rPr lang="en-AU" sz="2200" dirty="0"/>
                        <a:t>7 minutes</a:t>
                      </a:r>
                    </a:p>
                  </a:txBody>
                  <a:tcPr anchor="ctr"/>
                </a:tc>
                <a:extLst>
                  <a:ext uri="{0D108BD9-81ED-4DB2-BD59-A6C34878D82A}">
                    <a16:rowId xmlns:a16="http://schemas.microsoft.com/office/drawing/2014/main" val="173631814"/>
                  </a:ext>
                </a:extLst>
              </a:tr>
            </a:tbl>
          </a:graphicData>
        </a:graphic>
      </p:graphicFrame>
      <p:sp>
        <p:nvSpPr>
          <p:cNvPr id="5" name="TextBox 4">
            <a:extLst>
              <a:ext uri="{FF2B5EF4-FFF2-40B4-BE49-F238E27FC236}">
                <a16:creationId xmlns:a16="http://schemas.microsoft.com/office/drawing/2014/main" id="{5EA312E2-EA85-5802-ED27-B3A78B8E71B8}"/>
              </a:ext>
            </a:extLst>
          </p:cNvPr>
          <p:cNvSpPr txBox="1"/>
          <p:nvPr/>
        </p:nvSpPr>
        <p:spPr>
          <a:xfrm>
            <a:off x="220186" y="990600"/>
            <a:ext cx="8238014" cy="1318181"/>
          </a:xfrm>
          <a:prstGeom prst="rect">
            <a:avLst/>
          </a:prstGeom>
          <a:noFill/>
        </p:spPr>
        <p:txBody>
          <a:bodyPr wrap="square">
            <a:spAutoFit/>
          </a:bodyPr>
          <a:lstStyle/>
          <a:p>
            <a:pPr>
              <a:lnSpc>
                <a:spcPct val="150000"/>
              </a:lnSpc>
              <a:buNone/>
            </a:pPr>
            <a:r>
              <a:rPr lang="en-AU" sz="2800" b="1" dirty="0">
                <a:latin typeface="+mj-lt"/>
              </a:rPr>
              <a:t>Preparing Your Seven-Minute Presentation</a:t>
            </a:r>
          </a:p>
          <a:p>
            <a:pPr>
              <a:lnSpc>
                <a:spcPct val="150000"/>
              </a:lnSpc>
              <a:buNone/>
            </a:pPr>
            <a:r>
              <a:rPr lang="en-AU" sz="2800" dirty="0">
                <a:latin typeface="+mj-lt"/>
              </a:rPr>
              <a:t>Suggested presentation structure:</a:t>
            </a:r>
          </a:p>
        </p:txBody>
      </p:sp>
    </p:spTree>
    <p:extLst>
      <p:ext uri="{BB962C8B-B14F-4D97-AF65-F5344CB8AC3E}">
        <p14:creationId xmlns:p14="http://schemas.microsoft.com/office/powerpoint/2010/main" val="404120899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9C75C-D193-DE3A-1773-F42A5AAC6F6C}"/>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2CAF6FBD-BA9E-8569-DD05-AFCC0243CEA0}"/>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Additional Notes about Assessment 3</a:t>
            </a:r>
            <a:endParaRPr dirty="0">
              <a:solidFill>
                <a:schemeClr val="tx1"/>
              </a:solidFill>
            </a:endParaRPr>
          </a:p>
        </p:txBody>
      </p:sp>
      <p:sp>
        <p:nvSpPr>
          <p:cNvPr id="15" name="object 15">
            <a:extLst>
              <a:ext uri="{FF2B5EF4-FFF2-40B4-BE49-F238E27FC236}">
                <a16:creationId xmlns:a16="http://schemas.microsoft.com/office/drawing/2014/main" id="{6A71E6A0-6260-C11B-4D8E-28C5901A32D7}"/>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59590FC7-DAB0-F7FB-25AD-91A12A6AC44E}"/>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42625617-A1A4-3F41-290D-227D7A43D5E9}"/>
              </a:ext>
            </a:extLst>
          </p:cNvPr>
          <p:cNvSpPr txBox="1"/>
          <p:nvPr/>
        </p:nvSpPr>
        <p:spPr>
          <a:xfrm>
            <a:off x="0" y="1066801"/>
            <a:ext cx="9144000" cy="5196166"/>
          </a:xfrm>
          <a:prstGeom prst="rect">
            <a:avLst/>
          </a:prstGeom>
          <a:noFill/>
        </p:spPr>
        <p:txBody>
          <a:bodyPr wrap="square">
            <a:spAutoFit/>
          </a:bodyPr>
          <a:lstStyle/>
          <a:p>
            <a:pPr>
              <a:lnSpc>
                <a:spcPct val="150000"/>
              </a:lnSpc>
              <a:buNone/>
            </a:pPr>
            <a:r>
              <a:rPr lang="en-AU" sz="2800" dirty="0">
                <a:latin typeface="+mj-lt"/>
              </a:rPr>
              <a:t>Presentation requirements:</a:t>
            </a:r>
          </a:p>
          <a:p>
            <a:pPr marL="342900" lvl="0" indent="-342900">
              <a:lnSpc>
                <a:spcPct val="150000"/>
              </a:lnSpc>
              <a:buFont typeface="Arial" panose="020B0604020202020204" pitchFamily="34" charset="0"/>
              <a:buChar char="•"/>
            </a:pPr>
            <a:r>
              <a:rPr lang="en-AU" sz="2800" dirty="0">
                <a:latin typeface="+mj-lt"/>
              </a:rPr>
              <a:t>Explain the work in your own words.</a:t>
            </a:r>
          </a:p>
          <a:p>
            <a:pPr marL="342900" lvl="0" indent="-342900">
              <a:lnSpc>
                <a:spcPct val="150000"/>
              </a:lnSpc>
              <a:buFont typeface="Arial" panose="020B0604020202020204" pitchFamily="34" charset="0"/>
              <a:buChar char="•"/>
            </a:pPr>
            <a:r>
              <a:rPr lang="en-AU" sz="2800" dirty="0">
                <a:latin typeface="+mj-lt"/>
              </a:rPr>
              <a:t>Show the relevant Packet Tracer topology and evidence.</a:t>
            </a:r>
          </a:p>
          <a:p>
            <a:pPr marL="342900" lvl="0" indent="-342900">
              <a:lnSpc>
                <a:spcPct val="150000"/>
              </a:lnSpc>
              <a:buFont typeface="Arial" panose="020B0604020202020204" pitchFamily="34" charset="0"/>
              <a:buChar char="•"/>
            </a:pPr>
            <a:r>
              <a:rPr lang="en-AU" sz="2800" dirty="0">
                <a:latin typeface="+mj-lt"/>
              </a:rPr>
              <a:t>Explain important decisions rather than reading every configuration command.</a:t>
            </a:r>
          </a:p>
          <a:p>
            <a:pPr marL="342900" lvl="0" indent="-342900">
              <a:lnSpc>
                <a:spcPct val="150000"/>
              </a:lnSpc>
              <a:buFont typeface="Arial" panose="020B0604020202020204" pitchFamily="34" charset="0"/>
              <a:buChar char="•"/>
            </a:pPr>
            <a:r>
              <a:rPr lang="en-AU" sz="2800" dirty="0">
                <a:latin typeface="+mj-lt"/>
              </a:rPr>
              <a:t>Use a clear voice and professional language.</a:t>
            </a:r>
          </a:p>
          <a:p>
            <a:pPr marL="342900" lvl="0" indent="-342900">
              <a:lnSpc>
                <a:spcPct val="150000"/>
              </a:lnSpc>
              <a:buFont typeface="Arial" panose="020B0604020202020204" pitchFamily="34" charset="0"/>
              <a:buChar char="•"/>
            </a:pPr>
            <a:r>
              <a:rPr lang="en-AU" sz="2800" dirty="0">
                <a:latin typeface="+mj-lt"/>
              </a:rPr>
              <a:t>Include the required face overlay for a recorded presentation.</a:t>
            </a:r>
          </a:p>
        </p:txBody>
      </p:sp>
    </p:spTree>
    <p:extLst>
      <p:ext uri="{BB962C8B-B14F-4D97-AF65-F5344CB8AC3E}">
        <p14:creationId xmlns:p14="http://schemas.microsoft.com/office/powerpoint/2010/main" val="296817281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CA62F-7680-4CE6-237B-01338FABCE69}"/>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A2820097-BBE9-1E50-D352-3548EDD8F174}"/>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Additional Notes about Assessment 3</a:t>
            </a:r>
            <a:endParaRPr dirty="0">
              <a:solidFill>
                <a:schemeClr val="tx1"/>
              </a:solidFill>
            </a:endParaRPr>
          </a:p>
        </p:txBody>
      </p:sp>
      <p:sp>
        <p:nvSpPr>
          <p:cNvPr id="15" name="object 15">
            <a:extLst>
              <a:ext uri="{FF2B5EF4-FFF2-40B4-BE49-F238E27FC236}">
                <a16:creationId xmlns:a16="http://schemas.microsoft.com/office/drawing/2014/main" id="{16CE3C38-B85A-1998-0C9D-F8AF02F0CF92}"/>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2A688EB2-561F-C473-07DD-B5BCEC74B6E1}"/>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CC887737-ACAC-3CBF-1DFA-B95B6E13ED0F}"/>
              </a:ext>
            </a:extLst>
          </p:cNvPr>
          <p:cNvSpPr txBox="1"/>
          <p:nvPr/>
        </p:nvSpPr>
        <p:spPr>
          <a:xfrm>
            <a:off x="0" y="1066801"/>
            <a:ext cx="9144000" cy="3257174"/>
          </a:xfrm>
          <a:prstGeom prst="rect">
            <a:avLst/>
          </a:prstGeom>
          <a:noFill/>
        </p:spPr>
        <p:txBody>
          <a:bodyPr wrap="square">
            <a:spAutoFit/>
          </a:bodyPr>
          <a:lstStyle/>
          <a:p>
            <a:pPr>
              <a:lnSpc>
                <a:spcPct val="150000"/>
              </a:lnSpc>
            </a:pPr>
            <a:r>
              <a:rPr lang="en-AU" sz="2800" dirty="0">
                <a:latin typeface="+mj-lt"/>
              </a:rPr>
              <a:t>Discussion question: Should students spend most of their presentation reading Cisco commands?</a:t>
            </a:r>
          </a:p>
          <a:p>
            <a:pPr>
              <a:lnSpc>
                <a:spcPct val="150000"/>
              </a:lnSpc>
            </a:pPr>
            <a:r>
              <a:rPr lang="en-AU" sz="2800" dirty="0">
                <a:latin typeface="+mj-lt"/>
              </a:rPr>
              <a:t>Answer: No. They should focus on what they implemented, why they selected that approach and how they verified that it worked.</a:t>
            </a:r>
          </a:p>
        </p:txBody>
      </p:sp>
    </p:spTree>
    <p:extLst>
      <p:ext uri="{BB962C8B-B14F-4D97-AF65-F5344CB8AC3E}">
        <p14:creationId xmlns:p14="http://schemas.microsoft.com/office/powerpoint/2010/main" val="567425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ECD85-B3B3-90C4-E547-A4E367BA9B63}"/>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62983A67-99E5-758D-BC39-6674D3E6FC5B}"/>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Additional Notes about Assessment 3</a:t>
            </a:r>
            <a:endParaRPr dirty="0">
              <a:solidFill>
                <a:schemeClr val="tx1"/>
              </a:solidFill>
            </a:endParaRPr>
          </a:p>
        </p:txBody>
      </p:sp>
      <p:sp>
        <p:nvSpPr>
          <p:cNvPr id="15" name="object 15">
            <a:extLst>
              <a:ext uri="{FF2B5EF4-FFF2-40B4-BE49-F238E27FC236}">
                <a16:creationId xmlns:a16="http://schemas.microsoft.com/office/drawing/2014/main" id="{5A452705-3227-65DA-87B5-DB8C266CBD7E}"/>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826388C1-92C1-8CE5-42CF-78A56025F52D}"/>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7DEFA8FD-25AB-DF71-3744-235392C5551E}"/>
              </a:ext>
            </a:extLst>
          </p:cNvPr>
          <p:cNvSpPr txBox="1"/>
          <p:nvPr/>
        </p:nvSpPr>
        <p:spPr>
          <a:xfrm>
            <a:off x="0" y="1066801"/>
            <a:ext cx="9144000" cy="4549835"/>
          </a:xfrm>
          <a:prstGeom prst="rect">
            <a:avLst/>
          </a:prstGeom>
          <a:noFill/>
        </p:spPr>
        <p:txBody>
          <a:bodyPr wrap="square">
            <a:spAutoFit/>
          </a:bodyPr>
          <a:lstStyle/>
          <a:p>
            <a:pPr>
              <a:lnSpc>
                <a:spcPct val="150000"/>
              </a:lnSpc>
            </a:pPr>
            <a:r>
              <a:rPr lang="en-AU" sz="2800" b="1" dirty="0">
                <a:latin typeface="+mj-lt"/>
              </a:rPr>
              <a:t>Academic Integrity and Responsible AI Use</a:t>
            </a:r>
          </a:p>
          <a:p>
            <a:pPr>
              <a:lnSpc>
                <a:spcPct val="150000"/>
              </a:lnSpc>
            </a:pPr>
            <a:r>
              <a:rPr lang="en-AU" sz="2800" dirty="0">
                <a:latin typeface="+mj-lt"/>
              </a:rPr>
              <a:t>Permitted AI support, subject to Canvas instructions:</a:t>
            </a:r>
          </a:p>
          <a:p>
            <a:pPr marL="714375" lvl="0" indent="-457200">
              <a:lnSpc>
                <a:spcPct val="150000"/>
              </a:lnSpc>
              <a:buFont typeface="Arial" panose="020B0604020202020204" pitchFamily="34" charset="0"/>
              <a:buChar char="•"/>
            </a:pPr>
            <a:r>
              <a:rPr lang="en-AU" sz="2800" dirty="0">
                <a:latin typeface="+mj-lt"/>
              </a:rPr>
              <a:t>Understanding networking concepts.</a:t>
            </a:r>
          </a:p>
          <a:p>
            <a:pPr marL="714375" lvl="0" indent="-457200">
              <a:lnSpc>
                <a:spcPct val="150000"/>
              </a:lnSpc>
              <a:buFont typeface="Arial" panose="020B0604020202020204" pitchFamily="34" charset="0"/>
              <a:buChar char="•"/>
            </a:pPr>
            <a:r>
              <a:rPr lang="en-AU" sz="2800" dirty="0">
                <a:latin typeface="+mj-lt"/>
              </a:rPr>
              <a:t>Brainstorming high-level design considerations.</a:t>
            </a:r>
          </a:p>
          <a:p>
            <a:pPr marL="714375" lvl="0" indent="-457200">
              <a:lnSpc>
                <a:spcPct val="150000"/>
              </a:lnSpc>
              <a:buFont typeface="Arial" panose="020B0604020202020204" pitchFamily="34" charset="0"/>
              <a:buChar char="•"/>
            </a:pPr>
            <a:r>
              <a:rPr lang="en-AU" sz="2800" dirty="0">
                <a:latin typeface="+mj-lt"/>
              </a:rPr>
              <a:t>Improving grammar and report clarity.</a:t>
            </a:r>
          </a:p>
          <a:p>
            <a:pPr marL="714375" lvl="0" indent="-457200">
              <a:lnSpc>
                <a:spcPct val="150000"/>
              </a:lnSpc>
              <a:buFont typeface="Arial" panose="020B0604020202020204" pitchFamily="34" charset="0"/>
              <a:buChar char="•"/>
            </a:pPr>
            <a:r>
              <a:rPr lang="en-AU" sz="2800" dirty="0">
                <a:latin typeface="+mj-lt"/>
              </a:rPr>
              <a:t>Identifying areas where explanations need improvement.</a:t>
            </a:r>
          </a:p>
        </p:txBody>
      </p:sp>
    </p:spTree>
    <p:extLst>
      <p:ext uri="{BB962C8B-B14F-4D97-AF65-F5344CB8AC3E}">
        <p14:creationId xmlns:p14="http://schemas.microsoft.com/office/powerpoint/2010/main" val="360049722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A1C39-4C63-A762-7531-35E171CE3183}"/>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DC29451E-5DFF-B76C-3F48-5A1860C720AD}"/>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Additional Notes about Assessment 3</a:t>
            </a:r>
            <a:endParaRPr dirty="0">
              <a:solidFill>
                <a:schemeClr val="tx1"/>
              </a:solidFill>
            </a:endParaRPr>
          </a:p>
        </p:txBody>
      </p:sp>
      <p:sp>
        <p:nvSpPr>
          <p:cNvPr id="15" name="object 15">
            <a:extLst>
              <a:ext uri="{FF2B5EF4-FFF2-40B4-BE49-F238E27FC236}">
                <a16:creationId xmlns:a16="http://schemas.microsoft.com/office/drawing/2014/main" id="{5E6E1AE4-9BEF-85F8-BE12-1B2AC3648296}"/>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0C3C2830-5F0A-8B4E-11EE-0639E4166A35}"/>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A740A414-D8C6-31F0-C889-78390DC9894F}"/>
              </a:ext>
            </a:extLst>
          </p:cNvPr>
          <p:cNvSpPr txBox="1"/>
          <p:nvPr/>
        </p:nvSpPr>
        <p:spPr>
          <a:xfrm>
            <a:off x="0" y="826092"/>
            <a:ext cx="9144000" cy="6031908"/>
          </a:xfrm>
          <a:prstGeom prst="rect">
            <a:avLst/>
          </a:prstGeom>
          <a:noFill/>
        </p:spPr>
        <p:txBody>
          <a:bodyPr wrap="square">
            <a:spAutoFit/>
          </a:bodyPr>
          <a:lstStyle/>
          <a:p>
            <a:pPr>
              <a:lnSpc>
                <a:spcPct val="150000"/>
              </a:lnSpc>
            </a:pPr>
            <a:r>
              <a:rPr lang="en-AU" sz="2600" dirty="0">
                <a:latin typeface="+mj-lt"/>
              </a:rPr>
              <a:t>Not permitted:</a:t>
            </a:r>
          </a:p>
          <a:p>
            <a:pPr marL="457200" lvl="0" indent="-457200">
              <a:lnSpc>
                <a:spcPct val="150000"/>
              </a:lnSpc>
              <a:buFont typeface="Arial" panose="020B0604020202020204" pitchFamily="34" charset="0"/>
              <a:buChar char="•"/>
            </a:pPr>
            <a:r>
              <a:rPr lang="en-AU" sz="2600" dirty="0">
                <a:latin typeface="+mj-lt"/>
              </a:rPr>
              <a:t>Using AI to generate the final network design.</a:t>
            </a:r>
          </a:p>
          <a:p>
            <a:pPr marL="457200" lvl="0" indent="-457200">
              <a:lnSpc>
                <a:spcPct val="150000"/>
              </a:lnSpc>
              <a:buFont typeface="Arial" panose="020B0604020202020204" pitchFamily="34" charset="0"/>
              <a:buChar char="•"/>
            </a:pPr>
            <a:r>
              <a:rPr lang="en-AU" sz="2600" dirty="0">
                <a:latin typeface="+mj-lt"/>
              </a:rPr>
              <a:t>Using AI to complete troubleshooting tickets.</a:t>
            </a:r>
          </a:p>
          <a:p>
            <a:pPr marL="457200" lvl="0" indent="-457200">
              <a:lnSpc>
                <a:spcPct val="150000"/>
              </a:lnSpc>
              <a:buFont typeface="Arial" panose="020B0604020202020204" pitchFamily="34" charset="0"/>
              <a:buChar char="•"/>
            </a:pPr>
            <a:r>
              <a:rPr lang="en-AU" sz="2600" dirty="0">
                <a:latin typeface="+mj-lt"/>
              </a:rPr>
              <a:t>Submitting AI-generated configuration commands as your own work.</a:t>
            </a:r>
          </a:p>
          <a:p>
            <a:pPr marL="457200" lvl="0" indent="-457200">
              <a:lnSpc>
                <a:spcPct val="150000"/>
              </a:lnSpc>
              <a:buFont typeface="Arial" panose="020B0604020202020204" pitchFamily="34" charset="0"/>
              <a:buChar char="•"/>
            </a:pPr>
            <a:r>
              <a:rPr lang="en-AU" sz="2600" dirty="0">
                <a:latin typeface="+mj-lt"/>
              </a:rPr>
              <a:t>Generating substantial report or presentation content.</a:t>
            </a:r>
          </a:p>
          <a:p>
            <a:pPr marL="457200" lvl="0" indent="-457200">
              <a:lnSpc>
                <a:spcPct val="150000"/>
              </a:lnSpc>
              <a:buFont typeface="Arial" panose="020B0604020202020204" pitchFamily="34" charset="0"/>
              <a:buChar char="•"/>
            </a:pPr>
            <a:r>
              <a:rPr lang="en-AU" sz="2600" dirty="0">
                <a:latin typeface="+mj-lt"/>
              </a:rPr>
              <a:t>Fabricating screenshots, command outputs or testing results.</a:t>
            </a:r>
          </a:p>
          <a:p>
            <a:pPr>
              <a:lnSpc>
                <a:spcPct val="150000"/>
              </a:lnSpc>
            </a:pPr>
            <a:r>
              <a:rPr lang="en-AU" sz="2600" dirty="0">
                <a:latin typeface="+mj-lt"/>
              </a:rPr>
              <a:t>Students must include a brief AI-use statement in the report, including any additional disclosure required by the assessment instructions.</a:t>
            </a:r>
          </a:p>
        </p:txBody>
      </p:sp>
    </p:spTree>
    <p:extLst>
      <p:ext uri="{BB962C8B-B14F-4D97-AF65-F5344CB8AC3E}">
        <p14:creationId xmlns:p14="http://schemas.microsoft.com/office/powerpoint/2010/main" val="318442062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21857-28B0-AAAE-E864-830D9523D5A6}"/>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17BB8017-DEB5-B0FD-E8BB-E9CAB92E41C1}"/>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Additional Notes about Assessment 3</a:t>
            </a:r>
            <a:endParaRPr dirty="0">
              <a:solidFill>
                <a:schemeClr val="tx1"/>
              </a:solidFill>
            </a:endParaRPr>
          </a:p>
        </p:txBody>
      </p:sp>
      <p:sp>
        <p:nvSpPr>
          <p:cNvPr id="15" name="object 15">
            <a:extLst>
              <a:ext uri="{FF2B5EF4-FFF2-40B4-BE49-F238E27FC236}">
                <a16:creationId xmlns:a16="http://schemas.microsoft.com/office/drawing/2014/main" id="{EBA3302B-55C5-9B0C-93AF-6922AEBC8423}"/>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9ECAEBB6-174C-0309-4350-7BB2A55D9B1D}"/>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4" name="TextBox 3">
            <a:extLst>
              <a:ext uri="{FF2B5EF4-FFF2-40B4-BE49-F238E27FC236}">
                <a16:creationId xmlns:a16="http://schemas.microsoft.com/office/drawing/2014/main" id="{5EACA566-B48C-FBF0-0FD7-9B3BA34D726D}"/>
              </a:ext>
            </a:extLst>
          </p:cNvPr>
          <p:cNvSpPr txBox="1"/>
          <p:nvPr/>
        </p:nvSpPr>
        <p:spPr>
          <a:xfrm>
            <a:off x="0" y="826092"/>
            <a:ext cx="9144000" cy="3903504"/>
          </a:xfrm>
          <a:prstGeom prst="rect">
            <a:avLst/>
          </a:prstGeom>
          <a:noFill/>
        </p:spPr>
        <p:txBody>
          <a:bodyPr wrap="square">
            <a:spAutoFit/>
          </a:bodyPr>
          <a:lstStyle/>
          <a:p>
            <a:pPr>
              <a:lnSpc>
                <a:spcPct val="150000"/>
              </a:lnSpc>
            </a:pPr>
            <a:r>
              <a:rPr lang="en-AU" sz="2800" dirty="0">
                <a:latin typeface="+mj-lt"/>
              </a:rPr>
              <a:t>Discussion question: Can a student use AI to generate all the configuration commands and submit them without understanding them?</a:t>
            </a:r>
          </a:p>
          <a:p>
            <a:pPr>
              <a:lnSpc>
                <a:spcPct val="150000"/>
              </a:lnSpc>
            </a:pPr>
            <a:r>
              <a:rPr lang="en-AU" sz="2800" dirty="0">
                <a:latin typeface="+mj-lt"/>
              </a:rPr>
              <a:t>Answer: No. The guide prohibits AI-generated configuration commands for submission. Students must complete their own technical work and explain it during the viva.</a:t>
            </a:r>
          </a:p>
        </p:txBody>
      </p:sp>
    </p:spTree>
    <p:extLst>
      <p:ext uri="{BB962C8B-B14F-4D97-AF65-F5344CB8AC3E}">
        <p14:creationId xmlns:p14="http://schemas.microsoft.com/office/powerpoint/2010/main" val="3004956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7C90B-78D6-2C4B-15A8-87B084492B49}"/>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DE9AD0FA-FBAC-9869-A7D0-F123504DEEAE}"/>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Additional Notes about Assessment 3</a:t>
            </a:r>
            <a:endParaRPr dirty="0">
              <a:solidFill>
                <a:schemeClr val="tx1"/>
              </a:solidFill>
            </a:endParaRPr>
          </a:p>
        </p:txBody>
      </p:sp>
      <p:sp>
        <p:nvSpPr>
          <p:cNvPr id="15" name="object 15">
            <a:extLst>
              <a:ext uri="{FF2B5EF4-FFF2-40B4-BE49-F238E27FC236}">
                <a16:creationId xmlns:a16="http://schemas.microsoft.com/office/drawing/2014/main" id="{9DBB4639-D6A9-3518-B561-9AB507FBAC64}"/>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3A58775F-FCEA-6E29-D942-C375D704C109}"/>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C271261B-7D83-5621-D57B-2A8736D096C9}"/>
              </a:ext>
            </a:extLst>
          </p:cNvPr>
          <p:cNvSpPr txBox="1"/>
          <p:nvPr/>
        </p:nvSpPr>
        <p:spPr>
          <a:xfrm>
            <a:off x="0" y="631895"/>
            <a:ext cx="9144000" cy="6313716"/>
          </a:xfrm>
          <a:prstGeom prst="rect">
            <a:avLst/>
          </a:prstGeom>
          <a:noFill/>
        </p:spPr>
        <p:txBody>
          <a:bodyPr wrap="square">
            <a:spAutoFit/>
          </a:bodyPr>
          <a:lstStyle/>
          <a:p>
            <a:pPr>
              <a:lnSpc>
                <a:spcPct val="150000"/>
              </a:lnSpc>
              <a:buNone/>
            </a:pPr>
            <a:r>
              <a:rPr lang="en-AU" sz="2800" b="1" dirty="0">
                <a:latin typeface="+mj-lt"/>
              </a:rPr>
              <a:t>Final Preparation for the Online Viva</a:t>
            </a:r>
          </a:p>
          <a:p>
            <a:pPr>
              <a:lnSpc>
                <a:spcPct val="150000"/>
              </a:lnSpc>
              <a:buNone/>
            </a:pPr>
            <a:r>
              <a:rPr lang="en-AU" sz="2800" dirty="0">
                <a:latin typeface="+mj-lt"/>
              </a:rPr>
              <a:t>During the compulsory viva, students may be asked to:</a:t>
            </a:r>
          </a:p>
          <a:p>
            <a:pPr marL="342900" lvl="0" indent="-342900">
              <a:lnSpc>
                <a:spcPct val="150000"/>
              </a:lnSpc>
              <a:buFont typeface="Arial" panose="020B0604020202020204" pitchFamily="34" charset="0"/>
              <a:buChar char="•"/>
            </a:pPr>
            <a:r>
              <a:rPr lang="en-AU" sz="2400" dirty="0">
                <a:latin typeface="+mj-lt"/>
              </a:rPr>
              <a:t>Open their submitted Packet Tracer files.</a:t>
            </a:r>
          </a:p>
          <a:p>
            <a:pPr marL="342900" lvl="0" indent="-342900">
              <a:lnSpc>
                <a:spcPct val="150000"/>
              </a:lnSpc>
              <a:buFont typeface="Arial" panose="020B0604020202020204" pitchFamily="34" charset="0"/>
              <a:buChar char="•"/>
            </a:pPr>
            <a:r>
              <a:rPr lang="en-AU" sz="2400" dirty="0">
                <a:latin typeface="+mj-lt"/>
              </a:rPr>
              <a:t>Explain how they identified a network fault.</a:t>
            </a:r>
          </a:p>
          <a:p>
            <a:pPr marL="342900" lvl="0" indent="-342900">
              <a:lnSpc>
                <a:spcPct val="150000"/>
              </a:lnSpc>
              <a:buFont typeface="Arial" panose="020B0604020202020204" pitchFamily="34" charset="0"/>
              <a:buChar char="•"/>
            </a:pPr>
            <a:r>
              <a:rPr lang="en-AU" sz="2400" dirty="0">
                <a:latin typeface="+mj-lt"/>
              </a:rPr>
              <a:t>Demonstrate a relevant Cisco IOS command.</a:t>
            </a:r>
          </a:p>
          <a:p>
            <a:pPr marL="342900" lvl="0" indent="-342900">
              <a:lnSpc>
                <a:spcPct val="150000"/>
              </a:lnSpc>
              <a:buFont typeface="Arial" panose="020B0604020202020204" pitchFamily="34" charset="0"/>
              <a:buChar char="•"/>
            </a:pPr>
            <a:r>
              <a:rPr lang="en-AU" sz="2400" dirty="0">
                <a:latin typeface="+mj-lt"/>
              </a:rPr>
              <a:t>Explain why a particular subnet or gateway was selected.</a:t>
            </a:r>
          </a:p>
          <a:p>
            <a:pPr marL="342900" lvl="0" indent="-342900">
              <a:lnSpc>
                <a:spcPct val="150000"/>
              </a:lnSpc>
              <a:buFont typeface="Arial" panose="020B0604020202020204" pitchFamily="34" charset="0"/>
              <a:buChar char="•"/>
            </a:pPr>
            <a:r>
              <a:rPr lang="en-AU" sz="2400" dirty="0">
                <a:latin typeface="+mj-lt"/>
              </a:rPr>
              <a:t>Justify security and remote-access configurations.</a:t>
            </a:r>
          </a:p>
          <a:p>
            <a:pPr marL="342900" lvl="0" indent="-342900">
              <a:lnSpc>
                <a:spcPct val="150000"/>
              </a:lnSpc>
              <a:buFont typeface="Arial" panose="020B0604020202020204" pitchFamily="34" charset="0"/>
              <a:buChar char="•"/>
            </a:pPr>
            <a:r>
              <a:rPr lang="en-AU" sz="2400" dirty="0">
                <a:latin typeface="+mj-lt"/>
              </a:rPr>
              <a:t>Interpret ping, traceroute or routing results.</a:t>
            </a:r>
          </a:p>
          <a:p>
            <a:pPr marL="342900" lvl="0" indent="-342900">
              <a:lnSpc>
                <a:spcPct val="150000"/>
              </a:lnSpc>
              <a:buFont typeface="Arial" panose="020B0604020202020204" pitchFamily="34" charset="0"/>
              <a:buChar char="•"/>
            </a:pPr>
            <a:r>
              <a:rPr lang="en-AU" sz="2400" dirty="0">
                <a:latin typeface="+mj-lt"/>
              </a:rPr>
              <a:t>Explain how their network supports future growth.</a:t>
            </a:r>
          </a:p>
          <a:p>
            <a:pPr marL="342900" lvl="0" indent="-342900">
              <a:lnSpc>
                <a:spcPct val="150000"/>
              </a:lnSpc>
              <a:buFont typeface="Arial" panose="020B0604020202020204" pitchFamily="34" charset="0"/>
              <a:buChar char="•"/>
            </a:pPr>
            <a:r>
              <a:rPr lang="en-AU" sz="2400" dirty="0">
                <a:latin typeface="+mj-lt"/>
              </a:rPr>
              <a:t>Demonstrate that they understand their own report and presentation.</a:t>
            </a:r>
          </a:p>
        </p:txBody>
      </p:sp>
    </p:spTree>
    <p:extLst>
      <p:ext uri="{BB962C8B-B14F-4D97-AF65-F5344CB8AC3E}">
        <p14:creationId xmlns:p14="http://schemas.microsoft.com/office/powerpoint/2010/main" val="356836135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06329-DB80-A7C0-88A6-230A73CDA2E6}"/>
            </a:ext>
          </a:extLst>
        </p:cNvPr>
        <p:cNvGrpSpPr/>
        <p:nvPr/>
      </p:nvGrpSpPr>
      <p:grpSpPr>
        <a:xfrm>
          <a:off x="0" y="0"/>
          <a:ext cx="0" cy="0"/>
          <a:chOff x="0" y="0"/>
          <a:chExt cx="0" cy="0"/>
        </a:xfrm>
      </p:grpSpPr>
      <p:sp>
        <p:nvSpPr>
          <p:cNvPr id="9" name="object 9" descr="$PPTXTitle">
            <a:extLst>
              <a:ext uri="{FF2B5EF4-FFF2-40B4-BE49-F238E27FC236}">
                <a16:creationId xmlns:a16="http://schemas.microsoft.com/office/drawing/2014/main" id="{1B8BAE61-238F-332E-1CA4-64712CBB32E6}"/>
              </a:ext>
            </a:extLst>
          </p:cNvPr>
          <p:cNvSpPr txBox="1">
            <a:spLocks noGrp="1"/>
          </p:cNvSpPr>
          <p:nvPr>
            <p:ph type="ctrTitle"/>
          </p:nvPr>
        </p:nvSpPr>
        <p:spPr>
          <a:xfrm>
            <a:off x="263448" y="62483"/>
            <a:ext cx="7356552" cy="459100"/>
          </a:xfrm>
          <a:prstGeom prst="rect">
            <a:avLst/>
          </a:prstGeom>
        </p:spPr>
        <p:txBody>
          <a:bodyPr vert="horz" wrap="square" lIns="0" tIns="12700" rIns="0" bIns="0" rtlCol="0">
            <a:spAutoFit/>
          </a:bodyPr>
          <a:lstStyle/>
          <a:p>
            <a:pPr marL="12700">
              <a:lnSpc>
                <a:spcPct val="100000"/>
              </a:lnSpc>
              <a:spcBef>
                <a:spcPts val="100"/>
              </a:spcBef>
            </a:pPr>
            <a:r>
              <a:rPr lang="en-US" dirty="0">
                <a:solidFill>
                  <a:schemeClr val="tx1"/>
                </a:solidFill>
              </a:rPr>
              <a:t>Additional Notes about Assessment 3</a:t>
            </a:r>
            <a:endParaRPr dirty="0">
              <a:solidFill>
                <a:schemeClr val="tx1"/>
              </a:solidFill>
            </a:endParaRPr>
          </a:p>
        </p:txBody>
      </p:sp>
      <p:sp>
        <p:nvSpPr>
          <p:cNvPr id="15" name="object 15">
            <a:extLst>
              <a:ext uri="{FF2B5EF4-FFF2-40B4-BE49-F238E27FC236}">
                <a16:creationId xmlns:a16="http://schemas.microsoft.com/office/drawing/2014/main" id="{E117ADCB-88AC-0F19-3075-C3BC427E142E}"/>
              </a:ext>
            </a:extLst>
          </p:cNvPr>
          <p:cNvSpPr txBox="1"/>
          <p:nvPr/>
        </p:nvSpPr>
        <p:spPr>
          <a:xfrm>
            <a:off x="263142" y="6553546"/>
            <a:ext cx="645160" cy="278130"/>
          </a:xfrm>
          <a:prstGeom prst="rect">
            <a:avLst/>
          </a:prstGeom>
        </p:spPr>
        <p:txBody>
          <a:bodyPr vert="horz" wrap="square" lIns="0" tIns="635" rIns="0" bIns="0" rtlCol="0">
            <a:spAutoFit/>
          </a:bodyPr>
          <a:lstStyle/>
          <a:p>
            <a:pPr marL="396875" marR="0" lvl="0" indent="0" defTabSz="914400" eaLnBrk="1" fontAlgn="auto" latinLnBrk="0" hangingPunct="1">
              <a:lnSpc>
                <a:spcPct val="100000"/>
              </a:lnSpc>
              <a:spcBef>
                <a:spcPts val="5"/>
              </a:spcBef>
              <a:spcAft>
                <a:spcPts val="0"/>
              </a:spcAft>
              <a:buClrTx/>
              <a:buSzTx/>
              <a:buFontTx/>
              <a:buNone/>
              <a:tabLst/>
              <a:defRPr/>
            </a:pPr>
            <a:r>
              <a:rPr kumimoji="0" sz="1000" b="0" i="0" u="none" strike="noStrike" kern="0" cap="none" spc="-50" normalizeH="0" baseline="0" noProof="0" dirty="0">
                <a:ln>
                  <a:noFill/>
                </a:ln>
                <a:solidFill>
                  <a:srgbClr val="3C3935"/>
                </a:solidFill>
                <a:effectLst/>
                <a:uLnTx/>
                <a:uFillTx/>
                <a:latin typeface="Arial"/>
                <a:cs typeface="Arial"/>
              </a:rPr>
              <a:t>3</a:t>
            </a:r>
            <a:endParaRPr kumimoji="0" sz="1000" b="0" i="0" u="none" strike="noStrike" kern="0" cap="none" spc="0" normalizeH="0" baseline="0" noProof="0">
              <a:ln>
                <a:noFill/>
              </a:ln>
              <a:solidFill>
                <a:sysClr val="windowText" lastClr="000000"/>
              </a:solidFill>
              <a:effectLst/>
              <a:uLnTx/>
              <a:uFillTx/>
              <a:latin typeface="Arial"/>
              <a:cs typeface="Arial"/>
            </a:endParaRPr>
          </a:p>
          <a:p>
            <a:pPr marL="12700" marR="0" lvl="0" indent="0" defTabSz="914400" eaLnBrk="1" fontAlgn="auto" latinLnBrk="0" hangingPunct="1">
              <a:lnSpc>
                <a:spcPct val="100000"/>
              </a:lnSpc>
              <a:spcBef>
                <a:spcPts val="35"/>
              </a:spcBef>
              <a:spcAft>
                <a:spcPts val="0"/>
              </a:spcAft>
              <a:buClrTx/>
              <a:buSzTx/>
              <a:buFontTx/>
              <a:buNone/>
              <a:tabLst/>
              <a:defRPr/>
            </a:pPr>
            <a:r>
              <a:rPr kumimoji="0" sz="700" b="0" i="0" u="none" strike="noStrike" kern="0" cap="none" spc="-10" normalizeH="0" baseline="0" noProof="0" dirty="0">
                <a:ln>
                  <a:noFill/>
                </a:ln>
                <a:solidFill>
                  <a:srgbClr val="D2D2D2"/>
                </a:solidFill>
                <a:effectLst/>
                <a:uLnTx/>
                <a:uFillTx/>
                <a:latin typeface="Arial"/>
                <a:cs typeface="Arial"/>
              </a:rPr>
              <a:t>Presentation_ID</a:t>
            </a:r>
            <a:endParaRPr kumimoji="0" sz="700" b="0" i="0" u="none" strike="noStrike" kern="0" cap="none" spc="0" normalizeH="0" baseline="0" noProof="0">
              <a:ln>
                <a:noFill/>
              </a:ln>
              <a:solidFill>
                <a:sysClr val="windowText" lastClr="000000"/>
              </a:solidFill>
              <a:effectLst/>
              <a:uLnTx/>
              <a:uFillTx/>
              <a:latin typeface="Arial"/>
              <a:cs typeface="Arial"/>
            </a:endParaRPr>
          </a:p>
        </p:txBody>
      </p:sp>
      <p:sp>
        <p:nvSpPr>
          <p:cNvPr id="16" name="object 16">
            <a:extLst>
              <a:ext uri="{FF2B5EF4-FFF2-40B4-BE49-F238E27FC236}">
                <a16:creationId xmlns:a16="http://schemas.microsoft.com/office/drawing/2014/main" id="{9711AB77-9F41-71CB-F26A-A34B6C49A84A}"/>
              </a:ext>
            </a:extLst>
          </p:cNvPr>
          <p:cNvSpPr txBox="1"/>
          <p:nvPr/>
        </p:nvSpPr>
        <p:spPr>
          <a:xfrm>
            <a:off x="4782661" y="6563812"/>
            <a:ext cx="4240530" cy="252729"/>
          </a:xfrm>
          <a:prstGeom prst="rect">
            <a:avLst/>
          </a:prstGeom>
        </p:spPr>
        <p:txBody>
          <a:bodyPr vert="horz" wrap="square" lIns="0" tIns="0" rIns="0" bIns="0" rtlCol="0">
            <a:spAutoFit/>
          </a:bodyPr>
          <a:lstStyle/>
          <a:p>
            <a:pPr marL="12700" marR="0" lvl="0" indent="0" defTabSz="914400" eaLnBrk="1" fontAlgn="auto" latinLnBrk="0" hangingPunct="1">
              <a:lnSpc>
                <a:spcPts val="1870"/>
              </a:lnSpc>
              <a:spcBef>
                <a:spcPts val="0"/>
              </a:spcBef>
              <a:spcAft>
                <a:spcPts val="0"/>
              </a:spcAft>
              <a:buClrTx/>
              <a:buSzTx/>
              <a:buFontTx/>
              <a:buNone/>
              <a:tabLst/>
              <a:defRPr/>
            </a:pPr>
            <a:r>
              <a:rPr kumimoji="0" sz="1600" b="0" i="0" u="none" strike="noStrike" kern="0" cap="none" spc="0" normalizeH="0" baseline="0" noProof="0" dirty="0">
                <a:ln>
                  <a:noFill/>
                </a:ln>
                <a:solidFill>
                  <a:srgbClr val="898989"/>
                </a:solidFill>
                <a:effectLst/>
                <a:uLnTx/>
                <a:uFillTx/>
                <a:latin typeface="Arial"/>
                <a:cs typeface="Arial"/>
              </a:rPr>
              <a:t>©</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2008</a:t>
            </a:r>
            <a:r>
              <a:rPr kumimoji="0" sz="1600" b="0" i="0" u="none" strike="noStrike" kern="0" cap="none" spc="-4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Cisco</a:t>
            </a:r>
            <a:r>
              <a:rPr kumimoji="0" sz="1600" b="0" i="0" u="none" strike="noStrike" kern="0" cap="none" spc="-4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Systems,</a:t>
            </a:r>
            <a:r>
              <a:rPr kumimoji="0" sz="1600" b="0" i="0" u="none" strike="noStrike" kern="0" cap="none" spc="-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Inc.</a:t>
            </a:r>
            <a:r>
              <a:rPr kumimoji="0" sz="1600" b="0" i="0" u="none" strike="noStrike" kern="0" cap="none" spc="-20"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All</a:t>
            </a:r>
            <a:r>
              <a:rPr kumimoji="0" sz="1600" b="0" i="0" u="none" strike="noStrike" kern="0" cap="none" spc="-55" normalizeH="0" baseline="0" noProof="0" dirty="0">
                <a:ln>
                  <a:noFill/>
                </a:ln>
                <a:solidFill>
                  <a:srgbClr val="898989"/>
                </a:solidFill>
                <a:effectLst/>
                <a:uLnTx/>
                <a:uFillTx/>
                <a:latin typeface="Arial"/>
                <a:cs typeface="Arial"/>
              </a:rPr>
              <a:t> </a:t>
            </a:r>
            <a:r>
              <a:rPr kumimoji="0" sz="1600" b="0" i="0" u="none" strike="noStrike" kern="0" cap="none" spc="0" normalizeH="0" baseline="0" noProof="0" dirty="0">
                <a:ln>
                  <a:noFill/>
                </a:ln>
                <a:solidFill>
                  <a:srgbClr val="898989"/>
                </a:solidFill>
                <a:effectLst/>
                <a:uLnTx/>
                <a:uFillTx/>
                <a:latin typeface="Arial"/>
                <a:cs typeface="Arial"/>
              </a:rPr>
              <a:t>rights</a:t>
            </a:r>
            <a:r>
              <a:rPr kumimoji="0" sz="1600" b="0" i="0" u="none" strike="noStrike" kern="0" cap="none" spc="-35" normalizeH="0" baseline="0" noProof="0" dirty="0">
                <a:ln>
                  <a:noFill/>
                </a:ln>
                <a:solidFill>
                  <a:srgbClr val="898989"/>
                </a:solidFill>
                <a:effectLst/>
                <a:uLnTx/>
                <a:uFillTx/>
                <a:latin typeface="Arial"/>
                <a:cs typeface="Arial"/>
              </a:rPr>
              <a:t> </a:t>
            </a:r>
            <a:r>
              <a:rPr kumimoji="0" sz="1600" b="0" i="0" u="none" strike="noStrike" kern="0" cap="none" spc="-10" normalizeH="0" baseline="0" noProof="0" dirty="0">
                <a:ln>
                  <a:noFill/>
                </a:ln>
                <a:solidFill>
                  <a:srgbClr val="898989"/>
                </a:solidFill>
                <a:effectLst/>
                <a:uLnTx/>
                <a:uFillTx/>
                <a:latin typeface="Arial"/>
                <a:cs typeface="Arial"/>
              </a:rPr>
              <a:t>reserved.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3" name="TextBox 2">
            <a:extLst>
              <a:ext uri="{FF2B5EF4-FFF2-40B4-BE49-F238E27FC236}">
                <a16:creationId xmlns:a16="http://schemas.microsoft.com/office/drawing/2014/main" id="{61372C19-12CE-191F-8F8E-6FEF85F92D18}"/>
              </a:ext>
            </a:extLst>
          </p:cNvPr>
          <p:cNvSpPr txBox="1"/>
          <p:nvPr/>
        </p:nvSpPr>
        <p:spPr>
          <a:xfrm>
            <a:off x="0" y="2133600"/>
            <a:ext cx="9144000" cy="3257174"/>
          </a:xfrm>
          <a:prstGeom prst="rect">
            <a:avLst/>
          </a:prstGeom>
          <a:noFill/>
        </p:spPr>
        <p:txBody>
          <a:bodyPr wrap="square">
            <a:spAutoFit/>
          </a:bodyPr>
          <a:lstStyle/>
          <a:p>
            <a:pPr>
              <a:lnSpc>
                <a:spcPct val="150000"/>
              </a:lnSpc>
            </a:pPr>
            <a:r>
              <a:rPr lang="en-AU" sz="2800" dirty="0">
                <a:latin typeface="+mj-lt"/>
              </a:rPr>
              <a:t>Discussion question: What should you do if the lecturer asks why you selected a particular network configuration?</a:t>
            </a:r>
          </a:p>
          <a:p>
            <a:pPr>
              <a:lnSpc>
                <a:spcPct val="150000"/>
              </a:lnSpc>
            </a:pPr>
            <a:r>
              <a:rPr lang="en-AU" sz="2800" dirty="0">
                <a:latin typeface="+mj-lt"/>
              </a:rPr>
              <a:t>Answer: Explain the technical reason, relate it to the network requirements and show relevant evidence from your submitted work.</a:t>
            </a:r>
          </a:p>
        </p:txBody>
      </p:sp>
    </p:spTree>
    <p:extLst>
      <p:ext uri="{BB962C8B-B14F-4D97-AF65-F5344CB8AC3E}">
        <p14:creationId xmlns:p14="http://schemas.microsoft.com/office/powerpoint/2010/main" val="918208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BCADA-C2BC-8C89-F224-6C84B30E1807}"/>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2E8AB4A3-BE79-06FA-AC7C-BEC57E783D0D}"/>
              </a:ext>
            </a:extLst>
          </p:cNvPr>
          <p:cNvSpPr>
            <a:spLocks noGrp="1"/>
          </p:cNvSpPr>
          <p:nvPr>
            <p:ph type="title"/>
          </p:nvPr>
        </p:nvSpPr>
        <p:spPr>
          <a:xfrm>
            <a:off x="19050" y="24062"/>
            <a:ext cx="6686550" cy="433138"/>
          </a:xfrm>
        </p:spPr>
        <p:txBody>
          <a:bodyPr>
            <a:noAutofit/>
          </a:bodyPr>
          <a:lstStyle/>
          <a:p>
            <a:r>
              <a:rPr lang="en-US" dirty="0">
                <a:solidFill>
                  <a:schemeClr val="tx1"/>
                </a:solidFill>
                <a:latin typeface="Arial" panose="020B0604020202020204" pitchFamily="34" charset="0"/>
                <a:cs typeface="Arial" panose="020B0604020202020204" pitchFamily="34" charset="0"/>
              </a:rPr>
              <a:t>Let’s Answer Your Questions</a:t>
            </a:r>
            <a:endParaRPr lang="en-AU" dirty="0">
              <a:solidFill>
                <a:schemeClr val="tx1"/>
              </a:solidFill>
              <a:latin typeface="Arial" panose="020B0604020202020204" pitchFamily="34" charset="0"/>
              <a:cs typeface="Arial" panose="020B0604020202020204" pitchFamily="34" charset="0"/>
            </a:endParaRPr>
          </a:p>
        </p:txBody>
      </p:sp>
      <p:pic>
        <p:nvPicPr>
          <p:cNvPr id="1028" name="Picture 4" descr="Answering Questions In Complete Sentences">
            <a:extLst>
              <a:ext uri="{FF2B5EF4-FFF2-40B4-BE49-F238E27FC236}">
                <a16:creationId xmlns:a16="http://schemas.microsoft.com/office/drawing/2014/main" id="{84E5527E-4D0B-667B-4471-EFDB8B3143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02434" y="1443320"/>
            <a:ext cx="2539133" cy="158695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10BBB43-1E60-3AC7-6893-6AAB3EFF1E14}"/>
              </a:ext>
            </a:extLst>
          </p:cNvPr>
          <p:cNvSpPr txBox="1"/>
          <p:nvPr/>
        </p:nvSpPr>
        <p:spPr>
          <a:xfrm>
            <a:off x="600075" y="2971800"/>
            <a:ext cx="7943850" cy="2465996"/>
          </a:xfrm>
          <a:prstGeom prst="rect">
            <a:avLst/>
          </a:prstGeom>
          <a:noFill/>
        </p:spPr>
        <p:txBody>
          <a:bodyPr wrap="square" rtlCol="0">
            <a:spAutoFit/>
          </a:bodyPr>
          <a:lstStyle/>
          <a:p>
            <a:pPr marL="385763" marR="0" lvl="0" indent="-385763" algn="l" defTabSz="685800" rtl="0" eaLnBrk="1" fontAlgn="auto" latinLnBrk="0" hangingPunct="1">
              <a:lnSpc>
                <a:spcPct val="150000"/>
              </a:lnSpc>
              <a:spcBef>
                <a:spcPts val="0"/>
              </a:spcBef>
              <a:spcAft>
                <a:spcPts val="0"/>
              </a:spcAft>
              <a:buClrTx/>
              <a:buSzTx/>
              <a:buFont typeface="+mj-lt"/>
              <a:buAutoNum type="arabicPeriod"/>
              <a:tabLst/>
              <a:defRPr/>
            </a:pPr>
            <a:r>
              <a:rPr kumimoji="0" lang="en-US" sz="2100" b="1" i="0" u="none" strike="noStrike" kern="1200" cap="none" spc="0" normalizeH="0" baseline="0" noProof="0" dirty="0">
                <a:ln>
                  <a:noFill/>
                </a:ln>
                <a:solidFill>
                  <a:prstClr val="black"/>
                </a:solidFill>
                <a:effectLst/>
                <a:uLnTx/>
                <a:uFillTx/>
                <a:latin typeface="Calibri"/>
                <a:ea typeface="+mn-ea"/>
                <a:cs typeface="+mn-cs"/>
              </a:rPr>
              <a:t>Canvas Inbox</a:t>
            </a:r>
            <a:r>
              <a:rPr kumimoji="0" lang="en-US" sz="2100" b="0" i="0" u="none" strike="noStrike" kern="1200" cap="none" spc="0" normalizeH="0" baseline="0" noProof="0" dirty="0">
                <a:ln>
                  <a:noFill/>
                </a:ln>
                <a:solidFill>
                  <a:prstClr val="black"/>
                </a:solidFill>
                <a:effectLst/>
                <a:uLnTx/>
                <a:uFillTx/>
                <a:latin typeface="Calibri"/>
                <a:ea typeface="+mn-ea"/>
                <a:cs typeface="+mn-cs"/>
              </a:rPr>
              <a:t> – For academic queries. </a:t>
            </a:r>
          </a:p>
          <a:p>
            <a:pPr marL="385763" marR="0" lvl="0" indent="-385763" algn="l" defTabSz="685800" rtl="0" eaLnBrk="1" fontAlgn="auto" latinLnBrk="0" hangingPunct="1">
              <a:lnSpc>
                <a:spcPct val="150000"/>
              </a:lnSpc>
              <a:spcBef>
                <a:spcPts val="0"/>
              </a:spcBef>
              <a:spcAft>
                <a:spcPts val="0"/>
              </a:spcAft>
              <a:buClrTx/>
              <a:buSzTx/>
              <a:buFont typeface="+mj-lt"/>
              <a:buAutoNum type="arabicPeriod"/>
              <a:tabLst/>
              <a:defRPr/>
            </a:pPr>
            <a:r>
              <a:rPr kumimoji="0" lang="en-US" sz="2100" b="1" i="0" u="none" strike="noStrike" kern="1200" cap="none" spc="0" normalizeH="0" baseline="0" noProof="0" dirty="0">
                <a:ln>
                  <a:noFill/>
                </a:ln>
                <a:solidFill>
                  <a:prstClr val="black"/>
                </a:solidFill>
                <a:effectLst/>
                <a:uLnTx/>
                <a:uFillTx/>
                <a:latin typeface="Calibri"/>
                <a:ea typeface="+mn-ea"/>
                <a:cs typeface="+mn-cs"/>
              </a:rPr>
              <a:t>Email</a:t>
            </a:r>
            <a:r>
              <a:rPr kumimoji="0" lang="en-US" sz="2100" b="0" i="0" u="none" strike="noStrike" kern="1200" cap="none" spc="0" normalizeH="0" baseline="0" noProof="0" dirty="0">
                <a:ln>
                  <a:noFill/>
                </a:ln>
                <a:solidFill>
                  <a:prstClr val="black"/>
                </a:solidFill>
                <a:effectLst/>
                <a:uLnTx/>
                <a:uFillTx/>
                <a:latin typeface="Calibri"/>
                <a:ea typeface="+mn-ea"/>
                <a:cs typeface="+mn-cs"/>
              </a:rPr>
              <a:t> – For formal communication and attachments. </a:t>
            </a:r>
          </a:p>
          <a:p>
            <a:pPr marL="385763" marR="0" lvl="0" indent="-385763" algn="l" defTabSz="685800" rtl="0" eaLnBrk="1" fontAlgn="auto" latinLnBrk="0" hangingPunct="1">
              <a:lnSpc>
                <a:spcPct val="150000"/>
              </a:lnSpc>
              <a:spcBef>
                <a:spcPts val="0"/>
              </a:spcBef>
              <a:spcAft>
                <a:spcPts val="0"/>
              </a:spcAft>
              <a:buClrTx/>
              <a:buSzTx/>
              <a:buFont typeface="+mj-lt"/>
              <a:buAutoNum type="arabicPeriod"/>
              <a:tabLst/>
              <a:defRPr/>
            </a:pPr>
            <a:r>
              <a:rPr kumimoji="0" lang="en-US" sz="2100" b="1" i="0" u="none" strike="noStrike" kern="1200" cap="none" spc="0" normalizeH="0" baseline="0" noProof="0" dirty="0">
                <a:ln>
                  <a:noFill/>
                </a:ln>
                <a:solidFill>
                  <a:prstClr val="black"/>
                </a:solidFill>
                <a:effectLst/>
                <a:uLnTx/>
                <a:uFillTx/>
                <a:latin typeface="Calibri"/>
                <a:ea typeface="+mn-ea"/>
                <a:cs typeface="+mn-cs"/>
              </a:rPr>
              <a:t>Canvas Discussion</a:t>
            </a:r>
            <a:r>
              <a:rPr kumimoji="0" lang="en-US" sz="2100" b="0" i="0" u="none" strike="noStrike" kern="1200" cap="none" spc="0" normalizeH="0" baseline="0" noProof="0" dirty="0">
                <a:ln>
                  <a:noFill/>
                </a:ln>
                <a:solidFill>
                  <a:prstClr val="black"/>
                </a:solidFill>
                <a:effectLst/>
                <a:uLnTx/>
                <a:uFillTx/>
                <a:latin typeface="Calibri"/>
                <a:ea typeface="+mn-ea"/>
                <a:cs typeface="+mn-cs"/>
              </a:rPr>
              <a:t> – For academic discussions and general queries. </a:t>
            </a:r>
          </a:p>
          <a:p>
            <a:pPr marL="385763" marR="0" lvl="0" indent="-385763" algn="l" defTabSz="685800" rtl="0" eaLnBrk="1" fontAlgn="auto" latinLnBrk="0" hangingPunct="1">
              <a:lnSpc>
                <a:spcPct val="150000"/>
              </a:lnSpc>
              <a:spcBef>
                <a:spcPts val="0"/>
              </a:spcBef>
              <a:spcAft>
                <a:spcPts val="0"/>
              </a:spcAft>
              <a:buClrTx/>
              <a:buSzTx/>
              <a:buFont typeface="+mj-lt"/>
              <a:buAutoNum type="arabicPeriod"/>
              <a:tabLst/>
              <a:defRPr/>
            </a:pPr>
            <a:r>
              <a:rPr kumimoji="0" lang="en-US" sz="2100" b="1" i="0" u="none" strike="noStrike" kern="1200" cap="none" spc="0" normalizeH="0" baseline="0" noProof="0" dirty="0">
                <a:ln>
                  <a:noFill/>
                </a:ln>
                <a:solidFill>
                  <a:prstClr val="black"/>
                </a:solidFill>
                <a:effectLst/>
                <a:uLnTx/>
                <a:uFillTx/>
                <a:latin typeface="Calibri"/>
                <a:ea typeface="+mn-ea"/>
                <a:cs typeface="+mn-cs"/>
              </a:rPr>
              <a:t>Reminder</a:t>
            </a:r>
            <a:r>
              <a:rPr kumimoji="0" lang="en-US" sz="2100" b="0" i="0" u="none" strike="noStrike" kern="1200" cap="none" spc="0" normalizeH="0" baseline="0" noProof="0" dirty="0">
                <a:ln>
                  <a:noFill/>
                </a:ln>
                <a:solidFill>
                  <a:prstClr val="black"/>
                </a:solidFill>
                <a:effectLst/>
                <a:uLnTx/>
                <a:uFillTx/>
                <a:latin typeface="Calibri"/>
                <a:ea typeface="+mn-ea"/>
                <a:cs typeface="+mn-cs"/>
              </a:rPr>
              <a:t> – Please follow up if you do not receive a response within 3 business days.</a:t>
            </a:r>
          </a:p>
        </p:txBody>
      </p:sp>
    </p:spTree>
    <p:extLst>
      <p:ext uri="{BB962C8B-B14F-4D97-AF65-F5344CB8AC3E}">
        <p14:creationId xmlns:p14="http://schemas.microsoft.com/office/powerpoint/2010/main" val="118280318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17081" r="16168" b="-2"/>
          <a:stretch/>
        </p:blipFill>
        <p:spPr>
          <a:xfrm>
            <a:off x="379064" y="1272864"/>
            <a:ext cx="4306642" cy="4306642"/>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3" name="TextBox 2">
            <a:extLst>
              <a:ext uri="{FF2B5EF4-FFF2-40B4-BE49-F238E27FC236}">
                <a16:creationId xmlns:a16="http://schemas.microsoft.com/office/drawing/2014/main" id="{84845029-98A4-9C92-04B4-320B6AFDD1B8}"/>
              </a:ext>
            </a:extLst>
          </p:cNvPr>
          <p:cNvSpPr txBox="1"/>
          <p:nvPr/>
        </p:nvSpPr>
        <p:spPr>
          <a:xfrm>
            <a:off x="4791089" y="931863"/>
            <a:ext cx="3898533" cy="4988642"/>
          </a:xfrm>
          <a:prstGeom prst="rect">
            <a:avLst/>
          </a:prstGeom>
        </p:spPr>
        <p:txBody>
          <a:bodyPr vert="horz" lIns="68580" tIns="34290" rIns="68580" bIns="34290" rtlCol="0" anchor="t">
            <a:noAutofit/>
          </a:bodyPr>
          <a:lstStyle/>
          <a:p>
            <a:pPr marL="0" marR="0" lvl="0" indent="0" algn="l" defTabSz="685800" rtl="0" eaLnBrk="1" fontAlgn="auto" latinLnBrk="0" hangingPunct="1">
              <a:lnSpc>
                <a:spcPct val="150000"/>
              </a:lnSpc>
              <a:spcBef>
                <a:spcPts val="0"/>
              </a:spcBef>
              <a:spcAft>
                <a:spcPts val="450"/>
              </a:spcAft>
              <a:buClrTx/>
              <a:buSzTx/>
              <a:buFontTx/>
              <a:buNone/>
              <a:tabLst/>
              <a:defRPr/>
            </a:pPr>
            <a:r>
              <a:rPr kumimoji="0" lang="en-US" sz="21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Happy Learning and Bright Futures Ahead!</a:t>
            </a:r>
            <a:br>
              <a:rPr kumimoji="0" lang="en-US" sz="21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1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Dr. Farshid Keivanian</a:t>
            </a:r>
            <a:br>
              <a:rPr kumimoji="0" lang="en-US" sz="21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1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Stay Connected:</a:t>
            </a:r>
            <a:br>
              <a:rPr kumimoji="0" lang="en-US" sz="21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1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3"/>
              </a:rPr>
              <a:t>linkedin.com/in/farshid-keivanian</a:t>
            </a:r>
            <a:r>
              <a:rPr kumimoji="0" lang="en-US" sz="21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br>
              <a:rPr kumimoji="0" lang="en-US" sz="21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1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4"/>
              </a:rPr>
              <a:t>github.com/FarshidKeivanian</a:t>
            </a:r>
            <a:r>
              <a:rPr kumimoji="0" lang="en-US" sz="21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p>
          <a:p>
            <a:pPr marL="0" marR="0" lvl="0" indent="-171450" algn="l" defTabSz="685800" rtl="0" eaLnBrk="1" fontAlgn="auto" latinLnBrk="0" hangingPunct="1">
              <a:lnSpc>
                <a:spcPct val="150000"/>
              </a:lnSpc>
              <a:spcBef>
                <a:spcPts val="0"/>
              </a:spcBef>
              <a:spcAft>
                <a:spcPts val="450"/>
              </a:spcAft>
              <a:buClrTx/>
              <a:buSzTx/>
              <a:buFont typeface="Arial" panose="020B0604020202020204" pitchFamily="34" charset="0"/>
              <a:buChar char="•"/>
              <a:tabLst/>
              <a:defRPr/>
            </a:pPr>
            <a:r>
              <a:rPr kumimoji="0" lang="en-US" sz="21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Education is the most powerful weapon you can use to change the world. </a:t>
            </a:r>
            <a:r>
              <a:rPr kumimoji="0" lang="en-US" sz="21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Nelson Mandela</a:t>
            </a:r>
          </a:p>
        </p:txBody>
      </p:sp>
    </p:spTree>
    <p:extLst>
      <p:ext uri="{BB962C8B-B14F-4D97-AF65-F5344CB8AC3E}">
        <p14:creationId xmlns:p14="http://schemas.microsoft.com/office/powerpoint/2010/main" val="3190861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621</TotalTime>
  <Words>6143</Words>
  <Application>Microsoft Office PowerPoint</Application>
  <PresentationFormat>On-screen Show (4:3)</PresentationFormat>
  <Paragraphs>871</Paragraphs>
  <Slides>96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96</vt:i4>
      </vt:variant>
    </vt:vector>
  </HeadingPairs>
  <TitlesOfParts>
    <vt:vector size="101" baseType="lpstr">
      <vt:lpstr>Arial</vt:lpstr>
      <vt:lpstr>Calibri</vt:lpstr>
      <vt:lpstr>Cambria Math</vt:lpstr>
      <vt:lpstr>Wingdings</vt:lpstr>
      <vt:lpstr>1_Office Theme</vt:lpstr>
      <vt:lpstr>Revision and Preparation and Guideline for Assessment 3</vt:lpstr>
      <vt:lpstr>Assessment 3: From Network Design to Troubleshooting</vt:lpstr>
      <vt:lpstr>Assessment 3: From Network Design to Troubleshooting</vt:lpstr>
      <vt:lpstr>Assessment Structure and Marking</vt:lpstr>
      <vt:lpstr>Assessment Structure and Marking</vt:lpstr>
      <vt:lpstr>What Skills Will You Develop?</vt:lpstr>
      <vt:lpstr>What Skills Will You Develop?</vt:lpstr>
      <vt:lpstr>Career Opportunities in Australia</vt:lpstr>
      <vt:lpstr>Career Opportunities in Australia</vt:lpstr>
      <vt:lpstr>Understand the Two Assessment Scenarios</vt:lpstr>
      <vt:lpstr>Understand the Two Assessment Scenarios</vt:lpstr>
      <vt:lpstr>Understand the Two Assessment Scenarios</vt:lpstr>
      <vt:lpstr>Read the Network Topology Before Configuring</vt:lpstr>
      <vt:lpstr>Read the Network Topology Before Configuring</vt:lpstr>
      <vt:lpstr>Read the Network Topology Before Configuring</vt:lpstr>
      <vt:lpstr>Essential IPv4 Addressing Knowledge</vt:lpstr>
      <vt:lpstr>Essential IPv4 Addressing Knowledge</vt:lpstr>
      <vt:lpstr>Subnetting and Future Network Growth</vt:lpstr>
      <vt:lpstr>Subnetting and Future Network Growth</vt:lpstr>
      <vt:lpstr>Switches, Routers and Internet Connectivity</vt:lpstr>
      <vt:lpstr>Switches, Routers and Internet Connectivity</vt:lpstr>
      <vt:lpstr>Switches, Routers and Internet Connectivity</vt:lpstr>
      <vt:lpstr>Cisco IOS Command Modes</vt:lpstr>
      <vt:lpstr>Cisco IOS Command Modes</vt:lpstr>
      <vt:lpstr>Cisco IOS Command Modes</vt:lpstr>
      <vt:lpstr>Scenario 1 – Troubleshooting and Diagnostic Reasoning</vt:lpstr>
      <vt:lpstr>Scenario 1 – Troubleshooting and Diagnostic Reasoning</vt:lpstr>
      <vt:lpstr>Scenario 1 – Troubleshooting and Diagnostic Reasoning</vt:lpstr>
      <vt:lpstr>Troubleshooting: Identify, Test and Fix</vt:lpstr>
      <vt:lpstr>Troubleshooting: Identify, Test and Fix</vt:lpstr>
      <vt:lpstr>Troubleshooting: Identify, Test and Fix</vt:lpstr>
      <vt:lpstr>Checking Interface Status</vt:lpstr>
      <vt:lpstr>Checking Interface Status</vt:lpstr>
      <vt:lpstr>Checking Interface Status</vt:lpstr>
      <vt:lpstr>Troubleshooting Switch VLAN Interfaces</vt:lpstr>
      <vt:lpstr>Troubleshooting Switch VLAN Interfaces</vt:lpstr>
      <vt:lpstr>Troubleshooting Switch VLAN Interfaces</vt:lpstr>
      <vt:lpstr>Understanding Routing Tables</vt:lpstr>
      <vt:lpstr>Understanding Routing Tables</vt:lpstr>
      <vt:lpstr>Understanding EIGRP Neighbours</vt:lpstr>
      <vt:lpstr>Understanding EIGRP Neighbours</vt:lpstr>
      <vt:lpstr>Understanding EIGRP Neighbours</vt:lpstr>
      <vt:lpstr>Understanding EIGRP Neighbours</vt:lpstr>
      <vt:lpstr>Testing Connectivity with Ping</vt:lpstr>
      <vt:lpstr>Testing Connectivity with Ping</vt:lpstr>
      <vt:lpstr>Testing Connectivity with Ping</vt:lpstr>
      <vt:lpstr>Finding the Route with Traceroute</vt:lpstr>
      <vt:lpstr>Finding the Route with Traceroute</vt:lpstr>
      <vt:lpstr>Measuring Round-Trip Time</vt:lpstr>
      <vt:lpstr>Measuring Round-Trip Time</vt:lpstr>
      <vt:lpstr>Reading Router Hardware and Software Information</vt:lpstr>
      <vt:lpstr>Reading Router Hardware and Software Information</vt:lpstr>
      <vt:lpstr>Reading Router Hardware and Software Information</vt:lpstr>
      <vt:lpstr>Scenario 2: ABC Company Requirements</vt:lpstr>
      <vt:lpstr>Scenario 2: ABC Company Requirements</vt:lpstr>
      <vt:lpstr>Designing a Suitable Network Topology</vt:lpstr>
      <vt:lpstr>Designing a Suitable Network Topology</vt:lpstr>
      <vt:lpstr>Designing a Suitable Network Topology</vt:lpstr>
      <vt:lpstr>Configuring Router Interfaces</vt:lpstr>
      <vt:lpstr>Configuring Router Interfaces</vt:lpstr>
      <vt:lpstr>Configuring Router Interfaces</vt:lpstr>
      <vt:lpstr>Configuring End Devices and Default Gateways</vt:lpstr>
      <vt:lpstr>Configuring End Devices and Default Gateways</vt:lpstr>
      <vt:lpstr>Remote Access: SSH and Telnet</vt:lpstr>
      <vt:lpstr>Remote Access: SSH and Telnet</vt:lpstr>
      <vt:lpstr>Remote Access: SSH and Telnet</vt:lpstr>
      <vt:lpstr>Remote Access: SSH and Telnet</vt:lpstr>
      <vt:lpstr>Connecting Both Departments to the Internet</vt:lpstr>
      <vt:lpstr>Connecting Both Departments to the Internet</vt:lpstr>
      <vt:lpstr>Connecting Both Departments to the Internet</vt:lpstr>
      <vt:lpstr>Network Testing and Evidence</vt:lpstr>
      <vt:lpstr>Network Testing and Evidence</vt:lpstr>
      <vt:lpstr>Network Testing and Evidence</vt:lpstr>
      <vt:lpstr>What to Do and What to Avoid</vt:lpstr>
      <vt:lpstr>What to Do and What to Avoid</vt:lpstr>
      <vt:lpstr>What to Do and What to Avoid</vt:lpstr>
      <vt:lpstr>Submission Checklist</vt:lpstr>
      <vt:lpstr>Submission Checklist</vt:lpstr>
      <vt:lpstr>Submission Checklist</vt:lpstr>
      <vt:lpstr>Final Revision: Think Like a Network Engineer</vt:lpstr>
      <vt:lpstr>Final Revision: Think Like a Network Engineer</vt:lpstr>
      <vt:lpstr>Additional Notes about Assessment 3</vt:lpstr>
      <vt:lpstr>Additional Notes about Assessment 3</vt:lpstr>
      <vt:lpstr>Additional Notes about Assessment 3</vt:lpstr>
      <vt:lpstr>Additional Notes about Assessment 3</vt:lpstr>
      <vt:lpstr>Additional Notes about Assessment 3</vt:lpstr>
      <vt:lpstr>Additional Notes about Assessment 3</vt:lpstr>
      <vt:lpstr>Additional Notes about Assessment 3</vt:lpstr>
      <vt:lpstr>Additional Notes about Assessment 3</vt:lpstr>
      <vt:lpstr>Additional Notes about Assessment 3</vt:lpstr>
      <vt:lpstr>Additional Notes about Assessment 3</vt:lpstr>
      <vt:lpstr>Additional Notes about Assessment 3</vt:lpstr>
      <vt:lpstr>Additional Notes about Assessment 3</vt:lpstr>
      <vt:lpstr>Additional Notes about Assessment 3</vt:lpstr>
      <vt:lpstr>Let’s Answer Your 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ITE PC v4.0 Chapter 1</dc:title>
  <dc:creator>Karen Alderson</dc:creator>
  <cp:lastModifiedBy>Farshid Keivanian</cp:lastModifiedBy>
  <cp:revision>232</cp:revision>
  <dcterms:created xsi:type="dcterms:W3CDTF">2026-10-20T21:41:52Z</dcterms:created>
  <dcterms:modified xsi:type="dcterms:W3CDTF">2026-10-28T22:55:40Z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2016-09-15T00:00:00Z</vt:filetime>
  </property>
  <property fmtid="{D5CDD505-2E9C-101B-9397-08002B2CF9AE}" pid="3" name="Creator">
    <vt:lpwstr>Microsoft® PowerPoint® 2010</vt:lpwstr>
  </property>
  <property fmtid="{D5CDD505-2E9C-101B-9397-08002B2CF9AE}" pid="4" name="LastSaved">
    <vt:filetime>2026-10-20T00:00:00Z</vt:filetime>
  </property>
  <property fmtid="{D5CDD505-2E9C-101B-9397-08002B2CF9AE}" pid="5" name="Producer">
    <vt:lpwstr>Microsoft® PowerPoint® 2010</vt:lpwstr>
  </property>
</Properties>
</file>