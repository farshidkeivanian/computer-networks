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952" r:id="rId2"/>
    <p:sldId id="258" r:id="rId3"/>
    <p:sldId id="2021" r:id="rId4"/>
    <p:sldId id="2022" r:id="rId5"/>
    <p:sldId id="2023" r:id="rId6"/>
    <p:sldId id="2024" r:id="rId7"/>
    <p:sldId id="2026" r:id="rId8"/>
    <p:sldId id="2028" r:id="rId9"/>
    <p:sldId id="2027" r:id="rId10"/>
    <p:sldId id="2029" r:id="rId11"/>
    <p:sldId id="2030" r:id="rId12"/>
    <p:sldId id="2031" r:id="rId13"/>
    <p:sldId id="2032" r:id="rId14"/>
    <p:sldId id="2037" r:id="rId15"/>
    <p:sldId id="2038" r:id="rId16"/>
    <p:sldId id="2039" r:id="rId17"/>
    <p:sldId id="2033" r:id="rId18"/>
    <p:sldId id="2034" r:id="rId19"/>
    <p:sldId id="2035" r:id="rId20"/>
    <p:sldId id="2036" r:id="rId21"/>
    <p:sldId id="2040" r:id="rId22"/>
    <p:sldId id="2041" r:id="rId23"/>
    <p:sldId id="2042" r:id="rId24"/>
    <p:sldId id="2043" r:id="rId25"/>
    <p:sldId id="2044" r:id="rId26"/>
    <p:sldId id="2045" r:id="rId27"/>
    <p:sldId id="2046" r:id="rId28"/>
    <p:sldId id="2047" r:id="rId29"/>
    <p:sldId id="2048" r:id="rId30"/>
    <p:sldId id="2049" r:id="rId31"/>
    <p:sldId id="2050" r:id="rId32"/>
    <p:sldId id="2025" r:id="rId33"/>
    <p:sldId id="2051" r:id="rId34"/>
    <p:sldId id="2052" r:id="rId35"/>
    <p:sldId id="2053" r:id="rId36"/>
    <p:sldId id="2054" r:id="rId37"/>
    <p:sldId id="2055" r:id="rId38"/>
    <p:sldId id="2056" r:id="rId39"/>
    <p:sldId id="2057" r:id="rId40"/>
    <p:sldId id="2058" r:id="rId41"/>
    <p:sldId id="2059" r:id="rId42"/>
    <p:sldId id="2060" r:id="rId43"/>
    <p:sldId id="2061" r:id="rId44"/>
    <p:sldId id="2062" r:id="rId45"/>
    <p:sldId id="2063" r:id="rId46"/>
    <p:sldId id="2064" r:id="rId47"/>
    <p:sldId id="2065" r:id="rId48"/>
    <p:sldId id="2066" r:id="rId49"/>
    <p:sldId id="2067" r:id="rId50"/>
    <p:sldId id="2068" r:id="rId51"/>
    <p:sldId id="2069" r:id="rId52"/>
    <p:sldId id="2070" r:id="rId53"/>
    <p:sldId id="2071" r:id="rId54"/>
    <p:sldId id="2072" r:id="rId55"/>
    <p:sldId id="2073" r:id="rId56"/>
    <p:sldId id="2074" r:id="rId57"/>
    <p:sldId id="2075" r:id="rId58"/>
    <p:sldId id="2076" r:id="rId59"/>
    <p:sldId id="2077" r:id="rId60"/>
    <p:sldId id="2078" r:id="rId61"/>
    <p:sldId id="2079" r:id="rId62"/>
    <p:sldId id="2080" r:id="rId63"/>
    <p:sldId id="2082" r:id="rId64"/>
    <p:sldId id="2081" r:id="rId65"/>
    <p:sldId id="2083" r:id="rId66"/>
    <p:sldId id="2084" r:id="rId67"/>
    <p:sldId id="2085" r:id="rId68"/>
    <p:sldId id="2086" r:id="rId69"/>
    <p:sldId id="2087" r:id="rId70"/>
    <p:sldId id="2088" r:id="rId71"/>
    <p:sldId id="2089" r:id="rId72"/>
    <p:sldId id="2090" r:id="rId73"/>
    <p:sldId id="2091" r:id="rId74"/>
    <p:sldId id="1889" r:id="rId75"/>
    <p:sldId id="749" r:id="rId76"/>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50" d="100"/>
          <a:sy n="50" d="100"/>
        </p:scale>
        <p:origin x="1475" y="49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63448" y="62483"/>
            <a:ext cx="2820035" cy="330200"/>
          </a:xfrm>
          <a:prstGeom prst="rect">
            <a:avLst/>
          </a:prstGeom>
        </p:spPr>
        <p:txBody>
          <a:bodyPr wrap="square" lIns="0" tIns="0" rIns="0" bIns="0">
            <a:spAutoFit/>
          </a:bodyPr>
          <a:lstStyle>
            <a:lvl1pPr>
              <a:defRPr sz="2900" b="1" i="0">
                <a:solidFill>
                  <a:srgbClr val="3C3935"/>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p:txBody>
          <a:bodyPr lIns="0" tIns="0" rIns="0" bIns="0"/>
          <a:lstStyle>
            <a:lvl1pPr>
              <a:defRPr sz="1000" b="0" i="0">
                <a:solidFill>
                  <a:srgbClr val="3C3935"/>
                </a:solidFill>
                <a:latin typeface="Arial"/>
                <a:cs typeface="Arial"/>
              </a:defRPr>
            </a:lvl1pPr>
          </a:lstStyle>
          <a:p>
            <a:pPr marL="396875">
              <a:lnSpc>
                <a:spcPct val="100000"/>
              </a:lnSpc>
              <a:spcBef>
                <a:spcPts val="5"/>
              </a:spcBef>
            </a:pPr>
            <a:fld id="{81D60167-4931-47E6-BA6A-407CBD079E47}" type="slidenum">
              <a:rPr spc="-50" dirty="0"/>
              <a:t>‹#›</a:t>
            </a:fld>
            <a:endParaRPr spc="-50" dirty="0"/>
          </a:p>
          <a:p>
            <a:pPr marL="12700">
              <a:lnSpc>
                <a:spcPct val="100000"/>
              </a:lnSpc>
              <a:spcBef>
                <a:spcPts val="35"/>
              </a:spcBef>
            </a:pPr>
            <a:r>
              <a:rPr sz="700" spc="-10" dirty="0">
                <a:solidFill>
                  <a:srgbClr val="D2D2D2"/>
                </a:solidFill>
              </a:rPr>
              <a:t>Presentation_ID</a:t>
            </a:r>
            <a:endParaRPr sz="7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rgbClr val="3C3935"/>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p:txBody>
          <a:bodyPr lIns="0" tIns="0" rIns="0" bIns="0"/>
          <a:lstStyle>
            <a:lvl1pPr>
              <a:defRPr sz="1000" b="0" i="0">
                <a:solidFill>
                  <a:srgbClr val="3C3935"/>
                </a:solidFill>
                <a:latin typeface="Arial"/>
                <a:cs typeface="Arial"/>
              </a:defRPr>
            </a:lvl1pPr>
          </a:lstStyle>
          <a:p>
            <a:pPr marL="396875">
              <a:lnSpc>
                <a:spcPct val="100000"/>
              </a:lnSpc>
              <a:spcBef>
                <a:spcPts val="5"/>
              </a:spcBef>
            </a:pPr>
            <a:fld id="{81D60167-4931-47E6-BA6A-407CBD079E47}" type="slidenum">
              <a:rPr spc="-50" dirty="0"/>
              <a:t>‹#›</a:t>
            </a:fld>
            <a:endParaRPr spc="-50" dirty="0"/>
          </a:p>
          <a:p>
            <a:pPr marL="12700">
              <a:lnSpc>
                <a:spcPct val="100000"/>
              </a:lnSpc>
              <a:spcBef>
                <a:spcPts val="35"/>
              </a:spcBef>
            </a:pPr>
            <a:r>
              <a:rPr sz="700" spc="-10" dirty="0">
                <a:solidFill>
                  <a:srgbClr val="D2D2D2"/>
                </a:solidFill>
              </a:rPr>
              <a:t>Presentation_ID</a:t>
            </a:r>
            <a:endParaRPr sz="7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rgbClr val="3C3935"/>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7" name="Holder 7"/>
          <p:cNvSpPr>
            <a:spLocks noGrp="1"/>
          </p:cNvSpPr>
          <p:nvPr>
            <p:ph type="sldNum" sz="quarter" idx="7"/>
          </p:nvPr>
        </p:nvSpPr>
        <p:spPr/>
        <p:txBody>
          <a:bodyPr lIns="0" tIns="0" rIns="0" bIns="0"/>
          <a:lstStyle>
            <a:lvl1pPr>
              <a:defRPr sz="1000" b="0" i="0">
                <a:solidFill>
                  <a:srgbClr val="3C3935"/>
                </a:solidFill>
                <a:latin typeface="Arial"/>
                <a:cs typeface="Arial"/>
              </a:defRPr>
            </a:lvl1pPr>
          </a:lstStyle>
          <a:p>
            <a:pPr marL="396875">
              <a:lnSpc>
                <a:spcPct val="100000"/>
              </a:lnSpc>
              <a:spcBef>
                <a:spcPts val="5"/>
              </a:spcBef>
            </a:pPr>
            <a:fld id="{81D60167-4931-47E6-BA6A-407CBD079E47}" type="slidenum">
              <a:rPr spc="-50" dirty="0"/>
              <a:t>‹#›</a:t>
            </a:fld>
            <a:endParaRPr spc="-50" dirty="0"/>
          </a:p>
          <a:p>
            <a:pPr marL="12700">
              <a:lnSpc>
                <a:spcPct val="100000"/>
              </a:lnSpc>
              <a:spcBef>
                <a:spcPts val="35"/>
              </a:spcBef>
            </a:pPr>
            <a:r>
              <a:rPr sz="700" spc="-10" dirty="0">
                <a:solidFill>
                  <a:srgbClr val="D2D2D2"/>
                </a:solidFill>
              </a:rPr>
              <a:t>Presentation_ID</a:t>
            </a:r>
            <a:endParaRPr sz="7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rgbClr val="3C3935"/>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5" name="Holder 5"/>
          <p:cNvSpPr>
            <a:spLocks noGrp="1"/>
          </p:cNvSpPr>
          <p:nvPr>
            <p:ph type="sldNum" sz="quarter" idx="7"/>
          </p:nvPr>
        </p:nvSpPr>
        <p:spPr/>
        <p:txBody>
          <a:bodyPr lIns="0" tIns="0" rIns="0" bIns="0"/>
          <a:lstStyle>
            <a:lvl1pPr>
              <a:defRPr sz="1000" b="0" i="0">
                <a:solidFill>
                  <a:srgbClr val="3C3935"/>
                </a:solidFill>
                <a:latin typeface="Arial"/>
                <a:cs typeface="Arial"/>
              </a:defRPr>
            </a:lvl1pPr>
          </a:lstStyle>
          <a:p>
            <a:pPr marL="396875">
              <a:lnSpc>
                <a:spcPct val="100000"/>
              </a:lnSpc>
              <a:spcBef>
                <a:spcPts val="5"/>
              </a:spcBef>
            </a:pPr>
            <a:fld id="{81D60167-4931-47E6-BA6A-407CBD079E47}" type="slidenum">
              <a:rPr spc="-50" dirty="0"/>
              <a:t>‹#›</a:t>
            </a:fld>
            <a:endParaRPr spc="-50" dirty="0"/>
          </a:p>
          <a:p>
            <a:pPr marL="12700">
              <a:lnSpc>
                <a:spcPct val="100000"/>
              </a:lnSpc>
              <a:spcBef>
                <a:spcPts val="35"/>
              </a:spcBef>
            </a:pPr>
            <a:r>
              <a:rPr sz="700" spc="-10" dirty="0">
                <a:solidFill>
                  <a:srgbClr val="D2D2D2"/>
                </a:solidFill>
              </a:rPr>
              <a:t>Presentation_ID</a:t>
            </a:r>
            <a:endParaRPr sz="7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57200"/>
            <a:ext cx="4572000" cy="6388735"/>
          </a:xfrm>
          <a:custGeom>
            <a:avLst/>
            <a:gdLst/>
            <a:ahLst/>
            <a:cxnLst/>
            <a:rect l="l" t="t" r="r" b="b"/>
            <a:pathLst>
              <a:path w="4572000" h="6388734">
                <a:moveTo>
                  <a:pt x="4572000" y="0"/>
                </a:moveTo>
                <a:lnTo>
                  <a:pt x="0" y="0"/>
                </a:lnTo>
                <a:lnTo>
                  <a:pt x="0" y="6388606"/>
                </a:lnTo>
                <a:lnTo>
                  <a:pt x="4572000" y="6388606"/>
                </a:lnTo>
                <a:lnTo>
                  <a:pt x="4572000" y="0"/>
                </a:lnTo>
                <a:close/>
              </a:path>
            </a:pathLst>
          </a:custGeom>
          <a:solidFill>
            <a:srgbClr val="F1120D"/>
          </a:solidFill>
        </p:spPr>
        <p:txBody>
          <a:bodyPr wrap="square" lIns="0" tIns="0" rIns="0" bIns="0" rtlCol="0"/>
          <a:lstStyle/>
          <a:p>
            <a:endParaRPr/>
          </a:p>
        </p:txBody>
      </p:sp>
      <p:sp>
        <p:nvSpPr>
          <p:cNvPr id="17" name="bg object 17"/>
          <p:cNvSpPr/>
          <p:nvPr/>
        </p:nvSpPr>
        <p:spPr>
          <a:xfrm>
            <a:off x="4572000" y="0"/>
            <a:ext cx="4572000" cy="6855459"/>
          </a:xfrm>
          <a:custGeom>
            <a:avLst/>
            <a:gdLst/>
            <a:ahLst/>
            <a:cxnLst/>
            <a:rect l="l" t="t" r="r" b="b"/>
            <a:pathLst>
              <a:path w="4572000" h="6855459">
                <a:moveTo>
                  <a:pt x="4571998" y="0"/>
                </a:moveTo>
                <a:lnTo>
                  <a:pt x="458082" y="0"/>
                </a:lnTo>
                <a:lnTo>
                  <a:pt x="0" y="457325"/>
                </a:lnTo>
                <a:lnTo>
                  <a:pt x="0" y="6854950"/>
                </a:lnTo>
                <a:lnTo>
                  <a:pt x="461137" y="6394576"/>
                </a:lnTo>
                <a:lnTo>
                  <a:pt x="4571998" y="6394576"/>
                </a:lnTo>
                <a:lnTo>
                  <a:pt x="4571998" y="0"/>
                </a:lnTo>
                <a:close/>
              </a:path>
            </a:pathLst>
          </a:custGeom>
          <a:solidFill>
            <a:srgbClr val="3C0E53"/>
          </a:solidFill>
        </p:spPr>
        <p:txBody>
          <a:bodyPr wrap="square" lIns="0" tIns="0" rIns="0" bIns="0" rtlCol="0"/>
          <a:lstStyle/>
          <a:p>
            <a:endParaRPr/>
          </a:p>
        </p:txBody>
      </p:sp>
      <p:pic>
        <p:nvPicPr>
          <p:cNvPr id="18" name="bg object 18"/>
          <p:cNvPicPr/>
          <p:nvPr/>
        </p:nvPicPr>
        <p:blipFill>
          <a:blip r:embed="rId2" cstate="print"/>
          <a:stretch>
            <a:fillRect/>
          </a:stretch>
        </p:blipFill>
        <p:spPr>
          <a:xfrm>
            <a:off x="7559040" y="252984"/>
            <a:ext cx="1374648" cy="80772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4" name="Holder 4"/>
          <p:cNvSpPr>
            <a:spLocks noGrp="1"/>
          </p:cNvSpPr>
          <p:nvPr>
            <p:ph type="sldNum" sz="quarter" idx="7"/>
          </p:nvPr>
        </p:nvSpPr>
        <p:spPr/>
        <p:txBody>
          <a:bodyPr lIns="0" tIns="0" rIns="0" bIns="0"/>
          <a:lstStyle>
            <a:lvl1pPr>
              <a:defRPr sz="1000" b="0" i="0">
                <a:solidFill>
                  <a:srgbClr val="3C3935"/>
                </a:solidFill>
                <a:latin typeface="Arial"/>
                <a:cs typeface="Arial"/>
              </a:defRPr>
            </a:lvl1pPr>
          </a:lstStyle>
          <a:p>
            <a:pPr marL="396875">
              <a:lnSpc>
                <a:spcPct val="100000"/>
              </a:lnSpc>
              <a:spcBef>
                <a:spcPts val="5"/>
              </a:spcBef>
            </a:pPr>
            <a:fld id="{81D60167-4931-47E6-BA6A-407CBD079E47}" type="slidenum">
              <a:rPr spc="-50" dirty="0"/>
              <a:t>‹#›</a:t>
            </a:fld>
            <a:endParaRPr spc="-50" dirty="0"/>
          </a:p>
          <a:p>
            <a:pPr marL="12700">
              <a:lnSpc>
                <a:spcPct val="100000"/>
              </a:lnSpc>
              <a:spcBef>
                <a:spcPts val="35"/>
              </a:spcBef>
            </a:pPr>
            <a:r>
              <a:rPr sz="700" spc="-10" dirty="0">
                <a:solidFill>
                  <a:srgbClr val="D2D2D2"/>
                </a:solidFill>
              </a:rPr>
              <a:t>Presentation_ID</a:t>
            </a:r>
            <a:endParaRPr sz="7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Slide co-branded">
    <p:spTree>
      <p:nvGrpSpPr>
        <p:cNvPr id="1" name=""/>
        <p:cNvGrpSpPr/>
        <p:nvPr/>
      </p:nvGrpSpPr>
      <p:grpSpPr>
        <a:xfrm>
          <a:off x="0" y="0"/>
          <a:ext cx="0" cy="0"/>
          <a:chOff x="0" y="0"/>
          <a:chExt cx="0" cy="0"/>
        </a:xfrm>
      </p:grpSpPr>
      <p:sp>
        <p:nvSpPr>
          <p:cNvPr id="42" name="Rectangle 41"/>
          <p:cNvSpPr/>
          <p:nvPr userDrawn="1"/>
        </p:nvSpPr>
        <p:spPr>
          <a:xfrm>
            <a:off x="1"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 name="Picture 3"/>
          <p:cNvPicPr>
            <a:picLocks noChangeAspect="1"/>
          </p:cNvPicPr>
          <p:nvPr userDrawn="1"/>
        </p:nvPicPr>
        <p:blipFill>
          <a:blip r:embed="rId2"/>
          <a:stretch>
            <a:fillRect/>
          </a:stretch>
        </p:blipFill>
        <p:spPr>
          <a:xfrm>
            <a:off x="0" y="0"/>
            <a:ext cx="9144000" cy="6858000"/>
          </a:xfrm>
          <a:prstGeom prst="rect">
            <a:avLst/>
          </a:prstGeom>
        </p:spPr>
      </p:pic>
      <p:sp>
        <p:nvSpPr>
          <p:cNvPr id="2" name="Title 1"/>
          <p:cNvSpPr>
            <a:spLocks noGrp="1"/>
          </p:cNvSpPr>
          <p:nvPr userDrawn="1">
            <p:ph type="title" hasCustomPrompt="1"/>
          </p:nvPr>
        </p:nvSpPr>
        <p:spPr>
          <a:xfrm>
            <a:off x="873125" y="2658154"/>
            <a:ext cx="3867150" cy="580346"/>
          </a:xfrm>
        </p:spPr>
        <p:txBody>
          <a:bodyPr anchor="b">
            <a:noAutofit/>
          </a:bodyPr>
          <a:lstStyle>
            <a:lvl1pPr>
              <a:defRPr sz="2895"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7" name="Subtitle 2"/>
          <p:cNvSpPr>
            <a:spLocks noGrp="1"/>
          </p:cNvSpPr>
          <p:nvPr userDrawn="1">
            <p:ph type="subTitle" idx="1" hasCustomPrompt="1"/>
          </p:nvPr>
        </p:nvSpPr>
        <p:spPr>
          <a:xfrm>
            <a:off x="873125" y="3652840"/>
            <a:ext cx="3867150" cy="447675"/>
          </a:xfrm>
        </p:spPr>
        <p:txBody>
          <a:bodyPr anchor="b">
            <a:noAutofit/>
          </a:bodyPr>
          <a:lstStyle>
            <a:lvl1pPr marL="0" indent="0" algn="l">
              <a:buNone/>
              <a:defRPr sz="1397">
                <a:solidFill>
                  <a:srgbClr val="3D3935"/>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Subheading</a:t>
            </a:r>
          </a:p>
        </p:txBody>
      </p:sp>
      <p:sp>
        <p:nvSpPr>
          <p:cNvPr id="8" name="Text Placeholder 7"/>
          <p:cNvSpPr>
            <a:spLocks noGrp="1"/>
          </p:cNvSpPr>
          <p:nvPr userDrawn="1">
            <p:ph type="body" sz="quarter" idx="10" hasCustomPrompt="1"/>
          </p:nvPr>
        </p:nvSpPr>
        <p:spPr>
          <a:xfrm>
            <a:off x="873125" y="5316538"/>
            <a:ext cx="3770313" cy="294882"/>
          </a:xfrm>
        </p:spPr>
        <p:txBody>
          <a:bodyPr>
            <a:normAutofit/>
          </a:bodyPr>
          <a:lstStyle>
            <a:lvl1pPr marL="0" indent="0">
              <a:buNone/>
              <a:defRPr sz="1198" b="1" baseline="0">
                <a:solidFill>
                  <a:srgbClr val="3D3935"/>
                </a:solidFill>
                <a:latin typeface="Arial" panose="020B0604020202020204" pitchFamily="34" charset="0"/>
                <a:cs typeface="Arial" panose="020B0604020202020204" pitchFamily="34" charset="0"/>
              </a:defRPr>
            </a:lvl1pPr>
          </a:lstStyle>
          <a:p>
            <a:pPr lvl="0"/>
            <a:r>
              <a:rPr lang="en-AU" dirty="0"/>
              <a:t>Presenter Name</a:t>
            </a:r>
          </a:p>
        </p:txBody>
      </p:sp>
      <p:sp>
        <p:nvSpPr>
          <p:cNvPr id="9" name="Text Placeholder 7"/>
          <p:cNvSpPr>
            <a:spLocks noGrp="1"/>
          </p:cNvSpPr>
          <p:nvPr userDrawn="1">
            <p:ph type="body" sz="quarter" idx="11" hasCustomPrompt="1"/>
          </p:nvPr>
        </p:nvSpPr>
        <p:spPr>
          <a:xfrm>
            <a:off x="873125" y="5611422"/>
            <a:ext cx="3770313" cy="328773"/>
          </a:xfrm>
        </p:spPr>
        <p:txBody>
          <a:bodyPr>
            <a:normAutofit/>
          </a:bodyPr>
          <a:lstStyle>
            <a:lvl1pPr marL="0" indent="0">
              <a:buNone/>
              <a:defRPr sz="1198" baseline="0">
                <a:solidFill>
                  <a:srgbClr val="3D3935"/>
                </a:solidFill>
                <a:latin typeface="Arial" panose="020B0604020202020204" pitchFamily="34" charset="0"/>
                <a:cs typeface="Arial" panose="020B0604020202020204" pitchFamily="34" charset="0"/>
              </a:defRPr>
            </a:lvl1pPr>
          </a:lstStyle>
          <a:p>
            <a:pPr lvl="0"/>
            <a:r>
              <a:rPr lang="en-AU" dirty="0"/>
              <a:t>Date</a:t>
            </a:r>
          </a:p>
        </p:txBody>
      </p:sp>
      <p:sp>
        <p:nvSpPr>
          <p:cNvPr id="44" name="Picture Placeholder 85"/>
          <p:cNvSpPr>
            <a:spLocks noGrp="1"/>
          </p:cNvSpPr>
          <p:nvPr userDrawn="1">
            <p:ph type="pic" sz="quarter" idx="13" hasCustomPrompt="1"/>
          </p:nvPr>
        </p:nvSpPr>
        <p:spPr>
          <a:xfrm>
            <a:off x="6639195" y="2653278"/>
            <a:ext cx="1766125" cy="502731"/>
          </a:xfrm>
        </p:spPr>
        <p:txBody>
          <a:bodyPr/>
          <a:lstStyle>
            <a:lvl1pPr marL="0" indent="0">
              <a:buNone/>
              <a:defRPr sz="900">
                <a:solidFill>
                  <a:srgbClr val="3D3935"/>
                </a:solidFill>
                <a:latin typeface="Arial" panose="020B0604020202020204" pitchFamily="34" charset="0"/>
                <a:cs typeface="Arial" panose="020B0604020202020204" pitchFamily="34" charset="0"/>
              </a:defRPr>
            </a:lvl1pPr>
          </a:lstStyle>
          <a:p>
            <a:r>
              <a:rPr lang="en-US" dirty="0"/>
              <a:t>Drag co-branded logo to placeholder or click icon to add</a:t>
            </a:r>
            <a:endParaRPr lang="en-AU" dirty="0"/>
          </a:p>
        </p:txBody>
      </p:sp>
      <p:grpSp>
        <p:nvGrpSpPr>
          <p:cNvPr id="45" name="Group 44"/>
          <p:cNvGrpSpPr/>
          <p:nvPr userDrawn="1"/>
        </p:nvGrpSpPr>
        <p:grpSpPr>
          <a:xfrm>
            <a:off x="7401259" y="6092825"/>
            <a:ext cx="1374019" cy="484188"/>
            <a:chOff x="7401258" y="365125"/>
            <a:chExt cx="1374019" cy="484188"/>
          </a:xfrm>
        </p:grpSpPr>
        <p:sp>
          <p:nvSpPr>
            <p:cNvPr id="46"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8"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9"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0"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1"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2"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3"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4"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266525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47" y="0"/>
            <a:ext cx="5026660" cy="454659"/>
          </a:xfrm>
          <a:custGeom>
            <a:avLst/>
            <a:gdLst/>
            <a:ahLst/>
            <a:cxnLst/>
            <a:rect l="l" t="t" r="r" b="b"/>
            <a:pathLst>
              <a:path w="5026660" h="454659">
                <a:moveTo>
                  <a:pt x="5026131" y="0"/>
                </a:moveTo>
                <a:lnTo>
                  <a:pt x="0" y="0"/>
                </a:lnTo>
                <a:lnTo>
                  <a:pt x="0" y="454150"/>
                </a:lnTo>
                <a:lnTo>
                  <a:pt x="4568951" y="454150"/>
                </a:lnTo>
                <a:lnTo>
                  <a:pt x="5026131" y="0"/>
                </a:lnTo>
                <a:close/>
              </a:path>
            </a:pathLst>
          </a:custGeom>
          <a:solidFill>
            <a:srgbClr val="E8E2DB"/>
          </a:solidFill>
        </p:spPr>
        <p:txBody>
          <a:bodyPr wrap="square" lIns="0" tIns="0" rIns="0" bIns="0" rtlCol="0"/>
          <a:lstStyle/>
          <a:p>
            <a:endParaRPr/>
          </a:p>
        </p:txBody>
      </p:sp>
      <p:sp>
        <p:nvSpPr>
          <p:cNvPr id="17" name="bg object 17"/>
          <p:cNvSpPr/>
          <p:nvPr/>
        </p:nvSpPr>
        <p:spPr>
          <a:xfrm>
            <a:off x="4572000" y="6397751"/>
            <a:ext cx="4569460" cy="457200"/>
          </a:xfrm>
          <a:custGeom>
            <a:avLst/>
            <a:gdLst/>
            <a:ahLst/>
            <a:cxnLst/>
            <a:rect l="l" t="t" r="r" b="b"/>
            <a:pathLst>
              <a:path w="4569459" h="457200">
                <a:moveTo>
                  <a:pt x="4568953" y="0"/>
                </a:moveTo>
                <a:lnTo>
                  <a:pt x="460248" y="0"/>
                </a:lnTo>
                <a:lnTo>
                  <a:pt x="0" y="457198"/>
                </a:lnTo>
                <a:lnTo>
                  <a:pt x="4568953" y="457198"/>
                </a:lnTo>
                <a:lnTo>
                  <a:pt x="4568953" y="0"/>
                </a:lnTo>
                <a:close/>
              </a:path>
            </a:pathLst>
          </a:custGeom>
          <a:solidFill>
            <a:srgbClr val="E8E2DB"/>
          </a:solidFill>
        </p:spPr>
        <p:txBody>
          <a:bodyPr wrap="square" lIns="0" tIns="0" rIns="0" bIns="0" rtlCol="0"/>
          <a:lstStyle/>
          <a:p>
            <a:endParaRPr/>
          </a:p>
        </p:txBody>
      </p:sp>
      <p:pic>
        <p:nvPicPr>
          <p:cNvPr id="18" name="bg object 18"/>
          <p:cNvPicPr/>
          <p:nvPr/>
        </p:nvPicPr>
        <p:blipFill>
          <a:blip r:embed="rId8" cstate="print"/>
          <a:stretch>
            <a:fillRect/>
          </a:stretch>
        </p:blipFill>
        <p:spPr>
          <a:xfrm>
            <a:off x="7679476" y="331684"/>
            <a:ext cx="1137925" cy="642031"/>
          </a:xfrm>
          <a:prstGeom prst="rect">
            <a:avLst/>
          </a:prstGeom>
        </p:spPr>
      </p:pic>
      <p:sp>
        <p:nvSpPr>
          <p:cNvPr id="2" name="Holder 2"/>
          <p:cNvSpPr>
            <a:spLocks noGrp="1"/>
          </p:cNvSpPr>
          <p:nvPr>
            <p:ph type="title"/>
          </p:nvPr>
        </p:nvSpPr>
        <p:spPr>
          <a:xfrm>
            <a:off x="347268" y="981963"/>
            <a:ext cx="8449463" cy="452119"/>
          </a:xfrm>
          <a:prstGeom prst="rect">
            <a:avLst/>
          </a:prstGeom>
        </p:spPr>
        <p:txBody>
          <a:bodyPr wrap="square" lIns="0" tIns="0" rIns="0" bIns="0">
            <a:spAutoFit/>
          </a:bodyPr>
          <a:lstStyle>
            <a:lvl1pPr>
              <a:defRPr sz="2900" b="1" i="0">
                <a:solidFill>
                  <a:srgbClr val="3C3935"/>
                </a:solidFill>
                <a:latin typeface="Arial"/>
                <a:cs typeface="Arial"/>
              </a:defRPr>
            </a:lvl1pPr>
          </a:lstStyle>
          <a:p>
            <a:endParaRPr/>
          </a:p>
        </p:txBody>
      </p:sp>
      <p:sp>
        <p:nvSpPr>
          <p:cNvPr id="3" name="Holder 3"/>
          <p:cNvSpPr>
            <a:spLocks noGrp="1"/>
          </p:cNvSpPr>
          <p:nvPr>
            <p:ph type="body" idx="1"/>
          </p:nvPr>
        </p:nvSpPr>
        <p:spPr>
          <a:xfrm>
            <a:off x="481683" y="1904998"/>
            <a:ext cx="8326755" cy="409130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a:xfrm>
            <a:off x="263142" y="6553546"/>
            <a:ext cx="645160" cy="278129"/>
          </a:xfrm>
          <a:prstGeom prst="rect">
            <a:avLst/>
          </a:prstGeom>
        </p:spPr>
        <p:txBody>
          <a:bodyPr wrap="square" lIns="0" tIns="0" rIns="0" bIns="0">
            <a:spAutoFit/>
          </a:bodyPr>
          <a:lstStyle>
            <a:lvl1pPr>
              <a:defRPr sz="1000" b="0" i="0">
                <a:solidFill>
                  <a:srgbClr val="3C3935"/>
                </a:solidFill>
                <a:latin typeface="Arial"/>
                <a:cs typeface="Arial"/>
              </a:defRPr>
            </a:lvl1pPr>
          </a:lstStyle>
          <a:p>
            <a:pPr marL="396875">
              <a:lnSpc>
                <a:spcPct val="100000"/>
              </a:lnSpc>
              <a:spcBef>
                <a:spcPts val="5"/>
              </a:spcBef>
            </a:pPr>
            <a:fld id="{81D60167-4931-47E6-BA6A-407CBD079E47}" type="slidenum">
              <a:rPr spc="-50" dirty="0"/>
              <a:t>‹#›</a:t>
            </a:fld>
            <a:endParaRPr spc="-50" dirty="0"/>
          </a:p>
          <a:p>
            <a:pPr marL="12700">
              <a:lnSpc>
                <a:spcPct val="100000"/>
              </a:lnSpc>
              <a:spcBef>
                <a:spcPts val="35"/>
              </a:spcBef>
            </a:pPr>
            <a:r>
              <a:rPr sz="700" spc="-10" dirty="0">
                <a:solidFill>
                  <a:srgbClr val="D2D2D2"/>
                </a:solidFill>
              </a:rPr>
              <a:t>Presentation_ID</a:t>
            </a:r>
            <a:endParaRPr sz="7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ACF62-ED9D-4C0F-A976-E9C35DDB35EB}"/>
              </a:ext>
            </a:extLst>
          </p:cNvPr>
          <p:cNvSpPr>
            <a:spLocks noGrp="1"/>
          </p:cNvSpPr>
          <p:nvPr>
            <p:ph type="title"/>
          </p:nvPr>
        </p:nvSpPr>
        <p:spPr>
          <a:xfrm>
            <a:off x="628650" y="1066800"/>
            <a:ext cx="3280028" cy="1284958"/>
          </a:xfrm>
        </p:spPr>
        <p:txBody>
          <a:bodyPr/>
          <a:lstStyle/>
          <a:p>
            <a:r>
              <a:rPr lang="en-AU" sz="2550" dirty="0"/>
              <a:t>Subnetting Practice Week</a:t>
            </a:r>
          </a:p>
        </p:txBody>
      </p:sp>
      <p:sp>
        <p:nvSpPr>
          <p:cNvPr id="3" name="Subtitle 2">
            <a:extLst>
              <a:ext uri="{FF2B5EF4-FFF2-40B4-BE49-F238E27FC236}">
                <a16:creationId xmlns:a16="http://schemas.microsoft.com/office/drawing/2014/main" id="{23EEDDFE-62E7-4B7A-B286-FF3EA6C173A5}"/>
              </a:ext>
            </a:extLst>
          </p:cNvPr>
          <p:cNvSpPr>
            <a:spLocks noGrp="1"/>
          </p:cNvSpPr>
          <p:nvPr>
            <p:ph type="subTitle" idx="1"/>
          </p:nvPr>
        </p:nvSpPr>
        <p:spPr>
          <a:xfrm>
            <a:off x="628650" y="4000501"/>
            <a:ext cx="2900363" cy="335756"/>
          </a:xfrm>
        </p:spPr>
        <p:txBody>
          <a:bodyPr/>
          <a:lstStyle/>
          <a:p>
            <a:r>
              <a:rPr lang="en-AU" sz="1500" b="1" dirty="0"/>
              <a:t>Week 8</a:t>
            </a:r>
          </a:p>
        </p:txBody>
      </p:sp>
      <p:sp>
        <p:nvSpPr>
          <p:cNvPr id="4" name="Subtitle 2">
            <a:extLst>
              <a:ext uri="{FF2B5EF4-FFF2-40B4-BE49-F238E27FC236}">
                <a16:creationId xmlns:a16="http://schemas.microsoft.com/office/drawing/2014/main" id="{0E70E932-4411-F845-C640-9F68C2F38075}"/>
              </a:ext>
            </a:extLst>
          </p:cNvPr>
          <p:cNvSpPr txBox="1">
            <a:spLocks/>
          </p:cNvSpPr>
          <p:nvPr/>
        </p:nvSpPr>
        <p:spPr>
          <a:xfrm>
            <a:off x="628650" y="4686301"/>
            <a:ext cx="2900363" cy="335756"/>
          </a:xfrm>
          <a:prstGeom prst="rect">
            <a:avLst/>
          </a:prstGeom>
        </p:spPr>
        <p:txBody>
          <a:bodyPr vert="horz" lIns="68580" tIns="34290" rIns="68580" bIns="34290" rtlCol="0" anchor="b">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863" kern="1200">
                <a:solidFill>
                  <a:srgbClr val="3D3935"/>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100000"/>
              </a:lnSpc>
              <a:spcBef>
                <a:spcPts val="500"/>
              </a:spcBef>
              <a:buClr>
                <a:srgbClr val="F2120C"/>
              </a:buClr>
              <a:buFont typeface="Arial" panose="020B0604020202020204" pitchFamily="34" charset="0"/>
              <a:buNone/>
              <a:defRPr sz="2000" kern="1200">
                <a:solidFill>
                  <a:srgbClr val="3D3935"/>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100000"/>
              </a:lnSpc>
              <a:spcBef>
                <a:spcPts val="500"/>
              </a:spcBef>
              <a:buClr>
                <a:srgbClr val="F2120C"/>
              </a:buClr>
              <a:buFont typeface="Arial" panose="020B0604020202020204" pitchFamily="34" charset="0"/>
              <a:buNone/>
              <a:defRPr sz="1800" kern="1200">
                <a:solidFill>
                  <a:srgbClr val="3D3935"/>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100000"/>
              </a:lnSpc>
              <a:spcBef>
                <a:spcPts val="500"/>
              </a:spcBef>
              <a:buClr>
                <a:srgbClr val="F2120C"/>
              </a:buClr>
              <a:buFont typeface="Arial" panose="020B0604020202020204" pitchFamily="34" charset="0"/>
              <a:buNone/>
              <a:defRPr sz="1600" kern="1200">
                <a:solidFill>
                  <a:srgbClr val="3D3935"/>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100000"/>
              </a:lnSpc>
              <a:spcBef>
                <a:spcPts val="500"/>
              </a:spcBef>
              <a:buClr>
                <a:srgbClr val="F2120C"/>
              </a:buClr>
              <a:buFont typeface="Arial" panose="020B0604020202020204" pitchFamily="34" charset="0"/>
              <a:buNone/>
              <a:defRPr sz="1600" kern="1200">
                <a:solidFill>
                  <a:srgbClr val="3D3935"/>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750"/>
              </a:spcBef>
              <a:spcAft>
                <a:spcPts val="0"/>
              </a:spcAft>
              <a:buClr>
                <a:srgbClr val="F2120C"/>
              </a:buClr>
              <a:buSzTx/>
              <a:buFont typeface="Arial" panose="020B0604020202020204" pitchFamily="34" charset="0"/>
              <a:buNone/>
              <a:tabLst/>
              <a:defRPr/>
            </a:pPr>
            <a:r>
              <a:rPr kumimoji="0" lang="en-AU" sz="1500" b="1" i="0" u="none" strike="noStrike" kern="1200" cap="none" spc="0" normalizeH="0" baseline="0" noProof="0" dirty="0">
                <a:ln>
                  <a:noFill/>
                </a:ln>
                <a:solidFill>
                  <a:srgbClr val="3D3935"/>
                </a:solidFill>
                <a:effectLst/>
                <a:uLnTx/>
                <a:uFillTx/>
                <a:latin typeface="Arial" panose="020B0604020202020204" pitchFamily="34" charset="0"/>
                <a:ea typeface="+mn-ea"/>
                <a:cs typeface="Arial" panose="020B0604020202020204" pitchFamily="34" charset="0"/>
              </a:rPr>
              <a:t>Dr. Farshid Keivanian</a:t>
            </a:r>
          </a:p>
        </p:txBody>
      </p:sp>
    </p:spTree>
    <p:extLst>
      <p:ext uri="{BB962C8B-B14F-4D97-AF65-F5344CB8AC3E}">
        <p14:creationId xmlns:p14="http://schemas.microsoft.com/office/powerpoint/2010/main" val="2033549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descr="$PPTXTitle"/>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Today we </a:t>
            </a:r>
            <a:r>
              <a:rPr lang="en-US" dirty="0" err="1">
                <a:solidFill>
                  <a:schemeClr val="tx1"/>
                </a:solidFill>
              </a:rPr>
              <a:t>practise</a:t>
            </a:r>
            <a:r>
              <a:rPr lang="en-US" dirty="0">
                <a:solidFill>
                  <a:schemeClr val="tx1"/>
                </a:solidFill>
              </a:rPr>
              <a:t> IPv4 subnetting.</a:t>
            </a:r>
            <a:endParaRPr dirty="0">
              <a:solidFill>
                <a:schemeClr val="tx1"/>
              </a:solidFill>
            </a:endParaRPr>
          </a:p>
        </p:txBody>
      </p:sp>
      <p:sp>
        <p:nvSpPr>
          <p:cNvPr id="15" name="object 15"/>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E197B264-ADF2-C8B5-C472-638FA56BBB2E}"/>
              </a:ext>
            </a:extLst>
          </p:cNvPr>
          <p:cNvSpPr txBox="1"/>
          <p:nvPr/>
        </p:nvSpPr>
        <p:spPr>
          <a:xfrm>
            <a:off x="381000" y="990601"/>
            <a:ext cx="8382000" cy="4549835"/>
          </a:xfrm>
          <a:prstGeom prst="rect">
            <a:avLst/>
          </a:prstGeom>
          <a:noFill/>
        </p:spPr>
        <p:txBody>
          <a:bodyPr wrap="square">
            <a:spAutoFit/>
          </a:bodyPr>
          <a:lstStyle/>
          <a:p>
            <a:pPr>
              <a:lnSpc>
                <a:spcPct val="150000"/>
              </a:lnSpc>
              <a:buNone/>
            </a:pPr>
            <a:r>
              <a:rPr lang="en-US" sz="2800" dirty="0">
                <a:latin typeface="+mj-lt"/>
              </a:rPr>
              <a:t>By the end of this class, you should be able to:</a:t>
            </a:r>
          </a:p>
          <a:p>
            <a:pPr marL="536575" lvl="0" indent="-342900">
              <a:lnSpc>
                <a:spcPct val="150000"/>
              </a:lnSpc>
              <a:buFont typeface="Arial" panose="020B0604020202020204" pitchFamily="34" charset="0"/>
              <a:buChar char="•"/>
            </a:pPr>
            <a:r>
              <a:rPr lang="en-US" sz="2800" dirty="0">
                <a:latin typeface="+mj-lt"/>
              </a:rPr>
              <a:t>identify the subnet mask and prefix </a:t>
            </a:r>
          </a:p>
          <a:p>
            <a:pPr marL="536575" lvl="0" indent="-342900">
              <a:lnSpc>
                <a:spcPct val="150000"/>
              </a:lnSpc>
              <a:buFont typeface="Arial" panose="020B0604020202020204" pitchFamily="34" charset="0"/>
              <a:buChar char="•"/>
            </a:pPr>
            <a:r>
              <a:rPr lang="en-US" sz="2800" dirty="0">
                <a:latin typeface="+mj-lt"/>
              </a:rPr>
              <a:t>calculate network and broadcast addresses </a:t>
            </a:r>
          </a:p>
          <a:p>
            <a:pPr marL="536575" lvl="0" indent="-342900">
              <a:lnSpc>
                <a:spcPct val="150000"/>
              </a:lnSpc>
              <a:buFont typeface="Arial" panose="020B0604020202020204" pitchFamily="34" charset="0"/>
              <a:buChar char="•"/>
            </a:pPr>
            <a:r>
              <a:rPr lang="en-US" sz="2800" dirty="0">
                <a:latin typeface="+mj-lt"/>
              </a:rPr>
              <a:t>find first and last usable host addresses </a:t>
            </a:r>
          </a:p>
          <a:p>
            <a:pPr marL="536575" lvl="0" indent="-342900">
              <a:lnSpc>
                <a:spcPct val="150000"/>
              </a:lnSpc>
              <a:buFont typeface="Arial" panose="020B0604020202020204" pitchFamily="34" charset="0"/>
              <a:buChar char="•"/>
            </a:pPr>
            <a:r>
              <a:rPr lang="en-US" sz="2800" dirty="0">
                <a:latin typeface="+mj-lt"/>
              </a:rPr>
              <a:t>calculate the number of usable hosts </a:t>
            </a:r>
          </a:p>
          <a:p>
            <a:pPr marL="536575" lvl="0" indent="-342900">
              <a:lnSpc>
                <a:spcPct val="150000"/>
              </a:lnSpc>
              <a:buFont typeface="Arial" panose="020B0604020202020204" pitchFamily="34" charset="0"/>
              <a:buChar char="•"/>
            </a:pPr>
            <a:r>
              <a:rPr lang="en-US" sz="2800" dirty="0">
                <a:latin typeface="+mj-lt"/>
              </a:rPr>
              <a:t>calculate the number of created subnets </a:t>
            </a:r>
          </a:p>
          <a:p>
            <a:pPr marL="536575" lvl="0" indent="-342900">
              <a:lnSpc>
                <a:spcPct val="150000"/>
              </a:lnSpc>
              <a:buFont typeface="Arial" panose="020B0604020202020204" pitchFamily="34" charset="0"/>
              <a:buChar char="•"/>
            </a:pPr>
            <a:r>
              <a:rPr lang="en-US" sz="2800" dirty="0">
                <a:latin typeface="+mj-lt"/>
              </a:rPr>
              <a:t>solve AT2-style subnetting problems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283FC-1435-F608-2D15-FE470786A057}"/>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CB385E08-1B7C-EE03-7605-B840A7E62CD8}"/>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Today we </a:t>
            </a:r>
            <a:r>
              <a:rPr lang="en-US" dirty="0" err="1">
                <a:solidFill>
                  <a:schemeClr val="tx1"/>
                </a:solidFill>
              </a:rPr>
              <a:t>practise</a:t>
            </a:r>
            <a:r>
              <a:rPr lang="en-US" dirty="0">
                <a:solidFill>
                  <a:schemeClr val="tx1"/>
                </a:solidFill>
              </a:rPr>
              <a:t> IPv4 subnetting.</a:t>
            </a:r>
            <a:endParaRPr dirty="0">
              <a:solidFill>
                <a:schemeClr val="tx1"/>
              </a:solidFill>
            </a:endParaRPr>
          </a:p>
        </p:txBody>
      </p:sp>
      <p:sp>
        <p:nvSpPr>
          <p:cNvPr id="15" name="object 15">
            <a:extLst>
              <a:ext uri="{FF2B5EF4-FFF2-40B4-BE49-F238E27FC236}">
                <a16:creationId xmlns:a16="http://schemas.microsoft.com/office/drawing/2014/main" id="{9673E6D2-5F0C-16BC-6904-5AEBC335AF96}"/>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3A7037E3-6CE3-0C7C-59CE-9FF8991D4504}"/>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8DE8D55F-84BB-6556-81C8-74BB37BFA99C}"/>
              </a:ext>
            </a:extLst>
          </p:cNvPr>
          <p:cNvSpPr txBox="1"/>
          <p:nvPr/>
        </p:nvSpPr>
        <p:spPr>
          <a:xfrm>
            <a:off x="457200" y="1295401"/>
            <a:ext cx="8229600" cy="3903504"/>
          </a:xfrm>
          <a:prstGeom prst="rect">
            <a:avLst/>
          </a:prstGeom>
          <a:noFill/>
        </p:spPr>
        <p:txBody>
          <a:bodyPr wrap="square">
            <a:spAutoFit/>
          </a:bodyPr>
          <a:lstStyle/>
          <a:p>
            <a:pPr>
              <a:lnSpc>
                <a:spcPct val="150000"/>
              </a:lnSpc>
              <a:buNone/>
            </a:pPr>
            <a:r>
              <a:rPr lang="en-US" sz="2800" b="1" dirty="0">
                <a:latin typeface="+mj-lt"/>
              </a:rPr>
              <a:t>Key idea:</a:t>
            </a:r>
            <a:endParaRPr lang="en-US" sz="2800" dirty="0">
              <a:latin typeface="+mj-lt"/>
            </a:endParaRPr>
          </a:p>
          <a:p>
            <a:pPr>
              <a:lnSpc>
                <a:spcPct val="150000"/>
              </a:lnSpc>
              <a:buNone/>
            </a:pPr>
            <a:r>
              <a:rPr lang="en-US" sz="2800" dirty="0">
                <a:latin typeface="+mj-lt"/>
              </a:rPr>
              <a:t>This week is mainly about solving problems, not learning many new concepts.</a:t>
            </a:r>
          </a:p>
          <a:p>
            <a:pPr>
              <a:lnSpc>
                <a:spcPct val="150000"/>
              </a:lnSpc>
              <a:buNone/>
            </a:pPr>
            <a:r>
              <a:rPr lang="en-US" sz="2800" b="1" dirty="0">
                <a:latin typeface="+mj-lt"/>
              </a:rPr>
              <a:t>Australian example:</a:t>
            </a:r>
            <a:br>
              <a:rPr lang="en-US" sz="2800" dirty="0">
                <a:latin typeface="+mj-lt"/>
              </a:rPr>
            </a:br>
            <a:r>
              <a:rPr lang="en-US" sz="2800" dirty="0">
                <a:latin typeface="+mj-lt"/>
              </a:rPr>
              <a:t>Imagine you are designing IP networks for different departments in an Australian university campus.</a:t>
            </a:r>
          </a:p>
        </p:txBody>
      </p:sp>
    </p:spTree>
    <p:extLst>
      <p:ext uri="{BB962C8B-B14F-4D97-AF65-F5344CB8AC3E}">
        <p14:creationId xmlns:p14="http://schemas.microsoft.com/office/powerpoint/2010/main" val="3130454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124AE-B537-986D-1C9A-F2AA14A80FF9}"/>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80374C1B-9A9E-D162-04A3-D0833A4DD1B2}"/>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Why Are We </a:t>
            </a:r>
            <a:r>
              <a:rPr lang="en-US" dirty="0" err="1">
                <a:solidFill>
                  <a:schemeClr val="tx1"/>
                </a:solidFill>
              </a:rPr>
              <a:t>Practising</a:t>
            </a:r>
            <a:r>
              <a:rPr lang="en-US" dirty="0">
                <a:solidFill>
                  <a:schemeClr val="tx1"/>
                </a:solidFill>
              </a:rPr>
              <a:t> Subnetting?</a:t>
            </a:r>
            <a:endParaRPr dirty="0">
              <a:solidFill>
                <a:schemeClr val="tx1"/>
              </a:solidFill>
            </a:endParaRPr>
          </a:p>
        </p:txBody>
      </p:sp>
      <p:sp>
        <p:nvSpPr>
          <p:cNvPr id="15" name="object 15">
            <a:extLst>
              <a:ext uri="{FF2B5EF4-FFF2-40B4-BE49-F238E27FC236}">
                <a16:creationId xmlns:a16="http://schemas.microsoft.com/office/drawing/2014/main" id="{2DA9BA23-F37D-6E0E-20F5-2343CD0113CC}"/>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3140D26B-12E4-6FE6-D7D9-ED9BAA99C364}"/>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61E5A553-4528-2580-5705-2BA06FC04583}"/>
              </a:ext>
            </a:extLst>
          </p:cNvPr>
          <p:cNvSpPr txBox="1"/>
          <p:nvPr/>
        </p:nvSpPr>
        <p:spPr>
          <a:xfrm>
            <a:off x="263142" y="1066800"/>
            <a:ext cx="8617716" cy="5196166"/>
          </a:xfrm>
          <a:prstGeom prst="rect">
            <a:avLst/>
          </a:prstGeom>
          <a:noFill/>
        </p:spPr>
        <p:txBody>
          <a:bodyPr wrap="square">
            <a:spAutoFit/>
          </a:bodyPr>
          <a:lstStyle/>
          <a:p>
            <a:pPr>
              <a:lnSpc>
                <a:spcPct val="150000"/>
              </a:lnSpc>
              <a:buNone/>
            </a:pPr>
            <a:r>
              <a:rPr lang="en-US" sz="2800" dirty="0">
                <a:latin typeface="+mj-lt"/>
              </a:rPr>
              <a:t>Subnetting is used to divide one large IP network into smaller networks.</a:t>
            </a:r>
          </a:p>
          <a:p>
            <a:pPr>
              <a:lnSpc>
                <a:spcPct val="150000"/>
              </a:lnSpc>
              <a:buNone/>
            </a:pPr>
            <a:r>
              <a:rPr lang="en-US" sz="2800" dirty="0">
                <a:latin typeface="+mj-lt"/>
              </a:rPr>
              <a:t>This helps us:</a:t>
            </a:r>
          </a:p>
          <a:p>
            <a:pPr marL="536575" lvl="0" indent="-342900">
              <a:lnSpc>
                <a:spcPct val="150000"/>
              </a:lnSpc>
              <a:buFont typeface="Arial" panose="020B0604020202020204" pitchFamily="34" charset="0"/>
              <a:buChar char="•"/>
            </a:pPr>
            <a:r>
              <a:rPr lang="en-US" sz="2800" dirty="0" err="1">
                <a:latin typeface="+mj-lt"/>
              </a:rPr>
              <a:t>organise</a:t>
            </a:r>
            <a:r>
              <a:rPr lang="en-US" sz="2800" dirty="0">
                <a:latin typeface="+mj-lt"/>
              </a:rPr>
              <a:t> devices </a:t>
            </a:r>
          </a:p>
          <a:p>
            <a:pPr marL="536575" lvl="0" indent="-342900">
              <a:lnSpc>
                <a:spcPct val="150000"/>
              </a:lnSpc>
              <a:buFont typeface="Arial" panose="020B0604020202020204" pitchFamily="34" charset="0"/>
              <a:buChar char="•"/>
            </a:pPr>
            <a:r>
              <a:rPr lang="en-US" sz="2800" dirty="0">
                <a:latin typeface="+mj-lt"/>
              </a:rPr>
              <a:t>reduce unnecessary broadcast traffic </a:t>
            </a:r>
          </a:p>
          <a:p>
            <a:pPr marL="536575" lvl="0" indent="-342900">
              <a:lnSpc>
                <a:spcPct val="150000"/>
              </a:lnSpc>
              <a:buFont typeface="Arial" panose="020B0604020202020204" pitchFamily="34" charset="0"/>
              <a:buChar char="•"/>
            </a:pPr>
            <a:r>
              <a:rPr lang="en-US" sz="2800" dirty="0">
                <a:latin typeface="+mj-lt"/>
              </a:rPr>
              <a:t>use IP addresses efficiently </a:t>
            </a:r>
          </a:p>
          <a:p>
            <a:pPr marL="536575" lvl="0" indent="-342900">
              <a:lnSpc>
                <a:spcPct val="150000"/>
              </a:lnSpc>
              <a:buFont typeface="Arial" panose="020B0604020202020204" pitchFamily="34" charset="0"/>
              <a:buChar char="•"/>
            </a:pPr>
            <a:r>
              <a:rPr lang="en-US" sz="2800" dirty="0">
                <a:latin typeface="+mj-lt"/>
              </a:rPr>
              <a:t>separate departments or locations </a:t>
            </a:r>
          </a:p>
          <a:p>
            <a:pPr marL="536575" lvl="0" indent="-342900">
              <a:lnSpc>
                <a:spcPct val="150000"/>
              </a:lnSpc>
              <a:buFont typeface="Arial" panose="020B0604020202020204" pitchFamily="34" charset="0"/>
              <a:buChar char="•"/>
            </a:pPr>
            <a:r>
              <a:rPr lang="en-US" sz="2800" dirty="0">
                <a:latin typeface="+mj-lt"/>
              </a:rPr>
              <a:t>design scalable networks</a:t>
            </a:r>
          </a:p>
        </p:txBody>
      </p:sp>
    </p:spTree>
    <p:extLst>
      <p:ext uri="{BB962C8B-B14F-4D97-AF65-F5344CB8AC3E}">
        <p14:creationId xmlns:p14="http://schemas.microsoft.com/office/powerpoint/2010/main" val="1291278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750AB-A0D9-95CB-7495-166DA77F957D}"/>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38B7880E-6C62-8FBF-1414-CC58F93F4D50}"/>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Why Are We </a:t>
            </a:r>
            <a:r>
              <a:rPr lang="en-US" dirty="0" err="1">
                <a:solidFill>
                  <a:schemeClr val="tx1"/>
                </a:solidFill>
              </a:rPr>
              <a:t>Practising</a:t>
            </a:r>
            <a:r>
              <a:rPr lang="en-US" dirty="0">
                <a:solidFill>
                  <a:schemeClr val="tx1"/>
                </a:solidFill>
              </a:rPr>
              <a:t> Subnetting?</a:t>
            </a:r>
            <a:endParaRPr dirty="0">
              <a:solidFill>
                <a:schemeClr val="tx1"/>
              </a:solidFill>
            </a:endParaRPr>
          </a:p>
        </p:txBody>
      </p:sp>
      <p:sp>
        <p:nvSpPr>
          <p:cNvPr id="15" name="object 15">
            <a:extLst>
              <a:ext uri="{FF2B5EF4-FFF2-40B4-BE49-F238E27FC236}">
                <a16:creationId xmlns:a16="http://schemas.microsoft.com/office/drawing/2014/main" id="{E0A4E989-87EA-92C1-E41E-FA55A213C8E9}"/>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8AAD9458-E810-DB6F-6922-0322E4075F5C}"/>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1208853B-D26A-DD5B-3386-8164830D2134}"/>
              </a:ext>
            </a:extLst>
          </p:cNvPr>
          <p:cNvSpPr txBox="1"/>
          <p:nvPr/>
        </p:nvSpPr>
        <p:spPr>
          <a:xfrm>
            <a:off x="263142" y="1066800"/>
            <a:ext cx="8617716" cy="4549835"/>
          </a:xfrm>
          <a:prstGeom prst="rect">
            <a:avLst/>
          </a:prstGeom>
          <a:noFill/>
        </p:spPr>
        <p:txBody>
          <a:bodyPr wrap="square">
            <a:spAutoFit/>
          </a:bodyPr>
          <a:lstStyle/>
          <a:p>
            <a:pPr>
              <a:lnSpc>
                <a:spcPct val="150000"/>
              </a:lnSpc>
              <a:buNone/>
            </a:pPr>
            <a:r>
              <a:rPr lang="en-US" sz="2800" b="1" dirty="0">
                <a:latin typeface="+mj-lt"/>
              </a:rPr>
              <a:t>Australian example:</a:t>
            </a:r>
            <a:endParaRPr lang="en-US" sz="2800" dirty="0">
              <a:latin typeface="+mj-lt"/>
            </a:endParaRPr>
          </a:p>
          <a:p>
            <a:pPr>
              <a:lnSpc>
                <a:spcPct val="150000"/>
              </a:lnSpc>
              <a:buNone/>
            </a:pPr>
            <a:r>
              <a:rPr lang="en-US" sz="2800" dirty="0">
                <a:latin typeface="+mj-lt"/>
              </a:rPr>
              <a:t>An Australian university might use separate subnets for:</a:t>
            </a:r>
          </a:p>
          <a:p>
            <a:pPr marL="342900" lvl="0" indent="-342900">
              <a:lnSpc>
                <a:spcPct val="150000"/>
              </a:lnSpc>
              <a:buFont typeface="Arial" panose="020B0604020202020204" pitchFamily="34" charset="0"/>
              <a:buChar char="•"/>
            </a:pPr>
            <a:r>
              <a:rPr lang="en-US" sz="2800" dirty="0">
                <a:latin typeface="+mj-lt"/>
              </a:rPr>
              <a:t>Student Labs </a:t>
            </a:r>
          </a:p>
          <a:p>
            <a:pPr marL="342900" lvl="0" indent="-342900">
              <a:lnSpc>
                <a:spcPct val="150000"/>
              </a:lnSpc>
              <a:buFont typeface="Arial" panose="020B0604020202020204" pitchFamily="34" charset="0"/>
              <a:buChar char="•"/>
            </a:pPr>
            <a:r>
              <a:rPr lang="en-US" sz="2800" dirty="0">
                <a:latin typeface="+mj-lt"/>
              </a:rPr>
              <a:t>Staff Offices </a:t>
            </a:r>
          </a:p>
          <a:p>
            <a:pPr marL="342900" lvl="0" indent="-342900">
              <a:lnSpc>
                <a:spcPct val="150000"/>
              </a:lnSpc>
              <a:buFont typeface="Arial" panose="020B0604020202020204" pitchFamily="34" charset="0"/>
              <a:buChar char="•"/>
            </a:pPr>
            <a:r>
              <a:rPr lang="en-US" sz="2800" dirty="0">
                <a:latin typeface="+mj-lt"/>
              </a:rPr>
              <a:t>Library </a:t>
            </a:r>
          </a:p>
          <a:p>
            <a:pPr marL="342900" lvl="0" indent="-342900">
              <a:lnSpc>
                <a:spcPct val="150000"/>
              </a:lnSpc>
              <a:buFont typeface="Arial" panose="020B0604020202020204" pitchFamily="34" charset="0"/>
              <a:buChar char="•"/>
            </a:pPr>
            <a:r>
              <a:rPr lang="en-US" sz="2800" dirty="0">
                <a:latin typeface="+mj-lt"/>
              </a:rPr>
              <a:t>Wi-Fi </a:t>
            </a:r>
          </a:p>
          <a:p>
            <a:pPr marL="342900" lvl="0" indent="-342900">
              <a:lnSpc>
                <a:spcPct val="150000"/>
              </a:lnSpc>
              <a:buFont typeface="Arial" panose="020B0604020202020204" pitchFamily="34" charset="0"/>
              <a:buChar char="•"/>
            </a:pPr>
            <a:r>
              <a:rPr lang="en-US" sz="2800" dirty="0">
                <a:latin typeface="+mj-lt"/>
              </a:rPr>
              <a:t>Security Cameras </a:t>
            </a:r>
          </a:p>
        </p:txBody>
      </p:sp>
    </p:spTree>
    <p:extLst>
      <p:ext uri="{BB962C8B-B14F-4D97-AF65-F5344CB8AC3E}">
        <p14:creationId xmlns:p14="http://schemas.microsoft.com/office/powerpoint/2010/main" val="21355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BAAE3-6289-7F5B-B3D2-A83B1ED277E6}"/>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54941498-CA49-B8D7-00C3-3A9663FBCBC1}"/>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Why Are We </a:t>
            </a:r>
            <a:r>
              <a:rPr lang="en-US" dirty="0" err="1">
                <a:solidFill>
                  <a:schemeClr val="tx1"/>
                </a:solidFill>
              </a:rPr>
              <a:t>Practising</a:t>
            </a:r>
            <a:r>
              <a:rPr lang="en-US" dirty="0">
                <a:solidFill>
                  <a:schemeClr val="tx1"/>
                </a:solidFill>
              </a:rPr>
              <a:t> Subnetting?</a:t>
            </a:r>
            <a:endParaRPr dirty="0">
              <a:solidFill>
                <a:schemeClr val="tx1"/>
              </a:solidFill>
            </a:endParaRPr>
          </a:p>
        </p:txBody>
      </p:sp>
      <p:sp>
        <p:nvSpPr>
          <p:cNvPr id="15" name="object 15">
            <a:extLst>
              <a:ext uri="{FF2B5EF4-FFF2-40B4-BE49-F238E27FC236}">
                <a16:creationId xmlns:a16="http://schemas.microsoft.com/office/drawing/2014/main" id="{D2DA989B-94B5-5D1B-FDA2-083872C5DD89}"/>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D008C243-F93E-902D-4DD5-E851016EC815}"/>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0AECD9D7-4C4D-EEAA-8D7C-9A3A252E8780}"/>
              </a:ext>
            </a:extLst>
          </p:cNvPr>
          <p:cNvSpPr txBox="1"/>
          <p:nvPr/>
        </p:nvSpPr>
        <p:spPr>
          <a:xfrm>
            <a:off x="457200" y="1295401"/>
            <a:ext cx="8229600" cy="2610843"/>
          </a:xfrm>
          <a:prstGeom prst="rect">
            <a:avLst/>
          </a:prstGeom>
          <a:noFill/>
        </p:spPr>
        <p:txBody>
          <a:bodyPr wrap="square">
            <a:spAutoFit/>
          </a:bodyPr>
          <a:lstStyle/>
          <a:p>
            <a:pPr>
              <a:lnSpc>
                <a:spcPct val="150000"/>
              </a:lnSpc>
              <a:buNone/>
            </a:pPr>
            <a:r>
              <a:rPr lang="en-US" sz="2800" b="1" dirty="0">
                <a:latin typeface="+mj-lt"/>
              </a:rPr>
              <a:t>Discussion question:</a:t>
            </a:r>
            <a:br>
              <a:rPr lang="en-US" sz="2800" dirty="0">
                <a:latin typeface="+mj-lt"/>
              </a:rPr>
            </a:br>
            <a:r>
              <a:rPr lang="en-US" sz="2800" dirty="0">
                <a:latin typeface="+mj-lt"/>
              </a:rPr>
              <a:t>Why not place every device in one very large network?</a:t>
            </a:r>
          </a:p>
          <a:p>
            <a:pPr>
              <a:lnSpc>
                <a:spcPct val="150000"/>
              </a:lnSpc>
              <a:buNone/>
            </a:pPr>
            <a:r>
              <a:rPr lang="en-US" sz="2800" dirty="0">
                <a:latin typeface="+mj-lt"/>
              </a:rPr>
              <a:t>Because a large network creates more broadcast traffic and is harder to manage.</a:t>
            </a:r>
          </a:p>
        </p:txBody>
      </p:sp>
    </p:spTree>
    <p:extLst>
      <p:ext uri="{BB962C8B-B14F-4D97-AF65-F5344CB8AC3E}">
        <p14:creationId xmlns:p14="http://schemas.microsoft.com/office/powerpoint/2010/main" val="2455698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79088-A4DF-E05A-B600-5310BC60F11A}"/>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95B48EBE-59D4-045B-A50D-E976254C911A}"/>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Connection to Assessment Task 2</a:t>
            </a:r>
            <a:endParaRPr dirty="0">
              <a:solidFill>
                <a:schemeClr val="tx1"/>
              </a:solidFill>
            </a:endParaRPr>
          </a:p>
        </p:txBody>
      </p:sp>
      <p:sp>
        <p:nvSpPr>
          <p:cNvPr id="15" name="object 15">
            <a:extLst>
              <a:ext uri="{FF2B5EF4-FFF2-40B4-BE49-F238E27FC236}">
                <a16:creationId xmlns:a16="http://schemas.microsoft.com/office/drawing/2014/main" id="{0ED2A894-89C8-FEC2-FD41-4C47CC352972}"/>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B5907233-B451-969F-3FE5-8BE80F887708}"/>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6" name="TextBox 5">
            <a:extLst>
              <a:ext uri="{FF2B5EF4-FFF2-40B4-BE49-F238E27FC236}">
                <a16:creationId xmlns:a16="http://schemas.microsoft.com/office/drawing/2014/main" id="{98475333-ADE2-5416-E2D3-C7BBD45D2F81}"/>
              </a:ext>
            </a:extLst>
          </p:cNvPr>
          <p:cNvSpPr txBox="1"/>
          <p:nvPr/>
        </p:nvSpPr>
        <p:spPr>
          <a:xfrm>
            <a:off x="263142" y="685800"/>
            <a:ext cx="8617716" cy="5196166"/>
          </a:xfrm>
          <a:prstGeom prst="rect">
            <a:avLst/>
          </a:prstGeom>
          <a:noFill/>
        </p:spPr>
        <p:txBody>
          <a:bodyPr wrap="square">
            <a:spAutoFit/>
          </a:bodyPr>
          <a:lstStyle/>
          <a:p>
            <a:pPr>
              <a:lnSpc>
                <a:spcPct val="150000"/>
              </a:lnSpc>
              <a:buNone/>
            </a:pPr>
            <a:r>
              <a:rPr lang="en-US" sz="2800" dirty="0">
                <a:latin typeface="+mj-lt"/>
              </a:rPr>
              <a:t>AT2 – VLSM Subnetting</a:t>
            </a:r>
          </a:p>
          <a:p>
            <a:pPr>
              <a:lnSpc>
                <a:spcPct val="150000"/>
              </a:lnSpc>
              <a:buNone/>
            </a:pPr>
            <a:r>
              <a:rPr lang="en-US" sz="2800" dirty="0">
                <a:latin typeface="+mj-lt"/>
              </a:rPr>
              <a:t>Assessment Task 2 requires you to apply IPv4 subnetting and Variable Length Subnet Masking (VLSM) skills to a realistic network scenario.</a:t>
            </a:r>
          </a:p>
          <a:p>
            <a:pPr>
              <a:lnSpc>
                <a:spcPct val="150000"/>
              </a:lnSpc>
              <a:buNone/>
            </a:pPr>
            <a:r>
              <a:rPr lang="en-US" sz="2800" dirty="0">
                <a:latin typeface="+mj-lt"/>
              </a:rPr>
              <a:t>For each network segment, you may need to determine:</a:t>
            </a:r>
          </a:p>
          <a:p>
            <a:pPr marL="342900" lvl="0" indent="-342900">
              <a:lnSpc>
                <a:spcPct val="150000"/>
              </a:lnSpc>
              <a:buFont typeface="Arial" panose="020B0604020202020204" pitchFamily="34" charset="0"/>
              <a:buChar char="•"/>
            </a:pPr>
            <a:r>
              <a:rPr lang="en-US" sz="2800" dirty="0">
                <a:latin typeface="+mj-lt"/>
              </a:rPr>
              <a:t>the required number of usable hosts;</a:t>
            </a:r>
          </a:p>
          <a:p>
            <a:pPr marL="342900" lvl="0" indent="-342900">
              <a:lnSpc>
                <a:spcPct val="150000"/>
              </a:lnSpc>
              <a:buFont typeface="Arial" panose="020B0604020202020204" pitchFamily="34" charset="0"/>
              <a:buChar char="•"/>
            </a:pPr>
            <a:r>
              <a:rPr lang="en-US" sz="2800" dirty="0">
                <a:latin typeface="+mj-lt"/>
              </a:rPr>
              <a:t>the appropriate prefix length (for example, /23, /24 or /26);</a:t>
            </a:r>
          </a:p>
        </p:txBody>
      </p:sp>
    </p:spTree>
    <p:extLst>
      <p:ext uri="{BB962C8B-B14F-4D97-AF65-F5344CB8AC3E}">
        <p14:creationId xmlns:p14="http://schemas.microsoft.com/office/powerpoint/2010/main" val="1027545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FFEC0-4977-3CED-346A-BF5FC39C2752}"/>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E0D2D428-7CB7-AB35-C907-1781EDE5A860}"/>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Connection to Assessment Task 2</a:t>
            </a:r>
            <a:endParaRPr dirty="0">
              <a:solidFill>
                <a:schemeClr val="tx1"/>
              </a:solidFill>
            </a:endParaRPr>
          </a:p>
        </p:txBody>
      </p:sp>
      <p:sp>
        <p:nvSpPr>
          <p:cNvPr id="15" name="object 15">
            <a:extLst>
              <a:ext uri="{FF2B5EF4-FFF2-40B4-BE49-F238E27FC236}">
                <a16:creationId xmlns:a16="http://schemas.microsoft.com/office/drawing/2014/main" id="{A8AD0F83-5ADF-C254-B25E-8DE9056D0C95}"/>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5DF416F1-CA74-7D43-5E65-0B54BDCBF4A1}"/>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089066FD-648D-D4BA-24F9-0A86FB2F1A93}"/>
              </a:ext>
            </a:extLst>
          </p:cNvPr>
          <p:cNvSpPr txBox="1"/>
          <p:nvPr/>
        </p:nvSpPr>
        <p:spPr>
          <a:xfrm>
            <a:off x="381000" y="1066800"/>
            <a:ext cx="8382000" cy="4549835"/>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US" sz="2800" dirty="0">
                <a:latin typeface="+mj-lt"/>
              </a:rPr>
              <a:t>the subnet mask;</a:t>
            </a:r>
          </a:p>
          <a:p>
            <a:pPr marL="342900" lvl="0" indent="-342900">
              <a:lnSpc>
                <a:spcPct val="150000"/>
              </a:lnSpc>
              <a:buFont typeface="Arial" panose="020B0604020202020204" pitchFamily="34" charset="0"/>
              <a:buChar char="•"/>
            </a:pPr>
            <a:r>
              <a:rPr lang="en-US" sz="2800" dirty="0">
                <a:latin typeface="+mj-lt"/>
              </a:rPr>
              <a:t>the network address;</a:t>
            </a:r>
          </a:p>
          <a:p>
            <a:pPr marL="342900" lvl="0" indent="-342900">
              <a:lnSpc>
                <a:spcPct val="150000"/>
              </a:lnSpc>
              <a:buFont typeface="Arial" panose="020B0604020202020204" pitchFamily="34" charset="0"/>
              <a:buChar char="•"/>
            </a:pPr>
            <a:r>
              <a:rPr lang="en-US" sz="2800" dirty="0">
                <a:latin typeface="+mj-lt"/>
              </a:rPr>
              <a:t>the first usable host address;</a:t>
            </a:r>
          </a:p>
          <a:p>
            <a:pPr marL="342900" lvl="0" indent="-342900">
              <a:lnSpc>
                <a:spcPct val="150000"/>
              </a:lnSpc>
              <a:buFont typeface="Arial" panose="020B0604020202020204" pitchFamily="34" charset="0"/>
              <a:buChar char="•"/>
            </a:pPr>
            <a:r>
              <a:rPr lang="en-US" sz="2800" dirty="0">
                <a:latin typeface="+mj-lt"/>
              </a:rPr>
              <a:t>the last usable host address;</a:t>
            </a:r>
          </a:p>
          <a:p>
            <a:pPr marL="342900" lvl="0" indent="-342900">
              <a:lnSpc>
                <a:spcPct val="150000"/>
              </a:lnSpc>
              <a:buFont typeface="Arial" panose="020B0604020202020204" pitchFamily="34" charset="0"/>
              <a:buChar char="•"/>
            </a:pPr>
            <a:r>
              <a:rPr lang="en-US" sz="2800" dirty="0">
                <a:latin typeface="+mj-lt"/>
              </a:rPr>
              <a:t>the broadcast address; and</a:t>
            </a:r>
          </a:p>
          <a:p>
            <a:pPr marL="342900" lvl="0" indent="-342900">
              <a:lnSpc>
                <a:spcPct val="150000"/>
              </a:lnSpc>
              <a:buFont typeface="Arial" panose="020B0604020202020204" pitchFamily="34" charset="0"/>
              <a:buChar char="•"/>
            </a:pPr>
            <a:r>
              <a:rPr lang="en-US" sz="2800" dirty="0">
                <a:latin typeface="+mj-lt"/>
              </a:rPr>
              <a:t>an efficient allocation of the available IP address space.</a:t>
            </a:r>
          </a:p>
        </p:txBody>
      </p:sp>
    </p:spTree>
    <p:extLst>
      <p:ext uri="{BB962C8B-B14F-4D97-AF65-F5344CB8AC3E}">
        <p14:creationId xmlns:p14="http://schemas.microsoft.com/office/powerpoint/2010/main" val="3395557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B9778-85F1-31B7-7D6B-8E3DD51CBD05}"/>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8AD721B8-C278-DA3E-233B-981BD79E3941}"/>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Connection to Assessment Task 2</a:t>
            </a:r>
            <a:endParaRPr dirty="0">
              <a:solidFill>
                <a:schemeClr val="tx1"/>
              </a:solidFill>
            </a:endParaRPr>
          </a:p>
        </p:txBody>
      </p:sp>
      <p:sp>
        <p:nvSpPr>
          <p:cNvPr id="15" name="object 15">
            <a:extLst>
              <a:ext uri="{FF2B5EF4-FFF2-40B4-BE49-F238E27FC236}">
                <a16:creationId xmlns:a16="http://schemas.microsoft.com/office/drawing/2014/main" id="{39344923-2052-F31F-AB98-97BB90211E6D}"/>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0335F288-471E-0B3E-8205-5E7BD1F0B47B}"/>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6" name="TextBox 5">
            <a:extLst>
              <a:ext uri="{FF2B5EF4-FFF2-40B4-BE49-F238E27FC236}">
                <a16:creationId xmlns:a16="http://schemas.microsoft.com/office/drawing/2014/main" id="{59F9BF57-C32A-B370-F846-126A3BE9928F}"/>
              </a:ext>
            </a:extLst>
          </p:cNvPr>
          <p:cNvSpPr txBox="1"/>
          <p:nvPr/>
        </p:nvSpPr>
        <p:spPr>
          <a:xfrm>
            <a:off x="263142" y="838200"/>
            <a:ext cx="8617716" cy="4549835"/>
          </a:xfrm>
          <a:prstGeom prst="rect">
            <a:avLst/>
          </a:prstGeom>
          <a:noFill/>
        </p:spPr>
        <p:txBody>
          <a:bodyPr wrap="square">
            <a:spAutoFit/>
          </a:bodyPr>
          <a:lstStyle/>
          <a:p>
            <a:pPr>
              <a:lnSpc>
                <a:spcPct val="150000"/>
              </a:lnSpc>
              <a:buNone/>
            </a:pPr>
            <a:r>
              <a:rPr lang="en-US" sz="2800" b="1" dirty="0">
                <a:latin typeface="+mj-lt"/>
              </a:rPr>
              <a:t>Important:</a:t>
            </a:r>
            <a:endParaRPr lang="en-US" sz="2800" dirty="0">
              <a:latin typeface="+mj-lt"/>
            </a:endParaRPr>
          </a:p>
          <a:p>
            <a:pPr>
              <a:lnSpc>
                <a:spcPct val="150000"/>
              </a:lnSpc>
              <a:buNone/>
            </a:pPr>
            <a:r>
              <a:rPr lang="en-US" sz="2800" dirty="0">
                <a:latin typeface="+mj-lt"/>
              </a:rPr>
              <a:t>You need to show your calculations.</a:t>
            </a:r>
          </a:p>
          <a:p>
            <a:pPr>
              <a:lnSpc>
                <a:spcPct val="150000"/>
              </a:lnSpc>
              <a:buNone/>
            </a:pPr>
            <a:r>
              <a:rPr lang="en-US" sz="2800" dirty="0">
                <a:latin typeface="+mj-lt"/>
              </a:rPr>
              <a:t>Do not only write the final answer.</a:t>
            </a:r>
          </a:p>
          <a:p>
            <a:pPr>
              <a:lnSpc>
                <a:spcPct val="150000"/>
              </a:lnSpc>
              <a:buNone/>
            </a:pPr>
            <a:r>
              <a:rPr lang="en-US" sz="2800" b="1" dirty="0">
                <a:latin typeface="+mj-lt"/>
              </a:rPr>
              <a:t>Discussion question:</a:t>
            </a:r>
            <a:br>
              <a:rPr lang="en-US" sz="2800" dirty="0">
                <a:latin typeface="+mj-lt"/>
              </a:rPr>
            </a:br>
            <a:r>
              <a:rPr lang="en-US" sz="2800" dirty="0">
                <a:latin typeface="+mj-lt"/>
              </a:rPr>
              <a:t>Why should you show your working in AT2?</a:t>
            </a:r>
          </a:p>
          <a:p>
            <a:pPr>
              <a:lnSpc>
                <a:spcPct val="150000"/>
              </a:lnSpc>
              <a:buNone/>
            </a:pPr>
            <a:r>
              <a:rPr lang="en-US" sz="2800" dirty="0">
                <a:latin typeface="+mj-lt"/>
              </a:rPr>
              <a:t>Because the calculation demonstrates that you understand how the answer was obtained.</a:t>
            </a:r>
          </a:p>
        </p:txBody>
      </p:sp>
    </p:spTree>
    <p:extLst>
      <p:ext uri="{BB962C8B-B14F-4D97-AF65-F5344CB8AC3E}">
        <p14:creationId xmlns:p14="http://schemas.microsoft.com/office/powerpoint/2010/main" val="127637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animEffect transition="in" filter="fade">
                                      <p:cBhvr>
                                        <p:cTn id="7" dur="1000"/>
                                        <p:tgtEl>
                                          <p:spTgt spid="6">
                                            <p:txEl>
                                              <p:pRg st="4" end="4"/>
                                            </p:txEl>
                                          </p:spTgt>
                                        </p:tgtEl>
                                      </p:cBhvr>
                                    </p:animEffect>
                                    <p:anim calcmode="lin" valueType="num">
                                      <p:cBhvr>
                                        <p:cTn id="8"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97C1C-C46C-2D0F-D17A-8A0BE84F7915}"/>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2911C7B1-40F6-8A47-6639-798EF2D81850}"/>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Connection to Assessment Task 2</a:t>
            </a:r>
            <a:endParaRPr dirty="0">
              <a:solidFill>
                <a:schemeClr val="tx1"/>
              </a:solidFill>
            </a:endParaRPr>
          </a:p>
        </p:txBody>
      </p:sp>
      <p:sp>
        <p:nvSpPr>
          <p:cNvPr id="15" name="object 15">
            <a:extLst>
              <a:ext uri="{FF2B5EF4-FFF2-40B4-BE49-F238E27FC236}">
                <a16:creationId xmlns:a16="http://schemas.microsoft.com/office/drawing/2014/main" id="{67D89484-4803-EA1F-1CF2-1272C017216C}"/>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070754F1-6E7D-A2E8-EC10-A85B16360ACD}"/>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BA2D4BED-F5CD-CC10-9736-5899C9A29ED2}"/>
              </a:ext>
            </a:extLst>
          </p:cNvPr>
          <p:cNvSpPr txBox="1"/>
          <p:nvPr/>
        </p:nvSpPr>
        <p:spPr>
          <a:xfrm>
            <a:off x="381000" y="762000"/>
            <a:ext cx="8382000" cy="2610843"/>
          </a:xfrm>
          <a:prstGeom prst="rect">
            <a:avLst/>
          </a:prstGeom>
          <a:noFill/>
        </p:spPr>
        <p:txBody>
          <a:bodyPr wrap="square">
            <a:spAutoFit/>
          </a:bodyPr>
          <a:lstStyle/>
          <a:p>
            <a:pPr>
              <a:lnSpc>
                <a:spcPct val="150000"/>
              </a:lnSpc>
              <a:buNone/>
            </a:pPr>
            <a:r>
              <a:rPr lang="en-US" sz="2800" dirty="0">
                <a:latin typeface="+mj-lt"/>
              </a:rPr>
              <a:t>When using VLSM, remember to allocate the networks from the largest host requirement to the smallest and make sure that the allocated subnets do not overlap and remain within the given address block.</a:t>
            </a:r>
          </a:p>
        </p:txBody>
      </p:sp>
    </p:spTree>
    <p:extLst>
      <p:ext uri="{BB962C8B-B14F-4D97-AF65-F5344CB8AC3E}">
        <p14:creationId xmlns:p14="http://schemas.microsoft.com/office/powerpoint/2010/main" val="1664676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D9D29-05A4-F6E1-01EB-1FD84C82386A}"/>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6808D9E0-124C-B8DF-672E-B6D975A45C8D}"/>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Connection to Assessment Task 2</a:t>
            </a:r>
            <a:endParaRPr dirty="0">
              <a:solidFill>
                <a:schemeClr val="tx1"/>
              </a:solidFill>
            </a:endParaRPr>
          </a:p>
        </p:txBody>
      </p:sp>
      <p:sp>
        <p:nvSpPr>
          <p:cNvPr id="15" name="object 15">
            <a:extLst>
              <a:ext uri="{FF2B5EF4-FFF2-40B4-BE49-F238E27FC236}">
                <a16:creationId xmlns:a16="http://schemas.microsoft.com/office/drawing/2014/main" id="{EB27D607-8FA3-A17C-3791-E739E04368E0}"/>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B3E144DE-3950-C842-C1A4-770873DFC0BC}"/>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2C562DDE-75B9-37C9-6C0D-58CE5FA0A188}"/>
              </a:ext>
            </a:extLst>
          </p:cNvPr>
          <p:cNvSpPr txBox="1"/>
          <p:nvPr/>
        </p:nvSpPr>
        <p:spPr>
          <a:xfrm>
            <a:off x="263142" y="762000"/>
            <a:ext cx="8617716" cy="3903504"/>
          </a:xfrm>
          <a:prstGeom prst="rect">
            <a:avLst/>
          </a:prstGeom>
          <a:noFill/>
        </p:spPr>
        <p:txBody>
          <a:bodyPr wrap="square">
            <a:spAutoFit/>
          </a:bodyPr>
          <a:lstStyle/>
          <a:p>
            <a:pPr>
              <a:lnSpc>
                <a:spcPct val="150000"/>
              </a:lnSpc>
              <a:buNone/>
            </a:pPr>
            <a:r>
              <a:rPr lang="en-US" sz="2800" dirty="0">
                <a:latin typeface="+mj-lt"/>
              </a:rPr>
              <a:t>Important) Show your calculations and working clearly.</a:t>
            </a:r>
          </a:p>
          <a:p>
            <a:pPr>
              <a:lnSpc>
                <a:spcPct val="150000"/>
              </a:lnSpc>
              <a:buNone/>
            </a:pPr>
            <a:r>
              <a:rPr lang="en-US" sz="2800" dirty="0">
                <a:latin typeface="+mj-lt"/>
              </a:rPr>
              <a:t>Do not simply write the final addresses in the table. Your working should demonstrate how you determined the appropriate subnet size, prefix length and address range.</a:t>
            </a:r>
          </a:p>
          <a:p>
            <a:pPr>
              <a:lnSpc>
                <a:spcPct val="150000"/>
              </a:lnSpc>
              <a:buNone/>
            </a:pPr>
            <a:r>
              <a:rPr lang="en-US" sz="2800" dirty="0">
                <a:latin typeface="+mj-lt"/>
              </a:rPr>
              <a:t>Discussion Question) Why is it important to show your working in AT2?</a:t>
            </a:r>
          </a:p>
        </p:txBody>
      </p:sp>
    </p:spTree>
    <p:extLst>
      <p:ext uri="{BB962C8B-B14F-4D97-AF65-F5344CB8AC3E}">
        <p14:creationId xmlns:p14="http://schemas.microsoft.com/office/powerpoint/2010/main" val="556108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4F63D-06EC-A938-BF3B-F4BAF76A453B}"/>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938CB788-4A58-9AD3-9CE6-0FA91F8BB4DD}"/>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Connection to Assessment Task 2</a:t>
            </a:r>
            <a:endParaRPr dirty="0">
              <a:solidFill>
                <a:schemeClr val="tx1"/>
              </a:solidFill>
            </a:endParaRPr>
          </a:p>
        </p:txBody>
      </p:sp>
      <p:sp>
        <p:nvSpPr>
          <p:cNvPr id="15" name="object 15">
            <a:extLst>
              <a:ext uri="{FF2B5EF4-FFF2-40B4-BE49-F238E27FC236}">
                <a16:creationId xmlns:a16="http://schemas.microsoft.com/office/drawing/2014/main" id="{0F6D7D41-9602-7E57-5554-ECA0EE6CA84E}"/>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1F5CCB73-03AF-F38D-EE56-68312BD2E56B}"/>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83852501-4E10-D634-BB50-BD7D809DD5E0}"/>
              </a:ext>
            </a:extLst>
          </p:cNvPr>
          <p:cNvSpPr txBox="1"/>
          <p:nvPr/>
        </p:nvSpPr>
        <p:spPr>
          <a:xfrm>
            <a:off x="263142" y="762000"/>
            <a:ext cx="8617716" cy="3257174"/>
          </a:xfrm>
          <a:prstGeom prst="rect">
            <a:avLst/>
          </a:prstGeom>
          <a:noFill/>
        </p:spPr>
        <p:txBody>
          <a:bodyPr wrap="square">
            <a:spAutoFit/>
          </a:bodyPr>
          <a:lstStyle/>
          <a:p>
            <a:pPr>
              <a:lnSpc>
                <a:spcPct val="150000"/>
              </a:lnSpc>
              <a:buNone/>
            </a:pPr>
            <a:r>
              <a:rPr lang="en-US" sz="2800" dirty="0">
                <a:latin typeface="+mj-lt"/>
              </a:rPr>
              <a:t>Because the calculations demonstrate that you understand how the subnet size and address range were determined, rather than simply providing a final answer. Clear working also makes it possible to check your subnetting process and identify any mistakes.</a:t>
            </a:r>
          </a:p>
        </p:txBody>
      </p:sp>
    </p:spTree>
    <p:extLst>
      <p:ext uri="{BB962C8B-B14F-4D97-AF65-F5344CB8AC3E}">
        <p14:creationId xmlns:p14="http://schemas.microsoft.com/office/powerpoint/2010/main" val="3489352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14256-3C69-5B0F-63D3-2F0E5C45BC77}"/>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43209C5E-380E-27B8-4C3E-4B4E1F42FAB9}"/>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What Information Can We Find?</a:t>
            </a:r>
            <a:endParaRPr dirty="0">
              <a:solidFill>
                <a:schemeClr val="tx1"/>
              </a:solidFill>
            </a:endParaRPr>
          </a:p>
        </p:txBody>
      </p:sp>
      <p:sp>
        <p:nvSpPr>
          <p:cNvPr id="15" name="object 15">
            <a:extLst>
              <a:ext uri="{FF2B5EF4-FFF2-40B4-BE49-F238E27FC236}">
                <a16:creationId xmlns:a16="http://schemas.microsoft.com/office/drawing/2014/main" id="{AAF2AA6B-0E5C-2EAD-6BFC-D1AA8A8A19C7}"/>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48677EA9-7406-25BA-7FFC-15673CB283FB}"/>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pic>
        <p:nvPicPr>
          <p:cNvPr id="3" name="Picture 2">
            <a:extLst>
              <a:ext uri="{FF2B5EF4-FFF2-40B4-BE49-F238E27FC236}">
                <a16:creationId xmlns:a16="http://schemas.microsoft.com/office/drawing/2014/main" id="{B4FDF610-726C-F0DE-5EAF-E1A1AB510BCB}"/>
              </a:ext>
            </a:extLst>
          </p:cNvPr>
          <p:cNvPicPr>
            <a:picLocks noChangeAspect="1"/>
          </p:cNvPicPr>
          <p:nvPr/>
        </p:nvPicPr>
        <p:blipFill>
          <a:blip r:embed="rId2">
            <a:extLst>
              <a:ext uri="{28A0092B-C50C-407E-A947-70E740481C1C}">
                <a14:useLocalDpi xmlns:a14="http://schemas.microsoft.com/office/drawing/2010/main" val="0"/>
              </a:ext>
            </a:extLst>
          </a:blip>
          <a:srcRect r="49778" b="37778"/>
          <a:stretch>
            <a:fillRect/>
          </a:stretch>
        </p:blipFill>
        <p:spPr>
          <a:xfrm>
            <a:off x="2001785" y="627477"/>
            <a:ext cx="5140430" cy="5820174"/>
          </a:xfrm>
          <a:prstGeom prst="rect">
            <a:avLst/>
          </a:prstGeom>
          <a:ln>
            <a:solidFill>
              <a:srgbClr val="7030A0"/>
            </a:solidFill>
          </a:ln>
        </p:spPr>
      </p:pic>
    </p:spTree>
    <p:extLst>
      <p:ext uri="{BB962C8B-B14F-4D97-AF65-F5344CB8AC3E}">
        <p14:creationId xmlns:p14="http://schemas.microsoft.com/office/powerpoint/2010/main" val="3189262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F40B5-F543-EED8-54B1-F5805089784A}"/>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6B7F55E7-E4D9-4254-2A40-9F1E294AD091}"/>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What Information Can We Find?</a:t>
            </a:r>
            <a:endParaRPr dirty="0">
              <a:solidFill>
                <a:schemeClr val="tx1"/>
              </a:solidFill>
            </a:endParaRPr>
          </a:p>
        </p:txBody>
      </p:sp>
      <p:sp>
        <p:nvSpPr>
          <p:cNvPr id="15" name="object 15">
            <a:extLst>
              <a:ext uri="{FF2B5EF4-FFF2-40B4-BE49-F238E27FC236}">
                <a16:creationId xmlns:a16="http://schemas.microsoft.com/office/drawing/2014/main" id="{36497DFA-6AEA-E962-3B22-D199D13A432E}"/>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001235A4-4D4E-2E8C-93E6-9B8942CCED2B}"/>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pic>
        <p:nvPicPr>
          <p:cNvPr id="4" name="Picture 3">
            <a:extLst>
              <a:ext uri="{FF2B5EF4-FFF2-40B4-BE49-F238E27FC236}">
                <a16:creationId xmlns:a16="http://schemas.microsoft.com/office/drawing/2014/main" id="{040F4550-3E05-B3DF-7E43-25CA53003579}"/>
              </a:ext>
            </a:extLst>
          </p:cNvPr>
          <p:cNvPicPr>
            <a:picLocks noChangeAspect="1"/>
          </p:cNvPicPr>
          <p:nvPr/>
        </p:nvPicPr>
        <p:blipFill>
          <a:blip r:embed="rId2">
            <a:extLst>
              <a:ext uri="{28A0092B-C50C-407E-A947-70E740481C1C}">
                <a14:useLocalDpi xmlns:a14="http://schemas.microsoft.com/office/drawing/2010/main" val="0"/>
              </a:ext>
            </a:extLst>
          </a:blip>
          <a:srcRect l="50222" b="48889"/>
          <a:stretch>
            <a:fillRect/>
          </a:stretch>
        </p:blipFill>
        <p:spPr>
          <a:xfrm>
            <a:off x="1577842" y="619440"/>
            <a:ext cx="5988316" cy="5619120"/>
          </a:xfrm>
          <a:prstGeom prst="rect">
            <a:avLst/>
          </a:prstGeom>
          <a:ln>
            <a:solidFill>
              <a:srgbClr val="7030A0"/>
            </a:solidFill>
          </a:ln>
        </p:spPr>
      </p:pic>
    </p:spTree>
    <p:extLst>
      <p:ext uri="{BB962C8B-B14F-4D97-AF65-F5344CB8AC3E}">
        <p14:creationId xmlns:p14="http://schemas.microsoft.com/office/powerpoint/2010/main" val="1917576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1723D-D53D-DA59-77AE-58636919BC59}"/>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FF23BB5F-D6E0-65A7-3422-42CD374E50CA}"/>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What Information Can We Find?</a:t>
            </a:r>
            <a:endParaRPr dirty="0">
              <a:solidFill>
                <a:schemeClr val="tx1"/>
              </a:solidFill>
            </a:endParaRPr>
          </a:p>
        </p:txBody>
      </p:sp>
      <p:sp>
        <p:nvSpPr>
          <p:cNvPr id="15" name="object 15">
            <a:extLst>
              <a:ext uri="{FF2B5EF4-FFF2-40B4-BE49-F238E27FC236}">
                <a16:creationId xmlns:a16="http://schemas.microsoft.com/office/drawing/2014/main" id="{B904CE1C-BB6A-25D0-08ED-07916AA7FE0C}"/>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3B542806-0367-E6E7-C9B7-AB47033910BA}"/>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pic>
        <p:nvPicPr>
          <p:cNvPr id="3" name="Picture 2">
            <a:extLst>
              <a:ext uri="{FF2B5EF4-FFF2-40B4-BE49-F238E27FC236}">
                <a16:creationId xmlns:a16="http://schemas.microsoft.com/office/drawing/2014/main" id="{E3B09CA1-D52E-A7A5-8351-6BB7AB164470}"/>
              </a:ext>
            </a:extLst>
          </p:cNvPr>
          <p:cNvPicPr>
            <a:picLocks noChangeAspect="1"/>
          </p:cNvPicPr>
          <p:nvPr/>
        </p:nvPicPr>
        <p:blipFill>
          <a:blip r:embed="rId2">
            <a:extLst>
              <a:ext uri="{28A0092B-C50C-407E-A947-70E740481C1C}">
                <a14:useLocalDpi xmlns:a14="http://schemas.microsoft.com/office/drawing/2010/main" val="0"/>
              </a:ext>
            </a:extLst>
          </a:blip>
          <a:srcRect t="61936" r="49876"/>
          <a:stretch>
            <a:fillRect/>
          </a:stretch>
        </p:blipFill>
        <p:spPr>
          <a:xfrm>
            <a:off x="1219199" y="1102142"/>
            <a:ext cx="6705602" cy="4653716"/>
          </a:xfrm>
          <a:prstGeom prst="rect">
            <a:avLst/>
          </a:prstGeom>
          <a:ln>
            <a:solidFill>
              <a:srgbClr val="7030A0"/>
            </a:solidFill>
          </a:ln>
        </p:spPr>
      </p:pic>
    </p:spTree>
    <p:extLst>
      <p:ext uri="{BB962C8B-B14F-4D97-AF65-F5344CB8AC3E}">
        <p14:creationId xmlns:p14="http://schemas.microsoft.com/office/powerpoint/2010/main" val="2357920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DF27D-6C4F-F5C9-4416-CDFC554F8899}"/>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95E6FE5A-7F64-2CC2-4866-FE3186694684}"/>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What Information Can We Find?</a:t>
            </a:r>
            <a:endParaRPr dirty="0">
              <a:solidFill>
                <a:schemeClr val="tx1"/>
              </a:solidFill>
            </a:endParaRPr>
          </a:p>
        </p:txBody>
      </p:sp>
      <p:sp>
        <p:nvSpPr>
          <p:cNvPr id="15" name="object 15">
            <a:extLst>
              <a:ext uri="{FF2B5EF4-FFF2-40B4-BE49-F238E27FC236}">
                <a16:creationId xmlns:a16="http://schemas.microsoft.com/office/drawing/2014/main" id="{F3C3AD8A-6A04-34DB-1EAB-935E5B64DB73}"/>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A4ACD603-F54B-09E0-03AC-7EE0511AA10B}"/>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pic>
        <p:nvPicPr>
          <p:cNvPr id="4" name="Picture 3">
            <a:extLst>
              <a:ext uri="{FF2B5EF4-FFF2-40B4-BE49-F238E27FC236}">
                <a16:creationId xmlns:a16="http://schemas.microsoft.com/office/drawing/2014/main" id="{D0A9AF86-E112-C5DF-C786-AAD636389AB5}"/>
              </a:ext>
            </a:extLst>
          </p:cNvPr>
          <p:cNvPicPr>
            <a:picLocks noChangeAspect="1"/>
          </p:cNvPicPr>
          <p:nvPr/>
        </p:nvPicPr>
        <p:blipFill>
          <a:blip r:embed="rId2">
            <a:extLst>
              <a:ext uri="{28A0092B-C50C-407E-A947-70E740481C1C}">
                <a14:useLocalDpi xmlns:a14="http://schemas.microsoft.com/office/drawing/2010/main" val="0"/>
              </a:ext>
            </a:extLst>
          </a:blip>
          <a:srcRect l="50320" t="51828"/>
          <a:stretch>
            <a:fillRect/>
          </a:stretch>
        </p:blipFill>
        <p:spPr>
          <a:xfrm>
            <a:off x="1752599" y="930621"/>
            <a:ext cx="5638802" cy="4996758"/>
          </a:xfrm>
          <a:prstGeom prst="rect">
            <a:avLst/>
          </a:prstGeom>
          <a:ln>
            <a:solidFill>
              <a:srgbClr val="7030A0"/>
            </a:solidFill>
          </a:ln>
        </p:spPr>
      </p:pic>
    </p:spTree>
    <p:extLst>
      <p:ext uri="{BB962C8B-B14F-4D97-AF65-F5344CB8AC3E}">
        <p14:creationId xmlns:p14="http://schemas.microsoft.com/office/powerpoint/2010/main" val="1123683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7FF7C-3B10-67C5-AB9B-1F71C8D2D9B6}"/>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503BF1A7-D72F-7D14-7014-EAAD0609A44B}"/>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Four Questions to Think About</a:t>
            </a:r>
            <a:endParaRPr dirty="0">
              <a:solidFill>
                <a:schemeClr val="tx1"/>
              </a:solidFill>
            </a:endParaRPr>
          </a:p>
        </p:txBody>
      </p:sp>
      <p:sp>
        <p:nvSpPr>
          <p:cNvPr id="15" name="object 15">
            <a:extLst>
              <a:ext uri="{FF2B5EF4-FFF2-40B4-BE49-F238E27FC236}">
                <a16:creationId xmlns:a16="http://schemas.microsoft.com/office/drawing/2014/main" id="{340B6321-FCCE-0289-5B42-1E518B87C0A9}"/>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CA33E23E-C89C-CA8E-6B8D-5893A66F6B60}"/>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5" name="TextBox 4">
            <a:extLst>
              <a:ext uri="{FF2B5EF4-FFF2-40B4-BE49-F238E27FC236}">
                <a16:creationId xmlns:a16="http://schemas.microsoft.com/office/drawing/2014/main" id="{62F63704-C16C-551B-8248-2273193E64B8}"/>
              </a:ext>
            </a:extLst>
          </p:cNvPr>
          <p:cNvSpPr txBox="1"/>
          <p:nvPr/>
        </p:nvSpPr>
        <p:spPr>
          <a:xfrm>
            <a:off x="263142" y="1219200"/>
            <a:ext cx="8617716" cy="3257174"/>
          </a:xfrm>
          <a:prstGeom prst="rect">
            <a:avLst/>
          </a:prstGeom>
          <a:noFill/>
        </p:spPr>
        <p:txBody>
          <a:bodyPr wrap="square">
            <a:spAutoFit/>
          </a:bodyPr>
          <a:lstStyle/>
          <a:p>
            <a:pPr>
              <a:lnSpc>
                <a:spcPct val="150000"/>
              </a:lnSpc>
              <a:buNone/>
            </a:pPr>
            <a:r>
              <a:rPr lang="en-US" sz="2800" dirty="0">
                <a:latin typeface="+mj-lt"/>
              </a:rPr>
              <a:t>Try these before we continue.</a:t>
            </a:r>
          </a:p>
          <a:p>
            <a:pPr>
              <a:lnSpc>
                <a:spcPct val="150000"/>
              </a:lnSpc>
              <a:buNone/>
            </a:pPr>
            <a:r>
              <a:rPr lang="en-US" sz="2800" b="1" dirty="0">
                <a:latin typeface="+mj-lt"/>
              </a:rPr>
              <a:t>Question 1</a:t>
            </a:r>
            <a:endParaRPr lang="en-US" sz="2800" dirty="0">
              <a:latin typeface="+mj-lt"/>
            </a:endParaRPr>
          </a:p>
          <a:p>
            <a:pPr>
              <a:lnSpc>
                <a:spcPct val="150000"/>
              </a:lnSpc>
              <a:buNone/>
            </a:pPr>
            <a:r>
              <a:rPr lang="en-US" sz="2800" dirty="0">
                <a:latin typeface="+mj-lt"/>
              </a:rPr>
              <a:t>A network uses /28.</a:t>
            </a:r>
          </a:p>
          <a:p>
            <a:pPr>
              <a:lnSpc>
                <a:spcPct val="150000"/>
              </a:lnSpc>
              <a:buNone/>
            </a:pPr>
            <a:r>
              <a:rPr lang="en-US" sz="2800" dirty="0">
                <a:latin typeface="+mj-lt"/>
              </a:rPr>
              <a:t>How many usable hosts can it support?</a:t>
            </a:r>
          </a:p>
          <a:p>
            <a:pPr>
              <a:lnSpc>
                <a:spcPct val="150000"/>
              </a:lnSpc>
              <a:buNone/>
            </a:pPr>
            <a:r>
              <a:rPr lang="en-US" sz="2800" b="1" dirty="0">
                <a:latin typeface="+mj-lt"/>
              </a:rPr>
              <a:t>Answer:</a:t>
            </a:r>
            <a:r>
              <a:rPr lang="en-US" sz="2800" dirty="0">
                <a:latin typeface="+mj-lt"/>
              </a:rPr>
              <a:t> 14</a:t>
            </a:r>
          </a:p>
        </p:txBody>
      </p:sp>
    </p:spTree>
    <p:extLst>
      <p:ext uri="{BB962C8B-B14F-4D97-AF65-F5344CB8AC3E}">
        <p14:creationId xmlns:p14="http://schemas.microsoft.com/office/powerpoint/2010/main" val="2344591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fade">
                                      <p:cBhvr>
                                        <p:cTn id="7" dur="1000"/>
                                        <p:tgtEl>
                                          <p:spTgt spid="5">
                                            <p:txEl>
                                              <p:pRg st="4" end="4"/>
                                            </p:txEl>
                                          </p:spTgt>
                                        </p:tgtEl>
                                      </p:cBhvr>
                                    </p:animEffect>
                                    <p:anim calcmode="lin" valueType="num">
                                      <p:cBhvr>
                                        <p:cTn id="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86B34-CF57-CF32-0A8A-C4F61E3CCED3}"/>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470180B7-1CFF-212C-40F6-879FFD3AAB98}"/>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Four Questions to Think About</a:t>
            </a:r>
            <a:endParaRPr dirty="0">
              <a:solidFill>
                <a:schemeClr val="tx1"/>
              </a:solidFill>
            </a:endParaRPr>
          </a:p>
        </p:txBody>
      </p:sp>
      <p:sp>
        <p:nvSpPr>
          <p:cNvPr id="15" name="object 15">
            <a:extLst>
              <a:ext uri="{FF2B5EF4-FFF2-40B4-BE49-F238E27FC236}">
                <a16:creationId xmlns:a16="http://schemas.microsoft.com/office/drawing/2014/main" id="{2003AF37-43CB-E843-772B-C8F95D1C735F}"/>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BADBE1D1-3F6B-69CA-32E2-9D55E29CA5AB}"/>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C1876AD4-F07A-13EA-1657-0AC8E357B596}"/>
              </a:ext>
            </a:extLst>
          </p:cNvPr>
          <p:cNvSpPr txBox="1"/>
          <p:nvPr/>
        </p:nvSpPr>
        <p:spPr>
          <a:xfrm>
            <a:off x="263142" y="1447801"/>
            <a:ext cx="8617716" cy="3903504"/>
          </a:xfrm>
          <a:prstGeom prst="rect">
            <a:avLst/>
          </a:prstGeom>
          <a:noFill/>
        </p:spPr>
        <p:txBody>
          <a:bodyPr wrap="square">
            <a:spAutoFit/>
          </a:bodyPr>
          <a:lstStyle/>
          <a:p>
            <a:pPr>
              <a:lnSpc>
                <a:spcPct val="150000"/>
              </a:lnSpc>
              <a:buNone/>
            </a:pPr>
            <a:r>
              <a:rPr lang="en-US" sz="2800" b="1" dirty="0">
                <a:latin typeface="+mj-lt"/>
              </a:rPr>
              <a:t>Question 2</a:t>
            </a:r>
            <a:endParaRPr lang="en-US" sz="2800" dirty="0">
              <a:latin typeface="+mj-lt"/>
            </a:endParaRPr>
          </a:p>
          <a:p>
            <a:pPr>
              <a:lnSpc>
                <a:spcPct val="150000"/>
              </a:lnSpc>
              <a:buNone/>
            </a:pPr>
            <a:r>
              <a:rPr lang="en-US" sz="2800" dirty="0">
                <a:latin typeface="+mj-lt"/>
              </a:rPr>
              <a:t>How many bits must be borrowed to create at least 5 subnets?</a:t>
            </a:r>
          </a:p>
          <a:p>
            <a:pPr>
              <a:lnSpc>
                <a:spcPct val="150000"/>
              </a:lnSpc>
              <a:buNone/>
            </a:pPr>
            <a:r>
              <a:rPr lang="en-US" sz="2800" dirty="0">
                <a:latin typeface="+mj-lt"/>
              </a:rPr>
              <a:t>2² = 4   not enough</a:t>
            </a:r>
          </a:p>
          <a:p>
            <a:pPr rtl="0">
              <a:lnSpc>
                <a:spcPct val="150000"/>
              </a:lnSpc>
              <a:buNone/>
            </a:pPr>
            <a:r>
              <a:rPr lang="en-US" sz="2800" dirty="0">
                <a:latin typeface="+mj-lt"/>
              </a:rPr>
              <a:t>2³ = 8   enough</a:t>
            </a:r>
          </a:p>
          <a:p>
            <a:pPr>
              <a:lnSpc>
                <a:spcPct val="150000"/>
              </a:lnSpc>
              <a:buNone/>
            </a:pPr>
            <a:r>
              <a:rPr lang="en-US" sz="2800" b="1" dirty="0">
                <a:latin typeface="+mj-lt"/>
              </a:rPr>
              <a:t>Answer:</a:t>
            </a:r>
            <a:r>
              <a:rPr lang="en-US" sz="2800" dirty="0">
                <a:latin typeface="+mj-lt"/>
              </a:rPr>
              <a:t> 3 bits</a:t>
            </a:r>
          </a:p>
        </p:txBody>
      </p:sp>
    </p:spTree>
    <p:extLst>
      <p:ext uri="{BB962C8B-B14F-4D97-AF65-F5344CB8AC3E}">
        <p14:creationId xmlns:p14="http://schemas.microsoft.com/office/powerpoint/2010/main" val="229152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BDAC6-128D-516F-59C4-85BC27982189}"/>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CBFDCBE4-9A16-ABB7-03FB-1018C0F9BF53}"/>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Four Questions to Think About</a:t>
            </a:r>
            <a:endParaRPr dirty="0">
              <a:solidFill>
                <a:schemeClr val="tx1"/>
              </a:solidFill>
            </a:endParaRPr>
          </a:p>
        </p:txBody>
      </p:sp>
      <p:sp>
        <p:nvSpPr>
          <p:cNvPr id="15" name="object 15">
            <a:extLst>
              <a:ext uri="{FF2B5EF4-FFF2-40B4-BE49-F238E27FC236}">
                <a16:creationId xmlns:a16="http://schemas.microsoft.com/office/drawing/2014/main" id="{A56404F9-8EBD-5D0D-C83D-20FB94DCF0EE}"/>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FB622DF0-00A0-716E-722F-064061B15094}"/>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ABB933AA-7F97-5173-D6AF-EBE1E498D46B}"/>
              </a:ext>
            </a:extLst>
          </p:cNvPr>
          <p:cNvSpPr txBox="1"/>
          <p:nvPr/>
        </p:nvSpPr>
        <p:spPr>
          <a:xfrm>
            <a:off x="457200" y="1219200"/>
            <a:ext cx="8229600" cy="4549835"/>
          </a:xfrm>
          <a:prstGeom prst="rect">
            <a:avLst/>
          </a:prstGeom>
          <a:noFill/>
        </p:spPr>
        <p:txBody>
          <a:bodyPr wrap="square">
            <a:spAutoFit/>
          </a:bodyPr>
          <a:lstStyle/>
          <a:p>
            <a:pPr>
              <a:lnSpc>
                <a:spcPct val="150000"/>
              </a:lnSpc>
              <a:buNone/>
            </a:pPr>
            <a:r>
              <a:rPr lang="en-US" sz="2800" b="1" dirty="0">
                <a:latin typeface="+mj-lt"/>
              </a:rPr>
              <a:t>Question 3</a:t>
            </a:r>
            <a:endParaRPr lang="en-US" sz="2800" dirty="0">
              <a:latin typeface="+mj-lt"/>
            </a:endParaRPr>
          </a:p>
          <a:p>
            <a:pPr>
              <a:lnSpc>
                <a:spcPct val="150000"/>
              </a:lnSpc>
              <a:buNone/>
            </a:pPr>
            <a:r>
              <a:rPr lang="en-US" sz="2800" dirty="0">
                <a:latin typeface="+mj-lt"/>
              </a:rPr>
              <a:t>How many usable hosts are available with:</a:t>
            </a:r>
          </a:p>
          <a:p>
            <a:pPr rtl="0">
              <a:lnSpc>
                <a:spcPct val="150000"/>
              </a:lnSpc>
              <a:buNone/>
            </a:pPr>
            <a:r>
              <a:rPr lang="en-US" sz="2800" dirty="0">
                <a:latin typeface="+mj-lt"/>
              </a:rPr>
              <a:t>255.255.255.248</a:t>
            </a:r>
          </a:p>
          <a:p>
            <a:pPr>
              <a:lnSpc>
                <a:spcPct val="150000"/>
              </a:lnSpc>
              <a:buNone/>
            </a:pPr>
            <a:r>
              <a:rPr lang="en-US" sz="2800" dirty="0">
                <a:latin typeface="+mj-lt"/>
              </a:rPr>
              <a:t>This is /29.</a:t>
            </a:r>
          </a:p>
          <a:p>
            <a:pPr>
              <a:lnSpc>
                <a:spcPct val="150000"/>
              </a:lnSpc>
              <a:buNone/>
            </a:pPr>
            <a:r>
              <a:rPr lang="en-US" sz="2800" dirty="0">
                <a:latin typeface="+mj-lt"/>
              </a:rPr>
              <a:t>Host bits = 3</a:t>
            </a:r>
          </a:p>
          <a:p>
            <a:pPr rtl="0">
              <a:lnSpc>
                <a:spcPct val="150000"/>
              </a:lnSpc>
              <a:buNone/>
            </a:pPr>
            <a:r>
              <a:rPr lang="en-US" sz="2800" dirty="0">
                <a:latin typeface="+mj-lt"/>
              </a:rPr>
              <a:t>2³ - 2 = 6</a:t>
            </a:r>
          </a:p>
          <a:p>
            <a:pPr>
              <a:lnSpc>
                <a:spcPct val="150000"/>
              </a:lnSpc>
              <a:buNone/>
            </a:pPr>
            <a:r>
              <a:rPr lang="en-US" sz="2800" b="1" dirty="0">
                <a:latin typeface="+mj-lt"/>
              </a:rPr>
              <a:t>Answer:</a:t>
            </a:r>
            <a:r>
              <a:rPr lang="en-US" sz="2800" dirty="0">
                <a:latin typeface="+mj-lt"/>
              </a:rPr>
              <a:t> 6 usable hosts</a:t>
            </a:r>
          </a:p>
        </p:txBody>
      </p:sp>
    </p:spTree>
    <p:extLst>
      <p:ext uri="{BB962C8B-B14F-4D97-AF65-F5344CB8AC3E}">
        <p14:creationId xmlns:p14="http://schemas.microsoft.com/office/powerpoint/2010/main" val="4034856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1000"/>
                                        <p:tgtEl>
                                          <p:spTgt spid="4">
                                            <p:txEl>
                                              <p:pRg st="4" end="4"/>
                                            </p:txEl>
                                          </p:spTgt>
                                        </p:tgtEl>
                                      </p:cBhvr>
                                    </p:animEffect>
                                    <p:anim calcmode="lin" valueType="num">
                                      <p:cBhvr>
                                        <p:cTn id="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5" end="5"/>
                                            </p:txEl>
                                          </p:spTgt>
                                        </p:tgtEl>
                                        <p:attrNameLst>
                                          <p:attrName>style.visibility</p:attrName>
                                        </p:attrNameLst>
                                      </p:cBhvr>
                                      <p:to>
                                        <p:strVal val="visible"/>
                                      </p:to>
                                    </p:set>
                                    <p:animEffect transition="in" filter="fade">
                                      <p:cBhvr>
                                        <p:cTn id="12" dur="1000"/>
                                        <p:tgtEl>
                                          <p:spTgt spid="4">
                                            <p:txEl>
                                              <p:pRg st="5" end="5"/>
                                            </p:txEl>
                                          </p:spTgt>
                                        </p:tgtEl>
                                      </p:cBhvr>
                                    </p:animEffect>
                                    <p:anim calcmode="lin" valueType="num">
                                      <p:cBhvr>
                                        <p:cTn id="1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fade">
                                      <p:cBhvr>
                                        <p:cTn id="17" dur="1000"/>
                                        <p:tgtEl>
                                          <p:spTgt spid="4">
                                            <p:txEl>
                                              <p:pRg st="6" end="6"/>
                                            </p:txEl>
                                          </p:spTgt>
                                        </p:tgtEl>
                                      </p:cBhvr>
                                    </p:animEffect>
                                    <p:anim calcmode="lin" valueType="num">
                                      <p:cBhvr>
                                        <p:cTn id="1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A3412-4CF9-C9B7-4C06-87D47CAD5CCD}"/>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ECE904BC-AF25-DDC3-6E19-513590D4993E}"/>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Four Questions to Think About</a:t>
            </a:r>
            <a:endParaRPr dirty="0">
              <a:solidFill>
                <a:schemeClr val="tx1"/>
              </a:solidFill>
            </a:endParaRPr>
          </a:p>
        </p:txBody>
      </p:sp>
      <p:sp>
        <p:nvSpPr>
          <p:cNvPr id="15" name="object 15">
            <a:extLst>
              <a:ext uri="{FF2B5EF4-FFF2-40B4-BE49-F238E27FC236}">
                <a16:creationId xmlns:a16="http://schemas.microsoft.com/office/drawing/2014/main" id="{72268709-B7BC-F74D-4533-1443D8B47CDE}"/>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825CBC92-1881-FE3E-8614-CEDBE21CCCA1}"/>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E0D6F558-EED9-D4C3-CA9B-2D5C7FBE199C}"/>
              </a:ext>
            </a:extLst>
          </p:cNvPr>
          <p:cNvSpPr txBox="1"/>
          <p:nvPr/>
        </p:nvSpPr>
        <p:spPr>
          <a:xfrm>
            <a:off x="457200" y="1634566"/>
            <a:ext cx="8229600" cy="2610843"/>
          </a:xfrm>
          <a:prstGeom prst="rect">
            <a:avLst/>
          </a:prstGeom>
          <a:noFill/>
        </p:spPr>
        <p:txBody>
          <a:bodyPr wrap="square">
            <a:spAutoFit/>
          </a:bodyPr>
          <a:lstStyle/>
          <a:p>
            <a:pPr>
              <a:lnSpc>
                <a:spcPct val="150000"/>
              </a:lnSpc>
              <a:buNone/>
            </a:pPr>
            <a:r>
              <a:rPr lang="en-US" sz="2800" b="1" dirty="0">
                <a:latin typeface="+mj-lt"/>
              </a:rPr>
              <a:t>Question 4</a:t>
            </a:r>
            <a:endParaRPr lang="en-US" sz="2800" dirty="0">
              <a:latin typeface="+mj-lt"/>
            </a:endParaRPr>
          </a:p>
          <a:p>
            <a:pPr>
              <a:lnSpc>
                <a:spcPct val="150000"/>
              </a:lnSpc>
              <a:buNone/>
            </a:pPr>
            <a:r>
              <a:rPr lang="en-US" sz="2800" dirty="0">
                <a:latin typeface="+mj-lt"/>
              </a:rPr>
              <a:t>What prefix is:</a:t>
            </a:r>
          </a:p>
          <a:p>
            <a:pPr rtl="0">
              <a:lnSpc>
                <a:spcPct val="150000"/>
              </a:lnSpc>
              <a:buNone/>
            </a:pPr>
            <a:r>
              <a:rPr lang="en-US" sz="2800" dirty="0">
                <a:latin typeface="+mj-lt"/>
              </a:rPr>
              <a:t>255.255.255.224</a:t>
            </a:r>
          </a:p>
          <a:p>
            <a:pPr rtl="0">
              <a:lnSpc>
                <a:spcPct val="150000"/>
              </a:lnSpc>
              <a:buNone/>
            </a:pPr>
            <a:r>
              <a:rPr lang="en-US" sz="2800" b="1" dirty="0">
                <a:latin typeface="+mj-lt"/>
              </a:rPr>
              <a:t>Answer:</a:t>
            </a:r>
            <a:r>
              <a:rPr lang="en-US" sz="2800" dirty="0">
                <a:latin typeface="+mj-lt"/>
              </a:rPr>
              <a:t> /27</a:t>
            </a:r>
          </a:p>
        </p:txBody>
      </p:sp>
    </p:spTree>
    <p:extLst>
      <p:ext uri="{BB962C8B-B14F-4D97-AF65-F5344CB8AC3E}">
        <p14:creationId xmlns:p14="http://schemas.microsoft.com/office/powerpoint/2010/main" val="214928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B55C3-9D05-BEB2-88AB-2C1F18B184B0}"/>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14005352-5E4C-5E32-BC18-871C8178B9FB}"/>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IPv4 Addresses Have 32 Bits</a:t>
            </a:r>
            <a:endParaRPr dirty="0">
              <a:solidFill>
                <a:schemeClr val="tx1"/>
              </a:solidFill>
            </a:endParaRPr>
          </a:p>
        </p:txBody>
      </p:sp>
      <p:sp>
        <p:nvSpPr>
          <p:cNvPr id="15" name="object 15">
            <a:extLst>
              <a:ext uri="{FF2B5EF4-FFF2-40B4-BE49-F238E27FC236}">
                <a16:creationId xmlns:a16="http://schemas.microsoft.com/office/drawing/2014/main" id="{C0EC0065-D159-1F2E-F15C-53B93890A106}"/>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1BF89D8F-C939-0A3C-C175-05007767C81E}"/>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C8EE5F9F-2F99-1026-AA7C-EAADC26CABED}"/>
              </a:ext>
            </a:extLst>
          </p:cNvPr>
          <p:cNvSpPr txBox="1"/>
          <p:nvPr/>
        </p:nvSpPr>
        <p:spPr>
          <a:xfrm>
            <a:off x="263142" y="762001"/>
            <a:ext cx="8617716" cy="5842497"/>
          </a:xfrm>
          <a:prstGeom prst="rect">
            <a:avLst/>
          </a:prstGeom>
          <a:noFill/>
        </p:spPr>
        <p:txBody>
          <a:bodyPr wrap="square">
            <a:spAutoFit/>
          </a:bodyPr>
          <a:lstStyle/>
          <a:p>
            <a:pPr>
              <a:lnSpc>
                <a:spcPct val="150000"/>
              </a:lnSpc>
              <a:buNone/>
            </a:pPr>
            <a:r>
              <a:rPr lang="en-US" sz="2800" dirty="0">
                <a:latin typeface="+mj-lt"/>
              </a:rPr>
              <a:t>An IPv4 address contains: 32 bits</a:t>
            </a:r>
          </a:p>
          <a:p>
            <a:pPr>
              <a:lnSpc>
                <a:spcPct val="150000"/>
              </a:lnSpc>
              <a:buNone/>
            </a:pPr>
            <a:r>
              <a:rPr lang="en-US" sz="2800" dirty="0">
                <a:latin typeface="+mj-lt"/>
              </a:rPr>
              <a:t>It is divided into four groups.</a:t>
            </a:r>
          </a:p>
          <a:p>
            <a:pPr>
              <a:lnSpc>
                <a:spcPct val="150000"/>
              </a:lnSpc>
              <a:buNone/>
            </a:pPr>
            <a:r>
              <a:rPr lang="en-US" sz="2800" dirty="0">
                <a:latin typeface="+mj-lt"/>
              </a:rPr>
              <a:t>Each group contains: 8 bits</a:t>
            </a:r>
          </a:p>
          <a:p>
            <a:pPr>
              <a:lnSpc>
                <a:spcPct val="150000"/>
              </a:lnSpc>
              <a:buNone/>
            </a:pPr>
            <a:r>
              <a:rPr lang="en-US" sz="2800" dirty="0">
                <a:latin typeface="+mj-lt"/>
              </a:rPr>
              <a:t>Each group is called an octet.</a:t>
            </a:r>
          </a:p>
          <a:p>
            <a:pPr>
              <a:lnSpc>
                <a:spcPct val="150000"/>
              </a:lnSpc>
              <a:buNone/>
            </a:pPr>
            <a:r>
              <a:rPr lang="en-US" sz="2800" dirty="0">
                <a:latin typeface="+mj-lt"/>
              </a:rPr>
              <a:t>Example: 192.168.10.25 has four octets:</a:t>
            </a:r>
          </a:p>
          <a:p>
            <a:pPr rtl="0">
              <a:lnSpc>
                <a:spcPct val="150000"/>
              </a:lnSpc>
              <a:buNone/>
            </a:pPr>
            <a:r>
              <a:rPr lang="en-US" sz="2800" dirty="0">
                <a:latin typeface="+mj-lt"/>
              </a:rPr>
              <a:t>192 | 168 | 10 | 25</a:t>
            </a:r>
          </a:p>
          <a:p>
            <a:pPr>
              <a:lnSpc>
                <a:spcPct val="150000"/>
              </a:lnSpc>
              <a:buNone/>
            </a:pPr>
            <a:r>
              <a:rPr lang="en-US" sz="2800" b="1" dirty="0">
                <a:latin typeface="+mj-lt"/>
              </a:rPr>
              <a:t>Discussion question:</a:t>
            </a:r>
            <a:br>
              <a:rPr lang="en-US" sz="2800" dirty="0">
                <a:latin typeface="+mj-lt"/>
              </a:rPr>
            </a:br>
            <a:r>
              <a:rPr lang="en-US" sz="2800" dirty="0">
                <a:latin typeface="+mj-lt"/>
              </a:rPr>
              <a:t>How many bits are in one IPv4 octet?</a:t>
            </a:r>
          </a:p>
          <a:p>
            <a:pPr>
              <a:lnSpc>
                <a:spcPct val="150000"/>
              </a:lnSpc>
              <a:buNone/>
            </a:pPr>
            <a:r>
              <a:rPr lang="en-US" sz="2800" b="1" dirty="0">
                <a:latin typeface="+mj-lt"/>
              </a:rPr>
              <a:t>Answer:</a:t>
            </a:r>
            <a:r>
              <a:rPr lang="en-US" sz="2800" dirty="0">
                <a:latin typeface="+mj-lt"/>
              </a:rPr>
              <a:t> 8 bits.</a:t>
            </a:r>
          </a:p>
        </p:txBody>
      </p:sp>
    </p:spTree>
    <p:extLst>
      <p:ext uri="{BB962C8B-B14F-4D97-AF65-F5344CB8AC3E}">
        <p14:creationId xmlns:p14="http://schemas.microsoft.com/office/powerpoint/2010/main" val="19778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1000"/>
                                        <p:tgtEl>
                                          <p:spTgt spid="4">
                                            <p:txEl>
                                              <p:pRg st="7" end="7"/>
                                            </p:txEl>
                                          </p:spTgt>
                                        </p:tgtEl>
                                      </p:cBhvr>
                                    </p:animEffect>
                                    <p:anim calcmode="lin" valueType="num">
                                      <p:cBhvr>
                                        <p:cTn id="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F99AF-0596-316E-B447-E8B0251786AB}"/>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D37512A7-38FC-051E-33CA-D2C4EE0D7DCE}"/>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Binary Values Inside One Octet</a:t>
            </a:r>
            <a:endParaRPr dirty="0">
              <a:solidFill>
                <a:schemeClr val="tx1"/>
              </a:solidFill>
            </a:endParaRPr>
          </a:p>
        </p:txBody>
      </p:sp>
      <p:sp>
        <p:nvSpPr>
          <p:cNvPr id="15" name="object 15">
            <a:extLst>
              <a:ext uri="{FF2B5EF4-FFF2-40B4-BE49-F238E27FC236}">
                <a16:creationId xmlns:a16="http://schemas.microsoft.com/office/drawing/2014/main" id="{66971E96-8830-D5D1-353B-5B5DC9A01103}"/>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AB48F4A8-32EF-FA18-3C88-872319678E22}"/>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E71114C0-5C98-51D4-7D5D-6CC5E59F9AA6}"/>
              </a:ext>
            </a:extLst>
          </p:cNvPr>
          <p:cNvSpPr txBox="1"/>
          <p:nvPr/>
        </p:nvSpPr>
        <p:spPr>
          <a:xfrm>
            <a:off x="381000" y="685800"/>
            <a:ext cx="8382000" cy="5842497"/>
          </a:xfrm>
          <a:prstGeom prst="rect">
            <a:avLst/>
          </a:prstGeom>
          <a:noFill/>
        </p:spPr>
        <p:txBody>
          <a:bodyPr wrap="square">
            <a:spAutoFit/>
          </a:bodyPr>
          <a:lstStyle/>
          <a:p>
            <a:pPr>
              <a:lnSpc>
                <a:spcPct val="150000"/>
              </a:lnSpc>
              <a:buNone/>
            </a:pPr>
            <a:r>
              <a:rPr lang="en-US" sz="2800" dirty="0">
                <a:latin typeface="+mj-lt"/>
              </a:rPr>
              <a:t>Remember the binary positions:</a:t>
            </a:r>
          </a:p>
          <a:p>
            <a:pPr rtl="0">
              <a:lnSpc>
                <a:spcPct val="150000"/>
              </a:lnSpc>
              <a:buNone/>
            </a:pPr>
            <a:r>
              <a:rPr lang="en-US" sz="2800" dirty="0">
                <a:latin typeface="+mj-lt"/>
              </a:rPr>
              <a:t>128  64  32  16  8  4  2  1</a:t>
            </a:r>
          </a:p>
          <a:p>
            <a:pPr>
              <a:lnSpc>
                <a:spcPct val="150000"/>
              </a:lnSpc>
              <a:buNone/>
            </a:pPr>
            <a:r>
              <a:rPr lang="en-US" sz="2800" dirty="0">
                <a:latin typeface="+mj-lt"/>
              </a:rPr>
              <a:t>If the bit is 1, include the value.</a:t>
            </a:r>
          </a:p>
          <a:p>
            <a:pPr>
              <a:lnSpc>
                <a:spcPct val="150000"/>
              </a:lnSpc>
              <a:buNone/>
            </a:pPr>
            <a:r>
              <a:rPr lang="en-US" sz="2800" dirty="0">
                <a:latin typeface="+mj-lt"/>
              </a:rPr>
              <a:t>If the bit is 0, ignore the value.</a:t>
            </a:r>
          </a:p>
          <a:p>
            <a:pPr>
              <a:lnSpc>
                <a:spcPct val="150000"/>
              </a:lnSpc>
              <a:buNone/>
            </a:pPr>
            <a:r>
              <a:rPr lang="en-US" sz="2800" dirty="0">
                <a:latin typeface="+mj-lt"/>
              </a:rPr>
              <a:t>Example: 11000000</a:t>
            </a:r>
          </a:p>
          <a:p>
            <a:pPr>
              <a:lnSpc>
                <a:spcPct val="150000"/>
              </a:lnSpc>
              <a:buNone/>
            </a:pPr>
            <a:r>
              <a:rPr lang="en-US" sz="2800" dirty="0">
                <a:latin typeface="+mj-lt"/>
              </a:rPr>
              <a:t>means:</a:t>
            </a:r>
          </a:p>
          <a:p>
            <a:pPr rtl="0">
              <a:lnSpc>
                <a:spcPct val="150000"/>
              </a:lnSpc>
              <a:buNone/>
            </a:pPr>
            <a:r>
              <a:rPr lang="en-US" sz="2800" dirty="0">
                <a:latin typeface="+mj-lt"/>
              </a:rPr>
              <a:t>128 + 64 = 192</a:t>
            </a:r>
          </a:p>
          <a:p>
            <a:pPr>
              <a:lnSpc>
                <a:spcPct val="150000"/>
              </a:lnSpc>
              <a:buNone/>
            </a:pPr>
            <a:r>
              <a:rPr lang="en-US" sz="2800" dirty="0">
                <a:latin typeface="+mj-lt"/>
              </a:rPr>
              <a:t>Therefore:</a:t>
            </a:r>
          </a:p>
          <a:p>
            <a:pPr rtl="0">
              <a:lnSpc>
                <a:spcPct val="150000"/>
              </a:lnSpc>
              <a:buNone/>
            </a:pPr>
            <a:r>
              <a:rPr lang="en-US" sz="2800" dirty="0">
                <a:latin typeface="+mj-lt"/>
              </a:rPr>
              <a:t>11000000 = 192</a:t>
            </a:r>
          </a:p>
        </p:txBody>
      </p:sp>
    </p:spTree>
    <p:extLst>
      <p:ext uri="{BB962C8B-B14F-4D97-AF65-F5344CB8AC3E}">
        <p14:creationId xmlns:p14="http://schemas.microsoft.com/office/powerpoint/2010/main" val="5763799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02E2D-D9BE-5731-962A-79858F82E799}"/>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209CD509-1363-EABF-62C9-5A0267ECDE0A}"/>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Quick Binary Practice</a:t>
            </a:r>
            <a:endParaRPr dirty="0">
              <a:solidFill>
                <a:schemeClr val="tx1"/>
              </a:solidFill>
            </a:endParaRPr>
          </a:p>
        </p:txBody>
      </p:sp>
      <p:sp>
        <p:nvSpPr>
          <p:cNvPr id="15" name="object 15">
            <a:extLst>
              <a:ext uri="{FF2B5EF4-FFF2-40B4-BE49-F238E27FC236}">
                <a16:creationId xmlns:a16="http://schemas.microsoft.com/office/drawing/2014/main" id="{6580FA20-DAC5-35E1-DBB4-5A02D7311F72}"/>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8EEEAAC0-BE72-6C9C-E28A-583AF0519707}"/>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94E936B5-BD41-445E-621F-0731B717E711}"/>
              </a:ext>
            </a:extLst>
          </p:cNvPr>
          <p:cNvSpPr txBox="1"/>
          <p:nvPr/>
        </p:nvSpPr>
        <p:spPr>
          <a:xfrm>
            <a:off x="263142" y="838200"/>
            <a:ext cx="8617716" cy="5842497"/>
          </a:xfrm>
          <a:prstGeom prst="rect">
            <a:avLst/>
          </a:prstGeom>
          <a:noFill/>
        </p:spPr>
        <p:txBody>
          <a:bodyPr wrap="square">
            <a:spAutoFit/>
          </a:bodyPr>
          <a:lstStyle/>
          <a:p>
            <a:pPr>
              <a:lnSpc>
                <a:spcPct val="150000"/>
              </a:lnSpc>
              <a:buNone/>
            </a:pPr>
            <a:r>
              <a:rPr lang="en-US" sz="2800" dirty="0">
                <a:latin typeface="+mj-lt"/>
              </a:rPr>
              <a:t>Convert: 11100000</a:t>
            </a:r>
          </a:p>
          <a:p>
            <a:pPr>
              <a:lnSpc>
                <a:spcPct val="150000"/>
              </a:lnSpc>
              <a:buNone/>
            </a:pPr>
            <a:r>
              <a:rPr lang="en-US" sz="2800" dirty="0">
                <a:latin typeface="+mj-lt"/>
              </a:rPr>
              <a:t>Use:</a:t>
            </a:r>
          </a:p>
          <a:p>
            <a:pPr rtl="0">
              <a:lnSpc>
                <a:spcPct val="150000"/>
              </a:lnSpc>
              <a:buNone/>
            </a:pPr>
            <a:r>
              <a:rPr lang="en-US" sz="2800" dirty="0">
                <a:latin typeface="+mj-lt"/>
              </a:rPr>
              <a:t>128 + 64 + 32</a:t>
            </a:r>
          </a:p>
          <a:p>
            <a:pPr>
              <a:lnSpc>
                <a:spcPct val="150000"/>
              </a:lnSpc>
              <a:buNone/>
            </a:pPr>
            <a:r>
              <a:rPr lang="en-US" sz="2800" dirty="0">
                <a:latin typeface="+mj-lt"/>
              </a:rPr>
              <a:t>Result:</a:t>
            </a:r>
          </a:p>
          <a:p>
            <a:pPr rtl="0">
              <a:lnSpc>
                <a:spcPct val="150000"/>
              </a:lnSpc>
              <a:buNone/>
            </a:pPr>
            <a:r>
              <a:rPr lang="en-US" sz="2800" dirty="0">
                <a:latin typeface="+mj-lt"/>
              </a:rPr>
              <a:t>224</a:t>
            </a:r>
          </a:p>
          <a:p>
            <a:pPr>
              <a:lnSpc>
                <a:spcPct val="150000"/>
              </a:lnSpc>
              <a:buNone/>
            </a:pPr>
            <a:r>
              <a:rPr lang="en-US" sz="2800" b="1" dirty="0">
                <a:latin typeface="+mj-lt"/>
              </a:rPr>
              <a:t>Discussion question:</a:t>
            </a:r>
            <a:br>
              <a:rPr lang="en-US" sz="2800" dirty="0">
                <a:latin typeface="+mj-lt"/>
              </a:rPr>
            </a:br>
            <a:r>
              <a:rPr lang="en-US" sz="2800" dirty="0">
                <a:latin typeface="+mj-lt"/>
              </a:rPr>
              <a:t>What is 11110000 in decimal?</a:t>
            </a:r>
          </a:p>
          <a:p>
            <a:pPr>
              <a:lnSpc>
                <a:spcPct val="150000"/>
              </a:lnSpc>
              <a:buNone/>
            </a:pPr>
            <a:r>
              <a:rPr lang="en-US" sz="2800" b="1" dirty="0">
                <a:latin typeface="+mj-lt"/>
              </a:rPr>
              <a:t>Answer:</a:t>
            </a:r>
            <a:endParaRPr lang="en-US" sz="2800" dirty="0">
              <a:latin typeface="+mj-lt"/>
            </a:endParaRPr>
          </a:p>
          <a:p>
            <a:pPr rtl="0">
              <a:lnSpc>
                <a:spcPct val="150000"/>
              </a:lnSpc>
              <a:buNone/>
            </a:pPr>
            <a:r>
              <a:rPr lang="en-US" sz="2800" dirty="0">
                <a:latin typeface="+mj-lt"/>
              </a:rPr>
              <a:t>128 + 64 + 32 + 16 = 240</a:t>
            </a:r>
          </a:p>
        </p:txBody>
      </p:sp>
    </p:spTree>
    <p:extLst>
      <p:ext uri="{BB962C8B-B14F-4D97-AF65-F5344CB8AC3E}">
        <p14:creationId xmlns:p14="http://schemas.microsoft.com/office/powerpoint/2010/main" val="2672617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Effect transition="in" filter="barn(inVertical)">
                                      <p:cBhvr>
                                        <p:cTn id="7" dur="500"/>
                                        <p:tgtEl>
                                          <p:spTgt spid="4">
                                            <p:txEl>
                                              <p:pRg st="6" end="6"/>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xEl>
                                              <p:pRg st="7" end="7"/>
                                            </p:txEl>
                                          </p:spTgt>
                                        </p:tgtEl>
                                        <p:attrNameLst>
                                          <p:attrName>style.visibility</p:attrName>
                                        </p:attrNameLst>
                                      </p:cBhvr>
                                      <p:to>
                                        <p:strVal val="visible"/>
                                      </p:to>
                                    </p:set>
                                    <p:animEffect transition="in" filter="barn(inVertical)">
                                      <p:cBhvr>
                                        <p:cTn id="10"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858A4-7E72-7E14-7CA7-EF1EB975CB00}"/>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C4C02F34-871A-5D4E-6E11-429C980BE0A0}"/>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Important Subnet Mask Values</a:t>
            </a:r>
            <a:endParaRPr dirty="0">
              <a:solidFill>
                <a:schemeClr val="tx1"/>
              </a:solidFill>
            </a:endParaRPr>
          </a:p>
        </p:txBody>
      </p:sp>
      <p:sp>
        <p:nvSpPr>
          <p:cNvPr id="15" name="object 15">
            <a:extLst>
              <a:ext uri="{FF2B5EF4-FFF2-40B4-BE49-F238E27FC236}">
                <a16:creationId xmlns:a16="http://schemas.microsoft.com/office/drawing/2014/main" id="{DC159473-1420-B774-4EE3-2C407CC7528F}"/>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E09AD3AB-CE78-23FA-A7A1-65A03BBDF836}"/>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graphicFrame>
        <p:nvGraphicFramePr>
          <p:cNvPr id="2" name="Table 1">
            <a:extLst>
              <a:ext uri="{FF2B5EF4-FFF2-40B4-BE49-F238E27FC236}">
                <a16:creationId xmlns:a16="http://schemas.microsoft.com/office/drawing/2014/main" id="{597FD837-3A22-4563-A6E9-0B7C3E485FA7}"/>
              </a:ext>
            </a:extLst>
          </p:cNvPr>
          <p:cNvGraphicFramePr>
            <a:graphicFrameLocks noGrp="1"/>
          </p:cNvGraphicFramePr>
          <p:nvPr>
            <p:extLst>
              <p:ext uri="{D42A27DB-BD31-4B8C-83A1-F6EECF244321}">
                <p14:modId xmlns:p14="http://schemas.microsoft.com/office/powerpoint/2010/main" val="4011309340"/>
              </p:ext>
            </p:extLst>
          </p:nvPr>
        </p:nvGraphicFramePr>
        <p:xfrm>
          <a:off x="407988" y="1295400"/>
          <a:ext cx="8328024" cy="4267200"/>
        </p:xfrm>
        <a:graphic>
          <a:graphicData uri="http://schemas.openxmlformats.org/drawingml/2006/table">
            <a:tbl>
              <a:tblPr>
                <a:tableStyleId>{5C22544A-7EE6-4342-B048-85BDC9FD1C3A}</a:tableStyleId>
              </a:tblPr>
              <a:tblGrid>
                <a:gridCol w="4164012">
                  <a:extLst>
                    <a:ext uri="{9D8B030D-6E8A-4147-A177-3AD203B41FA5}">
                      <a16:colId xmlns:a16="http://schemas.microsoft.com/office/drawing/2014/main" val="2741593292"/>
                    </a:ext>
                  </a:extLst>
                </a:gridCol>
                <a:gridCol w="4164012">
                  <a:extLst>
                    <a:ext uri="{9D8B030D-6E8A-4147-A177-3AD203B41FA5}">
                      <a16:colId xmlns:a16="http://schemas.microsoft.com/office/drawing/2014/main" val="1177311627"/>
                    </a:ext>
                  </a:extLst>
                </a:gridCol>
              </a:tblGrid>
              <a:tr h="365760">
                <a:tc>
                  <a:txBody>
                    <a:bodyPr/>
                    <a:lstStyle/>
                    <a:p>
                      <a:pPr>
                        <a:buNone/>
                      </a:pPr>
                      <a:r>
                        <a:rPr lang="en-US" sz="2200" dirty="0"/>
                        <a:t>Binary</a:t>
                      </a:r>
                    </a:p>
                  </a:txBody>
                  <a:tcPr anchor="ctr">
                    <a:solidFill>
                      <a:schemeClr val="accent4">
                        <a:lumMod val="60000"/>
                        <a:lumOff val="40000"/>
                      </a:schemeClr>
                    </a:solidFill>
                  </a:tcPr>
                </a:tc>
                <a:tc>
                  <a:txBody>
                    <a:bodyPr/>
                    <a:lstStyle/>
                    <a:p>
                      <a:pPr>
                        <a:buNone/>
                      </a:pPr>
                      <a:r>
                        <a:rPr lang="en-US" sz="2200" dirty="0"/>
                        <a:t>Decimal</a:t>
                      </a:r>
                    </a:p>
                  </a:txBody>
                  <a:tcPr anchor="ctr">
                    <a:solidFill>
                      <a:schemeClr val="accent4">
                        <a:lumMod val="60000"/>
                        <a:lumOff val="40000"/>
                      </a:schemeClr>
                    </a:solidFill>
                  </a:tcPr>
                </a:tc>
                <a:extLst>
                  <a:ext uri="{0D108BD9-81ED-4DB2-BD59-A6C34878D82A}">
                    <a16:rowId xmlns:a16="http://schemas.microsoft.com/office/drawing/2014/main" val="1239860730"/>
                  </a:ext>
                </a:extLst>
              </a:tr>
              <a:tr h="365760">
                <a:tc>
                  <a:txBody>
                    <a:bodyPr/>
                    <a:lstStyle/>
                    <a:p>
                      <a:pPr>
                        <a:buNone/>
                      </a:pPr>
                      <a:r>
                        <a:rPr lang="en-US" sz="2200"/>
                        <a:t>00000000</a:t>
                      </a:r>
                    </a:p>
                  </a:txBody>
                  <a:tcPr anchor="ctr">
                    <a:solidFill>
                      <a:schemeClr val="accent4">
                        <a:lumMod val="20000"/>
                        <a:lumOff val="80000"/>
                      </a:schemeClr>
                    </a:solidFill>
                  </a:tcPr>
                </a:tc>
                <a:tc>
                  <a:txBody>
                    <a:bodyPr/>
                    <a:lstStyle/>
                    <a:p>
                      <a:pPr>
                        <a:buNone/>
                      </a:pPr>
                      <a:r>
                        <a:rPr lang="en-US" sz="2200"/>
                        <a:t>0</a:t>
                      </a:r>
                    </a:p>
                  </a:txBody>
                  <a:tcPr anchor="ctr">
                    <a:solidFill>
                      <a:schemeClr val="accent4">
                        <a:lumMod val="20000"/>
                        <a:lumOff val="80000"/>
                      </a:schemeClr>
                    </a:solidFill>
                  </a:tcPr>
                </a:tc>
                <a:extLst>
                  <a:ext uri="{0D108BD9-81ED-4DB2-BD59-A6C34878D82A}">
                    <a16:rowId xmlns:a16="http://schemas.microsoft.com/office/drawing/2014/main" val="1311093609"/>
                  </a:ext>
                </a:extLst>
              </a:tr>
              <a:tr h="365760">
                <a:tc>
                  <a:txBody>
                    <a:bodyPr/>
                    <a:lstStyle/>
                    <a:p>
                      <a:pPr>
                        <a:buNone/>
                      </a:pPr>
                      <a:r>
                        <a:rPr lang="en-US" sz="2200"/>
                        <a:t>10000000</a:t>
                      </a:r>
                    </a:p>
                  </a:txBody>
                  <a:tcPr anchor="ctr">
                    <a:solidFill>
                      <a:schemeClr val="accent4">
                        <a:lumMod val="20000"/>
                        <a:lumOff val="80000"/>
                      </a:schemeClr>
                    </a:solidFill>
                  </a:tcPr>
                </a:tc>
                <a:tc>
                  <a:txBody>
                    <a:bodyPr/>
                    <a:lstStyle/>
                    <a:p>
                      <a:pPr>
                        <a:buNone/>
                      </a:pPr>
                      <a:r>
                        <a:rPr lang="en-US" sz="2200"/>
                        <a:t>128</a:t>
                      </a:r>
                    </a:p>
                  </a:txBody>
                  <a:tcPr anchor="ctr">
                    <a:solidFill>
                      <a:schemeClr val="accent4">
                        <a:lumMod val="20000"/>
                        <a:lumOff val="80000"/>
                      </a:schemeClr>
                    </a:solidFill>
                  </a:tcPr>
                </a:tc>
                <a:extLst>
                  <a:ext uri="{0D108BD9-81ED-4DB2-BD59-A6C34878D82A}">
                    <a16:rowId xmlns:a16="http://schemas.microsoft.com/office/drawing/2014/main" val="1508808992"/>
                  </a:ext>
                </a:extLst>
              </a:tr>
              <a:tr h="365760">
                <a:tc>
                  <a:txBody>
                    <a:bodyPr/>
                    <a:lstStyle/>
                    <a:p>
                      <a:pPr>
                        <a:buNone/>
                      </a:pPr>
                      <a:r>
                        <a:rPr lang="en-US" sz="2200"/>
                        <a:t>11000000</a:t>
                      </a:r>
                    </a:p>
                  </a:txBody>
                  <a:tcPr anchor="ctr">
                    <a:solidFill>
                      <a:schemeClr val="accent4">
                        <a:lumMod val="20000"/>
                        <a:lumOff val="80000"/>
                      </a:schemeClr>
                    </a:solidFill>
                  </a:tcPr>
                </a:tc>
                <a:tc>
                  <a:txBody>
                    <a:bodyPr/>
                    <a:lstStyle/>
                    <a:p>
                      <a:pPr>
                        <a:buNone/>
                      </a:pPr>
                      <a:r>
                        <a:rPr lang="en-US" sz="2200"/>
                        <a:t>192</a:t>
                      </a:r>
                    </a:p>
                  </a:txBody>
                  <a:tcPr anchor="ctr">
                    <a:solidFill>
                      <a:schemeClr val="accent4">
                        <a:lumMod val="20000"/>
                        <a:lumOff val="80000"/>
                      </a:schemeClr>
                    </a:solidFill>
                  </a:tcPr>
                </a:tc>
                <a:extLst>
                  <a:ext uri="{0D108BD9-81ED-4DB2-BD59-A6C34878D82A}">
                    <a16:rowId xmlns:a16="http://schemas.microsoft.com/office/drawing/2014/main" val="1363952474"/>
                  </a:ext>
                </a:extLst>
              </a:tr>
              <a:tr h="365760">
                <a:tc>
                  <a:txBody>
                    <a:bodyPr/>
                    <a:lstStyle/>
                    <a:p>
                      <a:pPr>
                        <a:buNone/>
                      </a:pPr>
                      <a:r>
                        <a:rPr lang="en-US" sz="2200"/>
                        <a:t>11100000</a:t>
                      </a:r>
                    </a:p>
                  </a:txBody>
                  <a:tcPr anchor="ctr">
                    <a:solidFill>
                      <a:schemeClr val="accent4">
                        <a:lumMod val="20000"/>
                        <a:lumOff val="80000"/>
                      </a:schemeClr>
                    </a:solidFill>
                  </a:tcPr>
                </a:tc>
                <a:tc>
                  <a:txBody>
                    <a:bodyPr/>
                    <a:lstStyle/>
                    <a:p>
                      <a:pPr>
                        <a:buNone/>
                      </a:pPr>
                      <a:r>
                        <a:rPr lang="en-US" sz="2200"/>
                        <a:t>224</a:t>
                      </a:r>
                    </a:p>
                  </a:txBody>
                  <a:tcPr anchor="ctr">
                    <a:solidFill>
                      <a:schemeClr val="accent4">
                        <a:lumMod val="20000"/>
                        <a:lumOff val="80000"/>
                      </a:schemeClr>
                    </a:solidFill>
                  </a:tcPr>
                </a:tc>
                <a:extLst>
                  <a:ext uri="{0D108BD9-81ED-4DB2-BD59-A6C34878D82A}">
                    <a16:rowId xmlns:a16="http://schemas.microsoft.com/office/drawing/2014/main" val="3717068559"/>
                  </a:ext>
                </a:extLst>
              </a:tr>
              <a:tr h="365760">
                <a:tc>
                  <a:txBody>
                    <a:bodyPr/>
                    <a:lstStyle/>
                    <a:p>
                      <a:pPr>
                        <a:buNone/>
                      </a:pPr>
                      <a:r>
                        <a:rPr lang="en-US" sz="2200"/>
                        <a:t>11110000</a:t>
                      </a:r>
                    </a:p>
                  </a:txBody>
                  <a:tcPr anchor="ctr">
                    <a:solidFill>
                      <a:schemeClr val="accent4">
                        <a:lumMod val="20000"/>
                        <a:lumOff val="80000"/>
                      </a:schemeClr>
                    </a:solidFill>
                  </a:tcPr>
                </a:tc>
                <a:tc>
                  <a:txBody>
                    <a:bodyPr/>
                    <a:lstStyle/>
                    <a:p>
                      <a:pPr>
                        <a:buNone/>
                      </a:pPr>
                      <a:r>
                        <a:rPr lang="en-US" sz="2200"/>
                        <a:t>240</a:t>
                      </a:r>
                    </a:p>
                  </a:txBody>
                  <a:tcPr anchor="ctr">
                    <a:solidFill>
                      <a:schemeClr val="accent4">
                        <a:lumMod val="20000"/>
                        <a:lumOff val="80000"/>
                      </a:schemeClr>
                    </a:solidFill>
                  </a:tcPr>
                </a:tc>
                <a:extLst>
                  <a:ext uri="{0D108BD9-81ED-4DB2-BD59-A6C34878D82A}">
                    <a16:rowId xmlns:a16="http://schemas.microsoft.com/office/drawing/2014/main" val="3505909607"/>
                  </a:ext>
                </a:extLst>
              </a:tr>
              <a:tr h="365760">
                <a:tc>
                  <a:txBody>
                    <a:bodyPr/>
                    <a:lstStyle/>
                    <a:p>
                      <a:pPr>
                        <a:buNone/>
                      </a:pPr>
                      <a:r>
                        <a:rPr lang="en-US" sz="2200"/>
                        <a:t>11111000</a:t>
                      </a:r>
                    </a:p>
                  </a:txBody>
                  <a:tcPr anchor="ctr">
                    <a:solidFill>
                      <a:schemeClr val="accent4">
                        <a:lumMod val="20000"/>
                        <a:lumOff val="80000"/>
                      </a:schemeClr>
                    </a:solidFill>
                  </a:tcPr>
                </a:tc>
                <a:tc>
                  <a:txBody>
                    <a:bodyPr/>
                    <a:lstStyle/>
                    <a:p>
                      <a:pPr>
                        <a:buNone/>
                      </a:pPr>
                      <a:r>
                        <a:rPr lang="en-US" sz="2200"/>
                        <a:t>248</a:t>
                      </a:r>
                    </a:p>
                  </a:txBody>
                  <a:tcPr anchor="ctr">
                    <a:solidFill>
                      <a:schemeClr val="accent4">
                        <a:lumMod val="20000"/>
                        <a:lumOff val="80000"/>
                      </a:schemeClr>
                    </a:solidFill>
                  </a:tcPr>
                </a:tc>
                <a:extLst>
                  <a:ext uri="{0D108BD9-81ED-4DB2-BD59-A6C34878D82A}">
                    <a16:rowId xmlns:a16="http://schemas.microsoft.com/office/drawing/2014/main" val="3962187523"/>
                  </a:ext>
                </a:extLst>
              </a:tr>
              <a:tr h="365760">
                <a:tc>
                  <a:txBody>
                    <a:bodyPr/>
                    <a:lstStyle/>
                    <a:p>
                      <a:pPr>
                        <a:buNone/>
                      </a:pPr>
                      <a:r>
                        <a:rPr lang="en-US" sz="2200"/>
                        <a:t>11111100</a:t>
                      </a:r>
                    </a:p>
                  </a:txBody>
                  <a:tcPr anchor="ctr">
                    <a:solidFill>
                      <a:schemeClr val="accent4">
                        <a:lumMod val="20000"/>
                        <a:lumOff val="80000"/>
                      </a:schemeClr>
                    </a:solidFill>
                  </a:tcPr>
                </a:tc>
                <a:tc>
                  <a:txBody>
                    <a:bodyPr/>
                    <a:lstStyle/>
                    <a:p>
                      <a:pPr>
                        <a:buNone/>
                      </a:pPr>
                      <a:r>
                        <a:rPr lang="en-US" sz="2200"/>
                        <a:t>252</a:t>
                      </a:r>
                    </a:p>
                  </a:txBody>
                  <a:tcPr anchor="ctr">
                    <a:solidFill>
                      <a:schemeClr val="accent4">
                        <a:lumMod val="20000"/>
                        <a:lumOff val="80000"/>
                      </a:schemeClr>
                    </a:solidFill>
                  </a:tcPr>
                </a:tc>
                <a:extLst>
                  <a:ext uri="{0D108BD9-81ED-4DB2-BD59-A6C34878D82A}">
                    <a16:rowId xmlns:a16="http://schemas.microsoft.com/office/drawing/2014/main" val="3133997876"/>
                  </a:ext>
                </a:extLst>
              </a:tr>
              <a:tr h="365760">
                <a:tc>
                  <a:txBody>
                    <a:bodyPr/>
                    <a:lstStyle/>
                    <a:p>
                      <a:pPr>
                        <a:buNone/>
                      </a:pPr>
                      <a:r>
                        <a:rPr lang="en-US" sz="2200"/>
                        <a:t>11111110</a:t>
                      </a:r>
                    </a:p>
                  </a:txBody>
                  <a:tcPr anchor="ctr">
                    <a:solidFill>
                      <a:schemeClr val="accent4">
                        <a:lumMod val="20000"/>
                        <a:lumOff val="80000"/>
                      </a:schemeClr>
                    </a:solidFill>
                  </a:tcPr>
                </a:tc>
                <a:tc>
                  <a:txBody>
                    <a:bodyPr/>
                    <a:lstStyle/>
                    <a:p>
                      <a:pPr>
                        <a:buNone/>
                      </a:pPr>
                      <a:r>
                        <a:rPr lang="en-US" sz="2200"/>
                        <a:t>254</a:t>
                      </a:r>
                    </a:p>
                  </a:txBody>
                  <a:tcPr anchor="ctr">
                    <a:solidFill>
                      <a:schemeClr val="accent4">
                        <a:lumMod val="20000"/>
                        <a:lumOff val="80000"/>
                      </a:schemeClr>
                    </a:solidFill>
                  </a:tcPr>
                </a:tc>
                <a:extLst>
                  <a:ext uri="{0D108BD9-81ED-4DB2-BD59-A6C34878D82A}">
                    <a16:rowId xmlns:a16="http://schemas.microsoft.com/office/drawing/2014/main" val="1792142404"/>
                  </a:ext>
                </a:extLst>
              </a:tr>
              <a:tr h="365760">
                <a:tc>
                  <a:txBody>
                    <a:bodyPr/>
                    <a:lstStyle/>
                    <a:p>
                      <a:pPr>
                        <a:buNone/>
                      </a:pPr>
                      <a:r>
                        <a:rPr lang="en-US" sz="2200"/>
                        <a:t>11111111</a:t>
                      </a:r>
                    </a:p>
                  </a:txBody>
                  <a:tcPr anchor="ctr">
                    <a:solidFill>
                      <a:schemeClr val="accent4">
                        <a:lumMod val="20000"/>
                        <a:lumOff val="80000"/>
                      </a:schemeClr>
                    </a:solidFill>
                  </a:tcPr>
                </a:tc>
                <a:tc>
                  <a:txBody>
                    <a:bodyPr/>
                    <a:lstStyle/>
                    <a:p>
                      <a:pPr>
                        <a:buNone/>
                      </a:pPr>
                      <a:r>
                        <a:rPr lang="en-US" sz="2200" dirty="0"/>
                        <a:t>255</a:t>
                      </a:r>
                    </a:p>
                  </a:txBody>
                  <a:tcPr anchor="ctr">
                    <a:solidFill>
                      <a:schemeClr val="accent4">
                        <a:lumMod val="20000"/>
                        <a:lumOff val="80000"/>
                      </a:schemeClr>
                    </a:solidFill>
                  </a:tcPr>
                </a:tc>
                <a:extLst>
                  <a:ext uri="{0D108BD9-81ED-4DB2-BD59-A6C34878D82A}">
                    <a16:rowId xmlns:a16="http://schemas.microsoft.com/office/drawing/2014/main" val="3853842556"/>
                  </a:ext>
                </a:extLst>
              </a:tr>
            </a:tbl>
          </a:graphicData>
        </a:graphic>
      </p:graphicFrame>
      <p:sp>
        <p:nvSpPr>
          <p:cNvPr id="5" name="TextBox 4">
            <a:extLst>
              <a:ext uri="{FF2B5EF4-FFF2-40B4-BE49-F238E27FC236}">
                <a16:creationId xmlns:a16="http://schemas.microsoft.com/office/drawing/2014/main" id="{D9BBA116-14CA-BFFB-E724-60031750578F}"/>
              </a:ext>
            </a:extLst>
          </p:cNvPr>
          <p:cNvSpPr txBox="1"/>
          <p:nvPr/>
        </p:nvSpPr>
        <p:spPr>
          <a:xfrm>
            <a:off x="446600" y="555439"/>
            <a:ext cx="4572000" cy="671851"/>
          </a:xfrm>
          <a:prstGeom prst="rect">
            <a:avLst/>
          </a:prstGeom>
          <a:noFill/>
        </p:spPr>
        <p:txBody>
          <a:bodyPr wrap="square">
            <a:spAutoFit/>
          </a:bodyPr>
          <a:lstStyle/>
          <a:p>
            <a:pPr>
              <a:lnSpc>
                <a:spcPct val="150000"/>
              </a:lnSpc>
              <a:buNone/>
            </a:pPr>
            <a:r>
              <a:rPr lang="en-US" sz="2800" dirty="0" err="1">
                <a:latin typeface="+mj-lt"/>
              </a:rPr>
              <a:t>Memorise</a:t>
            </a:r>
            <a:r>
              <a:rPr lang="en-US" sz="2800" dirty="0">
                <a:latin typeface="+mj-lt"/>
              </a:rPr>
              <a:t> this pattern:</a:t>
            </a:r>
          </a:p>
        </p:txBody>
      </p:sp>
      <p:sp>
        <p:nvSpPr>
          <p:cNvPr id="7" name="TextBox 6">
            <a:extLst>
              <a:ext uri="{FF2B5EF4-FFF2-40B4-BE49-F238E27FC236}">
                <a16:creationId xmlns:a16="http://schemas.microsoft.com/office/drawing/2014/main" id="{861C5C03-DDD8-E8CD-874F-6EBDE83EC922}"/>
              </a:ext>
            </a:extLst>
          </p:cNvPr>
          <p:cNvSpPr txBox="1"/>
          <p:nvPr/>
        </p:nvSpPr>
        <p:spPr>
          <a:xfrm>
            <a:off x="397144" y="5727280"/>
            <a:ext cx="8338868" cy="671851"/>
          </a:xfrm>
          <a:prstGeom prst="rect">
            <a:avLst/>
          </a:prstGeom>
          <a:noFill/>
        </p:spPr>
        <p:txBody>
          <a:bodyPr wrap="square">
            <a:spAutoFit/>
          </a:bodyPr>
          <a:lstStyle/>
          <a:p>
            <a:pPr>
              <a:lnSpc>
                <a:spcPct val="150000"/>
              </a:lnSpc>
              <a:buNone/>
            </a:pPr>
            <a:r>
              <a:rPr lang="en-US" sz="2800" dirty="0">
                <a:latin typeface="+mj-lt"/>
              </a:rPr>
              <a:t>These values appear frequently in subnetting.</a:t>
            </a:r>
          </a:p>
        </p:txBody>
      </p:sp>
    </p:spTree>
    <p:extLst>
      <p:ext uri="{BB962C8B-B14F-4D97-AF65-F5344CB8AC3E}">
        <p14:creationId xmlns:p14="http://schemas.microsoft.com/office/powerpoint/2010/main" val="26244399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DEFF8-DA55-E7CA-EF34-FA96B37206FF}"/>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75BC5C3C-16CD-1BBA-DB01-6FE58AA47ED7}"/>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Prefix Length Review</a:t>
            </a:r>
            <a:endParaRPr dirty="0">
              <a:solidFill>
                <a:schemeClr val="tx1"/>
              </a:solidFill>
            </a:endParaRPr>
          </a:p>
        </p:txBody>
      </p:sp>
      <p:sp>
        <p:nvSpPr>
          <p:cNvPr id="15" name="object 15">
            <a:extLst>
              <a:ext uri="{FF2B5EF4-FFF2-40B4-BE49-F238E27FC236}">
                <a16:creationId xmlns:a16="http://schemas.microsoft.com/office/drawing/2014/main" id="{2FFA0186-C92F-D0FB-448D-CF9665EFA176}"/>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57C58DA7-B33D-C6BF-B64A-B7A29699701B}"/>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8" name="TextBox 7">
            <a:extLst>
              <a:ext uri="{FF2B5EF4-FFF2-40B4-BE49-F238E27FC236}">
                <a16:creationId xmlns:a16="http://schemas.microsoft.com/office/drawing/2014/main" id="{D181A497-9CBC-0F41-AD2F-24F2545883B3}"/>
              </a:ext>
            </a:extLst>
          </p:cNvPr>
          <p:cNvSpPr txBox="1"/>
          <p:nvPr/>
        </p:nvSpPr>
        <p:spPr>
          <a:xfrm>
            <a:off x="381000" y="838201"/>
            <a:ext cx="8382000" cy="5196166"/>
          </a:xfrm>
          <a:prstGeom prst="rect">
            <a:avLst/>
          </a:prstGeom>
          <a:noFill/>
        </p:spPr>
        <p:txBody>
          <a:bodyPr wrap="square">
            <a:spAutoFit/>
          </a:bodyPr>
          <a:lstStyle/>
          <a:p>
            <a:pPr>
              <a:lnSpc>
                <a:spcPct val="150000"/>
              </a:lnSpc>
              <a:buNone/>
            </a:pPr>
            <a:r>
              <a:rPr lang="en-US" sz="2800" dirty="0">
                <a:latin typeface="+mj-lt"/>
              </a:rPr>
              <a:t>The prefix tells us how many bits belong to the network.</a:t>
            </a:r>
          </a:p>
          <a:p>
            <a:pPr>
              <a:lnSpc>
                <a:spcPct val="150000"/>
              </a:lnSpc>
              <a:buNone/>
            </a:pPr>
            <a:r>
              <a:rPr lang="en-US" sz="2800" dirty="0">
                <a:latin typeface="+mj-lt"/>
              </a:rPr>
              <a:t>Example:</a:t>
            </a:r>
          </a:p>
          <a:p>
            <a:pPr rtl="0">
              <a:lnSpc>
                <a:spcPct val="150000"/>
              </a:lnSpc>
              <a:buNone/>
            </a:pPr>
            <a:r>
              <a:rPr lang="en-US" sz="2800" dirty="0">
                <a:latin typeface="+mj-lt"/>
              </a:rPr>
              <a:t>/24</a:t>
            </a:r>
          </a:p>
          <a:p>
            <a:pPr>
              <a:lnSpc>
                <a:spcPct val="150000"/>
              </a:lnSpc>
              <a:buNone/>
            </a:pPr>
            <a:r>
              <a:rPr lang="en-US" sz="2800" dirty="0">
                <a:latin typeface="+mj-lt"/>
              </a:rPr>
              <a:t>means:</a:t>
            </a:r>
          </a:p>
          <a:p>
            <a:pPr rtl="0">
              <a:lnSpc>
                <a:spcPct val="150000"/>
              </a:lnSpc>
              <a:buNone/>
            </a:pPr>
            <a:r>
              <a:rPr lang="en-US" sz="2800" dirty="0">
                <a:latin typeface="+mj-lt"/>
              </a:rPr>
              <a:t>24 network bits</a:t>
            </a:r>
          </a:p>
          <a:p>
            <a:pPr rtl="0">
              <a:lnSpc>
                <a:spcPct val="150000"/>
              </a:lnSpc>
              <a:buNone/>
            </a:pPr>
            <a:r>
              <a:rPr lang="en-US" sz="2800" dirty="0">
                <a:latin typeface="+mj-lt"/>
              </a:rPr>
              <a:t>8 host bits</a:t>
            </a:r>
          </a:p>
          <a:p>
            <a:pPr>
              <a:lnSpc>
                <a:spcPct val="150000"/>
              </a:lnSpc>
              <a:buNone/>
            </a:pPr>
            <a:r>
              <a:rPr lang="en-US" sz="2800" dirty="0">
                <a:latin typeface="+mj-lt"/>
              </a:rPr>
              <a:t>because:</a:t>
            </a:r>
          </a:p>
          <a:p>
            <a:pPr rtl="0">
              <a:lnSpc>
                <a:spcPct val="150000"/>
              </a:lnSpc>
              <a:buNone/>
            </a:pPr>
            <a:r>
              <a:rPr lang="en-US" sz="2800" dirty="0">
                <a:latin typeface="+mj-lt"/>
              </a:rPr>
              <a:t>32 - 24 = 8</a:t>
            </a:r>
          </a:p>
        </p:txBody>
      </p:sp>
    </p:spTree>
    <p:extLst>
      <p:ext uri="{BB962C8B-B14F-4D97-AF65-F5344CB8AC3E}">
        <p14:creationId xmlns:p14="http://schemas.microsoft.com/office/powerpoint/2010/main" val="13777568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F960F-A0E2-91B6-4BEB-A03C5D7B7F9C}"/>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76EFD1ED-D59A-8CB2-0D76-DBB0BB790747}"/>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Prefix and Mask Examples</a:t>
            </a:r>
            <a:endParaRPr dirty="0">
              <a:solidFill>
                <a:schemeClr val="tx1"/>
              </a:solidFill>
            </a:endParaRPr>
          </a:p>
        </p:txBody>
      </p:sp>
      <p:sp>
        <p:nvSpPr>
          <p:cNvPr id="15" name="object 15">
            <a:extLst>
              <a:ext uri="{FF2B5EF4-FFF2-40B4-BE49-F238E27FC236}">
                <a16:creationId xmlns:a16="http://schemas.microsoft.com/office/drawing/2014/main" id="{DF7DA66F-31E3-685E-B54C-8C807D06394E}"/>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95352CE7-A952-10EF-DF55-421F864E1941}"/>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A768990F-825B-AD13-FFB3-04BD9F974A7D}"/>
              </a:ext>
            </a:extLst>
          </p:cNvPr>
          <p:cNvSpPr txBox="1"/>
          <p:nvPr/>
        </p:nvSpPr>
        <p:spPr>
          <a:xfrm>
            <a:off x="263142" y="685801"/>
            <a:ext cx="8617716" cy="5842497"/>
          </a:xfrm>
          <a:prstGeom prst="rect">
            <a:avLst/>
          </a:prstGeom>
          <a:noFill/>
        </p:spPr>
        <p:txBody>
          <a:bodyPr wrap="square">
            <a:spAutoFit/>
          </a:bodyPr>
          <a:lstStyle/>
          <a:p>
            <a:pPr rtl="0">
              <a:lnSpc>
                <a:spcPct val="150000"/>
              </a:lnSpc>
              <a:buNone/>
            </a:pPr>
            <a:r>
              <a:rPr lang="en-US" sz="2800" dirty="0">
                <a:latin typeface="+mj-lt"/>
              </a:rPr>
              <a:t>/24 = 255.255.255.0</a:t>
            </a:r>
          </a:p>
          <a:p>
            <a:pPr rtl="0">
              <a:lnSpc>
                <a:spcPct val="150000"/>
              </a:lnSpc>
              <a:buNone/>
            </a:pPr>
            <a:r>
              <a:rPr lang="en-US" sz="2800" dirty="0">
                <a:latin typeface="+mj-lt"/>
              </a:rPr>
              <a:t>/25 = 255.255.255.128</a:t>
            </a:r>
          </a:p>
          <a:p>
            <a:pPr rtl="0">
              <a:lnSpc>
                <a:spcPct val="150000"/>
              </a:lnSpc>
              <a:buNone/>
            </a:pPr>
            <a:r>
              <a:rPr lang="en-US" sz="2800" dirty="0">
                <a:latin typeface="+mj-lt"/>
              </a:rPr>
              <a:t>/26 = 255.255.255.192</a:t>
            </a:r>
          </a:p>
          <a:p>
            <a:pPr rtl="0">
              <a:lnSpc>
                <a:spcPct val="150000"/>
              </a:lnSpc>
              <a:buNone/>
            </a:pPr>
            <a:r>
              <a:rPr lang="en-US" sz="2800" dirty="0">
                <a:latin typeface="+mj-lt"/>
              </a:rPr>
              <a:t>/27 = 255.255.255.224</a:t>
            </a:r>
          </a:p>
          <a:p>
            <a:pPr rtl="0">
              <a:lnSpc>
                <a:spcPct val="150000"/>
              </a:lnSpc>
              <a:buNone/>
            </a:pPr>
            <a:r>
              <a:rPr lang="en-US" sz="2800" dirty="0">
                <a:latin typeface="+mj-lt"/>
              </a:rPr>
              <a:t>/28 = 255.255.255.240</a:t>
            </a:r>
          </a:p>
          <a:p>
            <a:pPr rtl="0">
              <a:lnSpc>
                <a:spcPct val="150000"/>
              </a:lnSpc>
              <a:buNone/>
            </a:pPr>
            <a:r>
              <a:rPr lang="en-US" sz="2800" dirty="0">
                <a:latin typeface="+mj-lt"/>
              </a:rPr>
              <a:t>/29 = 255.255.255.248</a:t>
            </a:r>
          </a:p>
          <a:p>
            <a:pPr rtl="0">
              <a:lnSpc>
                <a:spcPct val="150000"/>
              </a:lnSpc>
              <a:buNone/>
            </a:pPr>
            <a:r>
              <a:rPr lang="en-US" sz="2800" dirty="0">
                <a:latin typeface="+mj-lt"/>
              </a:rPr>
              <a:t>/30 = 255.255.255.252</a:t>
            </a:r>
          </a:p>
          <a:p>
            <a:pPr>
              <a:lnSpc>
                <a:spcPct val="150000"/>
              </a:lnSpc>
              <a:buNone/>
            </a:pPr>
            <a:r>
              <a:rPr lang="en-US" sz="2800" b="1" dirty="0">
                <a:latin typeface="+mj-lt"/>
              </a:rPr>
              <a:t>Discussion question) </a:t>
            </a:r>
            <a:r>
              <a:rPr lang="en-US" sz="2800" dirty="0">
                <a:latin typeface="+mj-lt"/>
              </a:rPr>
              <a:t>What is the subnet mask for /27?</a:t>
            </a:r>
          </a:p>
          <a:p>
            <a:pPr>
              <a:lnSpc>
                <a:spcPct val="150000"/>
              </a:lnSpc>
              <a:buNone/>
            </a:pPr>
            <a:r>
              <a:rPr lang="en-US" sz="2800" b="1" dirty="0">
                <a:latin typeface="+mj-lt"/>
              </a:rPr>
              <a:t>Answer) </a:t>
            </a:r>
            <a:r>
              <a:rPr lang="en-US" sz="2800" dirty="0">
                <a:latin typeface="+mj-lt"/>
              </a:rPr>
              <a:t>255.255.255.224</a:t>
            </a:r>
          </a:p>
        </p:txBody>
      </p:sp>
    </p:spTree>
    <p:extLst>
      <p:ext uri="{BB962C8B-B14F-4D97-AF65-F5344CB8AC3E}">
        <p14:creationId xmlns:p14="http://schemas.microsoft.com/office/powerpoint/2010/main" val="2322772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1000"/>
                                        <p:tgtEl>
                                          <p:spTgt spid="3">
                                            <p:txEl>
                                              <p:pRg st="8" end="8"/>
                                            </p:txEl>
                                          </p:spTgt>
                                        </p:tgtEl>
                                      </p:cBhvr>
                                    </p:animEffect>
                                    <p:anim calcmode="lin" valueType="num">
                                      <p:cBhvr>
                                        <p:cTn id="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942FC-53C8-5791-0547-7FFEF48BE548}"/>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4FAED054-1D1C-A6CD-9B8D-B79F26434DCE}"/>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Network Bits vs Host Bits</a:t>
            </a:r>
            <a:endParaRPr dirty="0">
              <a:solidFill>
                <a:schemeClr val="tx1"/>
              </a:solidFill>
            </a:endParaRPr>
          </a:p>
        </p:txBody>
      </p:sp>
      <p:sp>
        <p:nvSpPr>
          <p:cNvPr id="15" name="object 15">
            <a:extLst>
              <a:ext uri="{FF2B5EF4-FFF2-40B4-BE49-F238E27FC236}">
                <a16:creationId xmlns:a16="http://schemas.microsoft.com/office/drawing/2014/main" id="{9432B909-3D58-986F-9C78-A7C59C75D9C1}"/>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56F2E16B-734B-1875-D716-02136D8DB81C}"/>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699BF701-9BB6-FDDD-2BE1-29251BC4251C}"/>
              </a:ext>
            </a:extLst>
          </p:cNvPr>
          <p:cNvSpPr txBox="1"/>
          <p:nvPr/>
        </p:nvSpPr>
        <p:spPr>
          <a:xfrm>
            <a:off x="263142" y="762000"/>
            <a:ext cx="8617716" cy="5196166"/>
          </a:xfrm>
          <a:prstGeom prst="rect">
            <a:avLst/>
          </a:prstGeom>
          <a:noFill/>
        </p:spPr>
        <p:txBody>
          <a:bodyPr wrap="square">
            <a:spAutoFit/>
          </a:bodyPr>
          <a:lstStyle/>
          <a:p>
            <a:pPr>
              <a:lnSpc>
                <a:spcPct val="150000"/>
              </a:lnSpc>
              <a:buNone/>
            </a:pPr>
            <a:r>
              <a:rPr lang="en-US" sz="2800" dirty="0">
                <a:latin typeface="+mj-lt"/>
              </a:rPr>
              <a:t>Every IPv4 address contains two logical parts:</a:t>
            </a:r>
          </a:p>
          <a:p>
            <a:pPr rtl="0">
              <a:lnSpc>
                <a:spcPct val="150000"/>
              </a:lnSpc>
              <a:buNone/>
            </a:pPr>
            <a:r>
              <a:rPr lang="en-US" sz="2800" dirty="0">
                <a:latin typeface="+mj-lt"/>
              </a:rPr>
              <a:t>Network portion | Host portion</a:t>
            </a:r>
          </a:p>
          <a:p>
            <a:pPr>
              <a:lnSpc>
                <a:spcPct val="150000"/>
              </a:lnSpc>
              <a:buNone/>
            </a:pPr>
            <a:r>
              <a:rPr lang="en-US" sz="2800" dirty="0">
                <a:latin typeface="+mj-lt"/>
              </a:rPr>
              <a:t>The subnet mask tells us where the division occurs.</a:t>
            </a:r>
          </a:p>
          <a:p>
            <a:pPr>
              <a:lnSpc>
                <a:spcPct val="150000"/>
              </a:lnSpc>
              <a:buNone/>
            </a:pPr>
            <a:r>
              <a:rPr lang="en-US" sz="2800" dirty="0">
                <a:latin typeface="+mj-lt"/>
              </a:rPr>
              <a:t>Example:</a:t>
            </a:r>
          </a:p>
          <a:p>
            <a:pPr rtl="0">
              <a:lnSpc>
                <a:spcPct val="150000"/>
              </a:lnSpc>
              <a:buNone/>
            </a:pPr>
            <a:r>
              <a:rPr lang="en-US" sz="2800" dirty="0">
                <a:latin typeface="+mj-lt"/>
              </a:rPr>
              <a:t>192.168.10.25/24</a:t>
            </a:r>
          </a:p>
          <a:p>
            <a:pPr>
              <a:lnSpc>
                <a:spcPct val="150000"/>
              </a:lnSpc>
              <a:buNone/>
            </a:pPr>
            <a:r>
              <a:rPr lang="en-US" sz="2800" dirty="0">
                <a:latin typeface="+mj-lt"/>
              </a:rPr>
              <a:t>can be viewed as:</a:t>
            </a:r>
          </a:p>
          <a:p>
            <a:pPr rtl="0">
              <a:lnSpc>
                <a:spcPct val="150000"/>
              </a:lnSpc>
              <a:buNone/>
            </a:pPr>
            <a:r>
              <a:rPr lang="en-US" sz="2800" dirty="0">
                <a:latin typeface="+mj-lt"/>
              </a:rPr>
              <a:t>Network: 192.168.10</a:t>
            </a:r>
          </a:p>
          <a:p>
            <a:pPr rtl="0">
              <a:lnSpc>
                <a:spcPct val="150000"/>
              </a:lnSpc>
              <a:buNone/>
            </a:pPr>
            <a:r>
              <a:rPr lang="en-US" sz="2800" dirty="0">
                <a:latin typeface="+mj-lt"/>
              </a:rPr>
              <a:t>Host:                 25</a:t>
            </a:r>
          </a:p>
        </p:txBody>
      </p:sp>
    </p:spTree>
    <p:extLst>
      <p:ext uri="{BB962C8B-B14F-4D97-AF65-F5344CB8AC3E}">
        <p14:creationId xmlns:p14="http://schemas.microsoft.com/office/powerpoint/2010/main" val="31407867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02A28-155F-578D-00A5-45D1CA73986B}"/>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F29BAA74-21CB-BDB0-C514-0E625E881FE3}"/>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Australian Example: University Lab</a:t>
            </a:r>
            <a:endParaRPr dirty="0">
              <a:solidFill>
                <a:schemeClr val="tx1"/>
              </a:solidFill>
            </a:endParaRPr>
          </a:p>
        </p:txBody>
      </p:sp>
      <p:sp>
        <p:nvSpPr>
          <p:cNvPr id="15" name="object 15">
            <a:extLst>
              <a:ext uri="{FF2B5EF4-FFF2-40B4-BE49-F238E27FC236}">
                <a16:creationId xmlns:a16="http://schemas.microsoft.com/office/drawing/2014/main" id="{105E2EB3-A2E8-D5C3-8C24-7771D0F1819F}"/>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B912DD0A-7567-0239-9135-64DEBE597C31}"/>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1FD51CDD-E0C8-4CB2-2FF8-A6F2C1C4345F}"/>
              </a:ext>
            </a:extLst>
          </p:cNvPr>
          <p:cNvSpPr txBox="1"/>
          <p:nvPr/>
        </p:nvSpPr>
        <p:spPr>
          <a:xfrm>
            <a:off x="263142" y="990601"/>
            <a:ext cx="8617716" cy="4549835"/>
          </a:xfrm>
          <a:prstGeom prst="rect">
            <a:avLst/>
          </a:prstGeom>
          <a:noFill/>
        </p:spPr>
        <p:txBody>
          <a:bodyPr wrap="square">
            <a:spAutoFit/>
          </a:bodyPr>
          <a:lstStyle/>
          <a:p>
            <a:pPr>
              <a:lnSpc>
                <a:spcPct val="150000"/>
              </a:lnSpc>
              <a:buNone/>
            </a:pPr>
            <a:r>
              <a:rPr lang="en-US" sz="2800" dirty="0">
                <a:latin typeface="+mj-lt"/>
              </a:rPr>
              <a:t>Suppose ACU has: 192.168.40.0/24</a:t>
            </a:r>
          </a:p>
          <a:p>
            <a:pPr>
              <a:lnSpc>
                <a:spcPct val="150000"/>
              </a:lnSpc>
              <a:buNone/>
            </a:pPr>
            <a:r>
              <a:rPr lang="en-US" sz="2800" dirty="0">
                <a:latin typeface="+mj-lt"/>
              </a:rPr>
              <a:t>for a computer laboratory.</a:t>
            </a:r>
          </a:p>
          <a:p>
            <a:pPr>
              <a:lnSpc>
                <a:spcPct val="150000"/>
              </a:lnSpc>
              <a:buNone/>
            </a:pPr>
            <a:r>
              <a:rPr lang="en-US" sz="2800" dirty="0">
                <a:latin typeface="+mj-lt"/>
              </a:rPr>
              <a:t>Possible devices:</a:t>
            </a:r>
          </a:p>
          <a:p>
            <a:pPr rtl="0">
              <a:lnSpc>
                <a:spcPct val="150000"/>
              </a:lnSpc>
              <a:buNone/>
            </a:pPr>
            <a:r>
              <a:rPr lang="en-US" sz="2800" dirty="0">
                <a:latin typeface="+mj-lt"/>
              </a:rPr>
              <a:t>192.168.40.10</a:t>
            </a:r>
          </a:p>
          <a:p>
            <a:pPr rtl="0">
              <a:lnSpc>
                <a:spcPct val="150000"/>
              </a:lnSpc>
              <a:buNone/>
            </a:pPr>
            <a:r>
              <a:rPr lang="en-US" sz="2800" dirty="0">
                <a:latin typeface="+mj-lt"/>
              </a:rPr>
              <a:t>192.168.40.20</a:t>
            </a:r>
          </a:p>
          <a:p>
            <a:pPr rtl="0">
              <a:lnSpc>
                <a:spcPct val="150000"/>
              </a:lnSpc>
              <a:buNone/>
            </a:pPr>
            <a:r>
              <a:rPr lang="en-US" sz="2800" dirty="0">
                <a:latin typeface="+mj-lt"/>
              </a:rPr>
              <a:t>192.168.40.50</a:t>
            </a:r>
          </a:p>
          <a:p>
            <a:pPr>
              <a:lnSpc>
                <a:spcPct val="150000"/>
              </a:lnSpc>
              <a:buNone/>
            </a:pPr>
            <a:r>
              <a:rPr lang="en-US" sz="2800" dirty="0">
                <a:latin typeface="+mj-lt"/>
              </a:rPr>
              <a:t>All belong to the same /24 network.</a:t>
            </a:r>
          </a:p>
        </p:txBody>
      </p:sp>
    </p:spTree>
    <p:extLst>
      <p:ext uri="{BB962C8B-B14F-4D97-AF65-F5344CB8AC3E}">
        <p14:creationId xmlns:p14="http://schemas.microsoft.com/office/powerpoint/2010/main" val="8978719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1F7CF-0A9D-19C7-F678-644DE446EEF7}"/>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6DFEC376-CC84-586B-F8AC-35AD24AA74EC}"/>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Australian Example: University Lab</a:t>
            </a:r>
            <a:endParaRPr dirty="0">
              <a:solidFill>
                <a:schemeClr val="tx1"/>
              </a:solidFill>
            </a:endParaRPr>
          </a:p>
        </p:txBody>
      </p:sp>
      <p:sp>
        <p:nvSpPr>
          <p:cNvPr id="15" name="object 15">
            <a:extLst>
              <a:ext uri="{FF2B5EF4-FFF2-40B4-BE49-F238E27FC236}">
                <a16:creationId xmlns:a16="http://schemas.microsoft.com/office/drawing/2014/main" id="{5A2FF667-AEAC-4F73-4D0E-F9BE5139D750}"/>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3DA7DC9D-D6B7-4C18-2A45-08C3D8A91130}"/>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BB123CFC-8E5C-D451-02F7-1CE827DF1F98}"/>
              </a:ext>
            </a:extLst>
          </p:cNvPr>
          <p:cNvSpPr txBox="1"/>
          <p:nvPr/>
        </p:nvSpPr>
        <p:spPr>
          <a:xfrm>
            <a:off x="381000" y="1447800"/>
            <a:ext cx="8382000" cy="1964512"/>
          </a:xfrm>
          <a:prstGeom prst="rect">
            <a:avLst/>
          </a:prstGeom>
          <a:noFill/>
        </p:spPr>
        <p:txBody>
          <a:bodyPr wrap="square">
            <a:spAutoFit/>
          </a:bodyPr>
          <a:lstStyle/>
          <a:p>
            <a:pPr>
              <a:lnSpc>
                <a:spcPct val="150000"/>
              </a:lnSpc>
              <a:buNone/>
            </a:pPr>
            <a:r>
              <a:rPr lang="en-US" sz="2800" b="1" dirty="0">
                <a:latin typeface="+mj-lt"/>
              </a:rPr>
              <a:t>Discussion question:</a:t>
            </a:r>
            <a:br>
              <a:rPr lang="en-US" sz="2800" dirty="0">
                <a:latin typeface="+mj-lt"/>
              </a:rPr>
            </a:br>
            <a:r>
              <a:rPr lang="en-US" sz="2800" dirty="0">
                <a:latin typeface="+mj-lt"/>
              </a:rPr>
              <a:t>Would 192.168.41.20/24 be in the same subnet?</a:t>
            </a:r>
          </a:p>
          <a:p>
            <a:pPr>
              <a:lnSpc>
                <a:spcPct val="150000"/>
              </a:lnSpc>
              <a:buNone/>
            </a:pPr>
            <a:r>
              <a:rPr lang="en-US" sz="2800" dirty="0">
                <a:latin typeface="+mj-lt"/>
              </a:rPr>
              <a:t>No. Its network would be 192.168.41.0/24.</a:t>
            </a:r>
          </a:p>
        </p:txBody>
      </p:sp>
    </p:spTree>
    <p:extLst>
      <p:ext uri="{BB962C8B-B14F-4D97-AF65-F5344CB8AC3E}">
        <p14:creationId xmlns:p14="http://schemas.microsoft.com/office/powerpoint/2010/main" val="199778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67CC3-5178-2B4E-D4B5-E2098FAB0CB9}"/>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797F71E1-1750-4953-CE34-2E2A7B15DBDC}"/>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The Two Special Addresses</a:t>
            </a:r>
            <a:endParaRPr dirty="0">
              <a:solidFill>
                <a:schemeClr val="tx1"/>
              </a:solidFill>
            </a:endParaRPr>
          </a:p>
        </p:txBody>
      </p:sp>
      <p:sp>
        <p:nvSpPr>
          <p:cNvPr id="15" name="object 15">
            <a:extLst>
              <a:ext uri="{FF2B5EF4-FFF2-40B4-BE49-F238E27FC236}">
                <a16:creationId xmlns:a16="http://schemas.microsoft.com/office/drawing/2014/main" id="{4F0EA36D-868D-E693-1C64-BCF2F230D4A7}"/>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11AA3AFF-256A-7B0B-F972-2CA603F7C5DC}"/>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C4F9ACEE-A406-8638-CE6C-382FC067B684}"/>
              </a:ext>
            </a:extLst>
          </p:cNvPr>
          <p:cNvSpPr txBox="1"/>
          <p:nvPr/>
        </p:nvSpPr>
        <p:spPr>
          <a:xfrm>
            <a:off x="381000" y="838201"/>
            <a:ext cx="8382000" cy="5842497"/>
          </a:xfrm>
          <a:prstGeom prst="rect">
            <a:avLst/>
          </a:prstGeom>
          <a:noFill/>
        </p:spPr>
        <p:txBody>
          <a:bodyPr wrap="square">
            <a:spAutoFit/>
          </a:bodyPr>
          <a:lstStyle/>
          <a:p>
            <a:pPr>
              <a:lnSpc>
                <a:spcPct val="150000"/>
              </a:lnSpc>
              <a:buNone/>
            </a:pPr>
            <a:r>
              <a:rPr lang="en-US" sz="2800" dirty="0">
                <a:latin typeface="+mj-lt"/>
              </a:rPr>
              <a:t>In a traditional IPv4 subnet, two addresses are normally not assigned to hosts.</a:t>
            </a:r>
          </a:p>
          <a:p>
            <a:pPr>
              <a:lnSpc>
                <a:spcPct val="150000"/>
              </a:lnSpc>
              <a:buNone/>
            </a:pPr>
            <a:r>
              <a:rPr lang="en-US" sz="2800" b="1" dirty="0">
                <a:latin typeface="+mj-lt"/>
              </a:rPr>
              <a:t>Network address</a:t>
            </a:r>
          </a:p>
          <a:p>
            <a:pPr>
              <a:lnSpc>
                <a:spcPct val="150000"/>
              </a:lnSpc>
              <a:buNone/>
            </a:pPr>
            <a:r>
              <a:rPr lang="en-US" sz="2800" dirty="0">
                <a:latin typeface="+mj-lt"/>
              </a:rPr>
              <a:t>The first address.</a:t>
            </a:r>
          </a:p>
          <a:p>
            <a:pPr>
              <a:lnSpc>
                <a:spcPct val="150000"/>
              </a:lnSpc>
              <a:buNone/>
            </a:pPr>
            <a:r>
              <a:rPr lang="en-US" sz="2800" dirty="0">
                <a:latin typeface="+mj-lt"/>
              </a:rPr>
              <a:t>Example: 192.168.10.0</a:t>
            </a:r>
          </a:p>
          <a:p>
            <a:pPr>
              <a:lnSpc>
                <a:spcPct val="150000"/>
              </a:lnSpc>
              <a:buNone/>
            </a:pPr>
            <a:r>
              <a:rPr lang="en-US" sz="2800" b="1" dirty="0">
                <a:latin typeface="+mj-lt"/>
              </a:rPr>
              <a:t>Broadcast address</a:t>
            </a:r>
          </a:p>
          <a:p>
            <a:pPr>
              <a:lnSpc>
                <a:spcPct val="150000"/>
              </a:lnSpc>
              <a:buNone/>
            </a:pPr>
            <a:r>
              <a:rPr lang="en-US" sz="2800" dirty="0">
                <a:latin typeface="+mj-lt"/>
              </a:rPr>
              <a:t>The last address.</a:t>
            </a:r>
          </a:p>
          <a:p>
            <a:pPr>
              <a:lnSpc>
                <a:spcPct val="150000"/>
              </a:lnSpc>
              <a:buNone/>
            </a:pPr>
            <a:r>
              <a:rPr lang="en-US" sz="2800" dirty="0">
                <a:latin typeface="+mj-lt"/>
              </a:rPr>
              <a:t>Example: 192.168.10.255</a:t>
            </a:r>
          </a:p>
          <a:p>
            <a:pPr>
              <a:lnSpc>
                <a:spcPct val="150000"/>
              </a:lnSpc>
              <a:buNone/>
            </a:pPr>
            <a:r>
              <a:rPr lang="en-US" sz="2800" dirty="0">
                <a:latin typeface="+mj-lt"/>
              </a:rPr>
              <a:t>for /24.</a:t>
            </a:r>
          </a:p>
        </p:txBody>
      </p:sp>
    </p:spTree>
    <p:extLst>
      <p:ext uri="{BB962C8B-B14F-4D97-AF65-F5344CB8AC3E}">
        <p14:creationId xmlns:p14="http://schemas.microsoft.com/office/powerpoint/2010/main" val="2187619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1FE02-DBE8-78E7-715D-DE393DCD42A6}"/>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30DB2136-D6EE-B59D-064A-80AC180B23B2}"/>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Usable Host Range</a:t>
            </a:r>
            <a:endParaRPr dirty="0">
              <a:solidFill>
                <a:schemeClr val="tx1"/>
              </a:solidFill>
            </a:endParaRPr>
          </a:p>
        </p:txBody>
      </p:sp>
      <p:sp>
        <p:nvSpPr>
          <p:cNvPr id="15" name="object 15">
            <a:extLst>
              <a:ext uri="{FF2B5EF4-FFF2-40B4-BE49-F238E27FC236}">
                <a16:creationId xmlns:a16="http://schemas.microsoft.com/office/drawing/2014/main" id="{35B92AA1-969A-56DB-50E0-FAFD1087AF9F}"/>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11054A45-B2A4-8113-5763-585F273BDBD0}"/>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B81E1799-3BFC-3495-8447-6356B3FFA8F4}"/>
              </a:ext>
            </a:extLst>
          </p:cNvPr>
          <p:cNvSpPr txBox="1"/>
          <p:nvPr/>
        </p:nvSpPr>
        <p:spPr>
          <a:xfrm>
            <a:off x="263142" y="685800"/>
            <a:ext cx="8617716" cy="5842497"/>
          </a:xfrm>
          <a:prstGeom prst="rect">
            <a:avLst/>
          </a:prstGeom>
          <a:noFill/>
        </p:spPr>
        <p:txBody>
          <a:bodyPr wrap="square">
            <a:spAutoFit/>
          </a:bodyPr>
          <a:lstStyle/>
          <a:p>
            <a:pPr>
              <a:lnSpc>
                <a:spcPct val="150000"/>
              </a:lnSpc>
              <a:buNone/>
            </a:pPr>
            <a:r>
              <a:rPr lang="en-US" sz="2800" dirty="0">
                <a:latin typeface="+mj-lt"/>
              </a:rPr>
              <a:t>For: 192.168.10.0/24</a:t>
            </a:r>
          </a:p>
          <a:p>
            <a:pPr>
              <a:lnSpc>
                <a:spcPct val="150000"/>
              </a:lnSpc>
              <a:buNone/>
            </a:pPr>
            <a:r>
              <a:rPr lang="en-US" sz="2800" dirty="0">
                <a:latin typeface="+mj-lt"/>
              </a:rPr>
              <a:t>we have:</a:t>
            </a:r>
          </a:p>
          <a:p>
            <a:pPr rtl="0">
              <a:lnSpc>
                <a:spcPct val="150000"/>
              </a:lnSpc>
              <a:buNone/>
            </a:pPr>
            <a:r>
              <a:rPr lang="en-US" sz="2800" dirty="0">
                <a:latin typeface="+mj-lt"/>
              </a:rPr>
              <a:t>Network:       192.168.10.0</a:t>
            </a:r>
          </a:p>
          <a:p>
            <a:pPr rtl="0">
              <a:lnSpc>
                <a:spcPct val="150000"/>
              </a:lnSpc>
              <a:buNone/>
            </a:pPr>
            <a:r>
              <a:rPr lang="en-US" sz="2800" dirty="0">
                <a:latin typeface="+mj-lt"/>
              </a:rPr>
              <a:t>First host:    192.168.10.1</a:t>
            </a:r>
          </a:p>
          <a:p>
            <a:pPr rtl="0">
              <a:lnSpc>
                <a:spcPct val="150000"/>
              </a:lnSpc>
              <a:buNone/>
            </a:pPr>
            <a:r>
              <a:rPr lang="en-US" sz="2800" dirty="0">
                <a:latin typeface="+mj-lt"/>
              </a:rPr>
              <a:t>Last host:     192.168.10.254</a:t>
            </a:r>
          </a:p>
          <a:p>
            <a:pPr rtl="0">
              <a:lnSpc>
                <a:spcPct val="150000"/>
              </a:lnSpc>
              <a:buNone/>
            </a:pPr>
            <a:r>
              <a:rPr lang="en-US" sz="2800" dirty="0">
                <a:latin typeface="+mj-lt"/>
              </a:rPr>
              <a:t>Broadcast:     192.168.10.255</a:t>
            </a:r>
          </a:p>
          <a:p>
            <a:pPr>
              <a:lnSpc>
                <a:spcPct val="150000"/>
              </a:lnSpc>
              <a:buNone/>
            </a:pPr>
            <a:r>
              <a:rPr lang="en-US" sz="2800" b="1" dirty="0">
                <a:latin typeface="+mj-lt"/>
              </a:rPr>
              <a:t>Discussion question) </a:t>
            </a:r>
            <a:r>
              <a:rPr lang="en-US" sz="2800" dirty="0">
                <a:latin typeface="+mj-lt"/>
              </a:rPr>
              <a:t>Can we assign 192.168.10.255 to a PC?</a:t>
            </a:r>
          </a:p>
          <a:p>
            <a:pPr>
              <a:lnSpc>
                <a:spcPct val="150000"/>
              </a:lnSpc>
              <a:buNone/>
            </a:pPr>
            <a:r>
              <a:rPr lang="en-US" sz="2800" b="1" dirty="0">
                <a:latin typeface="+mj-lt"/>
              </a:rPr>
              <a:t>Answer: </a:t>
            </a:r>
            <a:r>
              <a:rPr lang="en-US" sz="2800" dirty="0">
                <a:latin typeface="+mj-lt"/>
              </a:rPr>
              <a:t>No. It is the broadcast address.</a:t>
            </a:r>
          </a:p>
        </p:txBody>
      </p:sp>
    </p:spTree>
    <p:extLst>
      <p:ext uri="{BB962C8B-B14F-4D97-AF65-F5344CB8AC3E}">
        <p14:creationId xmlns:p14="http://schemas.microsoft.com/office/powerpoint/2010/main" val="3968549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1000"/>
                                        <p:tgtEl>
                                          <p:spTgt spid="4">
                                            <p:txEl>
                                              <p:pRg st="7" end="7"/>
                                            </p:txEl>
                                          </p:spTgt>
                                        </p:tgtEl>
                                      </p:cBhvr>
                                    </p:animEffect>
                                    <p:anim calcmode="lin" valueType="num">
                                      <p:cBhvr>
                                        <p:cTn id="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59394-B8D9-07E7-DFC0-A43E05103D50}"/>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9BF64F57-C178-062E-F76D-105CEB485569}"/>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Host Calculations</a:t>
            </a:r>
            <a:endParaRPr dirty="0">
              <a:solidFill>
                <a:schemeClr val="tx1"/>
              </a:solidFill>
            </a:endParaRPr>
          </a:p>
        </p:txBody>
      </p:sp>
      <p:sp>
        <p:nvSpPr>
          <p:cNvPr id="15" name="object 15">
            <a:extLst>
              <a:ext uri="{FF2B5EF4-FFF2-40B4-BE49-F238E27FC236}">
                <a16:creationId xmlns:a16="http://schemas.microsoft.com/office/drawing/2014/main" id="{6114AEFF-3952-8076-0F48-AC2AA8BE6AC8}"/>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D1C57D21-1004-6302-4122-89EF62271FF3}"/>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6" name="TextBox 5">
            <a:extLst>
              <a:ext uri="{FF2B5EF4-FFF2-40B4-BE49-F238E27FC236}">
                <a16:creationId xmlns:a16="http://schemas.microsoft.com/office/drawing/2014/main" id="{95988E71-5CCF-47FC-29E7-B3BF10B28D19}"/>
              </a:ext>
            </a:extLst>
          </p:cNvPr>
          <p:cNvSpPr txBox="1"/>
          <p:nvPr/>
        </p:nvSpPr>
        <p:spPr>
          <a:xfrm>
            <a:off x="263142" y="990601"/>
            <a:ext cx="8617716" cy="4549835"/>
          </a:xfrm>
          <a:prstGeom prst="rect">
            <a:avLst/>
          </a:prstGeom>
          <a:noFill/>
        </p:spPr>
        <p:txBody>
          <a:bodyPr wrap="square">
            <a:spAutoFit/>
          </a:bodyPr>
          <a:lstStyle/>
          <a:p>
            <a:pPr>
              <a:lnSpc>
                <a:spcPct val="150000"/>
              </a:lnSpc>
              <a:buNone/>
            </a:pPr>
            <a:r>
              <a:rPr lang="en-US" sz="2800" dirty="0">
                <a:latin typeface="+mj-lt"/>
              </a:rPr>
              <a:t>Use:</a:t>
            </a:r>
          </a:p>
          <a:p>
            <a:pPr rtl="0">
              <a:lnSpc>
                <a:spcPct val="150000"/>
              </a:lnSpc>
              <a:buNone/>
            </a:pPr>
            <a:r>
              <a:rPr lang="en-US" sz="2800" dirty="0">
                <a:latin typeface="+mj-lt"/>
              </a:rPr>
              <a:t>2^h - 2</a:t>
            </a:r>
          </a:p>
          <a:p>
            <a:pPr>
              <a:lnSpc>
                <a:spcPct val="150000"/>
              </a:lnSpc>
              <a:buNone/>
            </a:pPr>
            <a:r>
              <a:rPr lang="en-US" sz="2800" dirty="0">
                <a:latin typeface="+mj-lt"/>
              </a:rPr>
              <a:t>where:</a:t>
            </a:r>
          </a:p>
          <a:p>
            <a:pPr rtl="0">
              <a:lnSpc>
                <a:spcPct val="150000"/>
              </a:lnSpc>
              <a:buNone/>
            </a:pPr>
            <a:r>
              <a:rPr lang="en-US" sz="2800" dirty="0">
                <a:latin typeface="+mj-lt"/>
              </a:rPr>
              <a:t>h = number of host bits</a:t>
            </a:r>
          </a:p>
          <a:p>
            <a:pPr>
              <a:lnSpc>
                <a:spcPct val="150000"/>
              </a:lnSpc>
              <a:buNone/>
            </a:pPr>
            <a:r>
              <a:rPr lang="en-US" sz="2800" dirty="0">
                <a:latin typeface="+mj-lt"/>
              </a:rPr>
              <a:t>We subtract 2 for:</a:t>
            </a:r>
          </a:p>
          <a:p>
            <a:pPr rtl="0">
              <a:lnSpc>
                <a:spcPct val="150000"/>
              </a:lnSpc>
              <a:buNone/>
            </a:pPr>
            <a:r>
              <a:rPr lang="en-US" sz="2800" dirty="0">
                <a:latin typeface="+mj-lt"/>
              </a:rPr>
              <a:t>Network address</a:t>
            </a:r>
          </a:p>
          <a:p>
            <a:pPr rtl="0">
              <a:lnSpc>
                <a:spcPct val="150000"/>
              </a:lnSpc>
              <a:buNone/>
            </a:pPr>
            <a:r>
              <a:rPr lang="en-US" sz="2800" dirty="0">
                <a:latin typeface="+mj-lt"/>
              </a:rPr>
              <a:t>Broadcast address</a:t>
            </a:r>
          </a:p>
        </p:txBody>
      </p:sp>
    </p:spTree>
    <p:extLst>
      <p:ext uri="{BB962C8B-B14F-4D97-AF65-F5344CB8AC3E}">
        <p14:creationId xmlns:p14="http://schemas.microsoft.com/office/powerpoint/2010/main" val="12578694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51DB5-847A-4608-5003-A7B4DE8BAF37}"/>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DC440E97-BD75-413A-504F-1D6CE5BCF213}"/>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Example: /28</a:t>
            </a:r>
            <a:endParaRPr dirty="0">
              <a:solidFill>
                <a:schemeClr val="tx1"/>
              </a:solidFill>
            </a:endParaRPr>
          </a:p>
        </p:txBody>
      </p:sp>
      <p:sp>
        <p:nvSpPr>
          <p:cNvPr id="15" name="object 15">
            <a:extLst>
              <a:ext uri="{FF2B5EF4-FFF2-40B4-BE49-F238E27FC236}">
                <a16:creationId xmlns:a16="http://schemas.microsoft.com/office/drawing/2014/main" id="{2589E047-437A-2AB9-2831-44A675CB67C6}"/>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A88DE65B-D7CF-F45E-FF6F-363F1D2C6A23}"/>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DFE3EC80-2A4B-5FCF-5C1F-3B52EB192D24}"/>
              </a:ext>
            </a:extLst>
          </p:cNvPr>
          <p:cNvSpPr txBox="1"/>
          <p:nvPr/>
        </p:nvSpPr>
        <p:spPr>
          <a:xfrm>
            <a:off x="381000" y="914400"/>
            <a:ext cx="8382000" cy="5196166"/>
          </a:xfrm>
          <a:prstGeom prst="rect">
            <a:avLst/>
          </a:prstGeom>
          <a:noFill/>
        </p:spPr>
        <p:txBody>
          <a:bodyPr wrap="square">
            <a:spAutoFit/>
          </a:bodyPr>
          <a:lstStyle/>
          <a:p>
            <a:pPr>
              <a:lnSpc>
                <a:spcPct val="150000"/>
              </a:lnSpc>
              <a:buNone/>
            </a:pPr>
            <a:r>
              <a:rPr lang="en-US" sz="2800" dirty="0">
                <a:latin typeface="+mj-lt"/>
              </a:rPr>
              <a:t>For /28:</a:t>
            </a:r>
          </a:p>
          <a:p>
            <a:pPr rtl="0">
              <a:lnSpc>
                <a:spcPct val="150000"/>
              </a:lnSpc>
              <a:buNone/>
            </a:pPr>
            <a:r>
              <a:rPr lang="en-US" sz="2800" dirty="0">
                <a:latin typeface="+mj-lt"/>
              </a:rPr>
              <a:t>32 - 28 = 4 host bits</a:t>
            </a:r>
          </a:p>
          <a:p>
            <a:pPr>
              <a:lnSpc>
                <a:spcPct val="150000"/>
              </a:lnSpc>
              <a:buNone/>
            </a:pPr>
            <a:r>
              <a:rPr lang="en-US" sz="2800" dirty="0">
                <a:latin typeface="+mj-lt"/>
              </a:rPr>
              <a:t>Possible addresses:</a:t>
            </a:r>
          </a:p>
          <a:p>
            <a:pPr rtl="0">
              <a:lnSpc>
                <a:spcPct val="150000"/>
              </a:lnSpc>
              <a:buNone/>
            </a:pPr>
            <a:r>
              <a:rPr lang="en-US" sz="2800" dirty="0">
                <a:latin typeface="+mj-lt"/>
              </a:rPr>
              <a:t>2⁴ = 16</a:t>
            </a:r>
          </a:p>
          <a:p>
            <a:pPr>
              <a:lnSpc>
                <a:spcPct val="150000"/>
              </a:lnSpc>
              <a:buNone/>
            </a:pPr>
            <a:r>
              <a:rPr lang="en-US" sz="2800" dirty="0">
                <a:latin typeface="+mj-lt"/>
              </a:rPr>
              <a:t>Usable hosts:</a:t>
            </a:r>
          </a:p>
          <a:p>
            <a:pPr rtl="0">
              <a:lnSpc>
                <a:spcPct val="150000"/>
              </a:lnSpc>
              <a:buNone/>
            </a:pPr>
            <a:r>
              <a:rPr lang="en-US" sz="2800" dirty="0">
                <a:latin typeface="+mj-lt"/>
              </a:rPr>
              <a:t>16 - 2 = 14</a:t>
            </a:r>
          </a:p>
          <a:p>
            <a:pPr>
              <a:lnSpc>
                <a:spcPct val="150000"/>
              </a:lnSpc>
              <a:buNone/>
            </a:pPr>
            <a:r>
              <a:rPr lang="en-US" sz="2800" dirty="0">
                <a:latin typeface="+mj-lt"/>
              </a:rPr>
              <a:t>Therefore:</a:t>
            </a:r>
          </a:p>
          <a:p>
            <a:pPr rtl="0">
              <a:lnSpc>
                <a:spcPct val="150000"/>
              </a:lnSpc>
              <a:buNone/>
            </a:pPr>
            <a:r>
              <a:rPr lang="en-US" sz="2800" dirty="0">
                <a:latin typeface="+mj-lt"/>
              </a:rPr>
              <a:t>/28 → 14 usable hosts</a:t>
            </a:r>
          </a:p>
        </p:txBody>
      </p:sp>
    </p:spTree>
    <p:extLst>
      <p:ext uri="{BB962C8B-B14F-4D97-AF65-F5344CB8AC3E}">
        <p14:creationId xmlns:p14="http://schemas.microsoft.com/office/powerpoint/2010/main" val="26962313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A7843-8CD0-1EC1-E3F5-267DC779ED42}"/>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71943A42-9D6A-F3FD-ABB9-D464E6172AC4}"/>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Practice: /27</a:t>
            </a:r>
            <a:endParaRPr dirty="0">
              <a:solidFill>
                <a:schemeClr val="tx1"/>
              </a:solidFill>
            </a:endParaRPr>
          </a:p>
        </p:txBody>
      </p:sp>
      <p:sp>
        <p:nvSpPr>
          <p:cNvPr id="15" name="object 15">
            <a:extLst>
              <a:ext uri="{FF2B5EF4-FFF2-40B4-BE49-F238E27FC236}">
                <a16:creationId xmlns:a16="http://schemas.microsoft.com/office/drawing/2014/main" id="{F4CABBF7-BB7D-0DCA-D167-AFE59E7CA7EC}"/>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DCCBE26A-AC4F-D111-A7E3-4C59AB909966}"/>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CF6AC5C9-CA79-E5F9-CE0E-9B377C671679}"/>
              </a:ext>
            </a:extLst>
          </p:cNvPr>
          <p:cNvSpPr txBox="1"/>
          <p:nvPr/>
        </p:nvSpPr>
        <p:spPr>
          <a:xfrm>
            <a:off x="263142" y="838201"/>
            <a:ext cx="8617716" cy="4549835"/>
          </a:xfrm>
          <a:prstGeom prst="rect">
            <a:avLst/>
          </a:prstGeom>
          <a:noFill/>
        </p:spPr>
        <p:txBody>
          <a:bodyPr wrap="square">
            <a:spAutoFit/>
          </a:bodyPr>
          <a:lstStyle/>
          <a:p>
            <a:pPr>
              <a:lnSpc>
                <a:spcPct val="150000"/>
              </a:lnSpc>
              <a:buNone/>
            </a:pPr>
            <a:r>
              <a:rPr lang="en-US" sz="2800" dirty="0">
                <a:latin typeface="+mj-lt"/>
              </a:rPr>
              <a:t>For /27:</a:t>
            </a:r>
          </a:p>
          <a:p>
            <a:pPr rtl="0">
              <a:lnSpc>
                <a:spcPct val="150000"/>
              </a:lnSpc>
              <a:buNone/>
            </a:pPr>
            <a:r>
              <a:rPr lang="en-US" sz="2800" dirty="0">
                <a:latin typeface="+mj-lt"/>
              </a:rPr>
              <a:t>Host bits = 32 - 27</a:t>
            </a:r>
          </a:p>
          <a:p>
            <a:pPr rtl="0">
              <a:lnSpc>
                <a:spcPct val="150000"/>
              </a:lnSpc>
              <a:buNone/>
            </a:pPr>
            <a:r>
              <a:rPr lang="en-US" sz="2800" dirty="0">
                <a:latin typeface="+mj-lt"/>
              </a:rPr>
              <a:t>          = 5</a:t>
            </a:r>
          </a:p>
          <a:p>
            <a:pPr rtl="0">
              <a:lnSpc>
                <a:spcPct val="150000"/>
              </a:lnSpc>
              <a:buNone/>
            </a:pPr>
            <a:r>
              <a:rPr lang="en-US" sz="2800" dirty="0">
                <a:latin typeface="+mj-lt"/>
              </a:rPr>
              <a:t>2⁵ = 32 addresses</a:t>
            </a:r>
          </a:p>
          <a:p>
            <a:pPr rtl="0">
              <a:lnSpc>
                <a:spcPct val="150000"/>
              </a:lnSpc>
              <a:buNone/>
            </a:pPr>
            <a:r>
              <a:rPr lang="en-US" sz="2800" dirty="0">
                <a:latin typeface="+mj-lt"/>
              </a:rPr>
              <a:t>32 - 2 = 30 usable hosts</a:t>
            </a:r>
          </a:p>
          <a:p>
            <a:pPr rtl="0">
              <a:lnSpc>
                <a:spcPct val="150000"/>
              </a:lnSpc>
              <a:buNone/>
            </a:pPr>
            <a:r>
              <a:rPr lang="en-US" sz="2800" b="1" dirty="0">
                <a:latin typeface="+mj-lt"/>
              </a:rPr>
              <a:t>Answer:</a:t>
            </a:r>
            <a:endParaRPr lang="en-US" sz="2800" dirty="0">
              <a:latin typeface="+mj-lt"/>
            </a:endParaRPr>
          </a:p>
          <a:p>
            <a:pPr rtl="0">
              <a:lnSpc>
                <a:spcPct val="150000"/>
              </a:lnSpc>
              <a:buNone/>
            </a:pPr>
            <a:r>
              <a:rPr lang="en-US" sz="2800" dirty="0">
                <a:latin typeface="+mj-lt"/>
              </a:rPr>
              <a:t>/27 supports 30 usable hosts</a:t>
            </a:r>
          </a:p>
        </p:txBody>
      </p:sp>
    </p:spTree>
    <p:extLst>
      <p:ext uri="{BB962C8B-B14F-4D97-AF65-F5344CB8AC3E}">
        <p14:creationId xmlns:p14="http://schemas.microsoft.com/office/powerpoint/2010/main" val="3044331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1000"/>
                                        <p:tgtEl>
                                          <p:spTgt spid="4">
                                            <p:txEl>
                                              <p:pRg st="5" end="5"/>
                                            </p:txEl>
                                          </p:spTgt>
                                        </p:tgtEl>
                                      </p:cBhvr>
                                    </p:animEffect>
                                    <p:anim calcmode="lin" valueType="num">
                                      <p:cBhvr>
                                        <p:cTn id="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fade">
                                      <p:cBhvr>
                                        <p:cTn id="12" dur="1000"/>
                                        <p:tgtEl>
                                          <p:spTgt spid="4">
                                            <p:txEl>
                                              <p:pRg st="6" end="6"/>
                                            </p:txEl>
                                          </p:spTgt>
                                        </p:tgtEl>
                                      </p:cBhvr>
                                    </p:animEffect>
                                    <p:anim calcmode="lin" valueType="num">
                                      <p:cBhvr>
                                        <p:cTn id="1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19551-F38C-750A-B095-CEA05272996C}"/>
            </a:ext>
          </a:extLst>
        </p:cNvPr>
        <p:cNvGrpSpPr/>
        <p:nvPr/>
      </p:nvGrpSpPr>
      <p:grpSpPr>
        <a:xfrm>
          <a:off x="0" y="0"/>
          <a:ext cx="0" cy="0"/>
          <a:chOff x="0" y="0"/>
          <a:chExt cx="0" cy="0"/>
        </a:xfrm>
      </p:grpSpPr>
      <p:sp>
        <p:nvSpPr>
          <p:cNvPr id="15" name="object 15">
            <a:extLst>
              <a:ext uri="{FF2B5EF4-FFF2-40B4-BE49-F238E27FC236}">
                <a16:creationId xmlns:a16="http://schemas.microsoft.com/office/drawing/2014/main" id="{675E5A01-BE82-973C-C95B-6A9C905391B9}"/>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29037225-9771-6D17-C3DA-2545B663EFD2}"/>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pic>
        <p:nvPicPr>
          <p:cNvPr id="6" name="Picture 5">
            <a:extLst>
              <a:ext uri="{FF2B5EF4-FFF2-40B4-BE49-F238E27FC236}">
                <a16:creationId xmlns:a16="http://schemas.microsoft.com/office/drawing/2014/main" id="{B1384B8A-437C-2CF8-9472-CCB5324A05AD}"/>
              </a:ext>
            </a:extLst>
          </p:cNvPr>
          <p:cNvPicPr>
            <a:picLocks noChangeAspect="1"/>
          </p:cNvPicPr>
          <p:nvPr/>
        </p:nvPicPr>
        <p:blipFill>
          <a:blip r:embed="rId2">
            <a:extLst>
              <a:ext uri="{28A0092B-C50C-407E-A947-70E740481C1C}">
                <a14:useLocalDpi xmlns:a14="http://schemas.microsoft.com/office/drawing/2010/main" val="0"/>
              </a:ext>
            </a:extLst>
          </a:blip>
          <a:srcRect b="2086"/>
          <a:stretch>
            <a:fillRect/>
          </a:stretch>
        </p:blipFill>
        <p:spPr>
          <a:xfrm>
            <a:off x="133099" y="1019454"/>
            <a:ext cx="8880858" cy="5797087"/>
          </a:xfrm>
          <a:prstGeom prst="rect">
            <a:avLst/>
          </a:prstGeom>
        </p:spPr>
      </p:pic>
    </p:spTree>
    <p:extLst>
      <p:ext uri="{BB962C8B-B14F-4D97-AF65-F5344CB8AC3E}">
        <p14:creationId xmlns:p14="http://schemas.microsoft.com/office/powerpoint/2010/main" val="8075140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DCABB-4C5B-2E54-1342-F5BF39ECCE47}"/>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51DA9907-10CC-80FB-73B9-F63D900ECC3C}"/>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Discussion: Allowing for Growth</a:t>
            </a:r>
            <a:endParaRPr dirty="0">
              <a:solidFill>
                <a:schemeClr val="tx1"/>
              </a:solidFill>
            </a:endParaRPr>
          </a:p>
        </p:txBody>
      </p:sp>
      <p:sp>
        <p:nvSpPr>
          <p:cNvPr id="15" name="object 15">
            <a:extLst>
              <a:ext uri="{FF2B5EF4-FFF2-40B4-BE49-F238E27FC236}">
                <a16:creationId xmlns:a16="http://schemas.microsoft.com/office/drawing/2014/main" id="{FCC3EB43-47B8-5F10-AC29-14E27616C220}"/>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285E1698-226F-ED77-EEA3-A0B18A671DFA}"/>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4099140D-AF5D-06CE-79D0-E382D6C40C83}"/>
              </a:ext>
            </a:extLst>
          </p:cNvPr>
          <p:cNvSpPr txBox="1"/>
          <p:nvPr/>
        </p:nvSpPr>
        <p:spPr>
          <a:xfrm>
            <a:off x="263142" y="685800"/>
            <a:ext cx="8617716" cy="5196166"/>
          </a:xfrm>
          <a:prstGeom prst="rect">
            <a:avLst/>
          </a:prstGeom>
          <a:noFill/>
        </p:spPr>
        <p:txBody>
          <a:bodyPr wrap="square">
            <a:spAutoFit/>
          </a:bodyPr>
          <a:lstStyle/>
          <a:p>
            <a:pPr>
              <a:lnSpc>
                <a:spcPct val="150000"/>
              </a:lnSpc>
              <a:buNone/>
            </a:pPr>
            <a:r>
              <a:rPr lang="en-US" sz="2800" dirty="0">
                <a:latin typeface="+mj-lt"/>
              </a:rPr>
              <a:t>A company currently has 28 devices.</a:t>
            </a:r>
          </a:p>
          <a:p>
            <a:pPr>
              <a:lnSpc>
                <a:spcPct val="150000"/>
              </a:lnSpc>
              <a:buNone/>
            </a:pPr>
            <a:r>
              <a:rPr lang="en-US" sz="2800" dirty="0">
                <a:latin typeface="+mj-lt"/>
              </a:rPr>
              <a:t>Would /27 always be a good design?</a:t>
            </a:r>
          </a:p>
          <a:p>
            <a:pPr>
              <a:lnSpc>
                <a:spcPct val="150000"/>
              </a:lnSpc>
              <a:buNone/>
            </a:pPr>
            <a:r>
              <a:rPr lang="en-US" sz="2800" dirty="0">
                <a:latin typeface="+mj-lt"/>
              </a:rPr>
              <a:t>Not necessarily.</a:t>
            </a:r>
          </a:p>
          <a:p>
            <a:pPr>
              <a:lnSpc>
                <a:spcPct val="150000"/>
              </a:lnSpc>
              <a:buNone/>
            </a:pPr>
            <a:r>
              <a:rPr lang="en-US" sz="2800" dirty="0">
                <a:latin typeface="+mj-lt"/>
              </a:rPr>
              <a:t>/27 supports 30 usable hosts.</a:t>
            </a:r>
          </a:p>
          <a:p>
            <a:pPr>
              <a:lnSpc>
                <a:spcPct val="150000"/>
              </a:lnSpc>
              <a:buNone/>
            </a:pPr>
            <a:r>
              <a:rPr lang="en-US" sz="2800" dirty="0">
                <a:latin typeface="+mj-lt"/>
              </a:rPr>
              <a:t>That leaves only:</a:t>
            </a:r>
          </a:p>
          <a:p>
            <a:pPr rtl="0">
              <a:lnSpc>
                <a:spcPct val="150000"/>
              </a:lnSpc>
              <a:buNone/>
            </a:pPr>
            <a:r>
              <a:rPr lang="en-US" sz="2800" dirty="0">
                <a:latin typeface="+mj-lt"/>
              </a:rPr>
              <a:t>2 spare addresses</a:t>
            </a:r>
          </a:p>
          <a:p>
            <a:pPr>
              <a:lnSpc>
                <a:spcPct val="150000"/>
              </a:lnSpc>
              <a:buNone/>
            </a:pPr>
            <a:r>
              <a:rPr lang="en-US" sz="2800" dirty="0">
                <a:latin typeface="+mj-lt"/>
              </a:rPr>
              <a:t>A network designer may choose a larger subnet if significant growth is expected.</a:t>
            </a:r>
          </a:p>
        </p:txBody>
      </p:sp>
    </p:spTree>
    <p:extLst>
      <p:ext uri="{BB962C8B-B14F-4D97-AF65-F5344CB8AC3E}">
        <p14:creationId xmlns:p14="http://schemas.microsoft.com/office/powerpoint/2010/main" val="108182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1000"/>
                                        <p:tgtEl>
                                          <p:spTgt spid="3">
                                            <p:txEl>
                                              <p:pRg st="6" end="6"/>
                                            </p:txEl>
                                          </p:spTgt>
                                        </p:tgtEl>
                                      </p:cBhvr>
                                    </p:animEffect>
                                    <p:anim calcmode="lin" valueType="num">
                                      <p:cBhvr>
                                        <p:cTn id="2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12FCE-858C-2B7E-3D51-5EA880DB2CC6}"/>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74D29892-5668-A8DE-5352-C392F7D15106}"/>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Discussion: Allowing for Growth</a:t>
            </a:r>
            <a:endParaRPr dirty="0">
              <a:solidFill>
                <a:schemeClr val="tx1"/>
              </a:solidFill>
            </a:endParaRPr>
          </a:p>
        </p:txBody>
      </p:sp>
      <p:sp>
        <p:nvSpPr>
          <p:cNvPr id="15" name="object 15">
            <a:extLst>
              <a:ext uri="{FF2B5EF4-FFF2-40B4-BE49-F238E27FC236}">
                <a16:creationId xmlns:a16="http://schemas.microsoft.com/office/drawing/2014/main" id="{470A6694-DEFE-3F92-E7D7-3453C5014A6F}"/>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637E7B69-862A-13C3-F261-516DD482CE9A}"/>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F3B60F9D-F9FE-91C3-C817-CF6FC91D0720}"/>
              </a:ext>
            </a:extLst>
          </p:cNvPr>
          <p:cNvSpPr txBox="1"/>
          <p:nvPr/>
        </p:nvSpPr>
        <p:spPr>
          <a:xfrm>
            <a:off x="263142" y="685800"/>
            <a:ext cx="8617716" cy="3257174"/>
          </a:xfrm>
          <a:prstGeom prst="rect">
            <a:avLst/>
          </a:prstGeom>
          <a:noFill/>
        </p:spPr>
        <p:txBody>
          <a:bodyPr wrap="square">
            <a:spAutoFit/>
          </a:bodyPr>
          <a:lstStyle/>
          <a:p>
            <a:pPr>
              <a:lnSpc>
                <a:spcPct val="150000"/>
              </a:lnSpc>
              <a:buNone/>
            </a:pPr>
            <a:r>
              <a:rPr lang="en-US" sz="2800" b="1" dirty="0">
                <a:latin typeface="+mj-lt"/>
              </a:rPr>
              <a:t>Discussion question:</a:t>
            </a:r>
            <a:br>
              <a:rPr lang="en-US" sz="2800" dirty="0">
                <a:latin typeface="+mj-lt"/>
              </a:rPr>
            </a:br>
            <a:r>
              <a:rPr lang="en-US" sz="2800" dirty="0">
                <a:latin typeface="+mj-lt"/>
              </a:rPr>
              <a:t>Why might /26 be better?</a:t>
            </a:r>
          </a:p>
          <a:p>
            <a:pPr>
              <a:lnSpc>
                <a:spcPct val="150000"/>
              </a:lnSpc>
              <a:buNone/>
            </a:pPr>
            <a:r>
              <a:rPr lang="en-US" sz="2800" b="1" dirty="0">
                <a:latin typeface="+mj-lt"/>
              </a:rPr>
              <a:t>Answer:</a:t>
            </a:r>
            <a:br>
              <a:rPr lang="en-US" sz="2800" dirty="0">
                <a:latin typeface="+mj-lt"/>
              </a:rPr>
            </a:br>
            <a:r>
              <a:rPr lang="en-US" sz="2800" dirty="0">
                <a:latin typeface="+mj-lt"/>
              </a:rPr>
              <a:t>It allows up to 62 usable hosts and provides room for growth.</a:t>
            </a:r>
          </a:p>
        </p:txBody>
      </p:sp>
    </p:spTree>
    <p:extLst>
      <p:ext uri="{BB962C8B-B14F-4D97-AF65-F5344CB8AC3E}">
        <p14:creationId xmlns:p14="http://schemas.microsoft.com/office/powerpoint/2010/main" val="2495452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9BF3D-53A0-EFC6-4DDD-289A390E383E}"/>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06791AA8-41DB-D40A-CAD2-3B99B37136CB}"/>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Subnet Size and Block Size</a:t>
            </a:r>
            <a:endParaRPr dirty="0">
              <a:solidFill>
                <a:schemeClr val="tx1"/>
              </a:solidFill>
            </a:endParaRPr>
          </a:p>
        </p:txBody>
      </p:sp>
      <p:sp>
        <p:nvSpPr>
          <p:cNvPr id="15" name="object 15">
            <a:extLst>
              <a:ext uri="{FF2B5EF4-FFF2-40B4-BE49-F238E27FC236}">
                <a16:creationId xmlns:a16="http://schemas.microsoft.com/office/drawing/2014/main" id="{1386033E-4AFC-FCF5-73FF-483A404E92C5}"/>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95D92869-E648-1D86-4A0E-D9EA6A2DD10C}"/>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F2AABE02-8933-C410-E583-82EB28B3C90F}"/>
              </a:ext>
            </a:extLst>
          </p:cNvPr>
          <p:cNvSpPr txBox="1"/>
          <p:nvPr/>
        </p:nvSpPr>
        <p:spPr>
          <a:xfrm>
            <a:off x="263142" y="685800"/>
            <a:ext cx="8617716" cy="5842497"/>
          </a:xfrm>
          <a:prstGeom prst="rect">
            <a:avLst/>
          </a:prstGeom>
          <a:noFill/>
        </p:spPr>
        <p:txBody>
          <a:bodyPr wrap="square">
            <a:spAutoFit/>
          </a:bodyPr>
          <a:lstStyle/>
          <a:p>
            <a:pPr>
              <a:lnSpc>
                <a:spcPct val="150000"/>
              </a:lnSpc>
              <a:buNone/>
            </a:pPr>
            <a:r>
              <a:rPr lang="en-US" sz="2800" b="1" dirty="0">
                <a:latin typeface="+mj-lt"/>
              </a:rPr>
              <a:t>What Is Block Size?</a:t>
            </a:r>
          </a:p>
          <a:p>
            <a:pPr>
              <a:lnSpc>
                <a:spcPct val="150000"/>
              </a:lnSpc>
              <a:buNone/>
            </a:pPr>
            <a:r>
              <a:rPr lang="en-US" sz="2800" dirty="0">
                <a:latin typeface="+mj-lt"/>
              </a:rPr>
              <a:t>Block size tells us where each subnet begins.</a:t>
            </a:r>
          </a:p>
          <a:p>
            <a:pPr>
              <a:lnSpc>
                <a:spcPct val="150000"/>
              </a:lnSpc>
              <a:buNone/>
            </a:pPr>
            <a:r>
              <a:rPr lang="en-US" sz="2800" dirty="0">
                <a:latin typeface="+mj-lt"/>
              </a:rPr>
              <a:t>A useful shortcut is: Block size = 256 - interesting mask value</a:t>
            </a:r>
          </a:p>
          <a:p>
            <a:pPr>
              <a:lnSpc>
                <a:spcPct val="150000"/>
              </a:lnSpc>
              <a:buNone/>
            </a:pPr>
            <a:r>
              <a:rPr lang="en-US" sz="2800" dirty="0">
                <a:latin typeface="+mj-lt"/>
              </a:rPr>
              <a:t>Example:</a:t>
            </a:r>
          </a:p>
          <a:p>
            <a:pPr rtl="0">
              <a:lnSpc>
                <a:spcPct val="150000"/>
              </a:lnSpc>
              <a:buNone/>
            </a:pPr>
            <a:r>
              <a:rPr lang="en-US" sz="2800" dirty="0">
                <a:latin typeface="+mj-lt"/>
              </a:rPr>
              <a:t>/27</a:t>
            </a:r>
          </a:p>
          <a:p>
            <a:pPr>
              <a:lnSpc>
                <a:spcPct val="150000"/>
              </a:lnSpc>
              <a:buNone/>
            </a:pPr>
            <a:r>
              <a:rPr lang="en-US" sz="2800" dirty="0">
                <a:latin typeface="+mj-lt"/>
              </a:rPr>
              <a:t>Mask: 255.255.255.224</a:t>
            </a:r>
          </a:p>
          <a:p>
            <a:pPr>
              <a:lnSpc>
                <a:spcPct val="150000"/>
              </a:lnSpc>
              <a:buNone/>
            </a:pPr>
            <a:r>
              <a:rPr lang="en-US" sz="2800" dirty="0">
                <a:latin typeface="+mj-lt"/>
              </a:rPr>
              <a:t>Therefore: 256 - 224 = 32</a:t>
            </a:r>
          </a:p>
          <a:p>
            <a:pPr>
              <a:lnSpc>
                <a:spcPct val="150000"/>
              </a:lnSpc>
              <a:buNone/>
            </a:pPr>
            <a:r>
              <a:rPr lang="en-US" sz="2800" dirty="0">
                <a:latin typeface="+mj-lt"/>
              </a:rPr>
              <a:t>Subnets increase by 32.</a:t>
            </a:r>
          </a:p>
        </p:txBody>
      </p:sp>
    </p:spTree>
    <p:extLst>
      <p:ext uri="{BB962C8B-B14F-4D97-AF65-F5344CB8AC3E}">
        <p14:creationId xmlns:p14="http://schemas.microsoft.com/office/powerpoint/2010/main" val="3439714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1000"/>
                                        <p:tgtEl>
                                          <p:spTgt spid="4">
                                            <p:txEl>
                                              <p:pRg st="3" end="3"/>
                                            </p:txEl>
                                          </p:spTgt>
                                        </p:tgtEl>
                                      </p:cBhvr>
                                    </p:animEffect>
                                    <p:anim calcmode="lin" valueType="num">
                                      <p:cBhvr>
                                        <p:cTn id="1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1000"/>
                                        <p:tgtEl>
                                          <p:spTgt spid="4">
                                            <p:txEl>
                                              <p:pRg st="4" end="4"/>
                                            </p:txEl>
                                          </p:spTgt>
                                        </p:tgtEl>
                                      </p:cBhvr>
                                    </p:animEffect>
                                    <p:anim calcmode="lin" valueType="num">
                                      <p:cBhvr>
                                        <p:cTn id="2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1000"/>
                                        <p:tgtEl>
                                          <p:spTgt spid="4">
                                            <p:txEl>
                                              <p:pRg st="5" end="5"/>
                                            </p:txEl>
                                          </p:spTgt>
                                        </p:tgtEl>
                                      </p:cBhvr>
                                    </p:animEffect>
                                    <p:anim calcmode="lin" valueType="num">
                                      <p:cBhvr>
                                        <p:cTn id="2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1000"/>
                                        <p:tgtEl>
                                          <p:spTgt spid="4">
                                            <p:txEl>
                                              <p:pRg st="6" end="6"/>
                                            </p:txEl>
                                          </p:spTgt>
                                        </p:tgtEl>
                                      </p:cBhvr>
                                    </p:animEffect>
                                    <p:anim calcmode="lin" valueType="num">
                                      <p:cBhvr>
                                        <p:cTn id="3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Effect transition="in" filter="fade">
                                      <p:cBhvr>
                                        <p:cTn id="37" dur="1000"/>
                                        <p:tgtEl>
                                          <p:spTgt spid="4">
                                            <p:txEl>
                                              <p:pRg st="7" end="7"/>
                                            </p:txEl>
                                          </p:spTgt>
                                        </p:tgtEl>
                                      </p:cBhvr>
                                    </p:animEffect>
                                    <p:anim calcmode="lin" valueType="num">
                                      <p:cBhvr>
                                        <p:cTn id="3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915E4-2ADE-B340-79FA-EC2B877AD597}"/>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63939C4B-3C94-38CB-F127-E899F6016407}"/>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/27 Subnet Boundaries</a:t>
            </a:r>
            <a:endParaRPr dirty="0">
              <a:solidFill>
                <a:schemeClr val="tx1"/>
              </a:solidFill>
            </a:endParaRPr>
          </a:p>
        </p:txBody>
      </p:sp>
      <p:sp>
        <p:nvSpPr>
          <p:cNvPr id="15" name="object 15">
            <a:extLst>
              <a:ext uri="{FF2B5EF4-FFF2-40B4-BE49-F238E27FC236}">
                <a16:creationId xmlns:a16="http://schemas.microsoft.com/office/drawing/2014/main" id="{11B3718F-3A83-8159-340C-08827D4290D3}"/>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8560E637-7BD5-3123-75AE-2DD83E3FAB9C}"/>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3C35FB53-C5DA-C541-A756-F0A6816CF1B5}"/>
              </a:ext>
            </a:extLst>
          </p:cNvPr>
          <p:cNvSpPr txBox="1"/>
          <p:nvPr/>
        </p:nvSpPr>
        <p:spPr>
          <a:xfrm>
            <a:off x="908302" y="527514"/>
            <a:ext cx="7327396" cy="6304162"/>
          </a:xfrm>
          <a:prstGeom prst="rect">
            <a:avLst/>
          </a:prstGeom>
          <a:noFill/>
        </p:spPr>
        <p:txBody>
          <a:bodyPr wrap="square">
            <a:spAutoFit/>
          </a:bodyPr>
          <a:lstStyle/>
          <a:p>
            <a:pPr>
              <a:lnSpc>
                <a:spcPct val="150000"/>
              </a:lnSpc>
              <a:buNone/>
            </a:pPr>
            <a:r>
              <a:rPr lang="en-US" sz="2400" dirty="0">
                <a:latin typeface="+mj-lt"/>
              </a:rPr>
              <a:t>Block size: 32</a:t>
            </a:r>
          </a:p>
          <a:p>
            <a:pPr>
              <a:lnSpc>
                <a:spcPct val="150000"/>
              </a:lnSpc>
              <a:buNone/>
            </a:pPr>
            <a:r>
              <a:rPr lang="en-US" sz="2400" dirty="0">
                <a:latin typeface="+mj-lt"/>
              </a:rPr>
              <a:t>Therefore networks begin at:</a:t>
            </a:r>
          </a:p>
          <a:p>
            <a:pPr rtl="0">
              <a:lnSpc>
                <a:spcPct val="150000"/>
              </a:lnSpc>
              <a:buNone/>
            </a:pPr>
            <a:r>
              <a:rPr lang="en-US" sz="2400" dirty="0">
                <a:latin typeface="+mj-lt"/>
              </a:rPr>
              <a:t>0</a:t>
            </a:r>
          </a:p>
          <a:p>
            <a:pPr rtl="0">
              <a:lnSpc>
                <a:spcPct val="150000"/>
              </a:lnSpc>
              <a:buNone/>
            </a:pPr>
            <a:r>
              <a:rPr lang="en-US" sz="2400" dirty="0">
                <a:latin typeface="+mj-lt"/>
              </a:rPr>
              <a:t>32</a:t>
            </a:r>
          </a:p>
          <a:p>
            <a:pPr rtl="0">
              <a:lnSpc>
                <a:spcPct val="150000"/>
              </a:lnSpc>
              <a:buNone/>
            </a:pPr>
            <a:r>
              <a:rPr lang="en-US" sz="2400" dirty="0">
                <a:latin typeface="+mj-lt"/>
              </a:rPr>
              <a:t>64</a:t>
            </a:r>
          </a:p>
          <a:p>
            <a:pPr rtl="0">
              <a:lnSpc>
                <a:spcPct val="150000"/>
              </a:lnSpc>
              <a:buNone/>
            </a:pPr>
            <a:r>
              <a:rPr lang="en-US" sz="2400" dirty="0">
                <a:latin typeface="+mj-lt"/>
              </a:rPr>
              <a:t>96</a:t>
            </a:r>
          </a:p>
          <a:p>
            <a:pPr rtl="0">
              <a:lnSpc>
                <a:spcPct val="150000"/>
              </a:lnSpc>
              <a:buNone/>
            </a:pPr>
            <a:r>
              <a:rPr lang="en-US" sz="2400" dirty="0">
                <a:latin typeface="+mj-lt"/>
              </a:rPr>
              <a:t>128</a:t>
            </a:r>
          </a:p>
          <a:p>
            <a:pPr rtl="0">
              <a:lnSpc>
                <a:spcPct val="150000"/>
              </a:lnSpc>
              <a:buNone/>
            </a:pPr>
            <a:r>
              <a:rPr lang="en-US" sz="2400" dirty="0">
                <a:latin typeface="+mj-lt"/>
              </a:rPr>
              <a:t>160</a:t>
            </a:r>
          </a:p>
          <a:p>
            <a:pPr rtl="0">
              <a:lnSpc>
                <a:spcPct val="150000"/>
              </a:lnSpc>
              <a:buNone/>
            </a:pPr>
            <a:r>
              <a:rPr lang="en-US" sz="2400" dirty="0">
                <a:latin typeface="+mj-lt"/>
              </a:rPr>
              <a:t>192</a:t>
            </a:r>
          </a:p>
          <a:p>
            <a:pPr rtl="0">
              <a:lnSpc>
                <a:spcPct val="150000"/>
              </a:lnSpc>
              <a:buNone/>
            </a:pPr>
            <a:r>
              <a:rPr lang="en-US" sz="2400" dirty="0">
                <a:latin typeface="+mj-lt"/>
              </a:rPr>
              <a:t>224</a:t>
            </a:r>
          </a:p>
          <a:p>
            <a:pPr>
              <a:lnSpc>
                <a:spcPct val="150000"/>
              </a:lnSpc>
              <a:buNone/>
            </a:pPr>
            <a:r>
              <a:rPr lang="en-US" sz="2400" dirty="0">
                <a:latin typeface="+mj-lt"/>
              </a:rPr>
              <a:t>So the /24 has been divided into 8 /27 subnets.</a:t>
            </a:r>
          </a:p>
        </p:txBody>
      </p:sp>
    </p:spTree>
    <p:extLst>
      <p:ext uri="{BB962C8B-B14F-4D97-AF65-F5344CB8AC3E}">
        <p14:creationId xmlns:p14="http://schemas.microsoft.com/office/powerpoint/2010/main" val="2279160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F65AF-EDC4-0423-ADF6-81DBCE89981E}"/>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F6B049AE-4ED6-2DF5-6EFA-111B7D159B87}"/>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Example /27</a:t>
            </a:r>
            <a:endParaRPr dirty="0">
              <a:solidFill>
                <a:schemeClr val="tx1"/>
              </a:solidFill>
            </a:endParaRPr>
          </a:p>
        </p:txBody>
      </p:sp>
      <p:sp>
        <p:nvSpPr>
          <p:cNvPr id="15" name="object 15">
            <a:extLst>
              <a:ext uri="{FF2B5EF4-FFF2-40B4-BE49-F238E27FC236}">
                <a16:creationId xmlns:a16="http://schemas.microsoft.com/office/drawing/2014/main" id="{30AA5978-F54B-8853-5A7D-48B597C7642A}"/>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6789FAB5-41C7-696B-DF23-DDB7E963AAE4}"/>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6" name="TextBox 5">
            <a:extLst>
              <a:ext uri="{FF2B5EF4-FFF2-40B4-BE49-F238E27FC236}">
                <a16:creationId xmlns:a16="http://schemas.microsoft.com/office/drawing/2014/main" id="{C966E4E3-06E0-42A7-106F-DAFE05A4CD9F}"/>
              </a:ext>
            </a:extLst>
          </p:cNvPr>
          <p:cNvSpPr txBox="1"/>
          <p:nvPr/>
        </p:nvSpPr>
        <p:spPr>
          <a:xfrm>
            <a:off x="762000" y="762000"/>
            <a:ext cx="7620000" cy="6133859"/>
          </a:xfrm>
          <a:prstGeom prst="rect">
            <a:avLst/>
          </a:prstGeom>
          <a:noFill/>
        </p:spPr>
        <p:txBody>
          <a:bodyPr wrap="square">
            <a:spAutoFit/>
          </a:bodyPr>
          <a:lstStyle/>
          <a:p>
            <a:pPr>
              <a:lnSpc>
                <a:spcPct val="150000"/>
              </a:lnSpc>
              <a:buNone/>
            </a:pPr>
            <a:r>
              <a:rPr lang="en-US" sz="2200" dirty="0">
                <a:latin typeface="+mj-lt"/>
              </a:rPr>
              <a:t>For: 192.168.1.75/27</a:t>
            </a:r>
          </a:p>
          <a:p>
            <a:pPr>
              <a:lnSpc>
                <a:spcPct val="150000"/>
              </a:lnSpc>
              <a:buNone/>
            </a:pPr>
            <a:r>
              <a:rPr lang="en-US" sz="2200" dirty="0">
                <a:latin typeface="+mj-lt"/>
              </a:rPr>
              <a:t>Subnet ranges are:</a:t>
            </a:r>
          </a:p>
          <a:p>
            <a:pPr rtl="0">
              <a:lnSpc>
                <a:spcPct val="150000"/>
              </a:lnSpc>
              <a:buNone/>
            </a:pPr>
            <a:r>
              <a:rPr lang="en-US" sz="2200" dirty="0">
                <a:latin typeface="+mj-lt"/>
              </a:rPr>
              <a:t>0–31</a:t>
            </a:r>
          </a:p>
          <a:p>
            <a:pPr rtl="0">
              <a:lnSpc>
                <a:spcPct val="150000"/>
              </a:lnSpc>
              <a:buNone/>
            </a:pPr>
            <a:r>
              <a:rPr lang="en-US" sz="2200" dirty="0">
                <a:latin typeface="+mj-lt"/>
              </a:rPr>
              <a:t>32–63</a:t>
            </a:r>
          </a:p>
          <a:p>
            <a:pPr rtl="0">
              <a:lnSpc>
                <a:spcPct val="150000"/>
              </a:lnSpc>
              <a:buNone/>
            </a:pPr>
            <a:r>
              <a:rPr lang="en-US" sz="2200" dirty="0">
                <a:latin typeface="+mj-lt"/>
              </a:rPr>
              <a:t>64–95</a:t>
            </a:r>
          </a:p>
          <a:p>
            <a:pPr rtl="0">
              <a:lnSpc>
                <a:spcPct val="150000"/>
              </a:lnSpc>
              <a:buNone/>
            </a:pPr>
            <a:r>
              <a:rPr lang="en-US" sz="2200" dirty="0">
                <a:latin typeface="+mj-lt"/>
              </a:rPr>
              <a:t>96–127</a:t>
            </a:r>
          </a:p>
          <a:p>
            <a:pPr rtl="0">
              <a:lnSpc>
                <a:spcPct val="150000"/>
              </a:lnSpc>
              <a:buNone/>
            </a:pPr>
            <a:r>
              <a:rPr lang="en-US" sz="2200" dirty="0">
                <a:latin typeface="+mj-lt"/>
              </a:rPr>
              <a:t>...</a:t>
            </a:r>
          </a:p>
          <a:p>
            <a:pPr>
              <a:lnSpc>
                <a:spcPct val="150000"/>
              </a:lnSpc>
              <a:buNone/>
            </a:pPr>
            <a:r>
              <a:rPr lang="en-US" sz="2200" dirty="0">
                <a:latin typeface="+mj-lt"/>
              </a:rPr>
              <a:t>75 falls inside:</a:t>
            </a:r>
          </a:p>
          <a:p>
            <a:pPr rtl="0">
              <a:lnSpc>
                <a:spcPct val="150000"/>
              </a:lnSpc>
              <a:buNone/>
            </a:pPr>
            <a:r>
              <a:rPr lang="en-US" sz="2200" dirty="0">
                <a:latin typeface="+mj-lt"/>
              </a:rPr>
              <a:t>64–95</a:t>
            </a:r>
          </a:p>
          <a:p>
            <a:pPr>
              <a:lnSpc>
                <a:spcPct val="150000"/>
              </a:lnSpc>
              <a:buNone/>
            </a:pPr>
            <a:r>
              <a:rPr lang="en-US" sz="2200" dirty="0">
                <a:latin typeface="+mj-lt"/>
              </a:rPr>
              <a:t>Therefore:</a:t>
            </a:r>
          </a:p>
          <a:p>
            <a:pPr rtl="0">
              <a:lnSpc>
                <a:spcPct val="150000"/>
              </a:lnSpc>
              <a:buNone/>
            </a:pPr>
            <a:r>
              <a:rPr lang="en-US" sz="2200" dirty="0">
                <a:latin typeface="+mj-lt"/>
              </a:rPr>
              <a:t>Network:    192.168.1.64</a:t>
            </a:r>
          </a:p>
          <a:p>
            <a:pPr rtl="0">
              <a:lnSpc>
                <a:spcPct val="150000"/>
              </a:lnSpc>
              <a:buNone/>
            </a:pPr>
            <a:r>
              <a:rPr lang="en-US" sz="2200" dirty="0">
                <a:latin typeface="+mj-lt"/>
              </a:rPr>
              <a:t>Broadcast:  192.168.1.95</a:t>
            </a:r>
          </a:p>
        </p:txBody>
      </p:sp>
    </p:spTree>
    <p:extLst>
      <p:ext uri="{BB962C8B-B14F-4D97-AF65-F5344CB8AC3E}">
        <p14:creationId xmlns:p14="http://schemas.microsoft.com/office/powerpoint/2010/main" val="10591345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996EB-40B5-AD9A-5A20-15E9341B0D04}"/>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7979D1D2-22B0-B25B-A6BC-4718E7C3F13C}"/>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Find the Host Range</a:t>
            </a:r>
            <a:endParaRPr dirty="0">
              <a:solidFill>
                <a:schemeClr val="tx1"/>
              </a:solidFill>
            </a:endParaRPr>
          </a:p>
        </p:txBody>
      </p:sp>
      <p:sp>
        <p:nvSpPr>
          <p:cNvPr id="15" name="object 15">
            <a:extLst>
              <a:ext uri="{FF2B5EF4-FFF2-40B4-BE49-F238E27FC236}">
                <a16:creationId xmlns:a16="http://schemas.microsoft.com/office/drawing/2014/main" id="{78E7990A-AC49-05C1-20B9-1B18D8090904}"/>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8CD8E629-55BA-7526-4B28-8AC7919E74FD}"/>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2D9E3167-B437-E54C-4936-F0A4CFF922E9}"/>
              </a:ext>
            </a:extLst>
          </p:cNvPr>
          <p:cNvSpPr txBox="1"/>
          <p:nvPr/>
        </p:nvSpPr>
        <p:spPr>
          <a:xfrm>
            <a:off x="457200" y="1219201"/>
            <a:ext cx="8229600" cy="4549835"/>
          </a:xfrm>
          <a:prstGeom prst="rect">
            <a:avLst/>
          </a:prstGeom>
          <a:noFill/>
        </p:spPr>
        <p:txBody>
          <a:bodyPr wrap="square">
            <a:spAutoFit/>
          </a:bodyPr>
          <a:lstStyle/>
          <a:p>
            <a:pPr>
              <a:lnSpc>
                <a:spcPct val="150000"/>
              </a:lnSpc>
              <a:buNone/>
            </a:pPr>
            <a:r>
              <a:rPr lang="en-US" sz="2800" dirty="0">
                <a:latin typeface="+mj-lt"/>
              </a:rPr>
              <a:t>Continuing:</a:t>
            </a:r>
          </a:p>
          <a:p>
            <a:pPr rtl="0">
              <a:lnSpc>
                <a:spcPct val="150000"/>
              </a:lnSpc>
              <a:buNone/>
            </a:pPr>
            <a:r>
              <a:rPr lang="en-US" sz="2800" dirty="0">
                <a:latin typeface="+mj-lt"/>
              </a:rPr>
              <a:t>Network:    192.168.1.64</a:t>
            </a:r>
          </a:p>
          <a:p>
            <a:pPr rtl="0">
              <a:lnSpc>
                <a:spcPct val="150000"/>
              </a:lnSpc>
              <a:buNone/>
            </a:pPr>
            <a:r>
              <a:rPr lang="en-US" sz="2800" dirty="0">
                <a:latin typeface="+mj-lt"/>
              </a:rPr>
              <a:t>Broadcast:  192.168.1.95</a:t>
            </a:r>
          </a:p>
          <a:p>
            <a:pPr>
              <a:lnSpc>
                <a:spcPct val="150000"/>
              </a:lnSpc>
              <a:buNone/>
            </a:pPr>
            <a:r>
              <a:rPr lang="en-US" sz="2800" dirty="0">
                <a:latin typeface="+mj-lt"/>
              </a:rPr>
              <a:t>First usable host:</a:t>
            </a:r>
          </a:p>
          <a:p>
            <a:pPr rtl="0">
              <a:lnSpc>
                <a:spcPct val="150000"/>
              </a:lnSpc>
              <a:buNone/>
            </a:pPr>
            <a:r>
              <a:rPr lang="en-US" sz="2800" dirty="0">
                <a:latin typeface="+mj-lt"/>
              </a:rPr>
              <a:t>192.168.1.65</a:t>
            </a:r>
          </a:p>
          <a:p>
            <a:pPr>
              <a:lnSpc>
                <a:spcPct val="150000"/>
              </a:lnSpc>
              <a:buNone/>
            </a:pPr>
            <a:r>
              <a:rPr lang="en-US" sz="2800" dirty="0">
                <a:latin typeface="+mj-lt"/>
              </a:rPr>
              <a:t>Last usable host:</a:t>
            </a:r>
          </a:p>
          <a:p>
            <a:pPr rtl="0">
              <a:lnSpc>
                <a:spcPct val="150000"/>
              </a:lnSpc>
              <a:buNone/>
            </a:pPr>
            <a:r>
              <a:rPr lang="en-US" sz="2800" dirty="0">
                <a:latin typeface="+mj-lt"/>
              </a:rPr>
              <a:t>192.168.1.94</a:t>
            </a:r>
          </a:p>
        </p:txBody>
      </p:sp>
    </p:spTree>
    <p:extLst>
      <p:ext uri="{BB962C8B-B14F-4D97-AF65-F5344CB8AC3E}">
        <p14:creationId xmlns:p14="http://schemas.microsoft.com/office/powerpoint/2010/main" val="34601392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424E4-F485-B60E-2669-1AA6BC7A5DD3}"/>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15FF83DF-AEE5-508A-EE12-3C2BE5E75DA9}"/>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Discussion Practice</a:t>
            </a:r>
            <a:endParaRPr dirty="0">
              <a:solidFill>
                <a:schemeClr val="tx1"/>
              </a:solidFill>
            </a:endParaRPr>
          </a:p>
        </p:txBody>
      </p:sp>
      <p:sp>
        <p:nvSpPr>
          <p:cNvPr id="15" name="object 15">
            <a:extLst>
              <a:ext uri="{FF2B5EF4-FFF2-40B4-BE49-F238E27FC236}">
                <a16:creationId xmlns:a16="http://schemas.microsoft.com/office/drawing/2014/main" id="{25AFC789-5B5F-20B0-55EE-621477592ADE}"/>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3F7BC823-0B8E-8D09-A8D5-A88E555BF12E}"/>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6" name="TextBox 5">
            <a:extLst>
              <a:ext uri="{FF2B5EF4-FFF2-40B4-BE49-F238E27FC236}">
                <a16:creationId xmlns:a16="http://schemas.microsoft.com/office/drawing/2014/main" id="{D4113FCB-C080-7BAA-EF9E-CA2C3E03E2CD}"/>
              </a:ext>
            </a:extLst>
          </p:cNvPr>
          <p:cNvSpPr txBox="1"/>
          <p:nvPr/>
        </p:nvSpPr>
        <p:spPr>
          <a:xfrm>
            <a:off x="573432" y="382178"/>
            <a:ext cx="8229600" cy="6488828"/>
          </a:xfrm>
          <a:prstGeom prst="rect">
            <a:avLst/>
          </a:prstGeom>
          <a:noFill/>
        </p:spPr>
        <p:txBody>
          <a:bodyPr wrap="square">
            <a:spAutoFit/>
          </a:bodyPr>
          <a:lstStyle/>
          <a:p>
            <a:pPr>
              <a:lnSpc>
                <a:spcPct val="150000"/>
              </a:lnSpc>
              <a:buNone/>
            </a:pPr>
            <a:r>
              <a:rPr lang="en-US" sz="2800" dirty="0">
                <a:latin typeface="+mj-lt"/>
              </a:rPr>
              <a:t>Given: 192.168.1.170/27</a:t>
            </a:r>
          </a:p>
          <a:p>
            <a:pPr>
              <a:lnSpc>
                <a:spcPct val="150000"/>
              </a:lnSpc>
              <a:buNone/>
            </a:pPr>
            <a:r>
              <a:rPr lang="en-US" sz="2800" dirty="0">
                <a:latin typeface="+mj-lt"/>
              </a:rPr>
              <a:t>Which range contains 170?</a:t>
            </a:r>
          </a:p>
          <a:p>
            <a:pPr rtl="0">
              <a:lnSpc>
                <a:spcPct val="150000"/>
              </a:lnSpc>
              <a:buNone/>
            </a:pPr>
            <a:r>
              <a:rPr lang="en-US" sz="2800" dirty="0">
                <a:latin typeface="+mj-lt"/>
              </a:rPr>
              <a:t>128–159</a:t>
            </a:r>
          </a:p>
          <a:p>
            <a:pPr rtl="0">
              <a:lnSpc>
                <a:spcPct val="150000"/>
              </a:lnSpc>
              <a:buNone/>
            </a:pPr>
            <a:r>
              <a:rPr lang="en-US" sz="2800" dirty="0">
                <a:latin typeface="+mj-lt"/>
              </a:rPr>
              <a:t>160–191</a:t>
            </a:r>
          </a:p>
          <a:p>
            <a:pPr rtl="0">
              <a:lnSpc>
                <a:spcPct val="150000"/>
              </a:lnSpc>
              <a:buNone/>
            </a:pPr>
            <a:r>
              <a:rPr lang="en-US" sz="2800" dirty="0">
                <a:latin typeface="+mj-lt"/>
              </a:rPr>
              <a:t>192–223</a:t>
            </a:r>
          </a:p>
          <a:p>
            <a:pPr>
              <a:lnSpc>
                <a:spcPct val="150000"/>
              </a:lnSpc>
              <a:buNone/>
            </a:pPr>
            <a:r>
              <a:rPr lang="en-US" sz="2800" b="1" dirty="0">
                <a:latin typeface="+mj-lt"/>
              </a:rPr>
              <a:t>Answer: </a:t>
            </a:r>
            <a:r>
              <a:rPr lang="en-US" sz="2800" dirty="0">
                <a:latin typeface="+mj-lt"/>
              </a:rPr>
              <a:t>160–191</a:t>
            </a:r>
          </a:p>
          <a:p>
            <a:pPr>
              <a:lnSpc>
                <a:spcPct val="150000"/>
              </a:lnSpc>
              <a:buNone/>
            </a:pPr>
            <a:r>
              <a:rPr lang="en-US" sz="2800" dirty="0">
                <a:latin typeface="+mj-lt"/>
              </a:rPr>
              <a:t>Therefore:</a:t>
            </a:r>
          </a:p>
          <a:p>
            <a:pPr rtl="0">
              <a:lnSpc>
                <a:spcPct val="150000"/>
              </a:lnSpc>
              <a:buNone/>
            </a:pPr>
            <a:r>
              <a:rPr lang="en-US" sz="2800" dirty="0">
                <a:latin typeface="+mj-lt"/>
              </a:rPr>
              <a:t>Network:    192.168.1.160</a:t>
            </a:r>
          </a:p>
          <a:p>
            <a:pPr rtl="0">
              <a:lnSpc>
                <a:spcPct val="150000"/>
              </a:lnSpc>
              <a:buNone/>
            </a:pPr>
            <a:r>
              <a:rPr lang="en-US" sz="2800" dirty="0">
                <a:latin typeface="+mj-lt"/>
              </a:rPr>
              <a:t>Broadcast:  192.168.1.191</a:t>
            </a:r>
          </a:p>
          <a:p>
            <a:pPr rtl="0">
              <a:lnSpc>
                <a:spcPct val="150000"/>
              </a:lnSpc>
              <a:buNone/>
            </a:pPr>
            <a:r>
              <a:rPr lang="en-US" sz="2800" dirty="0">
                <a:latin typeface="+mj-lt"/>
              </a:rPr>
              <a:t>Hosts:      192.168.1.161–190</a:t>
            </a:r>
          </a:p>
        </p:txBody>
      </p:sp>
    </p:spTree>
    <p:extLst>
      <p:ext uri="{BB962C8B-B14F-4D97-AF65-F5344CB8AC3E}">
        <p14:creationId xmlns:p14="http://schemas.microsoft.com/office/powerpoint/2010/main" val="1294390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animEffect transition="in" filter="fade">
                                      <p:cBhvr>
                                        <p:cTn id="7" dur="1000"/>
                                        <p:tgtEl>
                                          <p:spTgt spid="6">
                                            <p:txEl>
                                              <p:pRg st="5" end="5"/>
                                            </p:txEl>
                                          </p:spTgt>
                                        </p:tgtEl>
                                      </p:cBhvr>
                                    </p:animEffect>
                                    <p:anim calcmode="lin" valueType="num">
                                      <p:cBhvr>
                                        <p:cTn id="8"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6" end="6"/>
                                            </p:txEl>
                                          </p:spTgt>
                                        </p:tgtEl>
                                        <p:attrNameLst>
                                          <p:attrName>style.visibility</p:attrName>
                                        </p:attrNameLst>
                                      </p:cBhvr>
                                      <p:to>
                                        <p:strVal val="visible"/>
                                      </p:to>
                                    </p:set>
                                    <p:animEffect transition="in" filter="fade">
                                      <p:cBhvr>
                                        <p:cTn id="12" dur="1000"/>
                                        <p:tgtEl>
                                          <p:spTgt spid="6">
                                            <p:txEl>
                                              <p:pRg st="6" end="6"/>
                                            </p:txEl>
                                          </p:spTgt>
                                        </p:tgtEl>
                                      </p:cBhvr>
                                    </p:animEffect>
                                    <p:anim calcmode="lin" valueType="num">
                                      <p:cBhvr>
                                        <p:cTn id="13"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6" end="6"/>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7" end="7"/>
                                            </p:txEl>
                                          </p:spTgt>
                                        </p:tgtEl>
                                        <p:attrNameLst>
                                          <p:attrName>style.visibility</p:attrName>
                                        </p:attrNameLst>
                                      </p:cBhvr>
                                      <p:to>
                                        <p:strVal val="visible"/>
                                      </p:to>
                                    </p:set>
                                    <p:animEffect transition="in" filter="fade">
                                      <p:cBhvr>
                                        <p:cTn id="17" dur="1000"/>
                                        <p:tgtEl>
                                          <p:spTgt spid="6">
                                            <p:txEl>
                                              <p:pRg st="7" end="7"/>
                                            </p:txEl>
                                          </p:spTgt>
                                        </p:tgtEl>
                                      </p:cBhvr>
                                    </p:animEffect>
                                    <p:anim calcmode="lin" valueType="num">
                                      <p:cBhvr>
                                        <p:cTn id="18"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7" end="7"/>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xEl>
                                              <p:pRg st="8" end="8"/>
                                            </p:txEl>
                                          </p:spTgt>
                                        </p:tgtEl>
                                        <p:attrNameLst>
                                          <p:attrName>style.visibility</p:attrName>
                                        </p:attrNameLst>
                                      </p:cBhvr>
                                      <p:to>
                                        <p:strVal val="visible"/>
                                      </p:to>
                                    </p:set>
                                    <p:animEffect transition="in" filter="fade">
                                      <p:cBhvr>
                                        <p:cTn id="22" dur="1000"/>
                                        <p:tgtEl>
                                          <p:spTgt spid="6">
                                            <p:txEl>
                                              <p:pRg st="8" end="8"/>
                                            </p:txEl>
                                          </p:spTgt>
                                        </p:tgtEl>
                                      </p:cBhvr>
                                    </p:animEffect>
                                    <p:anim calcmode="lin" valueType="num">
                                      <p:cBhvr>
                                        <p:cTn id="23"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8" end="8"/>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animEffect transition="in" filter="fade">
                                      <p:cBhvr>
                                        <p:cTn id="27" dur="1000"/>
                                        <p:tgtEl>
                                          <p:spTgt spid="6">
                                            <p:txEl>
                                              <p:pRg st="9" end="9"/>
                                            </p:txEl>
                                          </p:spTgt>
                                        </p:tgtEl>
                                      </p:cBhvr>
                                    </p:animEffect>
                                    <p:anim calcmode="lin" valueType="num">
                                      <p:cBhvr>
                                        <p:cTn id="28"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29" dur="1000" fill="hold"/>
                                        <p:tgtEl>
                                          <p:spTgt spid="6">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2485E-D435-9E94-3484-DA08E38949FF}"/>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CEFF13F9-4DF1-332A-544B-524669E944FB}"/>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Finding the Network Address Using AND</a:t>
            </a:r>
            <a:endParaRPr dirty="0">
              <a:solidFill>
                <a:schemeClr val="tx1"/>
              </a:solidFill>
            </a:endParaRPr>
          </a:p>
        </p:txBody>
      </p:sp>
      <p:sp>
        <p:nvSpPr>
          <p:cNvPr id="15" name="object 15">
            <a:extLst>
              <a:ext uri="{FF2B5EF4-FFF2-40B4-BE49-F238E27FC236}">
                <a16:creationId xmlns:a16="http://schemas.microsoft.com/office/drawing/2014/main" id="{214CDB16-6548-AFF4-CFE7-9C0EBD82C7BD}"/>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468715B0-E312-9733-8B48-D7A3385AD562}"/>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F66CA82F-8F10-8F3C-D3F6-EA0840BA71E1}"/>
              </a:ext>
            </a:extLst>
          </p:cNvPr>
          <p:cNvSpPr txBox="1"/>
          <p:nvPr/>
        </p:nvSpPr>
        <p:spPr>
          <a:xfrm>
            <a:off x="263142" y="914401"/>
            <a:ext cx="8617716" cy="5196166"/>
          </a:xfrm>
          <a:prstGeom prst="rect">
            <a:avLst/>
          </a:prstGeom>
          <a:noFill/>
        </p:spPr>
        <p:txBody>
          <a:bodyPr wrap="square">
            <a:spAutoFit/>
          </a:bodyPr>
          <a:lstStyle/>
          <a:p>
            <a:pPr>
              <a:lnSpc>
                <a:spcPct val="150000"/>
              </a:lnSpc>
              <a:buNone/>
            </a:pPr>
            <a:r>
              <a:rPr lang="en-US" sz="2800" b="1" dirty="0">
                <a:latin typeface="+mj-lt"/>
              </a:rPr>
              <a:t>Binary AND Operation</a:t>
            </a:r>
          </a:p>
          <a:p>
            <a:pPr>
              <a:lnSpc>
                <a:spcPct val="150000"/>
              </a:lnSpc>
              <a:buNone/>
            </a:pPr>
            <a:r>
              <a:rPr lang="en-US" sz="2800" dirty="0">
                <a:latin typeface="+mj-lt"/>
              </a:rPr>
              <a:t>To calculate the network address exactly, computers use a binary AND operation.</a:t>
            </a:r>
          </a:p>
          <a:p>
            <a:pPr>
              <a:lnSpc>
                <a:spcPct val="150000"/>
              </a:lnSpc>
              <a:buNone/>
            </a:pPr>
            <a:r>
              <a:rPr lang="en-US" sz="2800" dirty="0">
                <a:latin typeface="+mj-lt"/>
              </a:rPr>
              <a:t>Rules:</a:t>
            </a:r>
          </a:p>
          <a:p>
            <a:pPr rtl="0">
              <a:lnSpc>
                <a:spcPct val="150000"/>
              </a:lnSpc>
              <a:buNone/>
            </a:pPr>
            <a:r>
              <a:rPr lang="en-US" sz="2800" dirty="0">
                <a:latin typeface="+mj-lt"/>
              </a:rPr>
              <a:t>1 AND 1 = 1</a:t>
            </a:r>
          </a:p>
          <a:p>
            <a:pPr rtl="0">
              <a:lnSpc>
                <a:spcPct val="150000"/>
              </a:lnSpc>
              <a:buNone/>
            </a:pPr>
            <a:r>
              <a:rPr lang="en-US" sz="2800" dirty="0">
                <a:latin typeface="+mj-lt"/>
              </a:rPr>
              <a:t>1 AND 0 = 0</a:t>
            </a:r>
          </a:p>
          <a:p>
            <a:pPr rtl="0">
              <a:lnSpc>
                <a:spcPct val="150000"/>
              </a:lnSpc>
              <a:buNone/>
            </a:pPr>
            <a:r>
              <a:rPr lang="en-US" sz="2800" dirty="0">
                <a:latin typeface="+mj-lt"/>
              </a:rPr>
              <a:t>0 AND 1 = 0</a:t>
            </a:r>
          </a:p>
          <a:p>
            <a:pPr rtl="0">
              <a:lnSpc>
                <a:spcPct val="150000"/>
              </a:lnSpc>
              <a:buNone/>
            </a:pPr>
            <a:r>
              <a:rPr lang="en-US" sz="2800" dirty="0">
                <a:latin typeface="+mj-lt"/>
              </a:rPr>
              <a:t>0 AND 0 = 0</a:t>
            </a:r>
          </a:p>
        </p:txBody>
      </p:sp>
    </p:spTree>
    <p:extLst>
      <p:ext uri="{BB962C8B-B14F-4D97-AF65-F5344CB8AC3E}">
        <p14:creationId xmlns:p14="http://schemas.microsoft.com/office/powerpoint/2010/main" val="23813293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4BACE-DD66-73FF-903A-92375DA771EA}"/>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05143CA2-3C02-2793-5251-6B399844121D}"/>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Simple /24 Example</a:t>
            </a:r>
            <a:endParaRPr dirty="0">
              <a:solidFill>
                <a:schemeClr val="tx1"/>
              </a:solidFill>
            </a:endParaRPr>
          </a:p>
        </p:txBody>
      </p:sp>
      <p:sp>
        <p:nvSpPr>
          <p:cNvPr id="15" name="object 15">
            <a:extLst>
              <a:ext uri="{FF2B5EF4-FFF2-40B4-BE49-F238E27FC236}">
                <a16:creationId xmlns:a16="http://schemas.microsoft.com/office/drawing/2014/main" id="{B0D7DCB3-FD9C-3F8A-1DED-0825ED4183DB}"/>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0C2733A4-1FD7-1CD1-55B1-5EDFE78113C9}"/>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6" name="TextBox 5">
            <a:extLst>
              <a:ext uri="{FF2B5EF4-FFF2-40B4-BE49-F238E27FC236}">
                <a16:creationId xmlns:a16="http://schemas.microsoft.com/office/drawing/2014/main" id="{B1CFE6C7-6354-CAAE-921A-D951ADA31A78}"/>
              </a:ext>
            </a:extLst>
          </p:cNvPr>
          <p:cNvSpPr txBox="1"/>
          <p:nvPr/>
        </p:nvSpPr>
        <p:spPr>
          <a:xfrm>
            <a:off x="457200" y="990600"/>
            <a:ext cx="6400800" cy="5196166"/>
          </a:xfrm>
          <a:prstGeom prst="rect">
            <a:avLst/>
          </a:prstGeom>
          <a:noFill/>
        </p:spPr>
        <p:txBody>
          <a:bodyPr wrap="square">
            <a:spAutoFit/>
          </a:bodyPr>
          <a:lstStyle/>
          <a:p>
            <a:pPr>
              <a:lnSpc>
                <a:spcPct val="150000"/>
              </a:lnSpc>
              <a:buNone/>
            </a:pPr>
            <a:r>
              <a:rPr lang="en-US" sz="2800" dirty="0">
                <a:latin typeface="+mj-lt"/>
              </a:rPr>
              <a:t>IP:</a:t>
            </a:r>
          </a:p>
          <a:p>
            <a:pPr rtl="0">
              <a:lnSpc>
                <a:spcPct val="150000"/>
              </a:lnSpc>
              <a:buNone/>
            </a:pPr>
            <a:r>
              <a:rPr lang="en-US" sz="2800" dirty="0">
                <a:latin typeface="+mj-lt"/>
              </a:rPr>
              <a:t>192.168.10.10</a:t>
            </a:r>
          </a:p>
          <a:p>
            <a:pPr>
              <a:lnSpc>
                <a:spcPct val="150000"/>
              </a:lnSpc>
              <a:buNone/>
            </a:pPr>
            <a:r>
              <a:rPr lang="en-US" sz="2800" dirty="0">
                <a:latin typeface="+mj-lt"/>
              </a:rPr>
              <a:t>Mask:</a:t>
            </a:r>
          </a:p>
          <a:p>
            <a:pPr rtl="0">
              <a:lnSpc>
                <a:spcPct val="150000"/>
              </a:lnSpc>
              <a:buNone/>
            </a:pPr>
            <a:r>
              <a:rPr lang="en-US" sz="2800" dirty="0">
                <a:latin typeface="+mj-lt"/>
              </a:rPr>
              <a:t>255.255.255.0</a:t>
            </a:r>
          </a:p>
          <a:p>
            <a:pPr>
              <a:lnSpc>
                <a:spcPct val="150000"/>
              </a:lnSpc>
              <a:buNone/>
            </a:pPr>
            <a:r>
              <a:rPr lang="en-US" sz="2800" dirty="0">
                <a:latin typeface="+mj-lt"/>
              </a:rPr>
              <a:t>AND result:</a:t>
            </a:r>
          </a:p>
          <a:p>
            <a:pPr rtl="0">
              <a:lnSpc>
                <a:spcPct val="150000"/>
              </a:lnSpc>
              <a:buNone/>
            </a:pPr>
            <a:r>
              <a:rPr lang="en-US" sz="2800" dirty="0">
                <a:latin typeface="+mj-lt"/>
              </a:rPr>
              <a:t>192.168.10.0</a:t>
            </a:r>
          </a:p>
          <a:p>
            <a:pPr>
              <a:lnSpc>
                <a:spcPct val="150000"/>
              </a:lnSpc>
              <a:buNone/>
            </a:pPr>
            <a:r>
              <a:rPr lang="en-US" sz="2800" dirty="0">
                <a:latin typeface="+mj-lt"/>
              </a:rPr>
              <a:t>Therefore:</a:t>
            </a:r>
          </a:p>
          <a:p>
            <a:pPr rtl="0">
              <a:lnSpc>
                <a:spcPct val="150000"/>
              </a:lnSpc>
              <a:buNone/>
            </a:pPr>
            <a:r>
              <a:rPr lang="en-US" sz="2800" dirty="0">
                <a:latin typeface="+mj-lt"/>
              </a:rPr>
              <a:t>Network = 192.168.10.0</a:t>
            </a:r>
          </a:p>
        </p:txBody>
      </p:sp>
    </p:spTree>
    <p:extLst>
      <p:ext uri="{BB962C8B-B14F-4D97-AF65-F5344CB8AC3E}">
        <p14:creationId xmlns:p14="http://schemas.microsoft.com/office/powerpoint/2010/main" val="40542679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C062A-696D-B9CE-A6C4-D3258BEC14F8}"/>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F7F8EB77-4E1E-097D-C283-A97886771E9E}"/>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Shortcut When Mask Contains 255 and 0</a:t>
            </a:r>
            <a:endParaRPr dirty="0">
              <a:solidFill>
                <a:schemeClr val="tx1"/>
              </a:solidFill>
            </a:endParaRPr>
          </a:p>
        </p:txBody>
      </p:sp>
      <p:sp>
        <p:nvSpPr>
          <p:cNvPr id="15" name="object 15">
            <a:extLst>
              <a:ext uri="{FF2B5EF4-FFF2-40B4-BE49-F238E27FC236}">
                <a16:creationId xmlns:a16="http://schemas.microsoft.com/office/drawing/2014/main" id="{EB6D3C45-34F9-D534-AF92-1F25F8EC3299}"/>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C512DE32-E6EA-CAC8-25B8-479327BBBCD2}"/>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5" name="TextBox 4">
            <a:extLst>
              <a:ext uri="{FF2B5EF4-FFF2-40B4-BE49-F238E27FC236}">
                <a16:creationId xmlns:a16="http://schemas.microsoft.com/office/drawing/2014/main" id="{B9EDB707-5332-9989-6EDA-7A5CE906289E}"/>
              </a:ext>
            </a:extLst>
          </p:cNvPr>
          <p:cNvSpPr txBox="1"/>
          <p:nvPr/>
        </p:nvSpPr>
        <p:spPr>
          <a:xfrm>
            <a:off x="533400" y="685801"/>
            <a:ext cx="8077200" cy="5196166"/>
          </a:xfrm>
          <a:prstGeom prst="rect">
            <a:avLst/>
          </a:prstGeom>
          <a:noFill/>
        </p:spPr>
        <p:txBody>
          <a:bodyPr wrap="square">
            <a:spAutoFit/>
          </a:bodyPr>
          <a:lstStyle/>
          <a:p>
            <a:pPr>
              <a:lnSpc>
                <a:spcPct val="150000"/>
              </a:lnSpc>
              <a:buNone/>
            </a:pPr>
            <a:r>
              <a:rPr lang="en-US" sz="2800" dirty="0">
                <a:latin typeface="+mj-lt"/>
              </a:rPr>
              <a:t>If a mask octet is: 255</a:t>
            </a:r>
          </a:p>
          <a:p>
            <a:pPr>
              <a:lnSpc>
                <a:spcPct val="150000"/>
              </a:lnSpc>
              <a:buNone/>
            </a:pPr>
            <a:r>
              <a:rPr lang="en-US" sz="2800" dirty="0">
                <a:latin typeface="+mj-lt"/>
              </a:rPr>
              <a:t>the network result keeps the IP octet.</a:t>
            </a:r>
          </a:p>
          <a:p>
            <a:pPr>
              <a:lnSpc>
                <a:spcPct val="150000"/>
              </a:lnSpc>
              <a:buNone/>
            </a:pPr>
            <a:r>
              <a:rPr lang="en-US" sz="2800" dirty="0">
                <a:latin typeface="+mj-lt"/>
              </a:rPr>
              <a:t>If the mask octet is: 0</a:t>
            </a:r>
          </a:p>
          <a:p>
            <a:pPr>
              <a:lnSpc>
                <a:spcPct val="150000"/>
              </a:lnSpc>
              <a:buNone/>
            </a:pPr>
            <a:r>
              <a:rPr lang="en-US" sz="2800" dirty="0">
                <a:latin typeface="+mj-lt"/>
              </a:rPr>
              <a:t>the result becomes zero.</a:t>
            </a:r>
          </a:p>
          <a:p>
            <a:pPr>
              <a:lnSpc>
                <a:spcPct val="150000"/>
              </a:lnSpc>
              <a:buNone/>
            </a:pPr>
            <a:r>
              <a:rPr lang="en-US" sz="2800" dirty="0">
                <a:latin typeface="+mj-lt"/>
              </a:rPr>
              <a:t>Example:</a:t>
            </a:r>
          </a:p>
          <a:p>
            <a:pPr rtl="0">
              <a:lnSpc>
                <a:spcPct val="150000"/>
              </a:lnSpc>
              <a:buNone/>
            </a:pPr>
            <a:r>
              <a:rPr lang="en-US" sz="2800" dirty="0">
                <a:latin typeface="+mj-lt"/>
              </a:rPr>
              <a:t>IP:    192.168.10.25</a:t>
            </a:r>
          </a:p>
          <a:p>
            <a:pPr rtl="0">
              <a:lnSpc>
                <a:spcPct val="150000"/>
              </a:lnSpc>
              <a:buNone/>
            </a:pPr>
            <a:r>
              <a:rPr lang="en-US" sz="2800" dirty="0">
                <a:latin typeface="+mj-lt"/>
              </a:rPr>
              <a:t>Mask:  255.255.255.0</a:t>
            </a:r>
          </a:p>
          <a:p>
            <a:pPr>
              <a:lnSpc>
                <a:spcPct val="150000"/>
              </a:lnSpc>
              <a:buNone/>
            </a:pPr>
            <a:r>
              <a:rPr lang="en-US" sz="2800" dirty="0">
                <a:latin typeface="+mj-lt"/>
              </a:rPr>
              <a:t>Result: 192.168.10.0</a:t>
            </a:r>
          </a:p>
        </p:txBody>
      </p:sp>
    </p:spTree>
    <p:extLst>
      <p:ext uri="{BB962C8B-B14F-4D97-AF65-F5344CB8AC3E}">
        <p14:creationId xmlns:p14="http://schemas.microsoft.com/office/powerpoint/2010/main" val="35654529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8A2D2-4CE0-8B0F-8A52-406AAFBB7D5E}"/>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2277DFB2-296A-7BDB-3D32-AB9CFB40465B}"/>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The Interesting Octet</a:t>
            </a:r>
            <a:endParaRPr dirty="0">
              <a:solidFill>
                <a:schemeClr val="tx1"/>
              </a:solidFill>
            </a:endParaRPr>
          </a:p>
        </p:txBody>
      </p:sp>
      <p:sp>
        <p:nvSpPr>
          <p:cNvPr id="15" name="object 15">
            <a:extLst>
              <a:ext uri="{FF2B5EF4-FFF2-40B4-BE49-F238E27FC236}">
                <a16:creationId xmlns:a16="http://schemas.microsoft.com/office/drawing/2014/main" id="{CC7B1CC9-47EF-E043-D595-A0E633421BA3}"/>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EA18E194-39CA-F6B0-A319-5C56B339931C}"/>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5A806191-E2F1-FC4A-C2E8-9E4190A72810}"/>
              </a:ext>
            </a:extLst>
          </p:cNvPr>
          <p:cNvSpPr txBox="1"/>
          <p:nvPr/>
        </p:nvSpPr>
        <p:spPr>
          <a:xfrm>
            <a:off x="381000" y="990600"/>
            <a:ext cx="8382000" cy="4549835"/>
          </a:xfrm>
          <a:prstGeom prst="rect">
            <a:avLst/>
          </a:prstGeom>
          <a:noFill/>
        </p:spPr>
        <p:txBody>
          <a:bodyPr wrap="square">
            <a:spAutoFit/>
          </a:bodyPr>
          <a:lstStyle/>
          <a:p>
            <a:pPr>
              <a:lnSpc>
                <a:spcPct val="150000"/>
              </a:lnSpc>
              <a:buNone/>
            </a:pPr>
            <a:r>
              <a:rPr lang="en-US" sz="2800" dirty="0">
                <a:latin typeface="+mj-lt"/>
              </a:rPr>
              <a:t>You normally need detailed binary work only where the mask is neither: 255</a:t>
            </a:r>
          </a:p>
          <a:p>
            <a:pPr>
              <a:lnSpc>
                <a:spcPct val="150000"/>
              </a:lnSpc>
              <a:buNone/>
            </a:pPr>
            <a:r>
              <a:rPr lang="en-US" sz="2800" dirty="0">
                <a:latin typeface="+mj-lt"/>
              </a:rPr>
              <a:t>nor: 0</a:t>
            </a:r>
          </a:p>
          <a:p>
            <a:pPr>
              <a:lnSpc>
                <a:spcPct val="150000"/>
              </a:lnSpc>
              <a:buNone/>
            </a:pPr>
            <a:r>
              <a:rPr lang="en-US" sz="2800" dirty="0">
                <a:latin typeface="+mj-lt"/>
              </a:rPr>
              <a:t>Example:</a:t>
            </a:r>
          </a:p>
          <a:p>
            <a:pPr rtl="0">
              <a:lnSpc>
                <a:spcPct val="150000"/>
              </a:lnSpc>
              <a:buNone/>
            </a:pPr>
            <a:r>
              <a:rPr lang="en-US" sz="2800" dirty="0">
                <a:latin typeface="+mj-lt"/>
              </a:rPr>
              <a:t>IP:    172.30.239.145</a:t>
            </a:r>
          </a:p>
          <a:p>
            <a:pPr rtl="0">
              <a:lnSpc>
                <a:spcPct val="150000"/>
              </a:lnSpc>
              <a:buNone/>
            </a:pPr>
            <a:r>
              <a:rPr lang="en-US" sz="2800" dirty="0">
                <a:latin typeface="+mj-lt"/>
              </a:rPr>
              <a:t>Mask:  255.255.192.0</a:t>
            </a:r>
          </a:p>
          <a:p>
            <a:pPr>
              <a:lnSpc>
                <a:spcPct val="150000"/>
              </a:lnSpc>
              <a:buNone/>
            </a:pPr>
            <a:r>
              <a:rPr lang="en-US" sz="2800" dirty="0">
                <a:latin typeface="+mj-lt"/>
              </a:rPr>
              <a:t>Only the third octet needs detailed calculation.</a:t>
            </a:r>
          </a:p>
        </p:txBody>
      </p:sp>
    </p:spTree>
    <p:extLst>
      <p:ext uri="{BB962C8B-B14F-4D97-AF65-F5344CB8AC3E}">
        <p14:creationId xmlns:p14="http://schemas.microsoft.com/office/powerpoint/2010/main" val="36373257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B5F9B-F135-3FD1-FA5C-A990ED8847E8}"/>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B5756106-9AE2-FEEE-5D5F-7370275923AB}"/>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Convert the Third Octet to Binary</a:t>
            </a:r>
            <a:endParaRPr dirty="0">
              <a:solidFill>
                <a:schemeClr val="tx1"/>
              </a:solidFill>
            </a:endParaRPr>
          </a:p>
        </p:txBody>
      </p:sp>
      <p:sp>
        <p:nvSpPr>
          <p:cNvPr id="15" name="object 15">
            <a:extLst>
              <a:ext uri="{FF2B5EF4-FFF2-40B4-BE49-F238E27FC236}">
                <a16:creationId xmlns:a16="http://schemas.microsoft.com/office/drawing/2014/main" id="{35B51D84-9C5C-8A54-6B15-4C4B9E7E394E}"/>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8D8852F6-9FB9-A7FF-468C-BC65BDFBC75B}"/>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122A84E1-065D-6D69-C190-79BEFFA43678}"/>
              </a:ext>
            </a:extLst>
          </p:cNvPr>
          <p:cNvSpPr txBox="1"/>
          <p:nvPr/>
        </p:nvSpPr>
        <p:spPr>
          <a:xfrm>
            <a:off x="381000" y="1219200"/>
            <a:ext cx="8382000" cy="5196166"/>
          </a:xfrm>
          <a:prstGeom prst="rect">
            <a:avLst/>
          </a:prstGeom>
          <a:noFill/>
        </p:spPr>
        <p:txBody>
          <a:bodyPr wrap="square">
            <a:spAutoFit/>
          </a:bodyPr>
          <a:lstStyle/>
          <a:p>
            <a:pPr>
              <a:lnSpc>
                <a:spcPct val="150000"/>
              </a:lnSpc>
              <a:buNone/>
            </a:pPr>
            <a:r>
              <a:rPr lang="en-US" sz="2800" dirty="0">
                <a:latin typeface="+mj-lt"/>
              </a:rPr>
              <a:t>IP third octet:</a:t>
            </a:r>
          </a:p>
          <a:p>
            <a:pPr rtl="0">
              <a:lnSpc>
                <a:spcPct val="150000"/>
              </a:lnSpc>
              <a:buNone/>
            </a:pPr>
            <a:r>
              <a:rPr lang="en-US" sz="2800" dirty="0">
                <a:latin typeface="+mj-lt"/>
              </a:rPr>
              <a:t>239</a:t>
            </a:r>
          </a:p>
          <a:p>
            <a:pPr>
              <a:lnSpc>
                <a:spcPct val="150000"/>
              </a:lnSpc>
              <a:buNone/>
            </a:pPr>
            <a:r>
              <a:rPr lang="en-US" sz="2800" dirty="0">
                <a:latin typeface="+mj-lt"/>
              </a:rPr>
              <a:t>Binary:</a:t>
            </a:r>
          </a:p>
          <a:p>
            <a:pPr rtl="0">
              <a:lnSpc>
                <a:spcPct val="150000"/>
              </a:lnSpc>
              <a:buNone/>
            </a:pPr>
            <a:r>
              <a:rPr lang="en-US" sz="2800" dirty="0">
                <a:latin typeface="+mj-lt"/>
              </a:rPr>
              <a:t>11101111</a:t>
            </a:r>
          </a:p>
          <a:p>
            <a:pPr>
              <a:lnSpc>
                <a:spcPct val="150000"/>
              </a:lnSpc>
              <a:buNone/>
            </a:pPr>
            <a:r>
              <a:rPr lang="en-US" sz="2800" dirty="0">
                <a:latin typeface="+mj-lt"/>
              </a:rPr>
              <a:t>Mask third octet:</a:t>
            </a:r>
          </a:p>
          <a:p>
            <a:pPr rtl="0">
              <a:lnSpc>
                <a:spcPct val="150000"/>
              </a:lnSpc>
              <a:buNone/>
            </a:pPr>
            <a:r>
              <a:rPr lang="en-US" sz="2800" dirty="0">
                <a:latin typeface="+mj-lt"/>
              </a:rPr>
              <a:t>192</a:t>
            </a:r>
          </a:p>
          <a:p>
            <a:pPr>
              <a:lnSpc>
                <a:spcPct val="150000"/>
              </a:lnSpc>
              <a:buNone/>
            </a:pPr>
            <a:r>
              <a:rPr lang="en-US" sz="2800" dirty="0">
                <a:latin typeface="+mj-lt"/>
              </a:rPr>
              <a:t>Binary:</a:t>
            </a:r>
          </a:p>
          <a:p>
            <a:pPr rtl="0">
              <a:lnSpc>
                <a:spcPct val="150000"/>
              </a:lnSpc>
              <a:buNone/>
            </a:pPr>
            <a:r>
              <a:rPr lang="en-US" sz="2800" dirty="0">
                <a:latin typeface="+mj-lt"/>
              </a:rPr>
              <a:t>11000000</a:t>
            </a:r>
          </a:p>
        </p:txBody>
      </p:sp>
    </p:spTree>
    <p:extLst>
      <p:ext uri="{BB962C8B-B14F-4D97-AF65-F5344CB8AC3E}">
        <p14:creationId xmlns:p14="http://schemas.microsoft.com/office/powerpoint/2010/main" val="701717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65BF6-BEC3-F633-5F51-DCEF59EC98FD}"/>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1AF9E64A-A7D6-3419-BA96-016660F428E6}"/>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Perform AND</a:t>
            </a:r>
            <a:endParaRPr dirty="0">
              <a:solidFill>
                <a:schemeClr val="tx1"/>
              </a:solidFill>
            </a:endParaRPr>
          </a:p>
        </p:txBody>
      </p:sp>
      <p:sp>
        <p:nvSpPr>
          <p:cNvPr id="15" name="object 15">
            <a:extLst>
              <a:ext uri="{FF2B5EF4-FFF2-40B4-BE49-F238E27FC236}">
                <a16:creationId xmlns:a16="http://schemas.microsoft.com/office/drawing/2014/main" id="{7C59907D-60B6-9409-C4E1-77DBB1FA56FB}"/>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327F4F84-F674-C374-CF1D-552F1948CE22}"/>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pic>
        <p:nvPicPr>
          <p:cNvPr id="3" name="Picture 2">
            <a:extLst>
              <a:ext uri="{FF2B5EF4-FFF2-40B4-BE49-F238E27FC236}">
                <a16:creationId xmlns:a16="http://schemas.microsoft.com/office/drawing/2014/main" id="{49C5FF26-276D-B93B-2AF4-49130C06E3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 y="958433"/>
            <a:ext cx="8763000" cy="5842000"/>
          </a:xfrm>
          <a:prstGeom prst="rect">
            <a:avLst/>
          </a:prstGeom>
        </p:spPr>
      </p:pic>
    </p:spTree>
    <p:extLst>
      <p:ext uri="{BB962C8B-B14F-4D97-AF65-F5344CB8AC3E}">
        <p14:creationId xmlns:p14="http://schemas.microsoft.com/office/powerpoint/2010/main" val="10673600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167C1-35D6-4682-E7F0-88C6F41DF0AA}"/>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7DE924D6-0F88-CB7D-4448-B30378840717}"/>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Complete Network Address</a:t>
            </a:r>
            <a:endParaRPr dirty="0">
              <a:solidFill>
                <a:schemeClr val="tx1"/>
              </a:solidFill>
            </a:endParaRPr>
          </a:p>
        </p:txBody>
      </p:sp>
      <p:sp>
        <p:nvSpPr>
          <p:cNvPr id="15" name="object 15">
            <a:extLst>
              <a:ext uri="{FF2B5EF4-FFF2-40B4-BE49-F238E27FC236}">
                <a16:creationId xmlns:a16="http://schemas.microsoft.com/office/drawing/2014/main" id="{8AD1AF89-93A2-3703-AB28-7A9B055A838E}"/>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E254D5C8-0FB2-11ED-6CC8-D9CDBCB52838}"/>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DBAE6738-1FE8-466C-21A0-892F1B9CEAC1}"/>
              </a:ext>
            </a:extLst>
          </p:cNvPr>
          <p:cNvSpPr txBox="1"/>
          <p:nvPr/>
        </p:nvSpPr>
        <p:spPr>
          <a:xfrm>
            <a:off x="263142" y="838201"/>
            <a:ext cx="8617716" cy="5842497"/>
          </a:xfrm>
          <a:prstGeom prst="rect">
            <a:avLst/>
          </a:prstGeom>
          <a:noFill/>
        </p:spPr>
        <p:txBody>
          <a:bodyPr wrap="square">
            <a:spAutoFit/>
          </a:bodyPr>
          <a:lstStyle/>
          <a:p>
            <a:pPr>
              <a:lnSpc>
                <a:spcPct val="150000"/>
              </a:lnSpc>
              <a:buNone/>
            </a:pPr>
            <a:r>
              <a:rPr lang="en-US" sz="2800" dirty="0">
                <a:latin typeface="+mj-lt"/>
              </a:rPr>
              <a:t>Therefore:</a:t>
            </a:r>
          </a:p>
          <a:p>
            <a:pPr rtl="0">
              <a:lnSpc>
                <a:spcPct val="150000"/>
              </a:lnSpc>
              <a:buNone/>
            </a:pPr>
            <a:r>
              <a:rPr lang="en-US" sz="2800" dirty="0">
                <a:latin typeface="+mj-lt"/>
              </a:rPr>
              <a:t>IP:       172.30.239.145</a:t>
            </a:r>
          </a:p>
          <a:p>
            <a:pPr rtl="0">
              <a:lnSpc>
                <a:spcPct val="150000"/>
              </a:lnSpc>
              <a:buNone/>
            </a:pPr>
            <a:r>
              <a:rPr lang="en-US" sz="2800" dirty="0">
                <a:latin typeface="+mj-lt"/>
              </a:rPr>
              <a:t>Mask:     255.255.192.0</a:t>
            </a:r>
          </a:p>
          <a:p>
            <a:pPr rtl="0">
              <a:lnSpc>
                <a:spcPct val="150000"/>
              </a:lnSpc>
              <a:buNone/>
            </a:pPr>
            <a:r>
              <a:rPr lang="en-US" sz="2800" dirty="0">
                <a:latin typeface="+mj-lt"/>
              </a:rPr>
              <a:t>Network:  172.30.192.0</a:t>
            </a:r>
          </a:p>
          <a:p>
            <a:pPr>
              <a:lnSpc>
                <a:spcPct val="150000"/>
              </a:lnSpc>
              <a:buNone/>
            </a:pPr>
            <a:r>
              <a:rPr lang="en-US" sz="2800" dirty="0">
                <a:latin typeface="+mj-lt"/>
              </a:rPr>
              <a:t>Because:</a:t>
            </a:r>
          </a:p>
          <a:p>
            <a:pPr rtl="0">
              <a:lnSpc>
                <a:spcPct val="150000"/>
              </a:lnSpc>
              <a:buNone/>
            </a:pPr>
            <a:r>
              <a:rPr lang="en-US" sz="2800" dirty="0">
                <a:latin typeface="+mj-lt"/>
              </a:rPr>
              <a:t>172 stays</a:t>
            </a:r>
          </a:p>
          <a:p>
            <a:pPr rtl="0">
              <a:lnSpc>
                <a:spcPct val="150000"/>
              </a:lnSpc>
              <a:buNone/>
            </a:pPr>
            <a:r>
              <a:rPr lang="en-US" sz="2800" dirty="0">
                <a:latin typeface="+mj-lt"/>
              </a:rPr>
              <a:t>30 stays</a:t>
            </a:r>
          </a:p>
          <a:p>
            <a:pPr rtl="0">
              <a:lnSpc>
                <a:spcPct val="150000"/>
              </a:lnSpc>
              <a:buNone/>
            </a:pPr>
            <a:r>
              <a:rPr lang="en-US" sz="2800" dirty="0">
                <a:latin typeface="+mj-lt"/>
              </a:rPr>
              <a:t>239 AND 192 = 192</a:t>
            </a:r>
          </a:p>
          <a:p>
            <a:pPr rtl="0">
              <a:lnSpc>
                <a:spcPct val="150000"/>
              </a:lnSpc>
              <a:buNone/>
            </a:pPr>
            <a:r>
              <a:rPr lang="en-US" sz="2800" dirty="0">
                <a:latin typeface="+mj-lt"/>
              </a:rPr>
              <a:t>fourth octet becomes 0</a:t>
            </a:r>
          </a:p>
        </p:txBody>
      </p:sp>
    </p:spTree>
    <p:extLst>
      <p:ext uri="{BB962C8B-B14F-4D97-AF65-F5344CB8AC3E}">
        <p14:creationId xmlns:p14="http://schemas.microsoft.com/office/powerpoint/2010/main" val="14481070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60E99-FFC4-E8B4-495B-13E9229FEE9F}"/>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D71FFA7D-FED9-4254-2383-7271DBB214D2}"/>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Australian Example: Enterprise Network</a:t>
            </a:r>
            <a:endParaRPr dirty="0">
              <a:solidFill>
                <a:schemeClr val="tx1"/>
              </a:solidFill>
            </a:endParaRPr>
          </a:p>
        </p:txBody>
      </p:sp>
      <p:sp>
        <p:nvSpPr>
          <p:cNvPr id="15" name="object 15">
            <a:extLst>
              <a:ext uri="{FF2B5EF4-FFF2-40B4-BE49-F238E27FC236}">
                <a16:creationId xmlns:a16="http://schemas.microsoft.com/office/drawing/2014/main" id="{B1708E16-E2BA-4C17-D13E-A20972C87F59}"/>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88D19491-447E-0F97-4BFE-3EBAF4C0C987}"/>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pic>
        <p:nvPicPr>
          <p:cNvPr id="4" name="Picture 3">
            <a:extLst>
              <a:ext uri="{FF2B5EF4-FFF2-40B4-BE49-F238E27FC236}">
                <a16:creationId xmlns:a16="http://schemas.microsoft.com/office/drawing/2014/main" id="{C8FEC599-57EE-D9AB-FE04-61734C2EC7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 y="1105310"/>
            <a:ext cx="8610600" cy="5740400"/>
          </a:xfrm>
          <a:prstGeom prst="rect">
            <a:avLst/>
          </a:prstGeom>
        </p:spPr>
      </p:pic>
    </p:spTree>
    <p:extLst>
      <p:ext uri="{BB962C8B-B14F-4D97-AF65-F5344CB8AC3E}">
        <p14:creationId xmlns:p14="http://schemas.microsoft.com/office/powerpoint/2010/main" val="38769798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5B089-54B7-73FA-65F9-C2C0F8574F17}"/>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84B5C5AE-A539-8B9B-9230-641CB0DCF58A}"/>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Discussion Question</a:t>
            </a:r>
            <a:endParaRPr dirty="0">
              <a:solidFill>
                <a:schemeClr val="tx1"/>
              </a:solidFill>
            </a:endParaRPr>
          </a:p>
        </p:txBody>
      </p:sp>
      <p:sp>
        <p:nvSpPr>
          <p:cNvPr id="15" name="object 15">
            <a:extLst>
              <a:ext uri="{FF2B5EF4-FFF2-40B4-BE49-F238E27FC236}">
                <a16:creationId xmlns:a16="http://schemas.microsoft.com/office/drawing/2014/main" id="{5003283F-906E-9CB1-B2CF-D2D5A17BCA82}"/>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EA931CC3-8D11-0958-46D9-8047FF60F9F4}"/>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3DF41145-6F71-0F22-0B92-1539E5193EAA}"/>
              </a:ext>
            </a:extLst>
          </p:cNvPr>
          <p:cNvSpPr txBox="1"/>
          <p:nvPr/>
        </p:nvSpPr>
        <p:spPr>
          <a:xfrm>
            <a:off x="526284" y="658268"/>
            <a:ext cx="8617716" cy="6031908"/>
          </a:xfrm>
          <a:prstGeom prst="rect">
            <a:avLst/>
          </a:prstGeom>
          <a:noFill/>
        </p:spPr>
        <p:txBody>
          <a:bodyPr wrap="square">
            <a:spAutoFit/>
          </a:bodyPr>
          <a:lstStyle/>
          <a:p>
            <a:pPr>
              <a:lnSpc>
                <a:spcPct val="150000"/>
              </a:lnSpc>
              <a:buNone/>
            </a:pPr>
            <a:r>
              <a:rPr lang="en-US" sz="2600" dirty="0">
                <a:latin typeface="+mj-lt"/>
              </a:rPr>
              <a:t>Why can't we identify the network from:</a:t>
            </a:r>
          </a:p>
          <a:p>
            <a:pPr rtl="0">
              <a:lnSpc>
                <a:spcPct val="150000"/>
              </a:lnSpc>
              <a:buNone/>
            </a:pPr>
            <a:r>
              <a:rPr lang="en-US" sz="2600" dirty="0">
                <a:latin typeface="+mj-lt"/>
              </a:rPr>
              <a:t>172.30.239.145</a:t>
            </a:r>
          </a:p>
          <a:p>
            <a:pPr>
              <a:lnSpc>
                <a:spcPct val="150000"/>
              </a:lnSpc>
              <a:buNone/>
            </a:pPr>
            <a:r>
              <a:rPr lang="en-US" sz="2600" dirty="0">
                <a:latin typeface="+mj-lt"/>
              </a:rPr>
              <a:t>alone?</a:t>
            </a:r>
          </a:p>
          <a:p>
            <a:pPr>
              <a:lnSpc>
                <a:spcPct val="150000"/>
              </a:lnSpc>
              <a:buNone/>
            </a:pPr>
            <a:r>
              <a:rPr lang="en-US" sz="2600" b="1" dirty="0">
                <a:latin typeface="+mj-lt"/>
              </a:rPr>
              <a:t>Answer:</a:t>
            </a:r>
            <a:endParaRPr lang="en-US" sz="2600" dirty="0">
              <a:latin typeface="+mj-lt"/>
            </a:endParaRPr>
          </a:p>
          <a:p>
            <a:pPr>
              <a:lnSpc>
                <a:spcPct val="150000"/>
              </a:lnSpc>
              <a:buNone/>
            </a:pPr>
            <a:r>
              <a:rPr lang="en-US" sz="2600" dirty="0">
                <a:latin typeface="+mj-lt"/>
              </a:rPr>
              <a:t>Because we also need the subnet mask or prefix.</a:t>
            </a:r>
          </a:p>
          <a:p>
            <a:pPr>
              <a:lnSpc>
                <a:spcPct val="150000"/>
              </a:lnSpc>
              <a:buNone/>
            </a:pPr>
            <a:r>
              <a:rPr lang="en-US" sz="2600" dirty="0">
                <a:latin typeface="+mj-lt"/>
              </a:rPr>
              <a:t>For example:</a:t>
            </a:r>
          </a:p>
          <a:p>
            <a:pPr rtl="0">
              <a:lnSpc>
                <a:spcPct val="150000"/>
              </a:lnSpc>
              <a:buNone/>
            </a:pPr>
            <a:r>
              <a:rPr lang="en-US" sz="2600" dirty="0">
                <a:latin typeface="+mj-lt"/>
              </a:rPr>
              <a:t>172.30.239.145/16</a:t>
            </a:r>
          </a:p>
          <a:p>
            <a:pPr>
              <a:lnSpc>
                <a:spcPct val="150000"/>
              </a:lnSpc>
              <a:buNone/>
            </a:pPr>
            <a:r>
              <a:rPr lang="en-US" sz="2600" dirty="0">
                <a:latin typeface="+mj-lt"/>
              </a:rPr>
              <a:t>and:</a:t>
            </a:r>
          </a:p>
          <a:p>
            <a:pPr rtl="0">
              <a:lnSpc>
                <a:spcPct val="150000"/>
              </a:lnSpc>
              <a:buNone/>
            </a:pPr>
            <a:r>
              <a:rPr lang="en-US" sz="2600" dirty="0">
                <a:latin typeface="+mj-lt"/>
              </a:rPr>
              <a:t>172.30.239.145/18</a:t>
            </a:r>
          </a:p>
          <a:p>
            <a:pPr>
              <a:lnSpc>
                <a:spcPct val="150000"/>
              </a:lnSpc>
              <a:buNone/>
            </a:pPr>
            <a:r>
              <a:rPr lang="en-US" sz="2600" dirty="0">
                <a:latin typeface="+mj-lt"/>
              </a:rPr>
              <a:t>belong to different subnet definitions.</a:t>
            </a:r>
          </a:p>
        </p:txBody>
      </p:sp>
    </p:spTree>
    <p:extLst>
      <p:ext uri="{BB962C8B-B14F-4D97-AF65-F5344CB8AC3E}">
        <p14:creationId xmlns:p14="http://schemas.microsoft.com/office/powerpoint/2010/main" val="2725637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1000"/>
                                        <p:tgtEl>
                                          <p:spTgt spid="3">
                                            <p:txEl>
                                              <p:pRg st="6" end="6"/>
                                            </p:txEl>
                                          </p:spTgt>
                                        </p:tgtEl>
                                      </p:cBhvr>
                                    </p:animEffect>
                                    <p:anim calcmode="lin" valueType="num">
                                      <p:cBhvr>
                                        <p:cTn id="2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1000"/>
                                        <p:tgtEl>
                                          <p:spTgt spid="3">
                                            <p:txEl>
                                              <p:pRg st="7" end="7"/>
                                            </p:txEl>
                                          </p:spTgt>
                                        </p:tgtEl>
                                      </p:cBhvr>
                                    </p:animEffect>
                                    <p:anim calcmode="lin" valueType="num">
                                      <p:cBhvr>
                                        <p:cTn id="2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1000"/>
                                        <p:tgtEl>
                                          <p:spTgt spid="3">
                                            <p:txEl>
                                              <p:pRg st="8" end="8"/>
                                            </p:txEl>
                                          </p:spTgt>
                                        </p:tgtEl>
                                      </p:cBhvr>
                                    </p:animEffect>
                                    <p:anim calcmode="lin" valueType="num">
                                      <p:cBhvr>
                                        <p:cTn id="3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1000"/>
                                        <p:tgtEl>
                                          <p:spTgt spid="3">
                                            <p:txEl>
                                              <p:pRg st="9" end="9"/>
                                            </p:txEl>
                                          </p:spTgt>
                                        </p:tgtEl>
                                      </p:cBhvr>
                                    </p:animEffect>
                                    <p:anim calcmode="lin" valueType="num">
                                      <p:cBhvr>
                                        <p:cTn id="3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8EFDE-23B3-1D9D-F7E5-D502B77D8AA0}"/>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BCFE3484-3751-FEEE-BC51-72C6B7B67A9E}"/>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Host Bits and Number of Hosts</a:t>
            </a:r>
            <a:endParaRPr dirty="0">
              <a:solidFill>
                <a:schemeClr val="tx1"/>
              </a:solidFill>
            </a:endParaRPr>
          </a:p>
        </p:txBody>
      </p:sp>
      <p:sp>
        <p:nvSpPr>
          <p:cNvPr id="15" name="object 15">
            <a:extLst>
              <a:ext uri="{FF2B5EF4-FFF2-40B4-BE49-F238E27FC236}">
                <a16:creationId xmlns:a16="http://schemas.microsoft.com/office/drawing/2014/main" id="{3D1276F4-19F4-A86A-657E-562F07DBD6C2}"/>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76150097-FC51-BBFA-49C4-07EDA678E792}"/>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CCBF3989-207D-184E-F35E-D21443B9BEE6}"/>
              </a:ext>
            </a:extLst>
          </p:cNvPr>
          <p:cNvSpPr txBox="1"/>
          <p:nvPr/>
        </p:nvSpPr>
        <p:spPr>
          <a:xfrm>
            <a:off x="263142" y="685801"/>
            <a:ext cx="8617716" cy="5842497"/>
          </a:xfrm>
          <a:prstGeom prst="rect">
            <a:avLst/>
          </a:prstGeom>
          <a:noFill/>
        </p:spPr>
        <p:txBody>
          <a:bodyPr wrap="square">
            <a:spAutoFit/>
          </a:bodyPr>
          <a:lstStyle/>
          <a:p>
            <a:pPr>
              <a:lnSpc>
                <a:spcPct val="150000"/>
              </a:lnSpc>
              <a:buNone/>
            </a:pPr>
            <a:r>
              <a:rPr lang="en-US" sz="2800" b="1" dirty="0">
                <a:latin typeface="+mj-lt"/>
              </a:rPr>
              <a:t>/18 Example</a:t>
            </a:r>
          </a:p>
          <a:p>
            <a:pPr>
              <a:lnSpc>
                <a:spcPct val="150000"/>
              </a:lnSpc>
              <a:buNone/>
            </a:pPr>
            <a:r>
              <a:rPr lang="en-US" sz="2800" dirty="0">
                <a:latin typeface="+mj-lt"/>
              </a:rPr>
              <a:t>Mask:</a:t>
            </a:r>
          </a:p>
          <a:p>
            <a:pPr rtl="0">
              <a:lnSpc>
                <a:spcPct val="150000"/>
              </a:lnSpc>
              <a:buNone/>
            </a:pPr>
            <a:r>
              <a:rPr lang="en-US" sz="2800" dirty="0">
                <a:latin typeface="+mj-lt"/>
              </a:rPr>
              <a:t>255.255.192.0</a:t>
            </a:r>
          </a:p>
          <a:p>
            <a:pPr>
              <a:lnSpc>
                <a:spcPct val="150000"/>
              </a:lnSpc>
              <a:buNone/>
            </a:pPr>
            <a:r>
              <a:rPr lang="en-US" sz="2800" dirty="0">
                <a:latin typeface="+mj-lt"/>
              </a:rPr>
              <a:t>Prefix:</a:t>
            </a:r>
          </a:p>
          <a:p>
            <a:pPr rtl="0">
              <a:lnSpc>
                <a:spcPct val="150000"/>
              </a:lnSpc>
              <a:buNone/>
            </a:pPr>
            <a:r>
              <a:rPr lang="en-US" sz="2800" dirty="0">
                <a:latin typeface="+mj-lt"/>
              </a:rPr>
              <a:t>/18</a:t>
            </a:r>
          </a:p>
          <a:p>
            <a:pPr>
              <a:lnSpc>
                <a:spcPct val="150000"/>
              </a:lnSpc>
              <a:buNone/>
            </a:pPr>
            <a:r>
              <a:rPr lang="en-US" sz="2800" dirty="0">
                <a:latin typeface="+mj-lt"/>
              </a:rPr>
              <a:t>IPv4 has:</a:t>
            </a:r>
          </a:p>
          <a:p>
            <a:pPr rtl="0">
              <a:lnSpc>
                <a:spcPct val="150000"/>
              </a:lnSpc>
              <a:buNone/>
            </a:pPr>
            <a:r>
              <a:rPr lang="en-US" sz="2800" dirty="0">
                <a:latin typeface="+mj-lt"/>
              </a:rPr>
              <a:t>32 bits</a:t>
            </a:r>
          </a:p>
          <a:p>
            <a:pPr>
              <a:lnSpc>
                <a:spcPct val="150000"/>
              </a:lnSpc>
              <a:buNone/>
            </a:pPr>
            <a:r>
              <a:rPr lang="en-US" sz="2800" dirty="0">
                <a:latin typeface="+mj-lt"/>
              </a:rPr>
              <a:t>Host bits:</a:t>
            </a:r>
          </a:p>
          <a:p>
            <a:pPr rtl="0">
              <a:lnSpc>
                <a:spcPct val="150000"/>
              </a:lnSpc>
              <a:buNone/>
            </a:pPr>
            <a:r>
              <a:rPr lang="en-US" sz="2800" dirty="0">
                <a:latin typeface="+mj-lt"/>
              </a:rPr>
              <a:t>32 - 18 = 14</a:t>
            </a:r>
          </a:p>
        </p:txBody>
      </p:sp>
    </p:spTree>
    <p:extLst>
      <p:ext uri="{BB962C8B-B14F-4D97-AF65-F5344CB8AC3E}">
        <p14:creationId xmlns:p14="http://schemas.microsoft.com/office/powerpoint/2010/main" val="37399052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26DB7-0A2F-E877-8871-D2C50FC0D442}"/>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FF5A4DB3-9DD3-7D8D-DF45-F03BA2CD2560}"/>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Hosts in a /18</a:t>
            </a:r>
            <a:endParaRPr dirty="0">
              <a:solidFill>
                <a:schemeClr val="tx1"/>
              </a:solidFill>
            </a:endParaRPr>
          </a:p>
        </p:txBody>
      </p:sp>
      <p:sp>
        <p:nvSpPr>
          <p:cNvPr id="15" name="object 15">
            <a:extLst>
              <a:ext uri="{FF2B5EF4-FFF2-40B4-BE49-F238E27FC236}">
                <a16:creationId xmlns:a16="http://schemas.microsoft.com/office/drawing/2014/main" id="{3E23CECC-A0F9-AAEC-F481-CBF25BDE2727}"/>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854D288D-E118-407C-3F67-36E50437BA29}"/>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pic>
        <p:nvPicPr>
          <p:cNvPr id="3" name="Picture 2">
            <a:extLst>
              <a:ext uri="{FF2B5EF4-FFF2-40B4-BE49-F238E27FC236}">
                <a16:creationId xmlns:a16="http://schemas.microsoft.com/office/drawing/2014/main" id="{C9A4181F-6056-3B9A-DF26-1ABD5ABCF805}"/>
              </a:ext>
            </a:extLst>
          </p:cNvPr>
          <p:cNvPicPr>
            <a:picLocks noChangeAspect="1"/>
          </p:cNvPicPr>
          <p:nvPr/>
        </p:nvPicPr>
        <p:blipFill>
          <a:blip r:embed="rId2">
            <a:extLst>
              <a:ext uri="{28A0092B-C50C-407E-A947-70E740481C1C}">
                <a14:useLocalDpi xmlns:a14="http://schemas.microsoft.com/office/drawing/2010/main" val="0"/>
              </a:ext>
            </a:extLst>
          </a:blip>
          <a:srcRect b="2661"/>
          <a:stretch>
            <a:fillRect/>
          </a:stretch>
        </p:blipFill>
        <p:spPr>
          <a:xfrm>
            <a:off x="131571" y="1032508"/>
            <a:ext cx="8880858" cy="5763009"/>
          </a:xfrm>
          <a:prstGeom prst="rect">
            <a:avLst/>
          </a:prstGeom>
        </p:spPr>
      </p:pic>
    </p:spTree>
    <p:extLst>
      <p:ext uri="{BB962C8B-B14F-4D97-AF65-F5344CB8AC3E}">
        <p14:creationId xmlns:p14="http://schemas.microsoft.com/office/powerpoint/2010/main" val="31062265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EE5C2-808F-A9A4-0D6C-A8C2F23737E8}"/>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0EDC8421-C371-1574-D455-E744DEA2316C}"/>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Quick Prefix Table</a:t>
            </a:r>
            <a:endParaRPr dirty="0">
              <a:solidFill>
                <a:schemeClr val="tx1"/>
              </a:solidFill>
            </a:endParaRPr>
          </a:p>
        </p:txBody>
      </p:sp>
      <p:sp>
        <p:nvSpPr>
          <p:cNvPr id="15" name="object 15">
            <a:extLst>
              <a:ext uri="{FF2B5EF4-FFF2-40B4-BE49-F238E27FC236}">
                <a16:creationId xmlns:a16="http://schemas.microsoft.com/office/drawing/2014/main" id="{6A360E21-AB7E-69B1-DEC4-9B5DAC2F8910}"/>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A4DDAEB6-BC05-E4FF-409F-615432FAFF63}"/>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5" name="TextBox 4">
            <a:extLst>
              <a:ext uri="{FF2B5EF4-FFF2-40B4-BE49-F238E27FC236}">
                <a16:creationId xmlns:a16="http://schemas.microsoft.com/office/drawing/2014/main" id="{CDD32AEF-5EDE-0FD9-708B-84DE7C6F2137}"/>
              </a:ext>
            </a:extLst>
          </p:cNvPr>
          <p:cNvSpPr txBox="1"/>
          <p:nvPr/>
        </p:nvSpPr>
        <p:spPr>
          <a:xfrm>
            <a:off x="263142" y="830917"/>
            <a:ext cx="8617716" cy="5196166"/>
          </a:xfrm>
          <a:prstGeom prst="rect">
            <a:avLst/>
          </a:prstGeom>
          <a:noFill/>
        </p:spPr>
        <p:txBody>
          <a:bodyPr wrap="square">
            <a:spAutoFit/>
          </a:bodyPr>
          <a:lstStyle/>
          <a:p>
            <a:pPr rtl="0">
              <a:lnSpc>
                <a:spcPct val="150000"/>
              </a:lnSpc>
              <a:buNone/>
            </a:pPr>
            <a:r>
              <a:rPr lang="en-US" sz="2800" dirty="0">
                <a:latin typeface="+mj-lt"/>
              </a:rPr>
              <a:t>/24 → 8 host bits  → 254 usable</a:t>
            </a:r>
          </a:p>
          <a:p>
            <a:pPr rtl="0">
              <a:lnSpc>
                <a:spcPct val="150000"/>
              </a:lnSpc>
              <a:buNone/>
            </a:pPr>
            <a:r>
              <a:rPr lang="en-US" sz="2800" dirty="0">
                <a:latin typeface="+mj-lt"/>
              </a:rPr>
              <a:t>/25 → 7 host bits  → 126 usable</a:t>
            </a:r>
          </a:p>
          <a:p>
            <a:pPr rtl="0">
              <a:lnSpc>
                <a:spcPct val="150000"/>
              </a:lnSpc>
              <a:buNone/>
            </a:pPr>
            <a:r>
              <a:rPr lang="en-US" sz="2800" dirty="0">
                <a:latin typeface="+mj-lt"/>
              </a:rPr>
              <a:t>/26 → 6 host bits  → 62 usable</a:t>
            </a:r>
          </a:p>
          <a:p>
            <a:pPr rtl="0">
              <a:lnSpc>
                <a:spcPct val="150000"/>
              </a:lnSpc>
              <a:buNone/>
            </a:pPr>
            <a:r>
              <a:rPr lang="en-US" sz="2800" dirty="0">
                <a:latin typeface="+mj-lt"/>
              </a:rPr>
              <a:t>/27 → 5 host bits  → 30 usable</a:t>
            </a:r>
          </a:p>
          <a:p>
            <a:pPr rtl="0">
              <a:lnSpc>
                <a:spcPct val="150000"/>
              </a:lnSpc>
              <a:buNone/>
            </a:pPr>
            <a:r>
              <a:rPr lang="en-US" sz="2800" dirty="0">
                <a:latin typeface="+mj-lt"/>
              </a:rPr>
              <a:t>/28 → 4 host bits  → 14 usable</a:t>
            </a:r>
          </a:p>
          <a:p>
            <a:pPr rtl="0">
              <a:lnSpc>
                <a:spcPct val="150000"/>
              </a:lnSpc>
              <a:buNone/>
            </a:pPr>
            <a:r>
              <a:rPr lang="en-US" sz="2800" dirty="0">
                <a:latin typeface="+mj-lt"/>
              </a:rPr>
              <a:t>/29 → 3 host bits  → 6 usable</a:t>
            </a:r>
          </a:p>
          <a:p>
            <a:pPr rtl="0">
              <a:lnSpc>
                <a:spcPct val="150000"/>
              </a:lnSpc>
              <a:buNone/>
            </a:pPr>
            <a:r>
              <a:rPr lang="en-US" sz="2800" dirty="0">
                <a:latin typeface="+mj-lt"/>
              </a:rPr>
              <a:t>/30 → 2 host bits  → 2 usable</a:t>
            </a:r>
          </a:p>
          <a:p>
            <a:pPr>
              <a:lnSpc>
                <a:spcPct val="150000"/>
              </a:lnSpc>
              <a:buNone/>
            </a:pPr>
            <a:r>
              <a:rPr lang="en-US" sz="2800" dirty="0">
                <a:latin typeface="+mj-lt"/>
              </a:rPr>
              <a:t>This is very useful for AT2.</a:t>
            </a:r>
          </a:p>
        </p:txBody>
      </p:sp>
    </p:spTree>
    <p:extLst>
      <p:ext uri="{BB962C8B-B14F-4D97-AF65-F5344CB8AC3E}">
        <p14:creationId xmlns:p14="http://schemas.microsoft.com/office/powerpoint/2010/main" val="5054543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CF8E5-5C7D-8192-7530-65AB09B6F3A3}"/>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ACAB5615-FA7B-5D4C-26C3-EB9C65371A9C}"/>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Class Challenge</a:t>
            </a:r>
            <a:endParaRPr dirty="0">
              <a:solidFill>
                <a:schemeClr val="tx1"/>
              </a:solidFill>
            </a:endParaRPr>
          </a:p>
        </p:txBody>
      </p:sp>
      <p:sp>
        <p:nvSpPr>
          <p:cNvPr id="15" name="object 15">
            <a:extLst>
              <a:ext uri="{FF2B5EF4-FFF2-40B4-BE49-F238E27FC236}">
                <a16:creationId xmlns:a16="http://schemas.microsoft.com/office/drawing/2014/main" id="{E3DA2E28-840E-E9B9-4696-87BA1B9304A0}"/>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DBC13E3E-2B55-365D-0108-3A735FEC7889}"/>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0D2FF5AC-094B-46B3-466C-FB57AE1E5D55}"/>
              </a:ext>
            </a:extLst>
          </p:cNvPr>
          <p:cNvSpPr txBox="1"/>
          <p:nvPr/>
        </p:nvSpPr>
        <p:spPr>
          <a:xfrm>
            <a:off x="381000" y="1219201"/>
            <a:ext cx="8382000" cy="3903504"/>
          </a:xfrm>
          <a:prstGeom prst="rect">
            <a:avLst/>
          </a:prstGeom>
          <a:noFill/>
        </p:spPr>
        <p:txBody>
          <a:bodyPr wrap="square">
            <a:spAutoFit/>
          </a:bodyPr>
          <a:lstStyle/>
          <a:p>
            <a:pPr>
              <a:lnSpc>
                <a:spcPct val="150000"/>
              </a:lnSpc>
              <a:buNone/>
            </a:pPr>
            <a:r>
              <a:rPr lang="en-US" sz="2800" dirty="0">
                <a:latin typeface="+mj-lt"/>
              </a:rPr>
              <a:t>Which subnet is the smallest that supports 50 devices?</a:t>
            </a:r>
          </a:p>
          <a:p>
            <a:pPr>
              <a:lnSpc>
                <a:spcPct val="150000"/>
              </a:lnSpc>
              <a:buNone/>
            </a:pPr>
            <a:r>
              <a:rPr lang="en-US" sz="2800" dirty="0">
                <a:latin typeface="+mj-lt"/>
              </a:rPr>
              <a:t>Try:</a:t>
            </a:r>
          </a:p>
          <a:p>
            <a:pPr rtl="0">
              <a:lnSpc>
                <a:spcPct val="150000"/>
              </a:lnSpc>
              <a:buNone/>
            </a:pPr>
            <a:r>
              <a:rPr lang="en-US" sz="2800" dirty="0">
                <a:latin typeface="+mj-lt"/>
              </a:rPr>
              <a:t>/27 → 30 usable</a:t>
            </a:r>
          </a:p>
          <a:p>
            <a:pPr rtl="0">
              <a:lnSpc>
                <a:spcPct val="150000"/>
              </a:lnSpc>
              <a:buNone/>
            </a:pPr>
            <a:r>
              <a:rPr lang="en-US" sz="2800" dirty="0">
                <a:latin typeface="+mj-lt"/>
              </a:rPr>
              <a:t>/26 → 62 usable</a:t>
            </a:r>
          </a:p>
          <a:p>
            <a:pPr rtl="0">
              <a:lnSpc>
                <a:spcPct val="150000"/>
              </a:lnSpc>
              <a:buNone/>
            </a:pPr>
            <a:r>
              <a:rPr lang="en-US" sz="2800" b="1" dirty="0">
                <a:latin typeface="+mj-lt"/>
              </a:rPr>
              <a:t>Answer:</a:t>
            </a:r>
            <a:endParaRPr lang="en-US" sz="2800" dirty="0">
              <a:latin typeface="+mj-lt"/>
            </a:endParaRPr>
          </a:p>
          <a:p>
            <a:pPr rtl="0">
              <a:lnSpc>
                <a:spcPct val="150000"/>
              </a:lnSpc>
              <a:buNone/>
            </a:pPr>
            <a:r>
              <a:rPr lang="en-US" sz="2800" dirty="0">
                <a:latin typeface="+mj-lt"/>
              </a:rPr>
              <a:t>/26</a:t>
            </a:r>
          </a:p>
        </p:txBody>
      </p:sp>
    </p:spTree>
    <p:extLst>
      <p:ext uri="{BB962C8B-B14F-4D97-AF65-F5344CB8AC3E}">
        <p14:creationId xmlns:p14="http://schemas.microsoft.com/office/powerpoint/2010/main" val="3925389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1000"/>
                                        <p:tgtEl>
                                          <p:spTgt spid="3">
                                            <p:txEl>
                                              <p:pRg st="5" end="5"/>
                                            </p:txEl>
                                          </p:spTgt>
                                        </p:tgtEl>
                                      </p:cBhvr>
                                    </p:animEffect>
                                    <p:anim calcmode="lin" valueType="num">
                                      <p:cBhvr>
                                        <p:cTn id="1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53632-D071-8A51-3B05-43C57C8D7DCA}"/>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92696D64-D821-E19A-DC67-FC8142FFE6AA}"/>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t>Practice Set 1: Find Network and Broadcast</a:t>
            </a:r>
            <a:endParaRPr dirty="0">
              <a:solidFill>
                <a:schemeClr val="tx1"/>
              </a:solidFill>
            </a:endParaRPr>
          </a:p>
        </p:txBody>
      </p:sp>
      <p:sp>
        <p:nvSpPr>
          <p:cNvPr id="15" name="object 15">
            <a:extLst>
              <a:ext uri="{FF2B5EF4-FFF2-40B4-BE49-F238E27FC236}">
                <a16:creationId xmlns:a16="http://schemas.microsoft.com/office/drawing/2014/main" id="{561B9700-CC70-DDE6-1BA1-C930E04CC287}"/>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E0ACA8C4-6989-C59A-60C0-BC7F61E1C041}"/>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74F1D56B-C54A-5EB4-3850-A0C901671219}"/>
              </a:ext>
            </a:extLst>
          </p:cNvPr>
          <p:cNvSpPr txBox="1"/>
          <p:nvPr/>
        </p:nvSpPr>
        <p:spPr>
          <a:xfrm>
            <a:off x="263142" y="1143001"/>
            <a:ext cx="8617716" cy="5196166"/>
          </a:xfrm>
          <a:prstGeom prst="rect">
            <a:avLst/>
          </a:prstGeom>
          <a:noFill/>
        </p:spPr>
        <p:txBody>
          <a:bodyPr wrap="square">
            <a:spAutoFit/>
          </a:bodyPr>
          <a:lstStyle/>
          <a:p>
            <a:pPr>
              <a:lnSpc>
                <a:spcPct val="150000"/>
              </a:lnSpc>
              <a:buNone/>
            </a:pPr>
            <a:r>
              <a:rPr lang="en-US" sz="2800" dirty="0">
                <a:latin typeface="+mj-lt"/>
              </a:rPr>
              <a:t>For each address:</a:t>
            </a:r>
          </a:p>
          <a:p>
            <a:pPr marL="893763" lvl="0" indent="-514350">
              <a:lnSpc>
                <a:spcPct val="150000"/>
              </a:lnSpc>
              <a:buFont typeface="+mj-lt"/>
              <a:buAutoNum type="arabicPeriod"/>
            </a:pPr>
            <a:r>
              <a:rPr lang="en-US" sz="2800" dirty="0">
                <a:latin typeface="+mj-lt"/>
              </a:rPr>
              <a:t>Find the prefix </a:t>
            </a:r>
          </a:p>
          <a:p>
            <a:pPr marL="893763" lvl="0" indent="-514350">
              <a:lnSpc>
                <a:spcPct val="150000"/>
              </a:lnSpc>
              <a:buFont typeface="+mj-lt"/>
              <a:buAutoNum type="arabicPeriod"/>
            </a:pPr>
            <a:r>
              <a:rPr lang="en-US" sz="2800" dirty="0">
                <a:latin typeface="+mj-lt"/>
              </a:rPr>
              <a:t>Find the block size </a:t>
            </a:r>
          </a:p>
          <a:p>
            <a:pPr marL="893763" lvl="0" indent="-514350">
              <a:lnSpc>
                <a:spcPct val="150000"/>
              </a:lnSpc>
              <a:buFont typeface="+mj-lt"/>
              <a:buAutoNum type="arabicPeriod"/>
            </a:pPr>
            <a:r>
              <a:rPr lang="en-US" sz="2800" dirty="0">
                <a:latin typeface="+mj-lt"/>
              </a:rPr>
              <a:t>Identify the subnet containing the IP </a:t>
            </a:r>
          </a:p>
          <a:p>
            <a:pPr marL="893763" lvl="0" indent="-514350">
              <a:lnSpc>
                <a:spcPct val="150000"/>
              </a:lnSpc>
              <a:buFont typeface="+mj-lt"/>
              <a:buAutoNum type="arabicPeriod"/>
            </a:pPr>
            <a:r>
              <a:rPr lang="en-US" sz="2800" dirty="0">
                <a:latin typeface="+mj-lt"/>
              </a:rPr>
              <a:t>Find network address </a:t>
            </a:r>
          </a:p>
          <a:p>
            <a:pPr marL="893763" lvl="0" indent="-514350">
              <a:lnSpc>
                <a:spcPct val="150000"/>
              </a:lnSpc>
              <a:buFont typeface="+mj-lt"/>
              <a:buAutoNum type="arabicPeriod"/>
            </a:pPr>
            <a:r>
              <a:rPr lang="en-US" sz="2800" dirty="0">
                <a:latin typeface="+mj-lt"/>
              </a:rPr>
              <a:t>Find broadcast address </a:t>
            </a:r>
          </a:p>
          <a:p>
            <a:pPr marL="893763" lvl="0" indent="-514350">
              <a:lnSpc>
                <a:spcPct val="150000"/>
              </a:lnSpc>
              <a:buFont typeface="+mj-lt"/>
              <a:buAutoNum type="arabicPeriod"/>
            </a:pPr>
            <a:r>
              <a:rPr lang="en-US" sz="2800" dirty="0">
                <a:latin typeface="+mj-lt"/>
              </a:rPr>
              <a:t>Find usable host range </a:t>
            </a:r>
          </a:p>
          <a:p>
            <a:pPr marL="893763" lvl="0" indent="-514350">
              <a:lnSpc>
                <a:spcPct val="150000"/>
              </a:lnSpc>
              <a:buFont typeface="+mj-lt"/>
              <a:buAutoNum type="arabicPeriod"/>
            </a:pPr>
            <a:r>
              <a:rPr lang="en-US" sz="2800" dirty="0">
                <a:latin typeface="+mj-lt"/>
              </a:rPr>
              <a:t>Find usable hosts</a:t>
            </a:r>
          </a:p>
        </p:txBody>
      </p:sp>
    </p:spTree>
    <p:extLst>
      <p:ext uri="{BB962C8B-B14F-4D97-AF65-F5344CB8AC3E}">
        <p14:creationId xmlns:p14="http://schemas.microsoft.com/office/powerpoint/2010/main" val="5712763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61548-65F6-EF08-D63F-803D4BD7804C}"/>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A64963E0-57EC-3094-8B5F-2FB5C364862D}"/>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Practice 1</a:t>
            </a:r>
            <a:endParaRPr dirty="0">
              <a:solidFill>
                <a:schemeClr val="tx1"/>
              </a:solidFill>
            </a:endParaRPr>
          </a:p>
        </p:txBody>
      </p:sp>
      <p:sp>
        <p:nvSpPr>
          <p:cNvPr id="15" name="object 15">
            <a:extLst>
              <a:ext uri="{FF2B5EF4-FFF2-40B4-BE49-F238E27FC236}">
                <a16:creationId xmlns:a16="http://schemas.microsoft.com/office/drawing/2014/main" id="{5C866914-D55B-6C7E-DBC2-65FA1A3E04CF}"/>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C68EC277-51AF-ACAC-AE23-591C1D503D0B}"/>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7813CF33-5711-6B60-29EE-5BE337486FC5}"/>
              </a:ext>
            </a:extLst>
          </p:cNvPr>
          <p:cNvSpPr txBox="1"/>
          <p:nvPr/>
        </p:nvSpPr>
        <p:spPr>
          <a:xfrm>
            <a:off x="457200" y="1066801"/>
            <a:ext cx="8229600" cy="4549835"/>
          </a:xfrm>
          <a:prstGeom prst="rect">
            <a:avLst/>
          </a:prstGeom>
          <a:noFill/>
        </p:spPr>
        <p:txBody>
          <a:bodyPr wrap="square">
            <a:spAutoFit/>
          </a:bodyPr>
          <a:lstStyle/>
          <a:p>
            <a:pPr>
              <a:lnSpc>
                <a:spcPct val="150000"/>
              </a:lnSpc>
              <a:buNone/>
            </a:pPr>
            <a:r>
              <a:rPr lang="en-US" sz="2800" dirty="0">
                <a:latin typeface="+mj-lt"/>
              </a:rPr>
              <a:t>Given:</a:t>
            </a:r>
          </a:p>
          <a:p>
            <a:pPr rtl="0">
              <a:lnSpc>
                <a:spcPct val="150000"/>
              </a:lnSpc>
              <a:buNone/>
            </a:pPr>
            <a:r>
              <a:rPr lang="en-US" sz="2800" dirty="0">
                <a:latin typeface="+mj-lt"/>
              </a:rPr>
              <a:t>192.168.100.25/28</a:t>
            </a:r>
          </a:p>
          <a:p>
            <a:pPr>
              <a:lnSpc>
                <a:spcPct val="150000"/>
              </a:lnSpc>
              <a:buNone/>
            </a:pPr>
            <a:r>
              <a:rPr lang="en-US" sz="2800" dirty="0">
                <a:latin typeface="+mj-lt"/>
              </a:rPr>
              <a:t>Before calculating, ask:</a:t>
            </a:r>
          </a:p>
          <a:p>
            <a:pPr rtl="0">
              <a:lnSpc>
                <a:spcPct val="150000"/>
              </a:lnSpc>
              <a:buNone/>
            </a:pPr>
            <a:r>
              <a:rPr lang="en-US" sz="2800" dirty="0">
                <a:latin typeface="+mj-lt"/>
              </a:rPr>
              <a:t>What is the block size?</a:t>
            </a:r>
          </a:p>
          <a:p>
            <a:pPr>
              <a:lnSpc>
                <a:spcPct val="150000"/>
              </a:lnSpc>
              <a:buNone/>
            </a:pPr>
            <a:r>
              <a:rPr lang="en-US" sz="2800" dirty="0">
                <a:latin typeface="+mj-lt"/>
              </a:rPr>
              <a:t>Mask:</a:t>
            </a:r>
          </a:p>
          <a:p>
            <a:pPr rtl="0">
              <a:lnSpc>
                <a:spcPct val="150000"/>
              </a:lnSpc>
              <a:buNone/>
            </a:pPr>
            <a:r>
              <a:rPr lang="en-US" sz="2800" dirty="0">
                <a:latin typeface="+mj-lt"/>
              </a:rPr>
              <a:t>255.255.255.240</a:t>
            </a:r>
          </a:p>
          <a:p>
            <a:pPr rtl="0">
              <a:lnSpc>
                <a:spcPct val="150000"/>
              </a:lnSpc>
              <a:buNone/>
            </a:pPr>
            <a:r>
              <a:rPr lang="en-US" sz="2800" dirty="0">
                <a:latin typeface="+mj-lt"/>
              </a:rPr>
              <a:t>256 - 240 = 16</a:t>
            </a:r>
          </a:p>
        </p:txBody>
      </p:sp>
    </p:spTree>
    <p:extLst>
      <p:ext uri="{BB962C8B-B14F-4D97-AF65-F5344CB8AC3E}">
        <p14:creationId xmlns:p14="http://schemas.microsoft.com/office/powerpoint/2010/main" val="38594687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881DC-31FD-AD3D-ACF3-C925C10FA4B7}"/>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A90FF973-D920-FE1A-9E19-1AAC58FF56B2}"/>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Practice 1 Solution</a:t>
            </a:r>
            <a:endParaRPr dirty="0">
              <a:solidFill>
                <a:schemeClr val="tx1"/>
              </a:solidFill>
            </a:endParaRPr>
          </a:p>
        </p:txBody>
      </p:sp>
      <p:sp>
        <p:nvSpPr>
          <p:cNvPr id="15" name="object 15">
            <a:extLst>
              <a:ext uri="{FF2B5EF4-FFF2-40B4-BE49-F238E27FC236}">
                <a16:creationId xmlns:a16="http://schemas.microsoft.com/office/drawing/2014/main" id="{63ED201E-6213-C11E-B927-3CC3C0C157B7}"/>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26E92746-19F7-205E-8389-D8A73AD32482}"/>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363D82D2-3F89-E489-BF7C-4777CE0B5B11}"/>
              </a:ext>
            </a:extLst>
          </p:cNvPr>
          <p:cNvSpPr txBox="1"/>
          <p:nvPr/>
        </p:nvSpPr>
        <p:spPr>
          <a:xfrm>
            <a:off x="381000" y="685801"/>
            <a:ext cx="8382000" cy="4549835"/>
          </a:xfrm>
          <a:prstGeom prst="rect">
            <a:avLst/>
          </a:prstGeom>
          <a:noFill/>
        </p:spPr>
        <p:txBody>
          <a:bodyPr wrap="square">
            <a:spAutoFit/>
          </a:bodyPr>
          <a:lstStyle/>
          <a:p>
            <a:pPr>
              <a:lnSpc>
                <a:spcPct val="150000"/>
              </a:lnSpc>
              <a:buNone/>
            </a:pPr>
            <a:r>
              <a:rPr lang="en-US" sz="2800" dirty="0">
                <a:latin typeface="+mj-lt"/>
              </a:rPr>
              <a:t>Subnets:</a:t>
            </a:r>
          </a:p>
          <a:p>
            <a:pPr rtl="0">
              <a:lnSpc>
                <a:spcPct val="150000"/>
              </a:lnSpc>
              <a:buNone/>
            </a:pPr>
            <a:r>
              <a:rPr lang="en-US" sz="2800" dirty="0">
                <a:latin typeface="+mj-lt"/>
              </a:rPr>
              <a:t>0–15</a:t>
            </a:r>
          </a:p>
          <a:p>
            <a:pPr rtl="0">
              <a:lnSpc>
                <a:spcPct val="150000"/>
              </a:lnSpc>
              <a:buNone/>
            </a:pPr>
            <a:r>
              <a:rPr lang="en-US" sz="2800" dirty="0">
                <a:latin typeface="+mj-lt"/>
              </a:rPr>
              <a:t>16–31</a:t>
            </a:r>
          </a:p>
          <a:p>
            <a:pPr rtl="0">
              <a:lnSpc>
                <a:spcPct val="150000"/>
              </a:lnSpc>
              <a:buNone/>
            </a:pPr>
            <a:r>
              <a:rPr lang="en-US" sz="2800" dirty="0">
                <a:latin typeface="+mj-lt"/>
              </a:rPr>
              <a:t>32–47</a:t>
            </a:r>
          </a:p>
          <a:p>
            <a:pPr rtl="0">
              <a:lnSpc>
                <a:spcPct val="150000"/>
              </a:lnSpc>
              <a:buNone/>
            </a:pPr>
            <a:r>
              <a:rPr lang="en-US" sz="2800" dirty="0">
                <a:latin typeface="+mj-lt"/>
              </a:rPr>
              <a:t>...</a:t>
            </a:r>
          </a:p>
          <a:p>
            <a:pPr>
              <a:lnSpc>
                <a:spcPct val="150000"/>
              </a:lnSpc>
              <a:buNone/>
            </a:pPr>
            <a:r>
              <a:rPr lang="en-US" sz="2800" dirty="0">
                <a:latin typeface="+mj-lt"/>
              </a:rPr>
              <a:t>25 is inside:</a:t>
            </a:r>
          </a:p>
          <a:p>
            <a:pPr rtl="0">
              <a:lnSpc>
                <a:spcPct val="150000"/>
              </a:lnSpc>
              <a:buNone/>
            </a:pPr>
            <a:r>
              <a:rPr lang="en-US" sz="2800" dirty="0">
                <a:latin typeface="+mj-lt"/>
              </a:rPr>
              <a:t>16–31</a:t>
            </a:r>
          </a:p>
        </p:txBody>
      </p:sp>
    </p:spTree>
    <p:extLst>
      <p:ext uri="{BB962C8B-B14F-4D97-AF65-F5344CB8AC3E}">
        <p14:creationId xmlns:p14="http://schemas.microsoft.com/office/powerpoint/2010/main" val="35672065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85503-36DC-7B81-CBBA-646F2C26680F}"/>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7C93EC45-37CC-1E14-3C21-9EC4A06F0B37}"/>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Practice 1 Solution</a:t>
            </a:r>
            <a:endParaRPr dirty="0">
              <a:solidFill>
                <a:schemeClr val="tx1"/>
              </a:solidFill>
            </a:endParaRPr>
          </a:p>
        </p:txBody>
      </p:sp>
      <p:sp>
        <p:nvSpPr>
          <p:cNvPr id="15" name="object 15">
            <a:extLst>
              <a:ext uri="{FF2B5EF4-FFF2-40B4-BE49-F238E27FC236}">
                <a16:creationId xmlns:a16="http://schemas.microsoft.com/office/drawing/2014/main" id="{D8E8C9B6-11DB-3A98-DF6A-CF1CE891E119}"/>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11DF6187-294B-3DBB-6E3D-991B4B0EBAD8}"/>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076985A0-57E5-C0FC-078B-9518137D87FB}"/>
              </a:ext>
            </a:extLst>
          </p:cNvPr>
          <p:cNvSpPr txBox="1"/>
          <p:nvPr/>
        </p:nvSpPr>
        <p:spPr>
          <a:xfrm>
            <a:off x="381000" y="914401"/>
            <a:ext cx="8382000" cy="4549835"/>
          </a:xfrm>
          <a:prstGeom prst="rect">
            <a:avLst/>
          </a:prstGeom>
          <a:noFill/>
        </p:spPr>
        <p:txBody>
          <a:bodyPr wrap="square">
            <a:spAutoFit/>
          </a:bodyPr>
          <a:lstStyle/>
          <a:p>
            <a:pPr>
              <a:lnSpc>
                <a:spcPct val="150000"/>
              </a:lnSpc>
              <a:buNone/>
            </a:pPr>
            <a:r>
              <a:rPr lang="en-US" sz="2800" dirty="0">
                <a:latin typeface="+mj-lt"/>
              </a:rPr>
              <a:t>Therefore:</a:t>
            </a:r>
          </a:p>
          <a:p>
            <a:pPr rtl="0">
              <a:lnSpc>
                <a:spcPct val="150000"/>
              </a:lnSpc>
              <a:buNone/>
            </a:pPr>
            <a:r>
              <a:rPr lang="en-US" sz="2800" dirty="0">
                <a:latin typeface="+mj-lt"/>
              </a:rPr>
              <a:t>Network:      192.168.100.16</a:t>
            </a:r>
          </a:p>
          <a:p>
            <a:pPr rtl="0">
              <a:lnSpc>
                <a:spcPct val="150000"/>
              </a:lnSpc>
              <a:buNone/>
            </a:pPr>
            <a:r>
              <a:rPr lang="en-US" sz="2800" dirty="0">
                <a:latin typeface="+mj-lt"/>
              </a:rPr>
              <a:t>First host:   192.168.100.17</a:t>
            </a:r>
          </a:p>
          <a:p>
            <a:pPr rtl="0">
              <a:lnSpc>
                <a:spcPct val="150000"/>
              </a:lnSpc>
              <a:buNone/>
            </a:pPr>
            <a:r>
              <a:rPr lang="en-US" sz="2800" dirty="0">
                <a:latin typeface="+mj-lt"/>
              </a:rPr>
              <a:t>Last host:    192.168.100.30</a:t>
            </a:r>
          </a:p>
          <a:p>
            <a:pPr rtl="0">
              <a:lnSpc>
                <a:spcPct val="150000"/>
              </a:lnSpc>
              <a:buNone/>
            </a:pPr>
            <a:r>
              <a:rPr lang="en-US" sz="2800" dirty="0">
                <a:latin typeface="+mj-lt"/>
              </a:rPr>
              <a:t>Broadcast:    192.168.100.31</a:t>
            </a:r>
          </a:p>
          <a:p>
            <a:pPr rtl="0">
              <a:lnSpc>
                <a:spcPct val="150000"/>
              </a:lnSpc>
              <a:buNone/>
            </a:pPr>
            <a:r>
              <a:rPr lang="en-US" sz="2800" dirty="0">
                <a:latin typeface="+mj-lt"/>
              </a:rPr>
              <a:t>Host bits:    4</a:t>
            </a:r>
          </a:p>
          <a:p>
            <a:pPr rtl="0">
              <a:lnSpc>
                <a:spcPct val="150000"/>
              </a:lnSpc>
              <a:buNone/>
            </a:pPr>
            <a:r>
              <a:rPr lang="en-US" sz="2800" dirty="0">
                <a:latin typeface="+mj-lt"/>
              </a:rPr>
              <a:t>Usable hosts: 14</a:t>
            </a:r>
          </a:p>
        </p:txBody>
      </p:sp>
    </p:spTree>
    <p:extLst>
      <p:ext uri="{BB962C8B-B14F-4D97-AF65-F5344CB8AC3E}">
        <p14:creationId xmlns:p14="http://schemas.microsoft.com/office/powerpoint/2010/main" val="6703623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D6F76-1967-D956-CE68-D182B9431664}"/>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C46976C1-293A-91FB-CB95-C2449E8C7B38}"/>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Practice 2</a:t>
            </a:r>
            <a:endParaRPr dirty="0">
              <a:solidFill>
                <a:schemeClr val="tx1"/>
              </a:solidFill>
            </a:endParaRPr>
          </a:p>
        </p:txBody>
      </p:sp>
      <p:sp>
        <p:nvSpPr>
          <p:cNvPr id="15" name="object 15">
            <a:extLst>
              <a:ext uri="{FF2B5EF4-FFF2-40B4-BE49-F238E27FC236}">
                <a16:creationId xmlns:a16="http://schemas.microsoft.com/office/drawing/2014/main" id="{46F05503-DBC4-ECBC-7AB0-B06FC0DD17E0}"/>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0C407458-ACA0-D0EF-B03D-57B5C5D2F97F}"/>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pic>
        <p:nvPicPr>
          <p:cNvPr id="4" name="Picture 3">
            <a:extLst>
              <a:ext uri="{FF2B5EF4-FFF2-40B4-BE49-F238E27FC236}">
                <a16:creationId xmlns:a16="http://schemas.microsoft.com/office/drawing/2014/main" id="{00E92E73-C3B0-4B89-626C-495692D110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142" y="1025341"/>
            <a:ext cx="8686800" cy="5791200"/>
          </a:xfrm>
          <a:prstGeom prst="rect">
            <a:avLst/>
          </a:prstGeom>
        </p:spPr>
      </p:pic>
    </p:spTree>
    <p:extLst>
      <p:ext uri="{BB962C8B-B14F-4D97-AF65-F5344CB8AC3E}">
        <p14:creationId xmlns:p14="http://schemas.microsoft.com/office/powerpoint/2010/main" val="30697130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31D39-261B-41D7-4858-5A9CE3004FF2}"/>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34E8E4F4-B101-53D7-F113-DEC1AB9B8035}"/>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Practice 2 Solution</a:t>
            </a:r>
            <a:endParaRPr dirty="0">
              <a:solidFill>
                <a:schemeClr val="tx1"/>
              </a:solidFill>
            </a:endParaRPr>
          </a:p>
        </p:txBody>
      </p:sp>
      <p:sp>
        <p:nvSpPr>
          <p:cNvPr id="15" name="object 15">
            <a:extLst>
              <a:ext uri="{FF2B5EF4-FFF2-40B4-BE49-F238E27FC236}">
                <a16:creationId xmlns:a16="http://schemas.microsoft.com/office/drawing/2014/main" id="{8851B4D5-EE5B-E2F1-557C-3DC0D7288D67}"/>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CD635F6D-18F3-DF5B-8B8A-E2E33859CA7A}"/>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5" name="TextBox 4">
            <a:extLst>
              <a:ext uri="{FF2B5EF4-FFF2-40B4-BE49-F238E27FC236}">
                <a16:creationId xmlns:a16="http://schemas.microsoft.com/office/drawing/2014/main" id="{E4DE7F94-C34D-FC19-F8A7-36EF7A379483}"/>
              </a:ext>
            </a:extLst>
          </p:cNvPr>
          <p:cNvSpPr txBox="1"/>
          <p:nvPr/>
        </p:nvSpPr>
        <p:spPr>
          <a:xfrm>
            <a:off x="263142" y="521583"/>
            <a:ext cx="8617716" cy="6133859"/>
          </a:xfrm>
          <a:prstGeom prst="rect">
            <a:avLst/>
          </a:prstGeom>
          <a:noFill/>
        </p:spPr>
        <p:txBody>
          <a:bodyPr wrap="square">
            <a:spAutoFit/>
          </a:bodyPr>
          <a:lstStyle/>
          <a:p>
            <a:pPr>
              <a:lnSpc>
                <a:spcPct val="150000"/>
              </a:lnSpc>
              <a:buNone/>
            </a:pPr>
            <a:r>
              <a:rPr lang="en-US" sz="2200" dirty="0">
                <a:latin typeface="+mj-lt"/>
              </a:rPr>
              <a:t>Nearby ranges:</a:t>
            </a:r>
          </a:p>
          <a:p>
            <a:pPr rtl="0">
              <a:lnSpc>
                <a:spcPct val="150000"/>
              </a:lnSpc>
              <a:buNone/>
            </a:pPr>
            <a:r>
              <a:rPr lang="en-US" sz="2200" dirty="0">
                <a:latin typeface="+mj-lt"/>
              </a:rPr>
              <a:t>124–127</a:t>
            </a:r>
          </a:p>
          <a:p>
            <a:pPr rtl="0">
              <a:lnSpc>
                <a:spcPct val="150000"/>
              </a:lnSpc>
              <a:buNone/>
            </a:pPr>
            <a:r>
              <a:rPr lang="en-US" sz="2200" dirty="0">
                <a:latin typeface="+mj-lt"/>
              </a:rPr>
              <a:t>128–131</a:t>
            </a:r>
          </a:p>
          <a:p>
            <a:pPr rtl="0">
              <a:lnSpc>
                <a:spcPct val="150000"/>
              </a:lnSpc>
              <a:buNone/>
            </a:pPr>
            <a:r>
              <a:rPr lang="en-US" sz="2200" dirty="0">
                <a:latin typeface="+mj-lt"/>
              </a:rPr>
              <a:t>132–135</a:t>
            </a:r>
          </a:p>
          <a:p>
            <a:pPr>
              <a:lnSpc>
                <a:spcPct val="150000"/>
              </a:lnSpc>
              <a:buNone/>
            </a:pPr>
            <a:r>
              <a:rPr lang="en-US" sz="2200" dirty="0">
                <a:latin typeface="+mj-lt"/>
              </a:rPr>
              <a:t>130 is inside:</a:t>
            </a:r>
          </a:p>
          <a:p>
            <a:pPr rtl="0">
              <a:lnSpc>
                <a:spcPct val="150000"/>
              </a:lnSpc>
              <a:buNone/>
            </a:pPr>
            <a:r>
              <a:rPr lang="en-US" sz="2200" dirty="0">
                <a:latin typeface="+mj-lt"/>
              </a:rPr>
              <a:t>128–131</a:t>
            </a:r>
          </a:p>
          <a:p>
            <a:pPr>
              <a:lnSpc>
                <a:spcPct val="150000"/>
              </a:lnSpc>
              <a:buNone/>
            </a:pPr>
            <a:r>
              <a:rPr lang="en-US" sz="2200" dirty="0">
                <a:latin typeface="+mj-lt"/>
              </a:rPr>
              <a:t>Therefore:</a:t>
            </a:r>
          </a:p>
          <a:p>
            <a:pPr rtl="0">
              <a:lnSpc>
                <a:spcPct val="150000"/>
              </a:lnSpc>
              <a:buNone/>
            </a:pPr>
            <a:r>
              <a:rPr lang="en-US" sz="2200" dirty="0">
                <a:latin typeface="+mj-lt"/>
              </a:rPr>
              <a:t>Network:      172.30.10.128</a:t>
            </a:r>
          </a:p>
          <a:p>
            <a:pPr rtl="0">
              <a:lnSpc>
                <a:spcPct val="150000"/>
              </a:lnSpc>
              <a:buNone/>
            </a:pPr>
            <a:r>
              <a:rPr lang="en-US" sz="2200" dirty="0">
                <a:latin typeface="+mj-lt"/>
              </a:rPr>
              <a:t>First host:   172.30.10.129</a:t>
            </a:r>
          </a:p>
          <a:p>
            <a:pPr rtl="0">
              <a:lnSpc>
                <a:spcPct val="150000"/>
              </a:lnSpc>
              <a:buNone/>
            </a:pPr>
            <a:r>
              <a:rPr lang="en-US" sz="2200" dirty="0">
                <a:latin typeface="+mj-lt"/>
              </a:rPr>
              <a:t>Last host:    172.30.10.130</a:t>
            </a:r>
          </a:p>
          <a:p>
            <a:pPr rtl="0">
              <a:lnSpc>
                <a:spcPct val="150000"/>
              </a:lnSpc>
              <a:buNone/>
            </a:pPr>
            <a:r>
              <a:rPr lang="en-US" sz="2200" dirty="0">
                <a:latin typeface="+mj-lt"/>
              </a:rPr>
              <a:t>Broadcast:    172.30.10.131</a:t>
            </a:r>
          </a:p>
          <a:p>
            <a:pPr rtl="0">
              <a:lnSpc>
                <a:spcPct val="150000"/>
              </a:lnSpc>
              <a:buNone/>
            </a:pPr>
            <a:r>
              <a:rPr lang="en-US" sz="2200" dirty="0">
                <a:latin typeface="+mj-lt"/>
              </a:rPr>
              <a:t>Usable hosts: 2</a:t>
            </a:r>
          </a:p>
        </p:txBody>
      </p:sp>
    </p:spTree>
    <p:extLst>
      <p:ext uri="{BB962C8B-B14F-4D97-AF65-F5344CB8AC3E}">
        <p14:creationId xmlns:p14="http://schemas.microsoft.com/office/powerpoint/2010/main" val="19636198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E5A59-A083-641D-C617-6DF9D773B3EC}"/>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BE2AD0CB-7C02-10EE-BB64-A8303A3EA7C5}"/>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Australian Example: Point-to-Point Link</a:t>
            </a:r>
            <a:endParaRPr dirty="0">
              <a:solidFill>
                <a:schemeClr val="tx1"/>
              </a:solidFill>
            </a:endParaRPr>
          </a:p>
        </p:txBody>
      </p:sp>
      <p:sp>
        <p:nvSpPr>
          <p:cNvPr id="15" name="object 15">
            <a:extLst>
              <a:ext uri="{FF2B5EF4-FFF2-40B4-BE49-F238E27FC236}">
                <a16:creationId xmlns:a16="http://schemas.microsoft.com/office/drawing/2014/main" id="{260DD062-551E-E605-05BF-997433756CCE}"/>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7E2FBA50-B351-0BDA-E3F3-BE603D9F0D6A}"/>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pic>
        <p:nvPicPr>
          <p:cNvPr id="3" name="Picture 2">
            <a:extLst>
              <a:ext uri="{FF2B5EF4-FFF2-40B4-BE49-F238E27FC236}">
                <a16:creationId xmlns:a16="http://schemas.microsoft.com/office/drawing/2014/main" id="{8EAC63BA-69A6-0C90-5680-0188A0BFA5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99517"/>
            <a:ext cx="9144000" cy="6096000"/>
          </a:xfrm>
          <a:prstGeom prst="rect">
            <a:avLst/>
          </a:prstGeom>
        </p:spPr>
      </p:pic>
    </p:spTree>
    <p:extLst>
      <p:ext uri="{BB962C8B-B14F-4D97-AF65-F5344CB8AC3E}">
        <p14:creationId xmlns:p14="http://schemas.microsoft.com/office/powerpoint/2010/main" val="10818457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C118C-47EC-F069-89E7-EDA2EB3D0C1B}"/>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23909F2D-1E08-B073-5F80-481766652110}"/>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Practice 3</a:t>
            </a:r>
            <a:endParaRPr dirty="0">
              <a:solidFill>
                <a:schemeClr val="tx1"/>
              </a:solidFill>
            </a:endParaRPr>
          </a:p>
        </p:txBody>
      </p:sp>
      <p:sp>
        <p:nvSpPr>
          <p:cNvPr id="15" name="object 15">
            <a:extLst>
              <a:ext uri="{FF2B5EF4-FFF2-40B4-BE49-F238E27FC236}">
                <a16:creationId xmlns:a16="http://schemas.microsoft.com/office/drawing/2014/main" id="{2285D2C9-BED4-B15D-4524-DCDAF8599080}"/>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73147359-A44E-B576-B788-930497CD9D0D}"/>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0C99006D-E790-E7FC-5E86-F20EC6093FC5}"/>
              </a:ext>
            </a:extLst>
          </p:cNvPr>
          <p:cNvSpPr txBox="1"/>
          <p:nvPr/>
        </p:nvSpPr>
        <p:spPr>
          <a:xfrm>
            <a:off x="263142" y="990600"/>
            <a:ext cx="8617716" cy="5196166"/>
          </a:xfrm>
          <a:prstGeom prst="rect">
            <a:avLst/>
          </a:prstGeom>
          <a:noFill/>
        </p:spPr>
        <p:txBody>
          <a:bodyPr wrap="square">
            <a:spAutoFit/>
          </a:bodyPr>
          <a:lstStyle/>
          <a:p>
            <a:pPr>
              <a:lnSpc>
                <a:spcPct val="150000"/>
              </a:lnSpc>
              <a:buNone/>
            </a:pPr>
            <a:r>
              <a:rPr lang="en-US" sz="2800" dirty="0">
                <a:latin typeface="+mj-lt"/>
              </a:rPr>
              <a:t>Given:</a:t>
            </a:r>
          </a:p>
          <a:p>
            <a:pPr rtl="0">
              <a:lnSpc>
                <a:spcPct val="150000"/>
              </a:lnSpc>
              <a:buNone/>
            </a:pPr>
            <a:r>
              <a:rPr lang="en-US" sz="2800" dirty="0">
                <a:latin typeface="+mj-lt"/>
              </a:rPr>
              <a:t>10.1.113.75/19</a:t>
            </a:r>
          </a:p>
          <a:p>
            <a:pPr>
              <a:lnSpc>
                <a:spcPct val="150000"/>
              </a:lnSpc>
              <a:buNone/>
            </a:pPr>
            <a:r>
              <a:rPr lang="en-US" sz="2800" dirty="0">
                <a:latin typeface="+mj-lt"/>
              </a:rPr>
              <a:t>Mask:</a:t>
            </a:r>
          </a:p>
          <a:p>
            <a:pPr rtl="0">
              <a:lnSpc>
                <a:spcPct val="150000"/>
              </a:lnSpc>
              <a:buNone/>
            </a:pPr>
            <a:r>
              <a:rPr lang="en-US" sz="2800" dirty="0">
                <a:latin typeface="+mj-lt"/>
              </a:rPr>
              <a:t>255.255.224.0</a:t>
            </a:r>
          </a:p>
          <a:p>
            <a:pPr>
              <a:lnSpc>
                <a:spcPct val="150000"/>
              </a:lnSpc>
              <a:buNone/>
            </a:pPr>
            <a:r>
              <a:rPr lang="en-US" sz="2800" dirty="0">
                <a:latin typeface="+mj-lt"/>
              </a:rPr>
              <a:t>Interesting octet:</a:t>
            </a:r>
          </a:p>
          <a:p>
            <a:pPr rtl="0">
              <a:lnSpc>
                <a:spcPct val="150000"/>
              </a:lnSpc>
              <a:buNone/>
            </a:pPr>
            <a:r>
              <a:rPr lang="en-US" sz="2800" dirty="0">
                <a:latin typeface="+mj-lt"/>
              </a:rPr>
              <a:t>third octet</a:t>
            </a:r>
          </a:p>
          <a:p>
            <a:pPr>
              <a:lnSpc>
                <a:spcPct val="150000"/>
              </a:lnSpc>
              <a:buNone/>
            </a:pPr>
            <a:r>
              <a:rPr lang="en-US" sz="2800" dirty="0">
                <a:latin typeface="+mj-lt"/>
              </a:rPr>
              <a:t>Block size:</a:t>
            </a:r>
          </a:p>
          <a:p>
            <a:pPr rtl="0">
              <a:lnSpc>
                <a:spcPct val="150000"/>
              </a:lnSpc>
              <a:buNone/>
            </a:pPr>
            <a:r>
              <a:rPr lang="en-US" sz="2800" dirty="0">
                <a:latin typeface="+mj-lt"/>
              </a:rPr>
              <a:t>256 - 224 = 32</a:t>
            </a:r>
          </a:p>
        </p:txBody>
      </p:sp>
    </p:spTree>
    <p:extLst>
      <p:ext uri="{BB962C8B-B14F-4D97-AF65-F5344CB8AC3E}">
        <p14:creationId xmlns:p14="http://schemas.microsoft.com/office/powerpoint/2010/main" val="11470436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9789C-DD9E-58BB-326B-101D421452B2}"/>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5954EE77-E074-1DAA-D17B-96463DF0B765}"/>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Practice 3 Solution</a:t>
            </a:r>
            <a:endParaRPr dirty="0">
              <a:solidFill>
                <a:schemeClr val="tx1"/>
              </a:solidFill>
            </a:endParaRPr>
          </a:p>
        </p:txBody>
      </p:sp>
      <p:sp>
        <p:nvSpPr>
          <p:cNvPr id="15" name="object 15">
            <a:extLst>
              <a:ext uri="{FF2B5EF4-FFF2-40B4-BE49-F238E27FC236}">
                <a16:creationId xmlns:a16="http://schemas.microsoft.com/office/drawing/2014/main" id="{B1FD5C59-3D51-4F5E-E4A1-88460370D780}"/>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AC64B936-6788-E060-BC28-23770E944B2E}"/>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pic>
        <p:nvPicPr>
          <p:cNvPr id="3" name="Picture 2">
            <a:extLst>
              <a:ext uri="{FF2B5EF4-FFF2-40B4-BE49-F238E27FC236}">
                <a16:creationId xmlns:a16="http://schemas.microsoft.com/office/drawing/2014/main" id="{4908F4FE-1449-7E98-9C14-5BECC3CD0B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004317"/>
            <a:ext cx="8686800" cy="5791200"/>
          </a:xfrm>
          <a:prstGeom prst="rect">
            <a:avLst/>
          </a:prstGeom>
        </p:spPr>
      </p:pic>
    </p:spTree>
    <p:extLst>
      <p:ext uri="{BB962C8B-B14F-4D97-AF65-F5344CB8AC3E}">
        <p14:creationId xmlns:p14="http://schemas.microsoft.com/office/powerpoint/2010/main" val="12681424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AFCA8-1CC1-6F27-616E-232896B7D76A}"/>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2BAD2C5B-7A1A-783E-A5BF-87316A18A597}"/>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Practice 4</a:t>
            </a:r>
            <a:endParaRPr dirty="0">
              <a:solidFill>
                <a:schemeClr val="tx1"/>
              </a:solidFill>
            </a:endParaRPr>
          </a:p>
        </p:txBody>
      </p:sp>
      <p:sp>
        <p:nvSpPr>
          <p:cNvPr id="15" name="object 15">
            <a:extLst>
              <a:ext uri="{FF2B5EF4-FFF2-40B4-BE49-F238E27FC236}">
                <a16:creationId xmlns:a16="http://schemas.microsoft.com/office/drawing/2014/main" id="{F6FECEDE-920A-9E70-A9F5-667AD9E3EFED}"/>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9E028943-898F-AB20-C78D-2E6DD8BD3F6F}"/>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6" name="TextBox 5">
            <a:extLst>
              <a:ext uri="{FF2B5EF4-FFF2-40B4-BE49-F238E27FC236}">
                <a16:creationId xmlns:a16="http://schemas.microsoft.com/office/drawing/2014/main" id="{B40593EE-1EFB-CD03-7156-6F41D4087FB5}"/>
              </a:ext>
            </a:extLst>
          </p:cNvPr>
          <p:cNvSpPr txBox="1"/>
          <p:nvPr/>
        </p:nvSpPr>
        <p:spPr>
          <a:xfrm>
            <a:off x="263142" y="685801"/>
            <a:ext cx="8499858" cy="6071098"/>
          </a:xfrm>
          <a:prstGeom prst="rect">
            <a:avLst/>
          </a:prstGeom>
          <a:noFill/>
        </p:spPr>
        <p:txBody>
          <a:bodyPr wrap="square">
            <a:spAutoFit/>
          </a:bodyPr>
          <a:lstStyle/>
          <a:p>
            <a:pPr>
              <a:lnSpc>
                <a:spcPct val="150000"/>
              </a:lnSpc>
              <a:buNone/>
            </a:pPr>
            <a:r>
              <a:rPr lang="en-US" sz="2800" dirty="0">
                <a:latin typeface="+mj-lt"/>
              </a:rPr>
              <a:t>Given:</a:t>
            </a:r>
          </a:p>
          <a:p>
            <a:pPr rtl="0">
              <a:lnSpc>
                <a:spcPct val="150000"/>
              </a:lnSpc>
              <a:buNone/>
            </a:pPr>
            <a:r>
              <a:rPr lang="en-US" sz="2800" dirty="0">
                <a:latin typeface="+mj-lt"/>
              </a:rPr>
              <a:t>198.133.219.250/24</a:t>
            </a:r>
          </a:p>
          <a:p>
            <a:pPr>
              <a:lnSpc>
                <a:spcPct val="150000"/>
              </a:lnSpc>
              <a:buNone/>
            </a:pPr>
            <a:r>
              <a:rPr lang="en-US" sz="2800" dirty="0">
                <a:latin typeface="+mj-lt"/>
              </a:rPr>
              <a:t>Because /24 means:</a:t>
            </a:r>
          </a:p>
          <a:p>
            <a:pPr rtl="0">
              <a:lnSpc>
                <a:spcPct val="150000"/>
              </a:lnSpc>
              <a:buNone/>
            </a:pPr>
            <a:r>
              <a:rPr lang="en-US" sz="2800" dirty="0">
                <a:latin typeface="+mj-lt"/>
              </a:rPr>
              <a:t>255.255.255.0</a:t>
            </a:r>
          </a:p>
          <a:p>
            <a:pPr>
              <a:lnSpc>
                <a:spcPct val="150000"/>
              </a:lnSpc>
              <a:buNone/>
            </a:pPr>
            <a:r>
              <a:rPr lang="en-US" sz="2800" dirty="0">
                <a:latin typeface="+mj-lt"/>
              </a:rPr>
              <a:t>Therefore:</a:t>
            </a:r>
          </a:p>
          <a:p>
            <a:pPr rtl="0">
              <a:lnSpc>
                <a:spcPct val="150000"/>
              </a:lnSpc>
              <a:buNone/>
            </a:pPr>
            <a:r>
              <a:rPr lang="en-US" sz="2800" dirty="0">
                <a:latin typeface="+mj-lt"/>
              </a:rPr>
              <a:t>Network:      198.133.219.0</a:t>
            </a:r>
          </a:p>
          <a:p>
            <a:pPr rtl="0">
              <a:lnSpc>
                <a:spcPct val="150000"/>
              </a:lnSpc>
              <a:buNone/>
            </a:pPr>
            <a:r>
              <a:rPr lang="en-US" sz="2800" dirty="0">
                <a:latin typeface="+mj-lt"/>
              </a:rPr>
              <a:t>Broadcast:    198.133.219.255</a:t>
            </a:r>
          </a:p>
          <a:p>
            <a:pPr rtl="0">
              <a:lnSpc>
                <a:spcPct val="150000"/>
              </a:lnSpc>
              <a:buNone/>
            </a:pPr>
            <a:r>
              <a:rPr lang="en-US" sz="2800" dirty="0">
                <a:latin typeface="+mj-lt"/>
              </a:rPr>
              <a:t>Host bits:    8</a:t>
            </a:r>
          </a:p>
          <a:p>
            <a:pPr rtl="0">
              <a:lnSpc>
                <a:spcPct val="150000"/>
              </a:lnSpc>
              <a:buNone/>
            </a:pPr>
            <a:r>
              <a:rPr lang="en-US" sz="2800" dirty="0">
                <a:latin typeface="+mj-lt"/>
              </a:rPr>
              <a:t>Usable hosts: 254</a:t>
            </a:r>
          </a:p>
        </p:txBody>
      </p:sp>
    </p:spTree>
    <p:extLst>
      <p:ext uri="{BB962C8B-B14F-4D97-AF65-F5344CB8AC3E}">
        <p14:creationId xmlns:p14="http://schemas.microsoft.com/office/powerpoint/2010/main" val="16362779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A3903-FF30-3121-5948-98C8621A849C}"/>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45D02832-CABB-2A28-E020-342A414A6BB1}"/>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Practice 5</a:t>
            </a:r>
            <a:endParaRPr dirty="0">
              <a:solidFill>
                <a:schemeClr val="tx1"/>
              </a:solidFill>
            </a:endParaRPr>
          </a:p>
        </p:txBody>
      </p:sp>
      <p:sp>
        <p:nvSpPr>
          <p:cNvPr id="15" name="object 15">
            <a:extLst>
              <a:ext uri="{FF2B5EF4-FFF2-40B4-BE49-F238E27FC236}">
                <a16:creationId xmlns:a16="http://schemas.microsoft.com/office/drawing/2014/main" id="{716EA0E2-FAB7-10B9-0C15-1D43325796B3}"/>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26F755E3-D17F-6A6B-FC96-B64A763A27B9}"/>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39D42F26-6096-528F-DF04-828D1DC42BFE}"/>
              </a:ext>
            </a:extLst>
          </p:cNvPr>
          <p:cNvSpPr txBox="1"/>
          <p:nvPr/>
        </p:nvSpPr>
        <p:spPr>
          <a:xfrm>
            <a:off x="263142" y="521584"/>
            <a:ext cx="8617716" cy="6133859"/>
          </a:xfrm>
          <a:prstGeom prst="rect">
            <a:avLst/>
          </a:prstGeom>
          <a:noFill/>
        </p:spPr>
        <p:txBody>
          <a:bodyPr wrap="square">
            <a:spAutoFit/>
          </a:bodyPr>
          <a:lstStyle/>
          <a:p>
            <a:pPr>
              <a:lnSpc>
                <a:spcPct val="150000"/>
              </a:lnSpc>
              <a:buNone/>
            </a:pPr>
            <a:r>
              <a:rPr lang="en-US" sz="2200" dirty="0">
                <a:latin typeface="+mj-lt"/>
              </a:rPr>
              <a:t>Given: 128.107.14.191/22</a:t>
            </a:r>
          </a:p>
          <a:p>
            <a:pPr>
              <a:lnSpc>
                <a:spcPct val="150000"/>
              </a:lnSpc>
              <a:buNone/>
            </a:pPr>
            <a:r>
              <a:rPr lang="en-US" sz="2200" dirty="0">
                <a:latin typeface="+mj-lt"/>
              </a:rPr>
              <a:t>Mask: 255.255.252.0</a:t>
            </a:r>
          </a:p>
          <a:p>
            <a:pPr>
              <a:lnSpc>
                <a:spcPct val="150000"/>
              </a:lnSpc>
              <a:buNone/>
            </a:pPr>
            <a:r>
              <a:rPr lang="en-US" sz="2200" dirty="0">
                <a:latin typeface="+mj-lt"/>
              </a:rPr>
              <a:t>Block size in third octet: 256 - 252 = 4</a:t>
            </a:r>
          </a:p>
          <a:p>
            <a:pPr>
              <a:lnSpc>
                <a:spcPct val="150000"/>
              </a:lnSpc>
              <a:buNone/>
            </a:pPr>
            <a:r>
              <a:rPr lang="en-US" sz="2200" dirty="0">
                <a:latin typeface="+mj-lt"/>
              </a:rPr>
              <a:t>Third-octet blocks:</a:t>
            </a:r>
          </a:p>
          <a:p>
            <a:pPr rtl="0">
              <a:lnSpc>
                <a:spcPct val="150000"/>
              </a:lnSpc>
              <a:buNone/>
            </a:pPr>
            <a:r>
              <a:rPr lang="en-US" sz="2200" dirty="0">
                <a:latin typeface="+mj-lt"/>
              </a:rPr>
              <a:t>0</a:t>
            </a:r>
          </a:p>
          <a:p>
            <a:pPr rtl="0">
              <a:lnSpc>
                <a:spcPct val="150000"/>
              </a:lnSpc>
              <a:buNone/>
            </a:pPr>
            <a:r>
              <a:rPr lang="en-US" sz="2200" dirty="0">
                <a:latin typeface="+mj-lt"/>
              </a:rPr>
              <a:t>4</a:t>
            </a:r>
          </a:p>
          <a:p>
            <a:pPr rtl="0">
              <a:lnSpc>
                <a:spcPct val="150000"/>
              </a:lnSpc>
              <a:buNone/>
            </a:pPr>
            <a:r>
              <a:rPr lang="en-US" sz="2200" dirty="0">
                <a:latin typeface="+mj-lt"/>
              </a:rPr>
              <a:t>8</a:t>
            </a:r>
          </a:p>
          <a:p>
            <a:pPr rtl="0">
              <a:lnSpc>
                <a:spcPct val="150000"/>
              </a:lnSpc>
              <a:buNone/>
            </a:pPr>
            <a:r>
              <a:rPr lang="en-US" sz="2200" dirty="0">
                <a:latin typeface="+mj-lt"/>
              </a:rPr>
              <a:t>12</a:t>
            </a:r>
          </a:p>
          <a:p>
            <a:pPr rtl="0">
              <a:lnSpc>
                <a:spcPct val="150000"/>
              </a:lnSpc>
              <a:buNone/>
            </a:pPr>
            <a:r>
              <a:rPr lang="en-US" sz="2200" dirty="0">
                <a:latin typeface="+mj-lt"/>
              </a:rPr>
              <a:t>16</a:t>
            </a:r>
          </a:p>
          <a:p>
            <a:pPr rtl="0">
              <a:lnSpc>
                <a:spcPct val="150000"/>
              </a:lnSpc>
              <a:buNone/>
            </a:pPr>
            <a:r>
              <a:rPr lang="en-US" sz="2200" dirty="0">
                <a:latin typeface="+mj-lt"/>
              </a:rPr>
              <a:t>...</a:t>
            </a:r>
          </a:p>
          <a:p>
            <a:pPr>
              <a:lnSpc>
                <a:spcPct val="150000"/>
              </a:lnSpc>
              <a:buNone/>
            </a:pPr>
            <a:r>
              <a:rPr lang="en-US" sz="2200" dirty="0">
                <a:latin typeface="+mj-lt"/>
              </a:rPr>
              <a:t>14 belongs to:</a:t>
            </a:r>
          </a:p>
          <a:p>
            <a:pPr rtl="0">
              <a:lnSpc>
                <a:spcPct val="150000"/>
              </a:lnSpc>
              <a:buNone/>
            </a:pPr>
            <a:r>
              <a:rPr lang="en-US" sz="2200" dirty="0">
                <a:latin typeface="+mj-lt"/>
              </a:rPr>
              <a:t>12–15</a:t>
            </a:r>
          </a:p>
        </p:txBody>
      </p:sp>
    </p:spTree>
    <p:extLst>
      <p:ext uri="{BB962C8B-B14F-4D97-AF65-F5344CB8AC3E}">
        <p14:creationId xmlns:p14="http://schemas.microsoft.com/office/powerpoint/2010/main" val="9088595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F0E1C-17EE-751A-0891-361537607F05}"/>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0E132C59-A175-BA76-4508-9A45A67EAC47}"/>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Practice 5 Solution</a:t>
            </a:r>
            <a:endParaRPr dirty="0">
              <a:solidFill>
                <a:schemeClr val="tx1"/>
              </a:solidFill>
            </a:endParaRPr>
          </a:p>
        </p:txBody>
      </p:sp>
      <p:sp>
        <p:nvSpPr>
          <p:cNvPr id="15" name="object 15">
            <a:extLst>
              <a:ext uri="{FF2B5EF4-FFF2-40B4-BE49-F238E27FC236}">
                <a16:creationId xmlns:a16="http://schemas.microsoft.com/office/drawing/2014/main" id="{F60B9D53-2F69-AB43-29F6-08853742C8CA}"/>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C3177547-DE7B-E483-2C65-E904535C8D6E}"/>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8D0F30A4-404B-26A6-BD59-7808530C153A}"/>
              </a:ext>
            </a:extLst>
          </p:cNvPr>
          <p:cNvSpPr txBox="1"/>
          <p:nvPr/>
        </p:nvSpPr>
        <p:spPr>
          <a:xfrm>
            <a:off x="263142" y="762001"/>
            <a:ext cx="8617716" cy="5842497"/>
          </a:xfrm>
          <a:prstGeom prst="rect">
            <a:avLst/>
          </a:prstGeom>
          <a:noFill/>
        </p:spPr>
        <p:txBody>
          <a:bodyPr wrap="square">
            <a:spAutoFit/>
          </a:bodyPr>
          <a:lstStyle/>
          <a:p>
            <a:pPr>
              <a:lnSpc>
                <a:spcPct val="150000"/>
              </a:lnSpc>
              <a:buNone/>
            </a:pPr>
            <a:r>
              <a:rPr lang="en-US" sz="2800" dirty="0">
                <a:latin typeface="+mj-lt"/>
              </a:rPr>
              <a:t>Therefore:</a:t>
            </a:r>
          </a:p>
          <a:p>
            <a:pPr rtl="0">
              <a:lnSpc>
                <a:spcPct val="150000"/>
              </a:lnSpc>
              <a:buNone/>
            </a:pPr>
            <a:r>
              <a:rPr lang="en-US" sz="2800" dirty="0">
                <a:latin typeface="+mj-lt"/>
              </a:rPr>
              <a:t>Network:      128.107.12.0</a:t>
            </a:r>
          </a:p>
          <a:p>
            <a:pPr rtl="0">
              <a:lnSpc>
                <a:spcPct val="150000"/>
              </a:lnSpc>
              <a:buNone/>
            </a:pPr>
            <a:r>
              <a:rPr lang="en-US" sz="2800" dirty="0">
                <a:latin typeface="+mj-lt"/>
              </a:rPr>
              <a:t>Broadcast:    128.107.15.255</a:t>
            </a:r>
          </a:p>
          <a:p>
            <a:pPr rtl="0">
              <a:lnSpc>
                <a:spcPct val="150000"/>
              </a:lnSpc>
              <a:buNone/>
            </a:pPr>
            <a:r>
              <a:rPr lang="en-US" sz="2800" dirty="0">
                <a:latin typeface="+mj-lt"/>
              </a:rPr>
              <a:t>Host bits:    10</a:t>
            </a:r>
          </a:p>
          <a:p>
            <a:pPr rtl="0">
              <a:lnSpc>
                <a:spcPct val="150000"/>
              </a:lnSpc>
              <a:buNone/>
            </a:pPr>
            <a:r>
              <a:rPr lang="en-US" sz="2800" dirty="0">
                <a:latin typeface="+mj-lt"/>
              </a:rPr>
              <a:t>Usable hosts: 1022</a:t>
            </a:r>
          </a:p>
          <a:p>
            <a:pPr>
              <a:lnSpc>
                <a:spcPct val="150000"/>
              </a:lnSpc>
              <a:buNone/>
            </a:pPr>
            <a:r>
              <a:rPr lang="en-US" sz="2800" b="1" dirty="0">
                <a:latin typeface="+mj-lt"/>
              </a:rPr>
              <a:t>Discussion question:</a:t>
            </a:r>
            <a:br>
              <a:rPr lang="en-US" sz="2800" dirty="0">
                <a:latin typeface="+mj-lt"/>
              </a:rPr>
            </a:br>
            <a:r>
              <a:rPr lang="en-US" sz="2800" dirty="0">
                <a:latin typeface="+mj-lt"/>
              </a:rPr>
              <a:t>What is the next subnet?</a:t>
            </a:r>
          </a:p>
          <a:p>
            <a:pPr>
              <a:lnSpc>
                <a:spcPct val="150000"/>
              </a:lnSpc>
              <a:buNone/>
            </a:pPr>
            <a:r>
              <a:rPr lang="en-US" sz="2800" b="1" dirty="0">
                <a:latin typeface="+mj-lt"/>
              </a:rPr>
              <a:t>Answer:</a:t>
            </a:r>
            <a:endParaRPr lang="en-US" sz="2800" dirty="0">
              <a:latin typeface="+mj-lt"/>
            </a:endParaRPr>
          </a:p>
          <a:p>
            <a:pPr rtl="0">
              <a:lnSpc>
                <a:spcPct val="150000"/>
              </a:lnSpc>
              <a:buNone/>
            </a:pPr>
            <a:r>
              <a:rPr lang="en-US" sz="2800" dirty="0">
                <a:latin typeface="+mj-lt"/>
              </a:rPr>
              <a:t>128.107.16.0/22</a:t>
            </a:r>
          </a:p>
        </p:txBody>
      </p:sp>
    </p:spTree>
    <p:extLst>
      <p:ext uri="{BB962C8B-B14F-4D97-AF65-F5344CB8AC3E}">
        <p14:creationId xmlns:p14="http://schemas.microsoft.com/office/powerpoint/2010/main" val="74227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Effect transition="in" filter="fade">
                                      <p:cBhvr>
                                        <p:cTn id="7" dur="1000"/>
                                        <p:tgtEl>
                                          <p:spTgt spid="4">
                                            <p:txEl>
                                              <p:pRg st="6" end="6"/>
                                            </p:txEl>
                                          </p:spTgt>
                                        </p:tgtEl>
                                      </p:cBhvr>
                                    </p:animEffect>
                                    <p:anim calcmode="lin" valueType="num">
                                      <p:cBhvr>
                                        <p:cTn id="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6" end="6"/>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7" end="7"/>
                                            </p:txEl>
                                          </p:spTgt>
                                        </p:tgtEl>
                                        <p:attrNameLst>
                                          <p:attrName>style.visibility</p:attrName>
                                        </p:attrNameLst>
                                      </p:cBhvr>
                                      <p:to>
                                        <p:strVal val="visible"/>
                                      </p:to>
                                    </p:set>
                                    <p:animEffect transition="in" filter="fade">
                                      <p:cBhvr>
                                        <p:cTn id="12" dur="1000"/>
                                        <p:tgtEl>
                                          <p:spTgt spid="4">
                                            <p:txEl>
                                              <p:pRg st="7" end="7"/>
                                            </p:txEl>
                                          </p:spTgt>
                                        </p:tgtEl>
                                      </p:cBhvr>
                                    </p:animEffect>
                                    <p:anim calcmode="lin" valueType="num">
                                      <p:cBhvr>
                                        <p:cTn id="13"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818EB-E751-8C1B-FAA2-7D74800CADEA}"/>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E258D8FC-F5FA-7E6F-A546-942D372C04B0}"/>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Practice 6</a:t>
            </a:r>
            <a:endParaRPr dirty="0">
              <a:solidFill>
                <a:schemeClr val="tx1"/>
              </a:solidFill>
            </a:endParaRPr>
          </a:p>
        </p:txBody>
      </p:sp>
      <p:sp>
        <p:nvSpPr>
          <p:cNvPr id="15" name="object 15">
            <a:extLst>
              <a:ext uri="{FF2B5EF4-FFF2-40B4-BE49-F238E27FC236}">
                <a16:creationId xmlns:a16="http://schemas.microsoft.com/office/drawing/2014/main" id="{7357FE95-0CC1-0CA4-2920-D1FBADE33334}"/>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A064DBD3-1781-DB76-05DA-757946B408BA}"/>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3" name="TextBox 2">
            <a:extLst>
              <a:ext uri="{FF2B5EF4-FFF2-40B4-BE49-F238E27FC236}">
                <a16:creationId xmlns:a16="http://schemas.microsoft.com/office/drawing/2014/main" id="{83E52066-D688-8763-D0B5-932BF8FEF8B5}"/>
              </a:ext>
            </a:extLst>
          </p:cNvPr>
          <p:cNvSpPr txBox="1"/>
          <p:nvPr/>
        </p:nvSpPr>
        <p:spPr>
          <a:xfrm>
            <a:off x="381000" y="762000"/>
            <a:ext cx="8382000" cy="4549835"/>
          </a:xfrm>
          <a:prstGeom prst="rect">
            <a:avLst/>
          </a:prstGeom>
          <a:noFill/>
        </p:spPr>
        <p:txBody>
          <a:bodyPr wrap="square">
            <a:spAutoFit/>
          </a:bodyPr>
          <a:lstStyle/>
          <a:p>
            <a:pPr>
              <a:lnSpc>
                <a:spcPct val="150000"/>
              </a:lnSpc>
              <a:buNone/>
            </a:pPr>
            <a:r>
              <a:rPr lang="en-US" sz="2800" dirty="0">
                <a:latin typeface="+mj-lt"/>
              </a:rPr>
              <a:t>Given: 172.16.104.99/27</a:t>
            </a:r>
          </a:p>
          <a:p>
            <a:pPr>
              <a:lnSpc>
                <a:spcPct val="150000"/>
              </a:lnSpc>
              <a:buNone/>
            </a:pPr>
            <a:r>
              <a:rPr lang="en-US" sz="2800" dirty="0">
                <a:latin typeface="+mj-lt"/>
              </a:rPr>
              <a:t>Mask: 255.255.255.224</a:t>
            </a:r>
          </a:p>
          <a:p>
            <a:pPr>
              <a:lnSpc>
                <a:spcPct val="150000"/>
              </a:lnSpc>
              <a:buNone/>
            </a:pPr>
            <a:r>
              <a:rPr lang="en-US" sz="2800" dirty="0">
                <a:latin typeface="+mj-lt"/>
              </a:rPr>
              <a:t>Block size: 32</a:t>
            </a:r>
          </a:p>
          <a:p>
            <a:pPr>
              <a:lnSpc>
                <a:spcPct val="150000"/>
              </a:lnSpc>
              <a:buNone/>
            </a:pPr>
            <a:r>
              <a:rPr lang="en-US" sz="2800" dirty="0">
                <a:latin typeface="+mj-lt"/>
              </a:rPr>
              <a:t>Ranges:</a:t>
            </a:r>
          </a:p>
          <a:p>
            <a:pPr rtl="0">
              <a:lnSpc>
                <a:spcPct val="150000"/>
              </a:lnSpc>
              <a:buNone/>
            </a:pPr>
            <a:r>
              <a:rPr lang="en-US" sz="2800" dirty="0">
                <a:latin typeface="+mj-lt"/>
              </a:rPr>
              <a:t>64–95</a:t>
            </a:r>
          </a:p>
          <a:p>
            <a:pPr rtl="0">
              <a:lnSpc>
                <a:spcPct val="150000"/>
              </a:lnSpc>
              <a:buNone/>
            </a:pPr>
            <a:r>
              <a:rPr lang="en-US" sz="2800" dirty="0">
                <a:latin typeface="+mj-lt"/>
              </a:rPr>
              <a:t>96–127</a:t>
            </a:r>
          </a:p>
          <a:p>
            <a:pPr rtl="0">
              <a:lnSpc>
                <a:spcPct val="150000"/>
              </a:lnSpc>
              <a:buNone/>
            </a:pPr>
            <a:r>
              <a:rPr lang="en-US" sz="2800" dirty="0">
                <a:latin typeface="+mj-lt"/>
              </a:rPr>
              <a:t>128–159</a:t>
            </a:r>
          </a:p>
        </p:txBody>
      </p:sp>
    </p:spTree>
    <p:extLst>
      <p:ext uri="{BB962C8B-B14F-4D97-AF65-F5344CB8AC3E}">
        <p14:creationId xmlns:p14="http://schemas.microsoft.com/office/powerpoint/2010/main" val="42266013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87EED-45E1-10C0-B422-538EF5F8A760}"/>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E02E9ACC-7117-1F42-9F6A-E3A9A4BEA3CD}"/>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Practice 6 Solution</a:t>
            </a:r>
            <a:endParaRPr dirty="0">
              <a:solidFill>
                <a:schemeClr val="tx1"/>
              </a:solidFill>
            </a:endParaRPr>
          </a:p>
        </p:txBody>
      </p:sp>
      <p:sp>
        <p:nvSpPr>
          <p:cNvPr id="15" name="object 15">
            <a:extLst>
              <a:ext uri="{FF2B5EF4-FFF2-40B4-BE49-F238E27FC236}">
                <a16:creationId xmlns:a16="http://schemas.microsoft.com/office/drawing/2014/main" id="{CC2D5AE5-C9B5-0251-7DC3-B95F0235F306}"/>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BE68D3A7-7179-06A9-CBE5-9C378630C8C1}"/>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a:latin typeface="Arial"/>
              <a:cs typeface="Arial"/>
            </a:endParaRPr>
          </a:p>
        </p:txBody>
      </p:sp>
      <p:sp>
        <p:nvSpPr>
          <p:cNvPr id="4" name="TextBox 3">
            <a:extLst>
              <a:ext uri="{FF2B5EF4-FFF2-40B4-BE49-F238E27FC236}">
                <a16:creationId xmlns:a16="http://schemas.microsoft.com/office/drawing/2014/main" id="{604E2802-94A7-18A2-F667-DA4AD699FC31}"/>
              </a:ext>
            </a:extLst>
          </p:cNvPr>
          <p:cNvSpPr txBox="1"/>
          <p:nvPr/>
        </p:nvSpPr>
        <p:spPr>
          <a:xfrm>
            <a:off x="263142" y="1066800"/>
            <a:ext cx="8617716" cy="5196166"/>
          </a:xfrm>
          <a:prstGeom prst="rect">
            <a:avLst/>
          </a:prstGeom>
          <a:noFill/>
        </p:spPr>
        <p:txBody>
          <a:bodyPr wrap="square">
            <a:spAutoFit/>
          </a:bodyPr>
          <a:lstStyle/>
          <a:p>
            <a:pPr>
              <a:lnSpc>
                <a:spcPct val="150000"/>
              </a:lnSpc>
              <a:buNone/>
            </a:pPr>
            <a:r>
              <a:rPr lang="en-US" sz="2800" dirty="0">
                <a:latin typeface="+mj-lt"/>
              </a:rPr>
              <a:t>99 is inside:</a:t>
            </a:r>
          </a:p>
          <a:p>
            <a:pPr rtl="0">
              <a:lnSpc>
                <a:spcPct val="150000"/>
              </a:lnSpc>
              <a:buNone/>
            </a:pPr>
            <a:r>
              <a:rPr lang="en-US" sz="2800" dirty="0">
                <a:latin typeface="+mj-lt"/>
              </a:rPr>
              <a:t>96–127</a:t>
            </a:r>
          </a:p>
          <a:p>
            <a:pPr>
              <a:lnSpc>
                <a:spcPct val="150000"/>
              </a:lnSpc>
              <a:buNone/>
            </a:pPr>
            <a:r>
              <a:rPr lang="en-US" sz="2800" dirty="0">
                <a:latin typeface="+mj-lt"/>
              </a:rPr>
              <a:t>Therefore:</a:t>
            </a:r>
          </a:p>
          <a:p>
            <a:pPr rtl="0">
              <a:lnSpc>
                <a:spcPct val="150000"/>
              </a:lnSpc>
              <a:buNone/>
            </a:pPr>
            <a:r>
              <a:rPr lang="en-US" sz="2800" dirty="0">
                <a:latin typeface="+mj-lt"/>
              </a:rPr>
              <a:t>Network:      172.16.104.96</a:t>
            </a:r>
          </a:p>
          <a:p>
            <a:pPr rtl="0">
              <a:lnSpc>
                <a:spcPct val="150000"/>
              </a:lnSpc>
              <a:buNone/>
            </a:pPr>
            <a:r>
              <a:rPr lang="en-US" sz="2800" dirty="0">
                <a:latin typeface="+mj-lt"/>
              </a:rPr>
              <a:t>First host:   172.16.104.97</a:t>
            </a:r>
          </a:p>
          <a:p>
            <a:pPr rtl="0">
              <a:lnSpc>
                <a:spcPct val="150000"/>
              </a:lnSpc>
              <a:buNone/>
            </a:pPr>
            <a:r>
              <a:rPr lang="en-US" sz="2800" dirty="0">
                <a:latin typeface="+mj-lt"/>
              </a:rPr>
              <a:t>Last host:    172.16.104.126</a:t>
            </a:r>
          </a:p>
          <a:p>
            <a:pPr rtl="0">
              <a:lnSpc>
                <a:spcPct val="150000"/>
              </a:lnSpc>
              <a:buNone/>
            </a:pPr>
            <a:r>
              <a:rPr lang="en-US" sz="2800" dirty="0">
                <a:latin typeface="+mj-lt"/>
              </a:rPr>
              <a:t>Broadcast:    172.16.104.127</a:t>
            </a:r>
          </a:p>
          <a:p>
            <a:pPr rtl="0">
              <a:lnSpc>
                <a:spcPct val="150000"/>
              </a:lnSpc>
              <a:buNone/>
            </a:pPr>
            <a:r>
              <a:rPr lang="en-US" sz="2800" dirty="0">
                <a:latin typeface="+mj-lt"/>
              </a:rPr>
              <a:t>Usable hosts: 30</a:t>
            </a:r>
          </a:p>
        </p:txBody>
      </p:sp>
    </p:spTree>
    <p:extLst>
      <p:ext uri="{BB962C8B-B14F-4D97-AF65-F5344CB8AC3E}">
        <p14:creationId xmlns:p14="http://schemas.microsoft.com/office/powerpoint/2010/main" val="10873926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C6E2F-3D93-42D7-2A72-CA707D24AAC7}"/>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CBC9BB9F-CA6E-6234-5205-D1A05D2BA873}"/>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Creating Subnets by Borrowing Bits</a:t>
            </a:r>
            <a:endParaRPr dirty="0">
              <a:solidFill>
                <a:schemeClr val="tx1"/>
              </a:solidFill>
            </a:endParaRPr>
          </a:p>
        </p:txBody>
      </p:sp>
      <p:sp>
        <p:nvSpPr>
          <p:cNvPr id="15" name="object 15">
            <a:extLst>
              <a:ext uri="{FF2B5EF4-FFF2-40B4-BE49-F238E27FC236}">
                <a16:creationId xmlns:a16="http://schemas.microsoft.com/office/drawing/2014/main" id="{D350965E-94D5-9716-9B16-08483F6C8A08}"/>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DE778939-C43A-6D6E-97F3-E21C29E4E162}"/>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dirty="0">
              <a:latin typeface="Arial"/>
              <a:cs typeface="Arial"/>
            </a:endParaRPr>
          </a:p>
        </p:txBody>
      </p:sp>
      <p:sp>
        <p:nvSpPr>
          <p:cNvPr id="3" name="TextBox 2">
            <a:extLst>
              <a:ext uri="{FF2B5EF4-FFF2-40B4-BE49-F238E27FC236}">
                <a16:creationId xmlns:a16="http://schemas.microsoft.com/office/drawing/2014/main" id="{84AD2F4F-3B4B-DE06-4959-3579F97CD1E7}"/>
              </a:ext>
            </a:extLst>
          </p:cNvPr>
          <p:cNvSpPr txBox="1"/>
          <p:nvPr/>
        </p:nvSpPr>
        <p:spPr>
          <a:xfrm>
            <a:off x="263142" y="762000"/>
            <a:ext cx="8617716" cy="5196166"/>
          </a:xfrm>
          <a:prstGeom prst="rect">
            <a:avLst/>
          </a:prstGeom>
          <a:noFill/>
        </p:spPr>
        <p:txBody>
          <a:bodyPr wrap="square">
            <a:spAutoFit/>
          </a:bodyPr>
          <a:lstStyle/>
          <a:p>
            <a:pPr>
              <a:lnSpc>
                <a:spcPct val="150000"/>
              </a:lnSpc>
              <a:buNone/>
            </a:pPr>
            <a:r>
              <a:rPr lang="en-US" sz="2800" b="1" dirty="0">
                <a:latin typeface="+mj-lt"/>
              </a:rPr>
              <a:t>What Does “Borrow Bits” Mean?</a:t>
            </a:r>
          </a:p>
          <a:p>
            <a:pPr>
              <a:lnSpc>
                <a:spcPct val="150000"/>
              </a:lnSpc>
              <a:buNone/>
            </a:pPr>
            <a:r>
              <a:rPr lang="en-US" sz="2800" dirty="0">
                <a:latin typeface="+mj-lt"/>
              </a:rPr>
              <a:t>Suppose the original network is:</a:t>
            </a:r>
          </a:p>
          <a:p>
            <a:pPr rtl="0">
              <a:lnSpc>
                <a:spcPct val="150000"/>
              </a:lnSpc>
              <a:buNone/>
            </a:pPr>
            <a:r>
              <a:rPr lang="en-US" sz="2800" dirty="0">
                <a:latin typeface="+mj-lt"/>
              </a:rPr>
              <a:t>192.168.1.0/24</a:t>
            </a:r>
          </a:p>
          <a:p>
            <a:pPr>
              <a:lnSpc>
                <a:spcPct val="150000"/>
              </a:lnSpc>
              <a:buNone/>
            </a:pPr>
            <a:r>
              <a:rPr lang="en-US" sz="2800" dirty="0">
                <a:latin typeface="+mj-lt"/>
              </a:rPr>
              <a:t>A /24 has:</a:t>
            </a:r>
          </a:p>
          <a:p>
            <a:pPr rtl="0">
              <a:lnSpc>
                <a:spcPct val="150000"/>
              </a:lnSpc>
              <a:buNone/>
            </a:pPr>
            <a:r>
              <a:rPr lang="en-US" sz="2800" dirty="0">
                <a:latin typeface="+mj-lt"/>
              </a:rPr>
              <a:t>8 host bits</a:t>
            </a:r>
          </a:p>
          <a:p>
            <a:pPr>
              <a:lnSpc>
                <a:spcPct val="150000"/>
              </a:lnSpc>
              <a:buNone/>
            </a:pPr>
            <a:r>
              <a:rPr lang="en-US" sz="2800" dirty="0">
                <a:latin typeface="+mj-lt"/>
              </a:rPr>
              <a:t>If we change it to /27:</a:t>
            </a:r>
          </a:p>
          <a:p>
            <a:pPr rtl="0">
              <a:lnSpc>
                <a:spcPct val="150000"/>
              </a:lnSpc>
              <a:buNone/>
            </a:pPr>
            <a:r>
              <a:rPr lang="en-US" sz="2800" dirty="0">
                <a:latin typeface="+mj-lt"/>
              </a:rPr>
              <a:t>27 - 24 = 3 borrowed bits</a:t>
            </a:r>
          </a:p>
          <a:p>
            <a:pPr>
              <a:lnSpc>
                <a:spcPct val="150000"/>
              </a:lnSpc>
              <a:buNone/>
            </a:pPr>
            <a:r>
              <a:rPr lang="en-US" sz="2800" dirty="0">
                <a:latin typeface="+mj-lt"/>
              </a:rPr>
              <a:t>These borrowed bits create additional subnets</a:t>
            </a:r>
          </a:p>
        </p:txBody>
      </p:sp>
    </p:spTree>
    <p:extLst>
      <p:ext uri="{BB962C8B-B14F-4D97-AF65-F5344CB8AC3E}">
        <p14:creationId xmlns:p14="http://schemas.microsoft.com/office/powerpoint/2010/main" val="3104388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1000"/>
                                        <p:tgtEl>
                                          <p:spTgt spid="3">
                                            <p:txEl>
                                              <p:pRg st="7" end="7"/>
                                            </p:txEl>
                                          </p:spTgt>
                                        </p:tgtEl>
                                      </p:cBhvr>
                                    </p:animEffect>
                                    <p:anim calcmode="lin" valueType="num">
                                      <p:cBhvr>
                                        <p:cTn id="3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8A145-55F1-0653-28C3-214BC5D5D9F6}"/>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8E03E687-B4AF-8019-D8E2-1C4BD972A4C2}"/>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Number of Created Subnets</a:t>
            </a:r>
            <a:endParaRPr dirty="0">
              <a:solidFill>
                <a:schemeClr val="tx1"/>
              </a:solidFill>
            </a:endParaRPr>
          </a:p>
        </p:txBody>
      </p:sp>
      <p:sp>
        <p:nvSpPr>
          <p:cNvPr id="15" name="object 15">
            <a:extLst>
              <a:ext uri="{FF2B5EF4-FFF2-40B4-BE49-F238E27FC236}">
                <a16:creationId xmlns:a16="http://schemas.microsoft.com/office/drawing/2014/main" id="{425FB077-9ECC-F4BD-8D21-B77EEA9C7E5C}"/>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22EDA776-6501-57AE-6AC4-C74E2A434E50}"/>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dirty="0">
              <a:latin typeface="Arial"/>
              <a:cs typeface="Arial"/>
            </a:endParaRPr>
          </a:p>
        </p:txBody>
      </p:sp>
      <p:sp>
        <p:nvSpPr>
          <p:cNvPr id="4" name="TextBox 3">
            <a:extLst>
              <a:ext uri="{FF2B5EF4-FFF2-40B4-BE49-F238E27FC236}">
                <a16:creationId xmlns:a16="http://schemas.microsoft.com/office/drawing/2014/main" id="{F32CBF56-6F69-AFF7-62EB-E2569EDE5F24}"/>
              </a:ext>
            </a:extLst>
          </p:cNvPr>
          <p:cNvSpPr txBox="1"/>
          <p:nvPr/>
        </p:nvSpPr>
        <p:spPr>
          <a:xfrm>
            <a:off x="263142" y="914401"/>
            <a:ext cx="8617716" cy="4549835"/>
          </a:xfrm>
          <a:prstGeom prst="rect">
            <a:avLst/>
          </a:prstGeom>
          <a:noFill/>
        </p:spPr>
        <p:txBody>
          <a:bodyPr wrap="square">
            <a:spAutoFit/>
          </a:bodyPr>
          <a:lstStyle/>
          <a:p>
            <a:pPr>
              <a:lnSpc>
                <a:spcPct val="150000"/>
              </a:lnSpc>
              <a:buNone/>
            </a:pPr>
            <a:r>
              <a:rPr lang="en-US" sz="2800" dirty="0">
                <a:latin typeface="+mj-lt"/>
              </a:rPr>
              <a:t>Use:</a:t>
            </a:r>
          </a:p>
          <a:p>
            <a:pPr rtl="0">
              <a:lnSpc>
                <a:spcPct val="150000"/>
              </a:lnSpc>
              <a:buNone/>
            </a:pPr>
            <a:r>
              <a:rPr lang="en-US" sz="2800" dirty="0">
                <a:latin typeface="+mj-lt"/>
              </a:rPr>
              <a:t>2^s</a:t>
            </a:r>
          </a:p>
          <a:p>
            <a:pPr>
              <a:lnSpc>
                <a:spcPct val="150000"/>
              </a:lnSpc>
              <a:buNone/>
            </a:pPr>
            <a:r>
              <a:rPr lang="en-US" sz="2800" dirty="0">
                <a:latin typeface="+mj-lt"/>
              </a:rPr>
              <a:t>where:</a:t>
            </a:r>
          </a:p>
          <a:p>
            <a:pPr rtl="0">
              <a:lnSpc>
                <a:spcPct val="150000"/>
              </a:lnSpc>
              <a:buNone/>
            </a:pPr>
            <a:r>
              <a:rPr lang="en-US" sz="2800" dirty="0">
                <a:latin typeface="+mj-lt"/>
              </a:rPr>
              <a:t>s = number of borrowed bits</a:t>
            </a:r>
          </a:p>
          <a:p>
            <a:pPr>
              <a:lnSpc>
                <a:spcPct val="150000"/>
              </a:lnSpc>
              <a:buNone/>
            </a:pPr>
            <a:r>
              <a:rPr lang="en-US" sz="2800" dirty="0">
                <a:latin typeface="+mj-lt"/>
              </a:rPr>
              <a:t>Example:</a:t>
            </a:r>
          </a:p>
          <a:p>
            <a:pPr rtl="0">
              <a:lnSpc>
                <a:spcPct val="150000"/>
              </a:lnSpc>
              <a:buNone/>
            </a:pPr>
            <a:r>
              <a:rPr lang="en-US" sz="2800" dirty="0">
                <a:latin typeface="+mj-lt"/>
              </a:rPr>
              <a:t>3 borrowed bits</a:t>
            </a:r>
          </a:p>
          <a:p>
            <a:pPr rtl="0">
              <a:lnSpc>
                <a:spcPct val="150000"/>
              </a:lnSpc>
              <a:buNone/>
            </a:pPr>
            <a:r>
              <a:rPr lang="en-US" sz="2800" dirty="0">
                <a:latin typeface="+mj-lt"/>
              </a:rPr>
              <a:t>2³ = 8 subnets</a:t>
            </a:r>
          </a:p>
        </p:txBody>
      </p:sp>
    </p:spTree>
    <p:extLst>
      <p:ext uri="{BB962C8B-B14F-4D97-AF65-F5344CB8AC3E}">
        <p14:creationId xmlns:p14="http://schemas.microsoft.com/office/powerpoint/2010/main" val="12961737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6DCC1-27DD-676F-90D6-684173829594}"/>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A52FD4BE-FE52-A64B-F7B7-99325D2C2118}"/>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Example</a:t>
            </a:r>
            <a:endParaRPr dirty="0">
              <a:solidFill>
                <a:schemeClr val="tx1"/>
              </a:solidFill>
            </a:endParaRPr>
          </a:p>
        </p:txBody>
      </p:sp>
      <p:sp>
        <p:nvSpPr>
          <p:cNvPr id="15" name="object 15">
            <a:extLst>
              <a:ext uri="{FF2B5EF4-FFF2-40B4-BE49-F238E27FC236}">
                <a16:creationId xmlns:a16="http://schemas.microsoft.com/office/drawing/2014/main" id="{EFAF9061-EE2A-E97A-376A-3C8C06F87042}"/>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17A00810-D906-C67F-6577-24C5CC0E3501}"/>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dirty="0">
              <a:latin typeface="Arial"/>
              <a:cs typeface="Arial"/>
            </a:endParaRPr>
          </a:p>
        </p:txBody>
      </p:sp>
      <p:sp>
        <p:nvSpPr>
          <p:cNvPr id="3" name="TextBox 2">
            <a:extLst>
              <a:ext uri="{FF2B5EF4-FFF2-40B4-BE49-F238E27FC236}">
                <a16:creationId xmlns:a16="http://schemas.microsoft.com/office/drawing/2014/main" id="{CA1B2C20-3BA8-B1D1-A96F-B2EA60A8CBDC}"/>
              </a:ext>
            </a:extLst>
          </p:cNvPr>
          <p:cNvSpPr txBox="1"/>
          <p:nvPr/>
        </p:nvSpPr>
        <p:spPr>
          <a:xfrm>
            <a:off x="381000" y="1477248"/>
            <a:ext cx="8382000" cy="3903504"/>
          </a:xfrm>
          <a:prstGeom prst="rect">
            <a:avLst/>
          </a:prstGeom>
          <a:noFill/>
        </p:spPr>
        <p:txBody>
          <a:bodyPr wrap="square">
            <a:spAutoFit/>
          </a:bodyPr>
          <a:lstStyle/>
          <a:p>
            <a:pPr>
              <a:lnSpc>
                <a:spcPct val="150000"/>
              </a:lnSpc>
              <a:buNone/>
            </a:pPr>
            <a:r>
              <a:rPr lang="en-US" sz="2800" dirty="0">
                <a:latin typeface="+mj-lt"/>
              </a:rPr>
              <a:t>Original: /24</a:t>
            </a:r>
          </a:p>
          <a:p>
            <a:pPr>
              <a:lnSpc>
                <a:spcPct val="150000"/>
              </a:lnSpc>
              <a:buNone/>
            </a:pPr>
            <a:r>
              <a:rPr lang="en-US" sz="2800" dirty="0">
                <a:latin typeface="+mj-lt"/>
              </a:rPr>
              <a:t>New: /27</a:t>
            </a:r>
          </a:p>
          <a:p>
            <a:pPr>
              <a:lnSpc>
                <a:spcPct val="150000"/>
              </a:lnSpc>
              <a:buNone/>
            </a:pPr>
            <a:r>
              <a:rPr lang="en-US" sz="2800" dirty="0">
                <a:latin typeface="+mj-lt"/>
              </a:rPr>
              <a:t>Borrowed bits: 27 - 24 = 3</a:t>
            </a:r>
          </a:p>
          <a:p>
            <a:pPr>
              <a:lnSpc>
                <a:spcPct val="150000"/>
              </a:lnSpc>
              <a:buNone/>
            </a:pPr>
            <a:r>
              <a:rPr lang="en-US" sz="2800" dirty="0">
                <a:latin typeface="+mj-lt"/>
              </a:rPr>
              <a:t>Created subnets: 2³ = 8</a:t>
            </a:r>
          </a:p>
          <a:p>
            <a:pPr>
              <a:lnSpc>
                <a:spcPct val="150000"/>
              </a:lnSpc>
              <a:buNone/>
            </a:pPr>
            <a:r>
              <a:rPr lang="en-US" sz="2800" dirty="0">
                <a:latin typeface="+mj-lt"/>
              </a:rPr>
              <a:t>Remaining host bits: 32 - 27 = 5</a:t>
            </a:r>
          </a:p>
          <a:p>
            <a:pPr>
              <a:lnSpc>
                <a:spcPct val="150000"/>
              </a:lnSpc>
              <a:buNone/>
            </a:pPr>
            <a:r>
              <a:rPr lang="en-US" sz="2800" dirty="0">
                <a:latin typeface="+mj-lt"/>
              </a:rPr>
              <a:t>Usable hosts: 2⁵ - 2 = 30</a:t>
            </a:r>
          </a:p>
        </p:txBody>
      </p:sp>
    </p:spTree>
    <p:extLst>
      <p:ext uri="{BB962C8B-B14F-4D97-AF65-F5344CB8AC3E}">
        <p14:creationId xmlns:p14="http://schemas.microsoft.com/office/powerpoint/2010/main" val="32248165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7575E-3B10-059F-7091-47DA531D1057}"/>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31A9631F-5AFF-CC23-265C-2CED31926148}"/>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t>Class Question</a:t>
            </a:r>
            <a:endParaRPr dirty="0">
              <a:solidFill>
                <a:schemeClr val="tx1"/>
              </a:solidFill>
            </a:endParaRPr>
          </a:p>
        </p:txBody>
      </p:sp>
      <p:sp>
        <p:nvSpPr>
          <p:cNvPr id="15" name="object 15">
            <a:extLst>
              <a:ext uri="{FF2B5EF4-FFF2-40B4-BE49-F238E27FC236}">
                <a16:creationId xmlns:a16="http://schemas.microsoft.com/office/drawing/2014/main" id="{CB1C46DF-8E13-ADFA-137A-071CC33BF814}"/>
              </a:ext>
            </a:extLst>
          </p:cNvPr>
          <p:cNvSpPr txBox="1"/>
          <p:nvPr/>
        </p:nvSpPr>
        <p:spPr>
          <a:xfrm>
            <a:off x="263142" y="6553546"/>
            <a:ext cx="645160" cy="278130"/>
          </a:xfrm>
          <a:prstGeom prst="rect">
            <a:avLst/>
          </a:prstGeom>
        </p:spPr>
        <p:txBody>
          <a:bodyPr vert="horz" wrap="square" lIns="0" tIns="635" rIns="0" bIns="0" rtlCol="0">
            <a:spAutoFit/>
          </a:bodyPr>
          <a:lstStyle/>
          <a:p>
            <a:pPr marL="396875">
              <a:lnSpc>
                <a:spcPct val="100000"/>
              </a:lnSpc>
              <a:spcBef>
                <a:spcPts val="5"/>
              </a:spcBef>
            </a:pPr>
            <a:r>
              <a:rPr sz="1000" spc="-50" dirty="0">
                <a:solidFill>
                  <a:srgbClr val="3C3935"/>
                </a:solidFill>
                <a:latin typeface="Arial"/>
                <a:cs typeface="Arial"/>
              </a:rPr>
              <a:t>3</a:t>
            </a:r>
            <a:endParaRPr sz="1000">
              <a:latin typeface="Arial"/>
              <a:cs typeface="Arial"/>
            </a:endParaRPr>
          </a:p>
          <a:p>
            <a:pPr marL="12700">
              <a:lnSpc>
                <a:spcPct val="100000"/>
              </a:lnSpc>
              <a:spcBef>
                <a:spcPts val="35"/>
              </a:spcBef>
            </a:pPr>
            <a:r>
              <a:rPr sz="700" spc="-10" dirty="0">
                <a:solidFill>
                  <a:srgbClr val="D2D2D2"/>
                </a:solidFill>
                <a:latin typeface="Arial"/>
                <a:cs typeface="Arial"/>
              </a:rPr>
              <a:t>Presentation_ID</a:t>
            </a:r>
            <a:endParaRPr sz="700">
              <a:latin typeface="Arial"/>
              <a:cs typeface="Arial"/>
            </a:endParaRPr>
          </a:p>
        </p:txBody>
      </p:sp>
      <p:sp>
        <p:nvSpPr>
          <p:cNvPr id="16" name="object 16">
            <a:extLst>
              <a:ext uri="{FF2B5EF4-FFF2-40B4-BE49-F238E27FC236}">
                <a16:creationId xmlns:a16="http://schemas.microsoft.com/office/drawing/2014/main" id="{58272DE2-3469-4CEE-FDF2-69F2BBBCC928}"/>
              </a:ext>
            </a:extLst>
          </p:cNvPr>
          <p:cNvSpPr txBox="1"/>
          <p:nvPr/>
        </p:nvSpPr>
        <p:spPr>
          <a:xfrm>
            <a:off x="4782661" y="6563812"/>
            <a:ext cx="4240530" cy="252729"/>
          </a:xfrm>
          <a:prstGeom prst="rect">
            <a:avLst/>
          </a:prstGeom>
        </p:spPr>
        <p:txBody>
          <a:bodyPr vert="horz" wrap="square" lIns="0" tIns="0" rIns="0" bIns="0" rtlCol="0">
            <a:spAutoFit/>
          </a:bodyPr>
          <a:lstStyle/>
          <a:p>
            <a:pPr marL="12700">
              <a:lnSpc>
                <a:spcPts val="1870"/>
              </a:lnSpc>
            </a:pPr>
            <a:r>
              <a:rPr sz="1600" dirty="0">
                <a:solidFill>
                  <a:srgbClr val="898989"/>
                </a:solidFill>
                <a:latin typeface="Arial"/>
                <a:cs typeface="Arial"/>
              </a:rPr>
              <a:t>©</a:t>
            </a:r>
            <a:r>
              <a:rPr sz="1600" spc="-55" dirty="0">
                <a:solidFill>
                  <a:srgbClr val="898989"/>
                </a:solidFill>
                <a:latin typeface="Arial"/>
                <a:cs typeface="Arial"/>
              </a:rPr>
              <a:t> </a:t>
            </a:r>
            <a:r>
              <a:rPr sz="1600" dirty="0">
                <a:solidFill>
                  <a:srgbClr val="898989"/>
                </a:solidFill>
                <a:latin typeface="Arial"/>
                <a:cs typeface="Arial"/>
              </a:rPr>
              <a:t>2008</a:t>
            </a:r>
            <a:r>
              <a:rPr sz="1600" spc="-40" dirty="0">
                <a:solidFill>
                  <a:srgbClr val="898989"/>
                </a:solidFill>
                <a:latin typeface="Arial"/>
                <a:cs typeface="Arial"/>
              </a:rPr>
              <a:t> </a:t>
            </a:r>
            <a:r>
              <a:rPr sz="1600" dirty="0">
                <a:solidFill>
                  <a:srgbClr val="898989"/>
                </a:solidFill>
                <a:latin typeface="Arial"/>
                <a:cs typeface="Arial"/>
              </a:rPr>
              <a:t>Cisco</a:t>
            </a:r>
            <a:r>
              <a:rPr sz="1600" spc="-45" dirty="0">
                <a:solidFill>
                  <a:srgbClr val="898989"/>
                </a:solidFill>
                <a:latin typeface="Arial"/>
                <a:cs typeface="Arial"/>
              </a:rPr>
              <a:t> </a:t>
            </a:r>
            <a:r>
              <a:rPr sz="1600" dirty="0">
                <a:solidFill>
                  <a:srgbClr val="898989"/>
                </a:solidFill>
                <a:latin typeface="Arial"/>
                <a:cs typeface="Arial"/>
              </a:rPr>
              <a:t>Systems,</a:t>
            </a:r>
            <a:r>
              <a:rPr sz="1600" spc="-5" dirty="0">
                <a:solidFill>
                  <a:srgbClr val="898989"/>
                </a:solidFill>
                <a:latin typeface="Arial"/>
                <a:cs typeface="Arial"/>
              </a:rPr>
              <a:t> </a:t>
            </a:r>
            <a:r>
              <a:rPr sz="1600" dirty="0">
                <a:solidFill>
                  <a:srgbClr val="898989"/>
                </a:solidFill>
                <a:latin typeface="Arial"/>
                <a:cs typeface="Arial"/>
              </a:rPr>
              <a:t>Inc.</a:t>
            </a:r>
            <a:r>
              <a:rPr sz="1600" spc="-20" dirty="0">
                <a:solidFill>
                  <a:srgbClr val="898989"/>
                </a:solidFill>
                <a:latin typeface="Arial"/>
                <a:cs typeface="Arial"/>
              </a:rPr>
              <a:t> </a:t>
            </a:r>
            <a:r>
              <a:rPr sz="1600" dirty="0">
                <a:solidFill>
                  <a:srgbClr val="898989"/>
                </a:solidFill>
                <a:latin typeface="Arial"/>
                <a:cs typeface="Arial"/>
              </a:rPr>
              <a:t>All</a:t>
            </a:r>
            <a:r>
              <a:rPr sz="1600" spc="-55" dirty="0">
                <a:solidFill>
                  <a:srgbClr val="898989"/>
                </a:solidFill>
                <a:latin typeface="Arial"/>
                <a:cs typeface="Arial"/>
              </a:rPr>
              <a:t> </a:t>
            </a:r>
            <a:r>
              <a:rPr sz="1600" dirty="0">
                <a:solidFill>
                  <a:srgbClr val="898989"/>
                </a:solidFill>
                <a:latin typeface="Arial"/>
                <a:cs typeface="Arial"/>
              </a:rPr>
              <a:t>rights</a:t>
            </a:r>
            <a:r>
              <a:rPr sz="1600" spc="-35" dirty="0">
                <a:solidFill>
                  <a:srgbClr val="898989"/>
                </a:solidFill>
                <a:latin typeface="Arial"/>
                <a:cs typeface="Arial"/>
              </a:rPr>
              <a:t> </a:t>
            </a:r>
            <a:r>
              <a:rPr sz="1600" spc="-10" dirty="0">
                <a:solidFill>
                  <a:srgbClr val="898989"/>
                </a:solidFill>
                <a:latin typeface="Arial"/>
                <a:cs typeface="Arial"/>
              </a:rPr>
              <a:t>reserved.</a:t>
            </a:r>
            <a:endParaRPr sz="1600" dirty="0">
              <a:latin typeface="Arial"/>
              <a:cs typeface="Arial"/>
            </a:endParaRPr>
          </a:p>
        </p:txBody>
      </p:sp>
      <p:sp>
        <p:nvSpPr>
          <p:cNvPr id="4" name="TextBox 3">
            <a:extLst>
              <a:ext uri="{FF2B5EF4-FFF2-40B4-BE49-F238E27FC236}">
                <a16:creationId xmlns:a16="http://schemas.microsoft.com/office/drawing/2014/main" id="{2C1D415C-8AF4-942B-C493-A16AB2577102}"/>
              </a:ext>
            </a:extLst>
          </p:cNvPr>
          <p:cNvSpPr txBox="1"/>
          <p:nvPr/>
        </p:nvSpPr>
        <p:spPr>
          <a:xfrm>
            <a:off x="381000" y="507751"/>
            <a:ext cx="8382000" cy="5842497"/>
          </a:xfrm>
          <a:prstGeom prst="rect">
            <a:avLst/>
          </a:prstGeom>
          <a:noFill/>
        </p:spPr>
        <p:txBody>
          <a:bodyPr wrap="square">
            <a:spAutoFit/>
          </a:bodyPr>
          <a:lstStyle/>
          <a:p>
            <a:pPr>
              <a:lnSpc>
                <a:spcPct val="150000"/>
              </a:lnSpc>
              <a:buNone/>
            </a:pPr>
            <a:r>
              <a:rPr lang="en-US" sz="2800" dirty="0">
                <a:latin typeface="+mj-lt"/>
              </a:rPr>
              <a:t>We start with: 192.168.10.0/24</a:t>
            </a:r>
          </a:p>
          <a:p>
            <a:pPr>
              <a:lnSpc>
                <a:spcPct val="150000"/>
              </a:lnSpc>
              <a:buNone/>
            </a:pPr>
            <a:r>
              <a:rPr lang="en-US" sz="2800" dirty="0">
                <a:latin typeface="+mj-lt"/>
              </a:rPr>
              <a:t>We need at least 6 subnets.</a:t>
            </a:r>
          </a:p>
          <a:p>
            <a:pPr>
              <a:lnSpc>
                <a:spcPct val="150000"/>
              </a:lnSpc>
              <a:buNone/>
            </a:pPr>
            <a:r>
              <a:rPr lang="en-US" sz="2800" dirty="0">
                <a:latin typeface="+mj-lt"/>
              </a:rPr>
              <a:t>How many bits should we borrow?</a:t>
            </a:r>
          </a:p>
          <a:p>
            <a:pPr>
              <a:lnSpc>
                <a:spcPct val="150000"/>
              </a:lnSpc>
              <a:buNone/>
            </a:pPr>
            <a:r>
              <a:rPr lang="en-US" sz="2800" dirty="0">
                <a:latin typeface="+mj-lt"/>
              </a:rPr>
              <a:t>Try:</a:t>
            </a:r>
          </a:p>
          <a:p>
            <a:pPr rtl="0">
              <a:lnSpc>
                <a:spcPct val="150000"/>
              </a:lnSpc>
              <a:buNone/>
            </a:pPr>
            <a:r>
              <a:rPr lang="en-US" sz="2800" dirty="0">
                <a:latin typeface="+mj-lt"/>
              </a:rPr>
              <a:t>2² = 4</a:t>
            </a:r>
          </a:p>
          <a:p>
            <a:pPr rtl="0">
              <a:lnSpc>
                <a:spcPct val="150000"/>
              </a:lnSpc>
              <a:buNone/>
            </a:pPr>
            <a:r>
              <a:rPr lang="en-US" sz="2800" dirty="0">
                <a:latin typeface="+mj-lt"/>
              </a:rPr>
              <a:t>2³ = 8</a:t>
            </a:r>
          </a:p>
          <a:p>
            <a:pPr>
              <a:lnSpc>
                <a:spcPct val="150000"/>
              </a:lnSpc>
              <a:buNone/>
            </a:pPr>
            <a:r>
              <a:rPr lang="en-US" sz="2800" b="1" dirty="0">
                <a:latin typeface="+mj-lt"/>
              </a:rPr>
              <a:t>Answer:</a:t>
            </a:r>
            <a:endParaRPr lang="en-US" sz="2800" dirty="0">
              <a:latin typeface="+mj-lt"/>
            </a:endParaRPr>
          </a:p>
          <a:p>
            <a:pPr rtl="0">
              <a:lnSpc>
                <a:spcPct val="150000"/>
              </a:lnSpc>
              <a:buNone/>
            </a:pPr>
            <a:r>
              <a:rPr lang="en-US" sz="2800" dirty="0">
                <a:latin typeface="+mj-lt"/>
              </a:rPr>
              <a:t>3 bits</a:t>
            </a:r>
          </a:p>
          <a:p>
            <a:pPr>
              <a:lnSpc>
                <a:spcPct val="150000"/>
              </a:lnSpc>
              <a:buNone/>
            </a:pPr>
            <a:r>
              <a:rPr lang="en-US" sz="2800" dirty="0">
                <a:latin typeface="+mj-lt"/>
              </a:rPr>
              <a:t>New prefix: /27</a:t>
            </a:r>
          </a:p>
        </p:txBody>
      </p:sp>
    </p:spTree>
    <p:extLst>
      <p:ext uri="{BB962C8B-B14F-4D97-AF65-F5344CB8AC3E}">
        <p14:creationId xmlns:p14="http://schemas.microsoft.com/office/powerpoint/2010/main" val="707974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1000"/>
                                        <p:tgtEl>
                                          <p:spTgt spid="4">
                                            <p:txEl>
                                              <p:pRg st="3" end="3"/>
                                            </p:txEl>
                                          </p:spTgt>
                                        </p:tgtEl>
                                      </p:cBhvr>
                                    </p:animEffect>
                                    <p:anim calcmode="lin" valueType="num">
                                      <p:cBhvr>
                                        <p:cTn id="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1000"/>
                                        <p:tgtEl>
                                          <p:spTgt spid="4">
                                            <p:txEl>
                                              <p:pRg st="4" end="4"/>
                                            </p:txEl>
                                          </p:spTgt>
                                        </p:tgtEl>
                                      </p:cBhvr>
                                    </p:animEffect>
                                    <p:anim calcmode="lin" valueType="num">
                                      <p:cBhvr>
                                        <p:cTn id="1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fade">
                                      <p:cBhvr>
                                        <p:cTn id="17" dur="1000"/>
                                        <p:tgtEl>
                                          <p:spTgt spid="4">
                                            <p:txEl>
                                              <p:pRg st="5" end="5"/>
                                            </p:txEl>
                                          </p:spTgt>
                                        </p:tgtEl>
                                      </p:cBhvr>
                                    </p:animEffect>
                                    <p:anim calcmode="lin" valueType="num">
                                      <p:cBhvr>
                                        <p:cTn id="1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1000"/>
                                        <p:tgtEl>
                                          <p:spTgt spid="4">
                                            <p:txEl>
                                              <p:pRg st="6" end="6"/>
                                            </p:txEl>
                                          </p:spTgt>
                                        </p:tgtEl>
                                      </p:cBhvr>
                                    </p:animEffect>
                                    <p:anim calcmode="lin" valueType="num">
                                      <p:cBhvr>
                                        <p:cTn id="2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1000"/>
                                        <p:tgtEl>
                                          <p:spTgt spid="4">
                                            <p:txEl>
                                              <p:pRg st="7" end="7"/>
                                            </p:txEl>
                                          </p:spTgt>
                                        </p:tgtEl>
                                      </p:cBhvr>
                                    </p:animEffect>
                                    <p:anim calcmode="lin" valueType="num">
                                      <p:cBhvr>
                                        <p:cTn id="2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7" end="7"/>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
                                            <p:txEl>
                                              <p:pRg st="8" end="8"/>
                                            </p:txEl>
                                          </p:spTgt>
                                        </p:tgtEl>
                                        <p:attrNameLst>
                                          <p:attrName>style.visibility</p:attrName>
                                        </p:attrNameLst>
                                      </p:cBhvr>
                                      <p:to>
                                        <p:strVal val="visible"/>
                                      </p:to>
                                    </p:set>
                                    <p:animEffect transition="in" filter="fade">
                                      <p:cBhvr>
                                        <p:cTn id="32" dur="1000"/>
                                        <p:tgtEl>
                                          <p:spTgt spid="4">
                                            <p:txEl>
                                              <p:pRg st="8" end="8"/>
                                            </p:txEl>
                                          </p:spTgt>
                                        </p:tgtEl>
                                      </p:cBhvr>
                                    </p:animEffect>
                                    <p:anim calcmode="lin" valueType="num">
                                      <p:cBhvr>
                                        <p:cTn id="33"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BCADA-C2BC-8C89-F224-6C84B30E1807}"/>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2E8AB4A3-BE79-06FA-AC7C-BEC57E783D0D}"/>
              </a:ext>
            </a:extLst>
          </p:cNvPr>
          <p:cNvSpPr>
            <a:spLocks noGrp="1"/>
          </p:cNvSpPr>
          <p:nvPr>
            <p:ph type="title"/>
          </p:nvPr>
        </p:nvSpPr>
        <p:spPr>
          <a:xfrm>
            <a:off x="19050" y="24062"/>
            <a:ext cx="6686550" cy="433138"/>
          </a:xfrm>
        </p:spPr>
        <p:txBody>
          <a:bodyPr>
            <a:noAutofit/>
          </a:bodyPr>
          <a:lstStyle/>
          <a:p>
            <a:r>
              <a:rPr lang="en-US" dirty="0">
                <a:solidFill>
                  <a:schemeClr val="tx1"/>
                </a:solidFill>
                <a:latin typeface="Arial" panose="020B0604020202020204" pitchFamily="34" charset="0"/>
                <a:cs typeface="Arial" panose="020B0604020202020204" pitchFamily="34" charset="0"/>
              </a:rPr>
              <a:t>Let’s Answer Your Questions</a:t>
            </a:r>
            <a:endParaRPr lang="en-AU" dirty="0">
              <a:solidFill>
                <a:schemeClr val="tx1"/>
              </a:solidFill>
              <a:latin typeface="Arial" panose="020B0604020202020204" pitchFamily="34" charset="0"/>
              <a:cs typeface="Arial" panose="020B0604020202020204" pitchFamily="34" charset="0"/>
            </a:endParaRPr>
          </a:p>
        </p:txBody>
      </p:sp>
      <p:pic>
        <p:nvPicPr>
          <p:cNvPr id="1028" name="Picture 4" descr="Answering Questions In Complete Sentences">
            <a:extLst>
              <a:ext uri="{FF2B5EF4-FFF2-40B4-BE49-F238E27FC236}">
                <a16:creationId xmlns:a16="http://schemas.microsoft.com/office/drawing/2014/main" id="{84E5527E-4D0B-667B-4471-EFDB8B3143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2434" y="1443320"/>
            <a:ext cx="2539133" cy="158695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10BBB43-1E60-3AC7-6893-6AAB3EFF1E14}"/>
              </a:ext>
            </a:extLst>
          </p:cNvPr>
          <p:cNvSpPr txBox="1"/>
          <p:nvPr/>
        </p:nvSpPr>
        <p:spPr>
          <a:xfrm>
            <a:off x="600075" y="2971800"/>
            <a:ext cx="7943850" cy="2465996"/>
          </a:xfrm>
          <a:prstGeom prst="rect">
            <a:avLst/>
          </a:prstGeom>
          <a:noFill/>
        </p:spPr>
        <p:txBody>
          <a:bodyPr wrap="square" rtlCol="0">
            <a:spAutoFit/>
          </a:bodyPr>
          <a:lstStyle/>
          <a:p>
            <a:pPr marL="385763" marR="0" lvl="0" indent="-385763" algn="l" defTabSz="685800" rtl="0" eaLnBrk="1" fontAlgn="auto" latinLnBrk="0" hangingPunct="1">
              <a:lnSpc>
                <a:spcPct val="150000"/>
              </a:lnSpc>
              <a:spcBef>
                <a:spcPts val="0"/>
              </a:spcBef>
              <a:spcAft>
                <a:spcPts val="0"/>
              </a:spcAft>
              <a:buClrTx/>
              <a:buSzTx/>
              <a:buFont typeface="+mj-lt"/>
              <a:buAutoNum type="arabicPeriod"/>
              <a:tabLst/>
              <a:defRPr/>
            </a:pPr>
            <a:r>
              <a:rPr kumimoji="0" lang="en-US" sz="2100" b="1" i="0" u="none" strike="noStrike" kern="1200" cap="none" spc="0" normalizeH="0" baseline="0" noProof="0" dirty="0">
                <a:ln>
                  <a:noFill/>
                </a:ln>
                <a:solidFill>
                  <a:prstClr val="black"/>
                </a:solidFill>
                <a:effectLst/>
                <a:uLnTx/>
                <a:uFillTx/>
                <a:latin typeface="Calibri"/>
                <a:ea typeface="+mn-ea"/>
                <a:cs typeface="+mn-cs"/>
              </a:rPr>
              <a:t>Canvas Inbox</a:t>
            </a:r>
            <a:r>
              <a:rPr kumimoji="0" lang="en-US" sz="2100" b="0" i="0" u="none" strike="noStrike" kern="1200" cap="none" spc="0" normalizeH="0" baseline="0" noProof="0" dirty="0">
                <a:ln>
                  <a:noFill/>
                </a:ln>
                <a:solidFill>
                  <a:prstClr val="black"/>
                </a:solidFill>
                <a:effectLst/>
                <a:uLnTx/>
                <a:uFillTx/>
                <a:latin typeface="Calibri"/>
                <a:ea typeface="+mn-ea"/>
                <a:cs typeface="+mn-cs"/>
              </a:rPr>
              <a:t> – For academic queries. </a:t>
            </a:r>
          </a:p>
          <a:p>
            <a:pPr marL="385763" marR="0" lvl="0" indent="-385763" algn="l" defTabSz="685800" rtl="0" eaLnBrk="1" fontAlgn="auto" latinLnBrk="0" hangingPunct="1">
              <a:lnSpc>
                <a:spcPct val="150000"/>
              </a:lnSpc>
              <a:spcBef>
                <a:spcPts val="0"/>
              </a:spcBef>
              <a:spcAft>
                <a:spcPts val="0"/>
              </a:spcAft>
              <a:buClrTx/>
              <a:buSzTx/>
              <a:buFont typeface="+mj-lt"/>
              <a:buAutoNum type="arabicPeriod"/>
              <a:tabLst/>
              <a:defRPr/>
            </a:pPr>
            <a:r>
              <a:rPr kumimoji="0" lang="en-US" sz="2100" b="1" i="0" u="none" strike="noStrike" kern="1200" cap="none" spc="0" normalizeH="0" baseline="0" noProof="0" dirty="0">
                <a:ln>
                  <a:noFill/>
                </a:ln>
                <a:solidFill>
                  <a:prstClr val="black"/>
                </a:solidFill>
                <a:effectLst/>
                <a:uLnTx/>
                <a:uFillTx/>
                <a:latin typeface="Calibri"/>
                <a:ea typeface="+mn-ea"/>
                <a:cs typeface="+mn-cs"/>
              </a:rPr>
              <a:t>Email</a:t>
            </a:r>
            <a:r>
              <a:rPr kumimoji="0" lang="en-US" sz="2100" b="0" i="0" u="none" strike="noStrike" kern="1200" cap="none" spc="0" normalizeH="0" baseline="0" noProof="0" dirty="0">
                <a:ln>
                  <a:noFill/>
                </a:ln>
                <a:solidFill>
                  <a:prstClr val="black"/>
                </a:solidFill>
                <a:effectLst/>
                <a:uLnTx/>
                <a:uFillTx/>
                <a:latin typeface="Calibri"/>
                <a:ea typeface="+mn-ea"/>
                <a:cs typeface="+mn-cs"/>
              </a:rPr>
              <a:t> – For formal communication and attachments. </a:t>
            </a:r>
          </a:p>
          <a:p>
            <a:pPr marL="385763" marR="0" lvl="0" indent="-385763" algn="l" defTabSz="685800" rtl="0" eaLnBrk="1" fontAlgn="auto" latinLnBrk="0" hangingPunct="1">
              <a:lnSpc>
                <a:spcPct val="150000"/>
              </a:lnSpc>
              <a:spcBef>
                <a:spcPts val="0"/>
              </a:spcBef>
              <a:spcAft>
                <a:spcPts val="0"/>
              </a:spcAft>
              <a:buClrTx/>
              <a:buSzTx/>
              <a:buFont typeface="+mj-lt"/>
              <a:buAutoNum type="arabicPeriod"/>
              <a:tabLst/>
              <a:defRPr/>
            </a:pPr>
            <a:r>
              <a:rPr kumimoji="0" lang="en-US" sz="2100" b="1" i="0" u="none" strike="noStrike" kern="1200" cap="none" spc="0" normalizeH="0" baseline="0" noProof="0" dirty="0">
                <a:ln>
                  <a:noFill/>
                </a:ln>
                <a:solidFill>
                  <a:prstClr val="black"/>
                </a:solidFill>
                <a:effectLst/>
                <a:uLnTx/>
                <a:uFillTx/>
                <a:latin typeface="Calibri"/>
                <a:ea typeface="+mn-ea"/>
                <a:cs typeface="+mn-cs"/>
              </a:rPr>
              <a:t>Canvas Discussion</a:t>
            </a:r>
            <a:r>
              <a:rPr kumimoji="0" lang="en-US" sz="2100" b="0" i="0" u="none" strike="noStrike" kern="1200" cap="none" spc="0" normalizeH="0" baseline="0" noProof="0" dirty="0">
                <a:ln>
                  <a:noFill/>
                </a:ln>
                <a:solidFill>
                  <a:prstClr val="black"/>
                </a:solidFill>
                <a:effectLst/>
                <a:uLnTx/>
                <a:uFillTx/>
                <a:latin typeface="Calibri"/>
                <a:ea typeface="+mn-ea"/>
                <a:cs typeface="+mn-cs"/>
              </a:rPr>
              <a:t> – For academic discussions and general queries. </a:t>
            </a:r>
          </a:p>
          <a:p>
            <a:pPr marL="385763" marR="0" lvl="0" indent="-385763" algn="l" defTabSz="685800" rtl="0" eaLnBrk="1" fontAlgn="auto" latinLnBrk="0" hangingPunct="1">
              <a:lnSpc>
                <a:spcPct val="150000"/>
              </a:lnSpc>
              <a:spcBef>
                <a:spcPts val="0"/>
              </a:spcBef>
              <a:spcAft>
                <a:spcPts val="0"/>
              </a:spcAft>
              <a:buClrTx/>
              <a:buSzTx/>
              <a:buFont typeface="+mj-lt"/>
              <a:buAutoNum type="arabicPeriod"/>
              <a:tabLst/>
              <a:defRPr/>
            </a:pPr>
            <a:r>
              <a:rPr kumimoji="0" lang="en-US" sz="2100" b="1" i="0" u="none" strike="noStrike" kern="1200" cap="none" spc="0" normalizeH="0" baseline="0" noProof="0" dirty="0">
                <a:ln>
                  <a:noFill/>
                </a:ln>
                <a:solidFill>
                  <a:prstClr val="black"/>
                </a:solidFill>
                <a:effectLst/>
                <a:uLnTx/>
                <a:uFillTx/>
                <a:latin typeface="Calibri"/>
                <a:ea typeface="+mn-ea"/>
                <a:cs typeface="+mn-cs"/>
              </a:rPr>
              <a:t>Reminder</a:t>
            </a:r>
            <a:r>
              <a:rPr kumimoji="0" lang="en-US" sz="2100" b="0" i="0" u="none" strike="noStrike" kern="1200" cap="none" spc="0" normalizeH="0" baseline="0" noProof="0" dirty="0">
                <a:ln>
                  <a:noFill/>
                </a:ln>
                <a:solidFill>
                  <a:prstClr val="black"/>
                </a:solidFill>
                <a:effectLst/>
                <a:uLnTx/>
                <a:uFillTx/>
                <a:latin typeface="Calibri"/>
                <a:ea typeface="+mn-ea"/>
                <a:cs typeface="+mn-cs"/>
              </a:rPr>
              <a:t> – Please follow up if you do not receive a response within 3 business days.</a:t>
            </a:r>
          </a:p>
        </p:txBody>
      </p:sp>
    </p:spTree>
    <p:extLst>
      <p:ext uri="{BB962C8B-B14F-4D97-AF65-F5344CB8AC3E}">
        <p14:creationId xmlns:p14="http://schemas.microsoft.com/office/powerpoint/2010/main" val="11828031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379064" y="1272864"/>
            <a:ext cx="4306642" cy="4306642"/>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3" name="TextBox 2">
            <a:extLst>
              <a:ext uri="{FF2B5EF4-FFF2-40B4-BE49-F238E27FC236}">
                <a16:creationId xmlns:a16="http://schemas.microsoft.com/office/drawing/2014/main" id="{84845029-98A4-9C92-04B4-320B6AFDD1B8}"/>
              </a:ext>
            </a:extLst>
          </p:cNvPr>
          <p:cNvSpPr txBox="1"/>
          <p:nvPr/>
        </p:nvSpPr>
        <p:spPr>
          <a:xfrm>
            <a:off x="4791089" y="931863"/>
            <a:ext cx="3898533" cy="4988642"/>
          </a:xfrm>
          <a:prstGeom prst="rect">
            <a:avLst/>
          </a:prstGeom>
        </p:spPr>
        <p:txBody>
          <a:bodyPr vert="horz" lIns="68580" tIns="34290" rIns="68580" bIns="34290" rtlCol="0" anchor="t">
            <a:noAutofit/>
          </a:bodyPr>
          <a:lstStyle/>
          <a:p>
            <a:pPr algn="l" defTabSz="685800" rtl="0">
              <a:lnSpc>
                <a:spcPct val="150000"/>
              </a:lnSpc>
              <a:spcAft>
                <a:spcPts val="450"/>
              </a:spcAft>
              <a:defRPr/>
            </a:pPr>
            <a:r>
              <a:rPr lang="en-US" sz="2100" b="1" kern="1200" dirty="0">
                <a:solidFill>
                  <a:prstClr val="black">
                    <a:alpha val="80000"/>
                  </a:prstClr>
                </a:solidFill>
                <a:latin typeface="Calibri" panose="020F0502020204030204"/>
                <a:ea typeface="+mn-ea"/>
                <a:cs typeface="+mn-cs"/>
              </a:rPr>
              <a:t>Happy Learning and Bright Futures Ahead!</a:t>
            </a:r>
            <a:br>
              <a:rPr lang="en-US" sz="2100" kern="1200" dirty="0">
                <a:solidFill>
                  <a:prstClr val="black">
                    <a:alpha val="80000"/>
                  </a:prstClr>
                </a:solidFill>
                <a:latin typeface="Calibri" panose="020F0502020204030204"/>
                <a:ea typeface="+mn-ea"/>
                <a:cs typeface="+mn-cs"/>
              </a:rPr>
            </a:br>
            <a:r>
              <a:rPr lang="en-US" sz="2100" i="1" kern="1200" dirty="0">
                <a:solidFill>
                  <a:prstClr val="black">
                    <a:alpha val="80000"/>
                  </a:prstClr>
                </a:solidFill>
                <a:latin typeface="Calibri" panose="020F0502020204030204"/>
                <a:ea typeface="+mn-ea"/>
                <a:cs typeface="+mn-cs"/>
              </a:rPr>
              <a:t>Dr. Farshid Keivanian</a:t>
            </a:r>
            <a:br>
              <a:rPr lang="en-US" sz="2100" kern="1200" dirty="0">
                <a:solidFill>
                  <a:prstClr val="black">
                    <a:alpha val="80000"/>
                  </a:prstClr>
                </a:solidFill>
                <a:latin typeface="Calibri" panose="020F0502020204030204"/>
                <a:ea typeface="+mn-ea"/>
                <a:cs typeface="+mn-cs"/>
              </a:rPr>
            </a:br>
            <a:r>
              <a:rPr lang="en-US" sz="2100" b="1" kern="1200" dirty="0">
                <a:solidFill>
                  <a:prstClr val="black">
                    <a:alpha val="80000"/>
                  </a:prstClr>
                </a:solidFill>
                <a:latin typeface="Calibri" panose="020F0502020204030204"/>
                <a:ea typeface="+mn-ea"/>
                <a:cs typeface="+mn-cs"/>
              </a:rPr>
              <a:t>Stay Connected:</a:t>
            </a:r>
            <a:br>
              <a:rPr lang="en-US" sz="2100" kern="1200" dirty="0">
                <a:solidFill>
                  <a:prstClr val="black">
                    <a:alpha val="80000"/>
                  </a:prstClr>
                </a:solidFill>
                <a:latin typeface="Calibri" panose="020F0502020204030204"/>
                <a:ea typeface="+mn-ea"/>
                <a:cs typeface="+mn-cs"/>
              </a:rPr>
            </a:br>
            <a:r>
              <a:rPr lang="en-US" sz="2100" kern="1200" dirty="0">
                <a:solidFill>
                  <a:prstClr val="black">
                    <a:alpha val="80000"/>
                  </a:prstClr>
                </a:solidFill>
                <a:latin typeface="Calibri" panose="020F0502020204030204"/>
                <a:ea typeface="+mn-ea"/>
                <a:cs typeface="+mn-cs"/>
                <a:hlinkClick r:id="rId3"/>
              </a:rPr>
              <a:t>linkedin.com/in/farshid-keivanian</a:t>
            </a:r>
            <a:r>
              <a:rPr lang="en-US" sz="2100" kern="1200" dirty="0">
                <a:solidFill>
                  <a:prstClr val="black">
                    <a:alpha val="80000"/>
                  </a:prstClr>
                </a:solidFill>
                <a:latin typeface="Calibri" panose="020F0502020204030204"/>
                <a:ea typeface="+mn-ea"/>
                <a:cs typeface="+mn-cs"/>
              </a:rPr>
              <a:t> </a:t>
            </a:r>
            <a:br>
              <a:rPr lang="en-US" sz="2100" kern="1200" dirty="0">
                <a:solidFill>
                  <a:prstClr val="black">
                    <a:alpha val="80000"/>
                  </a:prstClr>
                </a:solidFill>
                <a:latin typeface="Calibri" panose="020F0502020204030204"/>
                <a:ea typeface="+mn-ea"/>
                <a:cs typeface="+mn-cs"/>
              </a:rPr>
            </a:br>
            <a:r>
              <a:rPr lang="en-US" sz="2100" kern="1200" dirty="0">
                <a:solidFill>
                  <a:prstClr val="black">
                    <a:alpha val="80000"/>
                  </a:prstClr>
                </a:solidFill>
                <a:latin typeface="Calibri" panose="020F0502020204030204"/>
                <a:ea typeface="+mn-ea"/>
                <a:cs typeface="+mn-cs"/>
                <a:hlinkClick r:id="rId4"/>
              </a:rPr>
              <a:t>github.com/FarshidKeivanian</a:t>
            </a:r>
            <a:r>
              <a:rPr lang="en-US" sz="2100" kern="1200" dirty="0">
                <a:solidFill>
                  <a:prstClr val="black">
                    <a:alpha val="80000"/>
                  </a:prstClr>
                </a:solidFill>
                <a:latin typeface="Calibri" panose="020F0502020204030204"/>
                <a:ea typeface="+mn-ea"/>
                <a:cs typeface="+mn-cs"/>
              </a:rPr>
              <a:t> </a:t>
            </a:r>
          </a:p>
          <a:p>
            <a:pPr indent="-171450" algn="l" defTabSz="685800" rtl="0">
              <a:lnSpc>
                <a:spcPct val="150000"/>
              </a:lnSpc>
              <a:spcAft>
                <a:spcPts val="450"/>
              </a:spcAft>
              <a:buFont typeface="Arial" panose="020B0604020202020204" pitchFamily="34" charset="0"/>
              <a:buChar char="•"/>
              <a:defRPr/>
            </a:pPr>
            <a:r>
              <a:rPr lang="en-US" sz="2100" i="1" kern="1200" dirty="0">
                <a:solidFill>
                  <a:prstClr val="black">
                    <a:alpha val="80000"/>
                  </a:prstClr>
                </a:solidFill>
                <a:latin typeface="Calibri" panose="020F0502020204030204"/>
                <a:ea typeface="+mn-ea"/>
                <a:cs typeface="+mn-cs"/>
              </a:rPr>
              <a:t>Education is the most powerful weapon you can use to change the world. </a:t>
            </a:r>
            <a:r>
              <a:rPr lang="en-US" sz="2100" kern="1200" dirty="0">
                <a:solidFill>
                  <a:prstClr val="black">
                    <a:alpha val="80000"/>
                  </a:prstClr>
                </a:solidFill>
                <a:latin typeface="Calibri" panose="020F0502020204030204"/>
                <a:ea typeface="+mn-ea"/>
                <a:cs typeface="+mn-cs"/>
              </a:rPr>
              <a:t>— Nelson Mandela</a:t>
            </a:r>
          </a:p>
        </p:txBody>
      </p:sp>
    </p:spTree>
    <p:extLst>
      <p:ext uri="{BB962C8B-B14F-4D97-AF65-F5344CB8AC3E}">
        <p14:creationId xmlns:p14="http://schemas.microsoft.com/office/powerpoint/2010/main" val="31908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290</TotalTime>
  <Words>3449</Words>
  <Application>Microsoft Office PowerPoint</Application>
  <PresentationFormat>On-screen Show (4:3)</PresentationFormat>
  <Paragraphs>743</Paragraphs>
  <Slides>75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Subnetting Practice Week</vt:lpstr>
      <vt:lpstr>Today we practise IPv4 subnetting.</vt:lpstr>
      <vt:lpstr>Today we practise IPv4 subnetting.</vt:lpstr>
      <vt:lpstr>Why Are We Practising Subnetting?</vt:lpstr>
      <vt:lpstr>Why Are We Practising Subnetting?</vt:lpstr>
      <vt:lpstr>Why Are We Practising Subnetting?</vt:lpstr>
      <vt:lpstr>Connection to Assessment Task 2</vt:lpstr>
      <vt:lpstr>Connection to Assessment Task 2</vt:lpstr>
      <vt:lpstr>Connection to Assessment Task 2</vt:lpstr>
      <vt:lpstr>Connection to Assessment Task 2</vt:lpstr>
      <vt:lpstr>Connection to Assessment Task 2</vt:lpstr>
      <vt:lpstr>Connection to Assessment Task 2</vt:lpstr>
      <vt:lpstr>What Information Can We Find?</vt:lpstr>
      <vt:lpstr>What Information Can We Find?</vt:lpstr>
      <vt:lpstr>What Information Can We Find?</vt:lpstr>
      <vt:lpstr>What Information Can We Find?</vt:lpstr>
      <vt:lpstr>Four Questions to Think About</vt:lpstr>
      <vt:lpstr>Four Questions to Think About</vt:lpstr>
      <vt:lpstr>Four Questions to Think About</vt:lpstr>
      <vt:lpstr>Four Questions to Think About</vt:lpstr>
      <vt:lpstr>IPv4 Addresses Have 32 Bits</vt:lpstr>
      <vt:lpstr>Binary Values Inside One Octet</vt:lpstr>
      <vt:lpstr>Quick Binary Practice</vt:lpstr>
      <vt:lpstr>Important Subnet Mask Values</vt:lpstr>
      <vt:lpstr>Prefix Length Review</vt:lpstr>
      <vt:lpstr>Prefix and Mask Examples</vt:lpstr>
      <vt:lpstr>Network Bits vs Host Bits</vt:lpstr>
      <vt:lpstr>Australian Example: University Lab</vt:lpstr>
      <vt:lpstr>Australian Example: University Lab</vt:lpstr>
      <vt:lpstr>The Two Special Addresses</vt:lpstr>
      <vt:lpstr>Usable Host Range</vt:lpstr>
      <vt:lpstr>Host Calculations</vt:lpstr>
      <vt:lpstr>Example: /28</vt:lpstr>
      <vt:lpstr>Practice: /27</vt:lpstr>
      <vt:lpstr>PowerPoint Presentation</vt:lpstr>
      <vt:lpstr>Discussion: Allowing for Growth</vt:lpstr>
      <vt:lpstr>Discussion: Allowing for Growth</vt:lpstr>
      <vt:lpstr>Subnet Size and Block Size</vt:lpstr>
      <vt:lpstr>/27 Subnet Boundaries</vt:lpstr>
      <vt:lpstr>Example /27</vt:lpstr>
      <vt:lpstr>Find the Host Range</vt:lpstr>
      <vt:lpstr>Discussion Practice</vt:lpstr>
      <vt:lpstr>Finding the Network Address Using AND</vt:lpstr>
      <vt:lpstr>Simple /24 Example</vt:lpstr>
      <vt:lpstr>Shortcut When Mask Contains 255 and 0</vt:lpstr>
      <vt:lpstr>The Interesting Octet</vt:lpstr>
      <vt:lpstr>Convert the Third Octet to Binary</vt:lpstr>
      <vt:lpstr>Perform AND</vt:lpstr>
      <vt:lpstr>Complete Network Address</vt:lpstr>
      <vt:lpstr>Australian Example: Enterprise Network</vt:lpstr>
      <vt:lpstr>Discussion Question</vt:lpstr>
      <vt:lpstr>Host Bits and Number of Hosts</vt:lpstr>
      <vt:lpstr>Hosts in a /18</vt:lpstr>
      <vt:lpstr>Quick Prefix Table</vt:lpstr>
      <vt:lpstr>Class Challenge</vt:lpstr>
      <vt:lpstr>Practice Set 1: Find Network and Broadcast</vt:lpstr>
      <vt:lpstr>Practice 1</vt:lpstr>
      <vt:lpstr>Practice 1 Solution</vt:lpstr>
      <vt:lpstr>Practice 1 Solution</vt:lpstr>
      <vt:lpstr>Practice 2</vt:lpstr>
      <vt:lpstr>Practice 2 Solution</vt:lpstr>
      <vt:lpstr>Australian Example: Point-to-Point Link</vt:lpstr>
      <vt:lpstr>Practice 3</vt:lpstr>
      <vt:lpstr>Practice 3 Solution</vt:lpstr>
      <vt:lpstr>Practice 4</vt:lpstr>
      <vt:lpstr>Practice 5</vt:lpstr>
      <vt:lpstr>Practice 5 Solution</vt:lpstr>
      <vt:lpstr>Practice 6</vt:lpstr>
      <vt:lpstr>Practice 6 Solution</vt:lpstr>
      <vt:lpstr>Creating Subnets by Borrowing Bits</vt:lpstr>
      <vt:lpstr>Number of Created Subnets</vt:lpstr>
      <vt:lpstr>Example</vt:lpstr>
      <vt:lpstr>Class Question</vt:lpstr>
      <vt:lpstr>Let’s Answer Your 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Farshid Keivanian</dc:creator>
  <cp:lastModifiedBy>Farshid Keivanian</cp:lastModifiedBy>
  <cp:revision>198</cp:revision>
  <dcterms:created xsi:type="dcterms:W3CDTF">2026-09-14T08:04:54Z</dcterms:created>
  <dcterms:modified xsi:type="dcterms:W3CDTF">2026-09-23T05:59:04Z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2024-09-10T00:00:00Z</vt:filetime>
  </property>
  <property fmtid="{D5CDD505-2E9C-101B-9397-08002B2CF9AE}" pid="3" name="LastSaved">
    <vt:filetime>2026-09-14T00:00:00Z</vt:filetime>
  </property>
  <property fmtid="{D5CDD505-2E9C-101B-9397-08002B2CF9AE}" pid="4" name="Producer">
    <vt:lpwstr>macOS Version 14.1.2 (Build 23B2091) Quartz PDFContext</vt:lpwstr>
  </property>
</Properties>
</file>